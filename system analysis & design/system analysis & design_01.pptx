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416" r:id="rId3"/>
    <p:sldId id="257" r:id="rId4"/>
    <p:sldId id="258" r:id="rId5"/>
    <p:sldId id="259" r:id="rId6"/>
    <p:sldId id="260" r:id="rId7"/>
    <p:sldId id="591" r:id="rId8"/>
    <p:sldId id="468" r:id="rId9"/>
    <p:sldId id="469" r:id="rId10"/>
    <p:sldId id="470" r:id="rId11"/>
    <p:sldId id="471" r:id="rId12"/>
    <p:sldId id="480" r:id="rId13"/>
    <p:sldId id="481" r:id="rId14"/>
    <p:sldId id="494" r:id="rId15"/>
    <p:sldId id="48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C4058-2870-423B-A472-F19127BF644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5F8727-9BA9-47AB-A6CD-23572AB07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135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9A9A1D-8AAB-4DF0-B30F-18198B0F66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6915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9A9A1D-8AAB-4DF0-B30F-18198B0F66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0954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9A9A1D-8AAB-4DF0-B30F-18198B0F66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7190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9A9A1D-8AAB-4DF0-B30F-18198B0F66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8830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9A9A1D-8AAB-4DF0-B30F-18198B0F66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1316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9A9A1D-8AAB-4DF0-B30F-18198B0F66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746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32E95-E44B-08F1-C8AE-E60F403ED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AF4EF5-717D-9188-D639-36DDB8AA1B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44518-5411-C94D-8A37-5BA0EF89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3244-4FCD-459D-8B0F-40592A7A212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F37AD-2371-987E-EE29-2C3744BD1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BD000-5381-30C7-71E0-CB66CF0D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481F-4F65-4E57-AD0F-0674FEEDC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24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8628D-F284-3A6C-DB3D-A9E11D3C4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9442A-4188-8506-9F19-11FFB593D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4CF2F-54F2-7473-1F38-447FE55FA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3244-4FCD-459D-8B0F-40592A7A212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EE980-93D9-0C31-B070-075E4A83D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E7550-65D7-39B4-4770-A51C8EC24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481F-4F65-4E57-AD0F-0674FEEDC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3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3280D-37DE-1C33-CF81-FA540962E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614A9-8D6C-FE79-2D7A-20F7146C7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B7A24-7076-7DF4-9EAE-269C20A3C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3244-4FCD-459D-8B0F-40592A7A212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5129A-63E7-A1C1-992D-36D039FF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894E1-5BDD-BCD3-3624-94A13A39E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481F-4F65-4E57-AD0F-0674FEEDC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822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F971B-B3D8-C460-39C9-158550248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F996C-7C0A-4E2B-8EEB-F62FDD9AF4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81B518-073D-8ECB-3141-DB69B191B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AB2-EF17-7F10-105C-601FA39B1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3244-4FCD-459D-8B0F-40592A7A212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6E7B2-9C84-B8B4-492E-677A23EE2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2E615E-BD6D-A1CA-9C7D-51AF9D96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481F-4F65-4E57-AD0F-0674FEEDC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023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85A19-3B3D-CDA1-22C9-CD199F515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7157E-5E39-0C46-1FBD-ED66C4633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0B029-F7C3-A95A-2772-3E2028C82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4FDB77-4393-0383-1F3E-B163868B05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DFF259-C611-051E-771B-DC0DAE5E2D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628F4-F6E7-B3D9-285D-9682F0015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3244-4FCD-459D-8B0F-40592A7A212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1A0CAA-9AB5-8949-A494-D65053D1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14EE68-7FA6-1FB3-458D-AF3770709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481F-4F65-4E57-AD0F-0674FEEDC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34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4E591-3E48-91CC-6BC5-A5F68CC9B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907C88-C671-FDA0-71B5-3546A30FD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3244-4FCD-459D-8B0F-40592A7A212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B8CF5-B46D-C0CD-CF52-8757FA378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BE0255-D13C-E5E2-CD69-65B4FB86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481F-4F65-4E57-AD0F-0674FEEDC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22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978BDB-DB25-F0D2-61E5-291270430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3244-4FCD-459D-8B0F-40592A7A212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BB7AA-9ED0-C2D3-1CA5-3F940A67D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B5A1F-685C-9545-0FDC-B9B08F31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481F-4F65-4E57-AD0F-0674FEEDC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DF059-7E87-608A-2EDD-2187B8651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8790B-3475-8A77-2FF5-035BF86BD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97A28-D916-B94F-9BDD-9D74AD9FC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532757-DF64-0B17-E217-19EBE692B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3244-4FCD-459D-8B0F-40592A7A212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1C865-0BBA-99DC-1415-84C2F997E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588B2-C246-ECEE-0AF9-8A04834E8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481F-4F65-4E57-AD0F-0674FEEDC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430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09D87-E366-8003-45AF-04E96F32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7B2A1D-DB82-DBCE-9B17-24A9B1C08D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7A2E8-C799-DC6B-F161-99A3CF22E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733E06-55BE-2A08-F3D0-9A858C36C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3244-4FCD-459D-8B0F-40592A7A212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4A533-60C3-536D-B882-578DC7585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E4A8A-6714-497C-8532-32855CE1A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481F-4F65-4E57-AD0F-0674FEEDC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47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2B605-457F-5A1A-7911-795CCE273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E82D0A-DDAA-3781-53C1-F1D26C8A4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1F7B8-9CC8-9F0F-487F-5CC8D3D2F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3244-4FCD-459D-8B0F-40592A7A212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C36FD-5EFB-03C6-615C-744032147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56C00-CDFC-F5C7-7D45-05271868A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481F-4F65-4E57-AD0F-0674FEEDC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856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24E2DE-4854-A257-969F-0BB4B2D977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9C50F1-7724-2414-1463-DF8A55B68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AB0B0-44F8-6EDE-BFF2-6D28EBD94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3244-4FCD-459D-8B0F-40592A7A212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8D5FE-17D5-0AAF-2D1D-AAFF86374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02587-ECCF-C442-6899-FFEE05D34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481F-4F65-4E57-AD0F-0674FEEDC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021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800" spc="-49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340" cap="all" spc="195" baseline="0">
                <a:solidFill>
                  <a:schemeClr val="tx2"/>
                </a:solidFill>
                <a:latin typeface="+mj-lt"/>
              </a:defRPr>
            </a:lvl1pPr>
            <a:lvl2pPr marL="445770" indent="0" algn="ctr">
              <a:buNone/>
              <a:defRPr sz="2340"/>
            </a:lvl2pPr>
            <a:lvl3pPr marL="891540" indent="0" algn="ctr">
              <a:buNone/>
              <a:defRPr sz="2340"/>
            </a:lvl3pPr>
            <a:lvl4pPr marL="1337310" indent="0" algn="ctr">
              <a:buNone/>
              <a:defRPr sz="1950"/>
            </a:lvl4pPr>
            <a:lvl5pPr marL="1783080" indent="0" algn="ctr">
              <a:buNone/>
              <a:defRPr sz="1950"/>
            </a:lvl5pPr>
            <a:lvl6pPr marL="2228850" indent="0" algn="ctr">
              <a:buNone/>
              <a:defRPr sz="1950"/>
            </a:lvl6pPr>
            <a:lvl7pPr marL="2674620" indent="0" algn="ctr">
              <a:buNone/>
              <a:defRPr sz="1950"/>
            </a:lvl7pPr>
            <a:lvl8pPr marL="3120390" indent="0" algn="ctr">
              <a:buNone/>
              <a:defRPr sz="1950"/>
            </a:lvl8pPr>
            <a:lvl9pPr marL="3566160" indent="0" algn="ctr">
              <a:buNone/>
              <a:defRPr sz="19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8AE-5732-46FA-A12D-7311261D7C57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3D9D5-3F94-4D0E-99A1-5E245C39E9B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0297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8C0D9-1C1A-43C3-849A-4C12950DC872}" type="datetime1">
              <a:rPr lang="en-US" smtClean="0"/>
              <a:pPr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3D9D5-3F94-4D0E-99A1-5E245C39E9B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34A279-EE94-00D2-F116-ACFB912C0C89}"/>
              </a:ext>
            </a:extLst>
          </p:cNvPr>
          <p:cNvSpPr/>
          <p:nvPr userDrawn="1"/>
        </p:nvSpPr>
        <p:spPr>
          <a:xfrm>
            <a:off x="3049587" y="6443963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/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Partho Sarathi Sarker,</a:t>
            </a:r>
            <a:r>
              <a:rPr lang="en-US" sz="1000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Asst. Prof. 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</a:t>
            </a:r>
          </a:p>
          <a:p>
            <a:pPr lvl="0" algn="ctr"/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Global Village (UGV)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8" name="Picture 10" descr="https://lh3.googleusercontent.com/O-QTLAMC8BswJhLk0RcTxiyQf4NrFqXT0UqHcn2eVY7vS43BGAZ3bL9pUdjQk7xK0y8UlLHngGAr141CZoo5d7-pyj_isjE6HrJEoY-r78rNuUzLGuBEgj9r7YbLrbtFpKBM4u4Xs7AvLDo22l-Wxao">
            <a:extLst>
              <a:ext uri="{FF2B5EF4-FFF2-40B4-BE49-F238E27FC236}">
                <a16:creationId xmlns:a16="http://schemas.microsoft.com/office/drawing/2014/main" id="{8EE1C521-5150-06E4-084C-760664B795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7313" y="150242"/>
            <a:ext cx="1374162" cy="139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https://lh3.googleusercontent.com/Be1KqK94TxpMAIj2y0VLTL3PCZaIjByC9Cv-SBZf0RX9rUxrQXcF-giF_BnWY4BpFQUydqIyouvj8qoBgCiYEFt3QjWQa-hJOb-aLOv2ojS4xSrMWHKDa10oAspvQSSF42fRCnBtvjSHbB8awqqP4Mw">
            <a:extLst>
              <a:ext uri="{FF2B5EF4-FFF2-40B4-BE49-F238E27FC236}">
                <a16:creationId xmlns:a16="http://schemas.microsoft.com/office/drawing/2014/main" id="{0BCECE13-96BD-A371-54D8-6B826C7C616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13" y="286604"/>
            <a:ext cx="999032" cy="1248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EF4F94-5591-6B09-7FDD-961ECDC9A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51623" t="15302" r="4605"/>
          <a:stretch/>
        </p:blipFill>
        <p:spPr>
          <a:xfrm>
            <a:off x="10849674" y="5478119"/>
            <a:ext cx="1342326" cy="79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5389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78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340" cap="all" spc="195" baseline="0">
                <a:solidFill>
                  <a:schemeClr val="tx2"/>
                </a:solidFill>
                <a:latin typeface="+mj-lt"/>
              </a:defRPr>
            </a:lvl1pPr>
            <a:lvl2pPr marL="445770" indent="0">
              <a:buNone/>
              <a:defRPr sz="1755">
                <a:solidFill>
                  <a:schemeClr val="tx1">
                    <a:tint val="75000"/>
                  </a:schemeClr>
                </a:solidFill>
              </a:defRPr>
            </a:lvl2pPr>
            <a:lvl3pPr marL="891540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3pPr>
            <a:lvl4pPr marL="1337310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4pPr>
            <a:lvl5pPr marL="1783080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5pPr>
            <a:lvl6pPr marL="2228850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6pPr>
            <a:lvl7pPr marL="2674620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7pPr>
            <a:lvl8pPr marL="3120390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8pPr>
            <a:lvl9pPr marL="3566160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2031-22E5-4BD4-A1F9-5C5CE041D90B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Partho Sarathi Sarker,</a:t>
            </a:r>
            <a:r>
              <a:rPr lang="en-US" sz="900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Asst. Prof. </a:t>
            </a: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</a:t>
            </a:r>
          </a:p>
          <a:p>
            <a:pPr lvl="0"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Global Village (UGV)</a:t>
            </a:r>
            <a:endParaRPr lang="en-US" sz="10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3D9D5-3F94-4D0E-99A1-5E245C39E9B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0911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04526-5D8D-448D-B715-714342C5D01E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Partho Sarathi Sarker,</a:t>
            </a:r>
            <a:r>
              <a:rPr lang="en-US" sz="900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Asst. Prof. </a:t>
            </a: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</a:t>
            </a:r>
          </a:p>
          <a:p>
            <a:pPr lvl="0"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Global Village (UGV)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3D9D5-3F94-4D0E-99A1-5E245C39E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772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950" b="0" cap="all" baseline="0">
                <a:solidFill>
                  <a:schemeClr val="tx2"/>
                </a:solidFill>
              </a:defRPr>
            </a:lvl1pPr>
            <a:lvl2pPr marL="445770" indent="0">
              <a:buNone/>
              <a:defRPr sz="1950" b="1"/>
            </a:lvl2pPr>
            <a:lvl3pPr marL="891540" indent="0">
              <a:buNone/>
              <a:defRPr sz="1755" b="1"/>
            </a:lvl3pPr>
            <a:lvl4pPr marL="1337310" indent="0">
              <a:buNone/>
              <a:defRPr sz="1560" b="1"/>
            </a:lvl4pPr>
            <a:lvl5pPr marL="1783080" indent="0">
              <a:buNone/>
              <a:defRPr sz="1560" b="1"/>
            </a:lvl5pPr>
            <a:lvl6pPr marL="2228850" indent="0">
              <a:buNone/>
              <a:defRPr sz="1560" b="1"/>
            </a:lvl6pPr>
            <a:lvl7pPr marL="2674620" indent="0">
              <a:buNone/>
              <a:defRPr sz="1560" b="1"/>
            </a:lvl7pPr>
            <a:lvl8pPr marL="3120390" indent="0">
              <a:buNone/>
              <a:defRPr sz="1560" b="1"/>
            </a:lvl8pPr>
            <a:lvl9pPr marL="3566160" indent="0">
              <a:buNone/>
              <a:defRPr sz="1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950" b="0" cap="all" baseline="0">
                <a:solidFill>
                  <a:schemeClr val="tx2"/>
                </a:solidFill>
              </a:defRPr>
            </a:lvl1pPr>
            <a:lvl2pPr marL="445770" indent="0">
              <a:buNone/>
              <a:defRPr sz="1950" b="1"/>
            </a:lvl2pPr>
            <a:lvl3pPr marL="891540" indent="0">
              <a:buNone/>
              <a:defRPr sz="1755" b="1"/>
            </a:lvl3pPr>
            <a:lvl4pPr marL="1337310" indent="0">
              <a:buNone/>
              <a:defRPr sz="1560" b="1"/>
            </a:lvl4pPr>
            <a:lvl5pPr marL="1783080" indent="0">
              <a:buNone/>
              <a:defRPr sz="1560" b="1"/>
            </a:lvl5pPr>
            <a:lvl6pPr marL="2228850" indent="0">
              <a:buNone/>
              <a:defRPr sz="1560" b="1"/>
            </a:lvl6pPr>
            <a:lvl7pPr marL="2674620" indent="0">
              <a:buNone/>
              <a:defRPr sz="1560" b="1"/>
            </a:lvl7pPr>
            <a:lvl8pPr marL="3120390" indent="0">
              <a:buNone/>
              <a:defRPr sz="1560" b="1"/>
            </a:lvl8pPr>
            <a:lvl9pPr marL="3566160" indent="0">
              <a:buNone/>
              <a:defRPr sz="1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D25D-6AA9-4500-9677-8EE45FA151F0}" type="datetime1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Partho Sarathi Sarker,</a:t>
            </a:r>
            <a:r>
              <a:rPr lang="en-US" sz="900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Asst. Prof. </a:t>
            </a: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</a:t>
            </a:r>
          </a:p>
          <a:p>
            <a:pPr lvl="0"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Global Village (UGV)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3D9D5-3F94-4D0E-99A1-5E245C39E9B7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53A614-FE84-1FC5-5357-4B8FC6E273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51623" t="15302" r="4605"/>
          <a:stretch/>
        </p:blipFill>
        <p:spPr>
          <a:xfrm>
            <a:off x="10849674" y="5478119"/>
            <a:ext cx="1342326" cy="79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1176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8C47-B1A2-44D6-85A1-592859CCA097}" type="datetime1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Partho Sarathi Sarker,</a:t>
            </a:r>
            <a:r>
              <a:rPr lang="en-US" sz="900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Asst. Prof. </a:t>
            </a: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</a:t>
            </a:r>
          </a:p>
          <a:p>
            <a:pPr lvl="0"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Global Village (UGV)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3D9D5-3F94-4D0E-99A1-5E245C39E9B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5F28E8-21DD-BB8B-F408-39BE40F081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51623" t="15302" r="4605"/>
          <a:stretch/>
        </p:blipFill>
        <p:spPr>
          <a:xfrm>
            <a:off x="10849674" y="5478119"/>
            <a:ext cx="1342326" cy="79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9793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F66E1-1574-473A-B4E0-2C7A3E000C1B}" type="datetime1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Partho Sarathi Sarker,</a:t>
            </a:r>
            <a:r>
              <a:rPr lang="en-US" sz="900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Asst. Prof. </a:t>
            </a: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</a:t>
            </a:r>
          </a:p>
          <a:p>
            <a:pPr lvl="0" algn="ctr"/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Global Village (UGV)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3D9D5-3F94-4D0E-99A1-5E245C39E9B7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3614A6-4704-1921-C1FD-2DA4431308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51623" t="15302" r="4605"/>
          <a:stretch/>
        </p:blipFill>
        <p:spPr>
          <a:xfrm>
            <a:off x="10849674" y="5478119"/>
            <a:ext cx="1342326" cy="79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372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7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51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463">
                <a:solidFill>
                  <a:srgbClr val="FFFFFF"/>
                </a:solidFill>
              </a:defRPr>
            </a:lvl1pPr>
            <a:lvl2pPr marL="445770" indent="0">
              <a:buNone/>
              <a:defRPr sz="1170"/>
            </a:lvl2pPr>
            <a:lvl3pPr marL="891540" indent="0">
              <a:buNone/>
              <a:defRPr sz="975"/>
            </a:lvl3pPr>
            <a:lvl4pPr marL="1337310" indent="0">
              <a:buNone/>
              <a:defRPr sz="878"/>
            </a:lvl4pPr>
            <a:lvl5pPr marL="1783080" indent="0">
              <a:buNone/>
              <a:defRPr sz="878"/>
            </a:lvl5pPr>
            <a:lvl6pPr marL="2228850" indent="0">
              <a:buNone/>
              <a:defRPr sz="878"/>
            </a:lvl6pPr>
            <a:lvl7pPr marL="2674620" indent="0">
              <a:buNone/>
              <a:defRPr sz="878"/>
            </a:lvl7pPr>
            <a:lvl8pPr marL="3120390" indent="0">
              <a:buNone/>
              <a:defRPr sz="878"/>
            </a:lvl8pPr>
            <a:lvl9pPr marL="3566160" indent="0">
              <a:buNone/>
              <a:defRPr sz="8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7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CA25FBA-5535-409A-B3C5-C1DFA683E81E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1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lvl="0" algn="ctr"/>
            <a:r>
              <a:rPr 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Partho Sarathi Sarker,</a:t>
            </a:r>
            <a:r>
              <a:rPr lang="en-US" sz="800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Asst. Prof. </a:t>
            </a:r>
            <a:r>
              <a:rPr 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</a:t>
            </a:r>
          </a:p>
          <a:p>
            <a:pPr lvl="0" algn="ctr"/>
            <a:r>
              <a:rPr 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Global Village (UGV)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33D9D5-3F94-4D0E-99A1-5E245C39E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42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51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120"/>
            </a:lvl1pPr>
            <a:lvl2pPr marL="445770" indent="0">
              <a:buNone/>
              <a:defRPr sz="2730"/>
            </a:lvl2pPr>
            <a:lvl3pPr marL="891540" indent="0">
              <a:buNone/>
              <a:defRPr sz="2340"/>
            </a:lvl3pPr>
            <a:lvl4pPr marL="1337310" indent="0">
              <a:buNone/>
              <a:defRPr sz="1950"/>
            </a:lvl4pPr>
            <a:lvl5pPr marL="1783080" indent="0">
              <a:buNone/>
              <a:defRPr sz="1950"/>
            </a:lvl5pPr>
            <a:lvl6pPr marL="2228850" indent="0">
              <a:buNone/>
              <a:defRPr sz="1950"/>
            </a:lvl6pPr>
            <a:lvl7pPr marL="2674620" indent="0">
              <a:buNone/>
              <a:defRPr sz="1950"/>
            </a:lvl7pPr>
            <a:lvl8pPr marL="3120390" indent="0">
              <a:buNone/>
              <a:defRPr sz="1950"/>
            </a:lvl8pPr>
            <a:lvl9pPr marL="3566160" indent="0">
              <a:buNone/>
              <a:defRPr sz="19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585"/>
              </a:spcAft>
              <a:buNone/>
              <a:defRPr sz="1463">
                <a:solidFill>
                  <a:srgbClr val="FFFFFF"/>
                </a:solidFill>
              </a:defRPr>
            </a:lvl1pPr>
            <a:lvl2pPr marL="445770" indent="0">
              <a:buNone/>
              <a:defRPr sz="1170"/>
            </a:lvl2pPr>
            <a:lvl3pPr marL="891540" indent="0">
              <a:buNone/>
              <a:defRPr sz="975"/>
            </a:lvl3pPr>
            <a:lvl4pPr marL="1337310" indent="0">
              <a:buNone/>
              <a:defRPr sz="878"/>
            </a:lvl4pPr>
            <a:lvl5pPr marL="1783080" indent="0">
              <a:buNone/>
              <a:defRPr sz="878"/>
            </a:lvl5pPr>
            <a:lvl6pPr marL="2228850" indent="0">
              <a:buNone/>
              <a:defRPr sz="878"/>
            </a:lvl6pPr>
            <a:lvl7pPr marL="2674620" indent="0">
              <a:buNone/>
              <a:defRPr sz="878"/>
            </a:lvl7pPr>
            <a:lvl8pPr marL="3120390" indent="0">
              <a:buNone/>
              <a:defRPr sz="878"/>
            </a:lvl8pPr>
            <a:lvl9pPr marL="3566160" indent="0">
              <a:buNone/>
              <a:defRPr sz="8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DF5-F85F-4DCB-BBED-0D23DECEB9F1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/>
            <a:r>
              <a:rPr 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Partho Sarathi Sarker,</a:t>
            </a:r>
            <a:r>
              <a:rPr lang="en-US" sz="800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Asst. Prof. </a:t>
            </a:r>
            <a:r>
              <a:rPr 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</a:t>
            </a:r>
          </a:p>
          <a:p>
            <a:pPr lvl="0" algn="ctr"/>
            <a:r>
              <a:rPr 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Global Village (UGV)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3D9D5-3F94-4D0E-99A1-5E245C39E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821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65F83-5A9D-4A9D-976E-583A52619ECC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/>
            <a:r>
              <a:rPr 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Partho Sarathi Sarker,</a:t>
            </a:r>
            <a:r>
              <a:rPr lang="en-US" sz="800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Asst. Prof. </a:t>
            </a:r>
            <a:r>
              <a:rPr 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</a:t>
            </a:r>
          </a:p>
          <a:p>
            <a:pPr lvl="0" algn="ctr"/>
            <a:r>
              <a:rPr 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Global Village (UGV)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3D9D5-3F94-4D0E-99A1-5E245C39E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554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412302"/>
            <a:ext cx="2628901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1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3566E-742F-4DC1-9D8E-4034231ED725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/>
            <a:r>
              <a:rPr 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Partho Sarathi Sarker,</a:t>
            </a:r>
            <a:r>
              <a:rPr lang="en-US" sz="800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Asst. Prof. </a:t>
            </a:r>
            <a:r>
              <a:rPr 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</a:t>
            </a:r>
          </a:p>
          <a:p>
            <a:pPr lvl="0" algn="ctr"/>
            <a:r>
              <a:rPr 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Global Village (UGV)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3D9D5-3F94-4D0E-99A1-5E245C39E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019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75CCB-091D-4A1A-94F5-3D92633D7266}" type="datetime1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algn="ctr"/>
            <a:r>
              <a:rPr 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Partho Sarathi Sarker,</a:t>
            </a:r>
            <a:r>
              <a:rPr lang="en-US" sz="800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Asst. Prof. </a:t>
            </a:r>
            <a:r>
              <a:rPr 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</a:t>
            </a:r>
          </a:p>
          <a:p>
            <a:pPr lvl="0" algn="ctr"/>
            <a:r>
              <a:rPr 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Global Village (UGV)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3D9D5-3F94-4D0E-99A1-5E245C39E9B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222093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44E216-9F40-5198-E218-8A78CDF0B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F4727-F42D-2CBE-90BC-D387D22FD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5C72F-43EF-E83D-1882-3DA267F71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73244-4FCD-459D-8B0F-40592A7A212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57AFA-4C72-E8B4-20C1-27683B59D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B4301-8174-B3B6-7D1A-A024E9508A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5481F-4F65-4E57-AD0F-0674FEEDC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419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6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1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8">
                <a:solidFill>
                  <a:srgbClr val="FFFFFF"/>
                </a:solidFill>
              </a:defRPr>
            </a:lvl1pPr>
          </a:lstStyle>
          <a:p>
            <a:fld id="{EFACC56F-5C24-46F7-A615-39268458F932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78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4">
                <a:solidFill>
                  <a:srgbClr val="FFFFFF"/>
                </a:solidFill>
              </a:defRPr>
            </a:lvl1pPr>
          </a:lstStyle>
          <a:p>
            <a:fld id="{AD33D9D5-3F94-4D0E-99A1-5E245C39E9B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190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hf hdr="0" ftr="0"/>
  <p:txStyles>
    <p:titleStyle>
      <a:lvl1pPr algn="l" defTabSz="891540" rtl="0" eaLnBrk="1" latinLnBrk="0" hangingPunct="1">
        <a:lnSpc>
          <a:spcPct val="85000"/>
        </a:lnSpc>
        <a:spcBef>
          <a:spcPct val="0"/>
        </a:spcBef>
        <a:buNone/>
        <a:defRPr sz="4680" kern="1200" spc="-49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89154" indent="-89154" algn="l" defTabSz="891540" rtl="0" eaLnBrk="1" latinLnBrk="0" hangingPunct="1">
        <a:lnSpc>
          <a:spcPct val="90000"/>
        </a:lnSpc>
        <a:spcBef>
          <a:spcPts val="1170"/>
        </a:spcBef>
        <a:spcAft>
          <a:spcPts val="195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74447" indent="-178308" algn="l" defTabSz="891540" rtl="0" eaLnBrk="1" latinLnBrk="0" hangingPunct="1">
        <a:lnSpc>
          <a:spcPct val="90000"/>
        </a:lnSpc>
        <a:spcBef>
          <a:spcPts val="195"/>
        </a:spcBef>
        <a:spcAft>
          <a:spcPts val="390"/>
        </a:spcAft>
        <a:buClr>
          <a:schemeClr val="accent1"/>
        </a:buClr>
        <a:buFont typeface="Calibri" pitchFamily="34" charset="0"/>
        <a:buChar char="◦"/>
        <a:defRPr sz="175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52755" indent="-178308" algn="l" defTabSz="891540" rtl="0" eaLnBrk="1" latinLnBrk="0" hangingPunct="1">
        <a:lnSpc>
          <a:spcPct val="90000"/>
        </a:lnSpc>
        <a:spcBef>
          <a:spcPts val="195"/>
        </a:spcBef>
        <a:spcAft>
          <a:spcPts val="390"/>
        </a:spcAft>
        <a:buClr>
          <a:schemeClr val="accent1"/>
        </a:buClr>
        <a:buFont typeface="Calibri" pitchFamily="34" charset="0"/>
        <a:buChar char="◦"/>
        <a:defRPr sz="136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31063" indent="-178308" algn="l" defTabSz="891540" rtl="0" eaLnBrk="1" latinLnBrk="0" hangingPunct="1">
        <a:lnSpc>
          <a:spcPct val="90000"/>
        </a:lnSpc>
        <a:spcBef>
          <a:spcPts val="195"/>
        </a:spcBef>
        <a:spcAft>
          <a:spcPts val="390"/>
        </a:spcAft>
        <a:buClr>
          <a:schemeClr val="accent1"/>
        </a:buClr>
        <a:buFont typeface="Calibri" pitchFamily="34" charset="0"/>
        <a:buChar char="◦"/>
        <a:defRPr sz="136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09371" indent="-178308" algn="l" defTabSz="891540" rtl="0" eaLnBrk="1" latinLnBrk="0" hangingPunct="1">
        <a:lnSpc>
          <a:spcPct val="90000"/>
        </a:lnSpc>
        <a:spcBef>
          <a:spcPts val="195"/>
        </a:spcBef>
        <a:spcAft>
          <a:spcPts val="390"/>
        </a:spcAft>
        <a:buClr>
          <a:schemeClr val="accent1"/>
        </a:buClr>
        <a:buFont typeface="Calibri" pitchFamily="34" charset="0"/>
        <a:buChar char="◦"/>
        <a:defRPr sz="136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72500" indent="-222885" algn="l" defTabSz="891540" rtl="0" eaLnBrk="1" latinLnBrk="0" hangingPunct="1">
        <a:lnSpc>
          <a:spcPct val="90000"/>
        </a:lnSpc>
        <a:spcBef>
          <a:spcPts val="195"/>
        </a:spcBef>
        <a:spcAft>
          <a:spcPts val="390"/>
        </a:spcAft>
        <a:buClr>
          <a:schemeClr val="accent1"/>
        </a:buClr>
        <a:buFont typeface="Calibri" pitchFamily="34" charset="0"/>
        <a:buChar char="◦"/>
        <a:defRPr sz="136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67500" indent="-222885" algn="l" defTabSz="891540" rtl="0" eaLnBrk="1" latinLnBrk="0" hangingPunct="1">
        <a:lnSpc>
          <a:spcPct val="90000"/>
        </a:lnSpc>
        <a:spcBef>
          <a:spcPts val="195"/>
        </a:spcBef>
        <a:spcAft>
          <a:spcPts val="390"/>
        </a:spcAft>
        <a:buClr>
          <a:schemeClr val="accent1"/>
        </a:buClr>
        <a:buFont typeface="Calibri" pitchFamily="34" charset="0"/>
        <a:buChar char="◦"/>
        <a:defRPr sz="136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62500" indent="-222885" algn="l" defTabSz="891540" rtl="0" eaLnBrk="1" latinLnBrk="0" hangingPunct="1">
        <a:lnSpc>
          <a:spcPct val="90000"/>
        </a:lnSpc>
        <a:spcBef>
          <a:spcPts val="195"/>
        </a:spcBef>
        <a:spcAft>
          <a:spcPts val="390"/>
        </a:spcAft>
        <a:buClr>
          <a:schemeClr val="accent1"/>
        </a:buClr>
        <a:buFont typeface="Calibri" pitchFamily="34" charset="0"/>
        <a:buChar char="◦"/>
        <a:defRPr sz="136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57500" indent="-222885" algn="l" defTabSz="891540" rtl="0" eaLnBrk="1" latinLnBrk="0" hangingPunct="1">
        <a:lnSpc>
          <a:spcPct val="90000"/>
        </a:lnSpc>
        <a:spcBef>
          <a:spcPts val="195"/>
        </a:spcBef>
        <a:spcAft>
          <a:spcPts val="390"/>
        </a:spcAft>
        <a:buClr>
          <a:schemeClr val="accent1"/>
        </a:buClr>
        <a:buFont typeface="Calibri" pitchFamily="34" charset="0"/>
        <a:buChar char="◦"/>
        <a:defRPr sz="136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1540" rtl="0" eaLnBrk="1" latinLnBrk="0" hangingPunct="1">
        <a:defRPr sz="1755" kern="1200">
          <a:solidFill>
            <a:schemeClr val="tx1"/>
          </a:solidFill>
          <a:latin typeface="+mn-lt"/>
          <a:ea typeface="+mn-ea"/>
          <a:cs typeface="+mn-cs"/>
        </a:defRPr>
      </a:lvl1pPr>
      <a:lvl2pPr marL="445770" algn="l" defTabSz="891540" rtl="0" eaLnBrk="1" latinLnBrk="0" hangingPunct="1">
        <a:defRPr sz="1755" kern="1200">
          <a:solidFill>
            <a:schemeClr val="tx1"/>
          </a:solidFill>
          <a:latin typeface="+mn-lt"/>
          <a:ea typeface="+mn-ea"/>
          <a:cs typeface="+mn-cs"/>
        </a:defRPr>
      </a:lvl2pPr>
      <a:lvl3pPr marL="891540" algn="l" defTabSz="891540" rtl="0" eaLnBrk="1" latinLnBrk="0" hangingPunct="1">
        <a:defRPr sz="1755" kern="1200">
          <a:solidFill>
            <a:schemeClr val="tx1"/>
          </a:solidFill>
          <a:latin typeface="+mn-lt"/>
          <a:ea typeface="+mn-ea"/>
          <a:cs typeface="+mn-cs"/>
        </a:defRPr>
      </a:lvl3pPr>
      <a:lvl4pPr marL="1337310" algn="l" defTabSz="891540" rtl="0" eaLnBrk="1" latinLnBrk="0" hangingPunct="1">
        <a:defRPr sz="1755" kern="1200">
          <a:solidFill>
            <a:schemeClr val="tx1"/>
          </a:solidFill>
          <a:latin typeface="+mn-lt"/>
          <a:ea typeface="+mn-ea"/>
          <a:cs typeface="+mn-cs"/>
        </a:defRPr>
      </a:lvl4pPr>
      <a:lvl5pPr marL="1783080" algn="l" defTabSz="891540" rtl="0" eaLnBrk="1" latinLnBrk="0" hangingPunct="1">
        <a:defRPr sz="1755" kern="1200">
          <a:solidFill>
            <a:schemeClr val="tx1"/>
          </a:solidFill>
          <a:latin typeface="+mn-lt"/>
          <a:ea typeface="+mn-ea"/>
          <a:cs typeface="+mn-cs"/>
        </a:defRPr>
      </a:lvl5pPr>
      <a:lvl6pPr marL="2228850" algn="l" defTabSz="891540" rtl="0" eaLnBrk="1" latinLnBrk="0" hangingPunct="1">
        <a:defRPr sz="1755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algn="l" defTabSz="891540" rtl="0" eaLnBrk="1" latinLnBrk="0" hangingPunct="1">
        <a:defRPr sz="1755" kern="1200">
          <a:solidFill>
            <a:schemeClr val="tx1"/>
          </a:solidFill>
          <a:latin typeface="+mn-lt"/>
          <a:ea typeface="+mn-ea"/>
          <a:cs typeface="+mn-cs"/>
        </a:defRPr>
      </a:lvl7pPr>
      <a:lvl8pPr marL="3120390" algn="l" defTabSz="891540" rtl="0" eaLnBrk="1" latinLnBrk="0" hangingPunct="1">
        <a:defRPr sz="1755" kern="1200">
          <a:solidFill>
            <a:schemeClr val="tx1"/>
          </a:solidFill>
          <a:latin typeface="+mn-lt"/>
          <a:ea typeface="+mn-ea"/>
          <a:cs typeface="+mn-cs"/>
        </a:defRPr>
      </a:lvl8pPr>
      <a:lvl9pPr marL="3566160" algn="l" defTabSz="891540" rtl="0" eaLnBrk="1" latinLnBrk="0" hangingPunct="1">
        <a:defRPr sz="17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69497" y="2374638"/>
            <a:ext cx="1574297" cy="385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endParaRPr lang="en-US" sz="1926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770681" y="2060420"/>
            <a:ext cx="11137219" cy="885985"/>
          </a:xfrm>
        </p:spPr>
        <p:txBody>
          <a:bodyPr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  <a:cs typeface="Times New Roman" panose="02020603050405020304" pitchFamily="18" charset="0"/>
              </a:rPr>
              <a:t>CSE0613-2201 System Analysis &amp; Design</a:t>
            </a:r>
            <a:endParaRPr lang="en-US" sz="4800" dirty="0">
              <a:solidFill>
                <a:schemeClr val="tx1"/>
              </a:solidFill>
              <a:latin typeface="Century Gothic (Headings)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750218" y="4104527"/>
            <a:ext cx="7351401" cy="2398632"/>
          </a:xfrm>
          <a:prstGeom prst="rect">
            <a:avLst/>
          </a:prstGeom>
        </p:spPr>
        <p:txBody>
          <a:bodyPr/>
          <a:lstStyle/>
          <a:p>
            <a:pPr algn="ctr" defTabSz="457200"/>
            <a:endParaRPr lang="en-US" sz="2000" b="1" dirty="0">
              <a:solidFill>
                <a:prstClr val="black"/>
              </a:solidFill>
              <a:latin typeface="Calibri Light (Headings)"/>
              <a:cs typeface="Times New Roman" panose="02020603050405020304" pitchFamily="18" charset="0"/>
            </a:endParaRPr>
          </a:p>
          <a:p>
            <a:pPr algn="ctr" defTabSz="457200"/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Partho Sarathi Sarker</a:t>
            </a:r>
          </a:p>
          <a:p>
            <a:pPr algn="ctr" defTabSz="457200"/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Asst. Professor</a:t>
            </a:r>
          </a:p>
          <a:p>
            <a:pPr algn="ctr" defTabSz="457200"/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Engineering(CSE)</a:t>
            </a:r>
          </a:p>
          <a:p>
            <a:pPr algn="ctr" defTabSz="457200"/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Global Village (UGV)</a:t>
            </a:r>
            <a:br>
              <a:rPr lang="en-US" dirty="0">
                <a:solidFill>
                  <a:prstClr val="black"/>
                </a:solidFill>
                <a:latin typeface="Calibri Light (Headings)"/>
                <a:cs typeface="Times New Roman" panose="02020603050405020304" pitchFamily="18" charset="0"/>
              </a:rPr>
            </a:br>
            <a:br>
              <a:rPr lang="en-US" dirty="0">
                <a:solidFill>
                  <a:prstClr val="black"/>
                </a:solidFill>
                <a:latin typeface="Calibri Light (Headings)"/>
                <a:cs typeface="Times New Roman" panose="02020603050405020304" pitchFamily="18" charset="0"/>
              </a:rPr>
            </a:b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83027" y="3074146"/>
            <a:ext cx="92831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5244" algn="ctr" defTabSz="457200">
              <a:spcBef>
                <a:spcPts val="135"/>
              </a:spcBef>
            </a:pPr>
            <a:r>
              <a:rPr lang="en-GB" sz="2800" b="1" spc="15" dirty="0">
                <a:solidFill>
                  <a:prstClr val="black"/>
                </a:solidFill>
                <a:latin typeface="Calibri" panose="020F0502020204030204"/>
              </a:rPr>
              <a:t>Systems Analysis and Design</a:t>
            </a:r>
          </a:p>
        </p:txBody>
      </p:sp>
      <p:pic>
        <p:nvPicPr>
          <p:cNvPr id="7" name="Picture 14" descr="https://lh3.googleusercontent.com/Be1KqK94TxpMAIj2y0VLTL3PCZaIjByC9Cv-SBZf0RX9rUxrQXcF-giF_BnWY4BpFQUydqIyouvj8qoBgCiYEFt3QjWQa-hJOb-aLOv2ojS4xSrMWHKDa10oAspvQSSF42fRCnBtvjSHbB8awqqP4M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964" y="212696"/>
            <a:ext cx="1566387" cy="2007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891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Analysis &amp; Design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287398" y="1825448"/>
          <a:ext cx="7256148" cy="76725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07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63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3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7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 Code:</a:t>
                      </a:r>
                      <a:endParaRPr lang="en-US" sz="16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5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CSE 0613-2201</a:t>
                      </a:r>
                      <a:endParaRPr lang="en-US" sz="15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5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Credits:</a:t>
                      </a:r>
                      <a:endParaRPr lang="en-US" sz="15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5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endParaRPr lang="en-US" sz="15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7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5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CIE Marks: </a:t>
                      </a:r>
                      <a:endParaRPr lang="en-US" sz="15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66866" marR="66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7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 Hours:</a:t>
                      </a:r>
                      <a:endParaRPr lang="en-US" sz="16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5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endParaRPr lang="en-US" sz="15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5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SEE Marks:</a:t>
                      </a:r>
                      <a:endParaRPr lang="en-US" sz="15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5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40</a:t>
                      </a:r>
                      <a:endParaRPr lang="en-US" sz="15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23"/>
          <p:cNvSpPr txBox="1">
            <a:spLocks noChangeArrowheads="1"/>
          </p:cNvSpPr>
          <p:nvPr/>
        </p:nvSpPr>
        <p:spPr bwMode="auto">
          <a:xfrm>
            <a:off x="2287399" y="2744004"/>
            <a:ext cx="7256145" cy="508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en-GB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1"/>
                </a:solidFill>
                <a:latin typeface="Arial" pitchFamily="34" charset="0"/>
                <a:ea typeface="Noto Sans CJK SC Regular" charset="0"/>
                <a:cs typeface="Noto Sans CJK SC Regular" charset="0"/>
              </a:defRPr>
            </a:lvl1pPr>
            <a:lvl2pPr marL="742950" indent="-28575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1"/>
                </a:solidFill>
                <a:latin typeface="Arial" pitchFamily="34" charset="0"/>
                <a:ea typeface="Noto Sans CJK SC Regular" charset="0"/>
                <a:cs typeface="Noto Sans CJK SC Regular" charset="0"/>
              </a:defRPr>
            </a:lvl2pPr>
            <a:lvl3pPr marL="1143000" indent="-228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1"/>
                </a:solidFill>
                <a:latin typeface="Arial" pitchFamily="34" charset="0"/>
                <a:ea typeface="Noto Sans CJK SC Regular" charset="0"/>
                <a:cs typeface="Noto Sans CJK SC Regular" charset="0"/>
              </a:defRPr>
            </a:lvl3pPr>
            <a:lvl4pPr marL="1600200" indent="-228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1"/>
                </a:solidFill>
                <a:latin typeface="Arial" pitchFamily="34" charset="0"/>
                <a:ea typeface="Noto Sans CJK SC Regular" charset="0"/>
                <a:cs typeface="Noto Sans CJK SC Regular" charset="0"/>
              </a:defRPr>
            </a:lvl4pPr>
            <a:lvl5pPr marL="2057400" indent="-228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1"/>
                </a:solidFill>
                <a:latin typeface="Arial" pitchFamily="34" charset="0"/>
                <a:ea typeface="Noto Sans CJK SC Regular" charset="0"/>
                <a:cs typeface="Noto Sans CJK SC Regular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itchFamily="34" charset="0"/>
                <a:ea typeface="Noto Sans CJK SC Regular" charset="0"/>
                <a:cs typeface="Noto Sans CJK SC Regular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itchFamily="34" charset="0"/>
                <a:ea typeface="Noto Sans CJK SC Regular" charset="0"/>
                <a:cs typeface="Noto Sans CJK SC Regular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itchFamily="34" charset="0"/>
                <a:ea typeface="Noto Sans CJK SC Regular" charset="0"/>
                <a:cs typeface="Noto Sans CJK SC Regular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itchFamily="34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</a:pPr>
            <a:r>
              <a:rPr lang="en-US" sz="1463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Course Learning Outcome (CLOs): After Completing this course successfully, the student will be able to…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8749" y="3429001"/>
          <a:ext cx="10335823" cy="284259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0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4989">
                <a:tc>
                  <a:txBody>
                    <a:bodyPr/>
                    <a:lstStyle/>
                    <a:p>
                      <a:pPr marL="0" marR="0" lvl="0" indent="0" rtl="0">
                        <a:lnSpc>
                          <a:spcPct val="107000"/>
                        </a:lnSpc>
                        <a:spcAft>
                          <a:spcPts val="800"/>
                        </a:spcAft>
                        <a:buClr>
                          <a:srgbClr val="000000"/>
                        </a:buClr>
                        <a:buSzPts val="1200"/>
                        <a:buFont typeface="+mj-lt"/>
                        <a:buNone/>
                      </a:pPr>
                      <a:r>
                        <a:rPr lang="en-GB" sz="16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CLO1</a:t>
                      </a:r>
                      <a:endParaRPr lang="en-US" sz="16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/>
                        <a:t>Understand fundamental principles and methodologies of system analysis and design.</a:t>
                      </a:r>
                      <a:endParaRPr lang="en-US" sz="15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</a:endParaRPr>
                    </a:p>
                  </a:txBody>
                  <a:tcPr marL="66866" marR="66866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40">
                <a:tc>
                  <a:txBody>
                    <a:bodyPr/>
                    <a:lstStyle/>
                    <a:p>
                      <a:pPr marL="0" marR="0" lvl="0" indent="0" rtl="0">
                        <a:lnSpc>
                          <a:spcPct val="107000"/>
                        </a:lnSpc>
                        <a:spcAft>
                          <a:spcPts val="800"/>
                        </a:spcAft>
                        <a:buClr>
                          <a:srgbClr val="000000"/>
                        </a:buClr>
                        <a:buSzPts val="1200"/>
                        <a:buFont typeface="+mj-lt"/>
                        <a:buNone/>
                      </a:pPr>
                      <a:r>
                        <a:rPr lang="en-GB" sz="16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CLO2</a:t>
                      </a:r>
                      <a:endParaRPr lang="en-US" sz="16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/>
                        <a:t>Apply system analysis techniques to gather requirements and develop models.</a:t>
                      </a:r>
                      <a:endParaRPr lang="en-US" sz="15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173">
                <a:tc>
                  <a:txBody>
                    <a:bodyPr/>
                    <a:lstStyle/>
                    <a:p>
                      <a:pPr marL="0" marR="0" lvl="0" indent="0" rtl="0">
                        <a:lnSpc>
                          <a:spcPct val="107000"/>
                        </a:lnSpc>
                        <a:spcAft>
                          <a:spcPts val="800"/>
                        </a:spcAft>
                        <a:buClr>
                          <a:srgbClr val="000000"/>
                        </a:buClr>
                        <a:buSzPts val="1200"/>
                        <a:buFont typeface="+mj-lt"/>
                        <a:buNone/>
                      </a:pPr>
                      <a:r>
                        <a:rPr lang="en-GB" sz="16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CLO3 </a:t>
                      </a:r>
                      <a:endParaRPr lang="en-US" sz="16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/>
                        <a:t>Design system architecture, interfaces, and data structures using appropriate tools and strategies.</a:t>
                      </a:r>
                      <a:endParaRPr lang="en-US" sz="15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291">
                <a:tc>
                  <a:txBody>
                    <a:bodyPr/>
                    <a:lstStyle/>
                    <a:p>
                      <a:pPr marL="0" marR="0" lvl="0" indent="0" rtl="0">
                        <a:lnSpc>
                          <a:spcPct val="107000"/>
                        </a:lnSpc>
                        <a:spcAft>
                          <a:spcPts val="800"/>
                        </a:spcAft>
                        <a:buClr>
                          <a:srgbClr val="000000"/>
                        </a:buClr>
                        <a:buSzPts val="1200"/>
                        <a:buFont typeface="+mj-lt"/>
                        <a:buNone/>
                      </a:pPr>
                      <a:r>
                        <a:rPr lang="en-GB" sz="16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CLO4 </a:t>
                      </a:r>
                      <a:endParaRPr lang="en-US" sz="16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/>
                        <a:t>Evaluate and implement system development methodologies, scalability, performance, and security mechanisms.</a:t>
                      </a:r>
                      <a:endParaRPr lang="en-US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6866" marR="66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198">
                <a:tc>
                  <a:txBody>
                    <a:bodyPr/>
                    <a:lstStyle/>
                    <a:p>
                      <a:pPr marL="0" marR="0" lvl="0" indent="0" rtl="0">
                        <a:lnSpc>
                          <a:spcPct val="107000"/>
                        </a:lnSpc>
                        <a:spcAft>
                          <a:spcPts val="800"/>
                        </a:spcAft>
                        <a:buClr>
                          <a:srgbClr val="000000"/>
                        </a:buClr>
                        <a:buSzPts val="1200"/>
                        <a:buFont typeface="+mj-lt"/>
                        <a:buNone/>
                      </a:pPr>
                      <a:r>
                        <a:rPr lang="en-GB" sz="16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CLO5 </a:t>
                      </a:r>
                      <a:endParaRPr lang="en-US" sz="16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Develop, test, and deploy system designs through practical projects and real-world applications.</a:t>
                      </a:r>
                      <a:endParaRPr lang="en-US" sz="15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866" marR="66866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A9644A73-8879-4E06-8451-2BFE065264FB}" type="datetime1">
              <a:rPr lang="en-US">
                <a:latin typeface="Calibri" panose="020F0502020204030204"/>
              </a:rPr>
              <a:pPr defTabSz="457200"/>
              <a:t>6/30/2026</a:t>
            </a:fld>
            <a:endParaRPr lang="en-US">
              <a:latin typeface="Calibri" panose="020F0502020204030204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999BE2EF-F091-4AAC-AE8C-BB77998C4709}" type="slidenum">
              <a:rPr lang="en-US">
                <a:latin typeface="Calibri" panose="020F0502020204030204"/>
              </a:rPr>
              <a:pPr defTabSz="457200"/>
              <a:t>2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749636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9646" y="441723"/>
            <a:ext cx="9611319" cy="5764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Summary of Course Content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490481" y="1946374"/>
          <a:ext cx="9330482" cy="2760311"/>
        </p:xfrm>
        <a:graphic>
          <a:graphicData uri="http://schemas.openxmlformats.org/drawingml/2006/table">
            <a:tbl>
              <a:tblPr/>
              <a:tblGrid>
                <a:gridCol w="54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8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4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7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87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Sl. No.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COURSE CONTENT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HRs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CLOs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3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ts val="1000"/>
                        <a:buFont typeface="+mj-lt"/>
                        <a:buNone/>
                        <a:tabLst/>
                      </a:pPr>
                      <a:r>
                        <a:rPr kumimoji="0" lang="en-GB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GB" sz="15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Design &amp; Analysis: SDLC stages, system development methodologies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CLO1 &amp; CLO2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7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ts val="1000"/>
                        <a:buFont typeface="+mj-lt"/>
                        <a:buNone/>
                        <a:tabLst/>
                      </a:pPr>
                      <a:r>
                        <a:rPr kumimoji="0" lang="en-GB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288" marR="0" lvl="0" indent="0" algn="just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Elements &amp; Types: Elements, types of systems, and system categories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CLO1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ts val="1000"/>
                        <a:buFont typeface="+mj-lt"/>
                        <a:buNone/>
                        <a:tabLst/>
                      </a:pPr>
                      <a:r>
                        <a:rPr kumimoji="0" lang="en-GB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288" marR="0" lvl="0" indent="0" algn="just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 Systems &amp; Role of Analyst and Planning: MIS, DSS, TPS, and role of system analyst &amp; analysis strategies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CLO1, CLO2 &amp; CLO3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5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ts val="1000"/>
                        <a:buFont typeface="+mj-lt"/>
                        <a:buNone/>
                        <a:tabLst/>
                      </a:pPr>
                      <a:r>
                        <a:rPr kumimoji="0" lang="en-GB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288" marR="0" lvl="0" indent="0" algn="just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Structured Analysis &amp; Models: DFDs, ER diagrams</a:t>
                      </a:r>
                      <a:r>
                        <a:rPr lang="en-US" sz="15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dictionaries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CLO4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5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ts val="1000"/>
                        <a:buFont typeface="+mj-lt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288" marR="0" lvl="0" indent="0" algn="just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&amp; Testing: System coding, unit testing, system integration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CLO5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6866" marR="66866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490481" y="4865060"/>
            <a:ext cx="5943600" cy="127797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34328" indent="-334328" algn="just" defTabSz="457200">
              <a:lnSpc>
                <a:spcPct val="107000"/>
              </a:lnSpc>
              <a:buFont typeface="+mj-lt"/>
              <a:buAutoNum type="arabicPeriod"/>
            </a:pPr>
            <a:r>
              <a:rPr lang="en-US" sz="1365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36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 Analysis and Design</a:t>
            </a:r>
            <a:r>
              <a:rPr lang="en-US" sz="1755" dirty="0">
                <a:solidFill>
                  <a:prstClr val="black"/>
                </a:solidFill>
                <a:latin typeface="Calibri" panose="020F0502020204030204"/>
              </a:rPr>
              <a:t>” </a:t>
            </a:r>
            <a:r>
              <a:rPr lang="en-US" sz="136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Elias M </a:t>
            </a:r>
            <a:r>
              <a:rPr lang="en-US" sz="1365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Awad</a:t>
            </a:r>
            <a:endParaRPr lang="en-US" sz="1365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34328" indent="-334328" algn="just" defTabSz="457200">
              <a:lnSpc>
                <a:spcPct val="107000"/>
              </a:lnSpc>
              <a:buFont typeface="+mj-lt"/>
              <a:buAutoNum type="arabicPeriod"/>
            </a:pPr>
            <a:r>
              <a:rPr lang="en-GB" sz="136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"Object-Oriented Systems Analysis and Design Using UML" by Simon Bennett, Steve </a:t>
            </a:r>
            <a:r>
              <a:rPr lang="en-GB" sz="1365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McRobb</a:t>
            </a:r>
            <a:r>
              <a:rPr lang="en-GB" sz="136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Ray Farmer, 2nd Edition</a:t>
            </a:r>
            <a:endParaRPr lang="en-US" sz="1365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34328" indent="-334328" algn="just" defTabSz="457200">
              <a:lnSpc>
                <a:spcPct val="107000"/>
              </a:lnSpc>
              <a:buFont typeface="+mj-lt"/>
              <a:buAutoNum type="arabicPeriod"/>
            </a:pPr>
            <a:r>
              <a:rPr lang="en-GB" sz="136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"Systems Analysis and Design" by Kenneth E. Kendall and Julie E. Kendall, 10th Edition</a:t>
            </a:r>
            <a:endParaRPr lang="en-US" sz="1365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63C69D19-CE65-4DDF-BD97-4BBEAE828523}" type="datetime1">
              <a:rPr lang="en-US">
                <a:latin typeface="Calibri" panose="020F0502020204030204"/>
              </a:rPr>
              <a:pPr defTabSz="457200"/>
              <a:t>6/30/2026</a:t>
            </a:fld>
            <a:endParaRPr lang="en-US">
              <a:latin typeface="Calibri" panose="020F050202020403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999BE2EF-F091-4AAC-AE8C-BB77998C4709}" type="slidenum">
              <a:rPr lang="en-US">
                <a:latin typeface="Calibri" panose="020F0502020204030204"/>
              </a:rPr>
              <a:pPr defTabSz="457200"/>
              <a:t>3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81548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Assessment Pattern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339081" y="1875221"/>
          <a:ext cx="7366608" cy="2129790"/>
        </p:xfrm>
        <a:graphic>
          <a:graphicData uri="http://schemas.openxmlformats.org/drawingml/2006/table">
            <a:tbl>
              <a:tblPr/>
              <a:tblGrid>
                <a:gridCol w="157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9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9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4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4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0081">
                <a:tc>
                  <a:txBody>
                    <a:bodyPr/>
                    <a:lstStyle/>
                    <a:p>
                      <a:pPr marL="69850" marR="0" lvl="0" indent="0" algn="l" defTabSz="914400" rtl="0" eaLnBrk="1" fontAlgn="base" latinLnBrk="0" hangingPunct="1">
                        <a:lnSpc>
                          <a:spcPts val="133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Bloom's Category</a:t>
                      </a:r>
                    </a:p>
                    <a:p>
                      <a:pPr marL="69850" marR="0" lvl="0" indent="0" algn="l" defTabSz="914400" rtl="0" eaLnBrk="1" fontAlgn="base" latinLnBrk="0" hangingPunct="1">
                        <a:lnSpc>
                          <a:spcPts val="13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Marks (out of 90)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44475" marR="0" lvl="0" indent="0" algn="ctr" defTabSz="914400" rtl="0" eaLnBrk="1" fontAlgn="base" latinLnBrk="0" hangingPunct="1">
                        <a:lnSpc>
                          <a:spcPts val="133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Tests</a:t>
                      </a:r>
                    </a:p>
                    <a:p>
                      <a:pPr marL="244475" marR="0" lvl="0" indent="0" algn="ctr" defTabSz="914400" rtl="0" eaLnBrk="1" fontAlgn="base" latinLnBrk="0" hangingPunct="1">
                        <a:lnSpc>
                          <a:spcPts val="13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(30)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4138" marR="0" lvl="0" indent="0" algn="ctr" defTabSz="914400" rtl="0" eaLnBrk="1" fontAlgn="base" latinLnBrk="0" hangingPunct="1">
                        <a:lnSpc>
                          <a:spcPts val="133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Assignments</a:t>
                      </a:r>
                    </a:p>
                    <a:p>
                      <a:pPr marL="84138" marR="0" lvl="0" indent="0" algn="ctr" defTabSz="914400" rtl="0" eaLnBrk="1" fontAlgn="base" latinLnBrk="0" hangingPunct="1">
                        <a:lnSpc>
                          <a:spcPts val="13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(10)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9700" marR="0" lvl="0" indent="0" algn="ctr" defTabSz="914400" rtl="0" eaLnBrk="1" fontAlgn="base" latinLnBrk="0" hangingPunct="1">
                        <a:lnSpc>
                          <a:spcPts val="133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Quizzes</a:t>
                      </a:r>
                    </a:p>
                    <a:p>
                      <a:pPr marL="139700" marR="0" lvl="0" indent="0" algn="ctr" defTabSz="914400" rtl="0" eaLnBrk="1" fontAlgn="base" latinLnBrk="0" hangingPunct="1">
                        <a:lnSpc>
                          <a:spcPts val="13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(10)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65163" marR="0" lvl="0" indent="0" algn="ctr" defTabSz="914400" rtl="0" eaLnBrk="1" fontAlgn="base" latinLnBrk="0" hangingPunct="1">
                        <a:lnSpc>
                          <a:spcPts val="133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Attendance</a:t>
                      </a:r>
                    </a:p>
                    <a:p>
                      <a:pPr marL="665163" marR="0" lvl="0" indent="0" algn="ctr" defTabSz="914400" rtl="0" eaLnBrk="1" fontAlgn="base" latinLnBrk="0" hangingPunct="1">
                        <a:lnSpc>
                          <a:spcPts val="132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(10)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69850" marR="0" lvl="0" indent="0" algn="l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Remember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04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4138" marR="0" lvl="0" indent="0" algn="ctr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03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69850" marR="0" lvl="0" indent="0" algn="l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Understand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05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4138" marR="0" lvl="0" indent="0" algn="ctr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02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04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69850" marR="0" lvl="0" indent="0" algn="l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Apply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42888" marR="0" lvl="0" indent="0" algn="l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06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4138" marR="0" lvl="0" indent="0" algn="ctr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03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03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69850" marR="0" lvl="0" indent="0" algn="l" defTabSz="914400" rtl="0" eaLnBrk="1" fontAlgn="base" latinLnBrk="0" hangingPunct="1">
                        <a:lnSpc>
                          <a:spcPts val="12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Analyze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42888" marR="0" lvl="0" indent="0" algn="l" defTabSz="914400" rtl="0" eaLnBrk="1" fontAlgn="base" latinLnBrk="0" hangingPunct="1">
                        <a:lnSpc>
                          <a:spcPts val="12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05 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69850" marR="0" lvl="0" indent="0" algn="l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Evaluate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05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4138" marR="0" lvl="0" indent="0" algn="ctr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02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03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69850" marR="0" lvl="0" indent="0" algn="l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Create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05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65834" marR="65834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780677" y="3972262"/>
            <a:ext cx="4483416" cy="341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lnSpc>
                <a:spcPct val="93000"/>
              </a:lnSpc>
              <a:buClr>
                <a:srgbClr val="000000"/>
              </a:buClr>
              <a:buSzPct val="100000"/>
            </a:pPr>
            <a:r>
              <a:rPr lang="en-US" sz="1755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SEE- Semester End Examination (40 Marks)</a:t>
            </a:r>
            <a:endParaRPr lang="en-US" sz="1755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1631" y="4346002"/>
          <a:ext cx="5848175" cy="1963020"/>
        </p:xfrm>
        <a:graphic>
          <a:graphicData uri="http://schemas.openxmlformats.org/drawingml/2006/table">
            <a:tbl>
              <a:tblPr/>
              <a:tblGrid>
                <a:gridCol w="2733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168">
                <a:tc>
                  <a:txBody>
                    <a:bodyPr/>
                    <a:lstStyle/>
                    <a:p>
                      <a:pPr marL="69850" marR="0" lvl="0" indent="0" algn="l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Bloom's Category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6866" marR="66866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96950" marR="0" lvl="0" indent="0" algn="ctr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Test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6866" marR="66866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168">
                <a:tc>
                  <a:txBody>
                    <a:bodyPr/>
                    <a:lstStyle/>
                    <a:p>
                      <a:pPr marL="69850" marR="0" lvl="0" indent="0" algn="l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Remember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6866" marR="66866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763" marR="0" lvl="0" indent="0" algn="ctr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05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6866" marR="66866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012">
                <a:tc>
                  <a:txBody>
                    <a:bodyPr/>
                    <a:lstStyle/>
                    <a:p>
                      <a:pPr marL="69850" marR="0" lvl="0" indent="0" algn="l" defTabSz="914400" rtl="0" eaLnBrk="1" fontAlgn="base" latinLnBrk="0" hangingPunct="1">
                        <a:lnSpc>
                          <a:spcPts val="12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Understand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6866" marR="66866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763" marR="0" lvl="0" indent="0" algn="ctr" defTabSz="914400" rtl="0" eaLnBrk="1" fontAlgn="base" latinLnBrk="0" hangingPunct="1">
                        <a:lnSpc>
                          <a:spcPts val="12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05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6866" marR="66866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168">
                <a:tc>
                  <a:txBody>
                    <a:bodyPr/>
                    <a:lstStyle/>
                    <a:p>
                      <a:pPr marL="69850" marR="0" lvl="0" indent="0" algn="l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Apply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6866" marR="66866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96950" marR="0" lvl="0" indent="0" algn="l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    13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6866" marR="66866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168">
                <a:tc>
                  <a:txBody>
                    <a:bodyPr/>
                    <a:lstStyle/>
                    <a:p>
                      <a:pPr marL="69850" marR="0" lvl="0" indent="0" algn="l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Analyze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6866" marR="66866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96950" marR="0" lvl="0" indent="0" algn="l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    07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6866" marR="66866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168">
                <a:tc>
                  <a:txBody>
                    <a:bodyPr/>
                    <a:lstStyle/>
                    <a:p>
                      <a:pPr marL="69850" marR="0" lvl="0" indent="0" algn="l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Evaluate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6866" marR="66866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763" marR="0" lvl="0" indent="0" algn="ctr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05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6866" marR="66866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168">
                <a:tc>
                  <a:txBody>
                    <a:bodyPr/>
                    <a:lstStyle/>
                    <a:p>
                      <a:pPr marL="69850" marR="0" lvl="0" indent="0" algn="l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Create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6866" marR="66866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763" marR="0" lvl="0" indent="0" algn="ctr" defTabSz="914400" rtl="0" eaLnBrk="1" fontAlgn="base" latinLnBrk="0" hangingPunct="1">
                        <a:lnSpc>
                          <a:spcPts val="1275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05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6866" marR="66866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A5B6B033-94A3-486F-95F3-4C18F5AB72D2}" type="datetime1">
              <a:rPr lang="en-US">
                <a:latin typeface="Calibri" panose="020F0502020204030204"/>
              </a:rPr>
              <a:pPr defTabSz="457200"/>
              <a:t>6/30/2026</a:t>
            </a:fld>
            <a:endParaRPr lang="en-US">
              <a:latin typeface="Calibri" panose="020F0502020204030204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999BE2EF-F091-4AAC-AE8C-BB77998C4709}" type="slidenum">
              <a:rPr lang="en-US">
                <a:latin typeface="Calibri" panose="020F0502020204030204"/>
              </a:rPr>
              <a:pPr defTabSz="457200"/>
              <a:t>4</a:t>
            </a:fld>
            <a:endParaRPr lang="en-US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796619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4305" y="178905"/>
            <a:ext cx="8637105" cy="1272209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Course Plan</a:t>
            </a:r>
            <a:endParaRPr lang="en-US" sz="4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999BE2EF-F091-4AAC-AE8C-BB77998C4709}" type="slidenum">
              <a:rPr lang="en-US">
                <a:latin typeface="Calibri" panose="020F0502020204030204"/>
              </a:rPr>
              <a:pPr defTabSz="457200"/>
              <a:t>5</a:t>
            </a:fld>
            <a:endParaRPr lang="en-US">
              <a:latin typeface="Calibri" panose="020F0502020204030204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3209FF9-6622-57A9-154B-29FAE21FE7F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6944" y="1853992"/>
          <a:ext cx="10441057" cy="43470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6746">
                  <a:extLst>
                    <a:ext uri="{9D8B030D-6E8A-4147-A177-3AD203B41FA5}">
                      <a16:colId xmlns:a16="http://schemas.microsoft.com/office/drawing/2014/main" val="2333323980"/>
                    </a:ext>
                  </a:extLst>
                </a:gridCol>
                <a:gridCol w="2127531">
                  <a:extLst>
                    <a:ext uri="{9D8B030D-6E8A-4147-A177-3AD203B41FA5}">
                      <a16:colId xmlns:a16="http://schemas.microsoft.com/office/drawing/2014/main" val="3940667473"/>
                    </a:ext>
                  </a:extLst>
                </a:gridCol>
                <a:gridCol w="3218990">
                  <a:extLst>
                    <a:ext uri="{9D8B030D-6E8A-4147-A177-3AD203B41FA5}">
                      <a16:colId xmlns:a16="http://schemas.microsoft.com/office/drawing/2014/main" val="4196488743"/>
                    </a:ext>
                  </a:extLst>
                </a:gridCol>
                <a:gridCol w="3051557">
                  <a:extLst>
                    <a:ext uri="{9D8B030D-6E8A-4147-A177-3AD203B41FA5}">
                      <a16:colId xmlns:a16="http://schemas.microsoft.com/office/drawing/2014/main" val="1222406064"/>
                    </a:ext>
                  </a:extLst>
                </a:gridCol>
                <a:gridCol w="1236233">
                  <a:extLst>
                    <a:ext uri="{9D8B030D-6E8A-4147-A177-3AD203B41FA5}">
                      <a16:colId xmlns:a16="http://schemas.microsoft.com/office/drawing/2014/main" val="1767637264"/>
                    </a:ext>
                  </a:extLst>
                </a:gridCol>
              </a:tblGrid>
              <a:tr h="3819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Week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Topics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Teaching Strategy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Assessment Strategy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Mapped CLO(s)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extLst>
                  <a:ext uri="{0D108BD9-81ED-4DB2-BD59-A6C34878D82A}">
                    <a16:rowId xmlns:a16="http://schemas.microsoft.com/office/drawing/2014/main" val="1603818810"/>
                  </a:ext>
                </a:extLst>
              </a:tr>
              <a:tr h="3819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1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Introduction to Systems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Lecture, multimedia, discussions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Feedback, Q&amp;A, assessment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CLO1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extLst>
                  <a:ext uri="{0D108BD9-81ED-4DB2-BD59-A6C34878D82A}">
                    <a16:rowId xmlns:a16="http://schemas.microsoft.com/office/drawing/2014/main" val="2487643376"/>
                  </a:ext>
                </a:extLst>
              </a:tr>
              <a:tr h="5772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2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System Elements and Categories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Lecture, discussions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Q&amp;A, Midterm assessments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CLO1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extLst>
                  <a:ext uri="{0D108BD9-81ED-4DB2-BD59-A6C34878D82A}">
                    <a16:rowId xmlns:a16="http://schemas.microsoft.com/office/drawing/2014/main" val="4219735404"/>
                  </a:ext>
                </a:extLst>
              </a:tr>
              <a:tr h="5772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3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Introduction to Systems Analysis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Lecture, multimedia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Midterm assessments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CLO1, CLO2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extLst>
                  <a:ext uri="{0D108BD9-81ED-4DB2-BD59-A6C34878D82A}">
                    <a16:rowId xmlns:a16="http://schemas.microsoft.com/office/drawing/2014/main" val="378522562"/>
                  </a:ext>
                </a:extLst>
              </a:tr>
              <a:tr h="5772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4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Techniques in Systems Analysis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Lecture, discussions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Midterm assessments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CLO2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extLst>
                  <a:ext uri="{0D108BD9-81ED-4DB2-BD59-A6C34878D82A}">
                    <a16:rowId xmlns:a16="http://schemas.microsoft.com/office/drawing/2014/main" val="2759797304"/>
                  </a:ext>
                </a:extLst>
              </a:tr>
              <a:tr h="3819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5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System Design Principles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Lecture, discussions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 Feedback, Q&amp;A, assessment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CLO1, CLO3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extLst>
                  <a:ext uri="{0D108BD9-81ED-4DB2-BD59-A6C34878D82A}">
                    <a16:rowId xmlns:a16="http://schemas.microsoft.com/office/drawing/2014/main" val="1419511025"/>
                  </a:ext>
                </a:extLst>
              </a:tr>
              <a:tr h="3819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6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System Design Tools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Lecture, multimedia, discussions 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 Q&amp;A, assignments 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CLO3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extLst>
                  <a:ext uri="{0D108BD9-81ED-4DB2-BD59-A6C34878D82A}">
                    <a16:rowId xmlns:a16="http://schemas.microsoft.com/office/drawing/2014/main" val="4044313722"/>
                  </a:ext>
                </a:extLst>
              </a:tr>
              <a:tr h="3819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7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SDLC Overview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Lecture, multimedia, discussions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Ethical analysis, Final assessments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CLO1, CLO2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extLst>
                  <a:ext uri="{0D108BD9-81ED-4DB2-BD59-A6C34878D82A}">
                    <a16:rowId xmlns:a16="http://schemas.microsoft.com/office/drawing/2014/main" val="2711471833"/>
                  </a:ext>
                </a:extLst>
              </a:tr>
              <a:tr h="5772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8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SDLC - System Design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Interactive lectures, examples from real-world applications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Final term assessments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CLO3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extLst>
                  <a:ext uri="{0D108BD9-81ED-4DB2-BD59-A6C34878D82A}">
                    <a16:rowId xmlns:a16="http://schemas.microsoft.com/office/drawing/2014/main" val="4094740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80886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13042-5269-B134-530B-F83060E46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>
                <a:latin typeface="Times New Roman" pitchFamily="18" charset="0"/>
                <a:cs typeface="Times New Roman" pitchFamily="18" charset="0"/>
              </a:rPr>
              <a:t>Course Plan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7A303D5-D822-95CF-AE43-6C310E4A95A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47994" y="1896508"/>
          <a:ext cx="10270918" cy="4404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088">
                  <a:extLst>
                    <a:ext uri="{9D8B030D-6E8A-4147-A177-3AD203B41FA5}">
                      <a16:colId xmlns:a16="http://schemas.microsoft.com/office/drawing/2014/main" val="3908649138"/>
                    </a:ext>
                  </a:extLst>
                </a:gridCol>
                <a:gridCol w="2872798">
                  <a:extLst>
                    <a:ext uri="{9D8B030D-6E8A-4147-A177-3AD203B41FA5}">
                      <a16:colId xmlns:a16="http://schemas.microsoft.com/office/drawing/2014/main" val="842463142"/>
                    </a:ext>
                  </a:extLst>
                </a:gridCol>
                <a:gridCol w="2987294">
                  <a:extLst>
                    <a:ext uri="{9D8B030D-6E8A-4147-A177-3AD203B41FA5}">
                      <a16:colId xmlns:a16="http://schemas.microsoft.com/office/drawing/2014/main" val="995081431"/>
                    </a:ext>
                  </a:extLst>
                </a:gridCol>
                <a:gridCol w="2602172">
                  <a:extLst>
                    <a:ext uri="{9D8B030D-6E8A-4147-A177-3AD203B41FA5}">
                      <a16:colId xmlns:a16="http://schemas.microsoft.com/office/drawing/2014/main" val="1996605651"/>
                    </a:ext>
                  </a:extLst>
                </a:gridCol>
                <a:gridCol w="1190566">
                  <a:extLst>
                    <a:ext uri="{9D8B030D-6E8A-4147-A177-3AD203B41FA5}">
                      <a16:colId xmlns:a16="http://schemas.microsoft.com/office/drawing/2014/main" val="1833826626"/>
                    </a:ext>
                  </a:extLst>
                </a:gridCol>
              </a:tblGrid>
              <a:tr h="4179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Week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Topics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Teaching Strategy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Assessment Strategy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Mapped CLO(s)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extLst>
                  <a:ext uri="{0D108BD9-81ED-4DB2-BD59-A6C34878D82A}">
                    <a16:rowId xmlns:a16="http://schemas.microsoft.com/office/drawing/2014/main" val="659471355"/>
                  </a:ext>
                </a:extLst>
              </a:tr>
              <a:tr h="4313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9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Implementation Strategies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Lecture, multimedia, discussions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Final term assessments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CLO4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extLst>
                  <a:ext uri="{0D108BD9-81ED-4DB2-BD59-A6C34878D82A}">
                    <a16:rowId xmlns:a16="http://schemas.microsoft.com/office/drawing/2014/main" val="557723395"/>
                  </a:ext>
                </a:extLst>
              </a:tr>
              <a:tr h="4313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10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Testing in Systems Design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Revision through Q&amp;A, group activities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Participation, group evaluation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CLO4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extLst>
                  <a:ext uri="{0D108BD9-81ED-4DB2-BD59-A6C34878D82A}">
                    <a16:rowId xmlns:a16="http://schemas.microsoft.com/office/drawing/2014/main" val="280896075"/>
                  </a:ext>
                </a:extLst>
              </a:tr>
              <a:tr h="4313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11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Scalability and Performance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Lecture, multimedia, discussions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Feedback, Q&amp;A, assessment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CLO4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extLst>
                  <a:ext uri="{0D108BD9-81ED-4DB2-BD59-A6C34878D82A}">
                    <a16:rowId xmlns:a16="http://schemas.microsoft.com/office/drawing/2014/main" val="1036625607"/>
                  </a:ext>
                </a:extLst>
              </a:tr>
              <a:tr h="4179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12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Security in System Design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Lecture, discussions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Q&amp;A, Midterm assessments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CLO4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extLst>
                  <a:ext uri="{0D108BD9-81ED-4DB2-BD59-A6C34878D82A}">
                    <a16:rowId xmlns:a16="http://schemas.microsoft.com/office/drawing/2014/main" val="3863434866"/>
                  </a:ext>
                </a:extLst>
              </a:tr>
              <a:tr h="4179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13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Advanced Analysis Techniques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Lecture, multimedia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Midterm assessments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CLO2, CLO4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extLst>
                  <a:ext uri="{0D108BD9-81ED-4DB2-BD59-A6C34878D82A}">
                    <a16:rowId xmlns:a16="http://schemas.microsoft.com/office/drawing/2014/main" val="2194104688"/>
                  </a:ext>
                </a:extLst>
              </a:tr>
              <a:tr h="4179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14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Challenges in System Design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Lecture, discussions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Midterm assessments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CLO4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extLst>
                  <a:ext uri="{0D108BD9-81ED-4DB2-BD59-A6C34878D82A}">
                    <a16:rowId xmlns:a16="http://schemas.microsoft.com/office/drawing/2014/main" val="268551887"/>
                  </a:ext>
                </a:extLst>
              </a:tr>
              <a:tr h="4179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15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Roles and Responsibilities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Lecture, discussions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 dirty="0">
                          <a:effectLst/>
                        </a:rPr>
                        <a:t> Feedback, Q&amp;A, assessment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CLO1, CLO2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extLst>
                  <a:ext uri="{0D108BD9-81ED-4DB2-BD59-A6C34878D82A}">
                    <a16:rowId xmlns:a16="http://schemas.microsoft.com/office/drawing/2014/main" val="3730254064"/>
                  </a:ext>
                </a:extLst>
              </a:tr>
              <a:tr h="4313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16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Real-World Applications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Lecture, multimedia, discussions 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 Q&amp;A, assignments 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CLO5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extLst>
                  <a:ext uri="{0D108BD9-81ED-4DB2-BD59-A6C34878D82A}">
                    <a16:rowId xmlns:a16="http://schemas.microsoft.com/office/drawing/2014/main" val="3725025228"/>
                  </a:ext>
                </a:extLst>
              </a:tr>
              <a:tr h="4313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17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Capstone Project and Review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Lecture, multimedia, discussions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200">
                          <a:effectLst/>
                        </a:rPr>
                        <a:t>Ethical analysis, Final assessments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CLO5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324" marR="37324" marT="0" marB="0" anchor="ctr"/>
                </a:tc>
                <a:extLst>
                  <a:ext uri="{0D108BD9-81ED-4DB2-BD59-A6C34878D82A}">
                    <a16:rowId xmlns:a16="http://schemas.microsoft.com/office/drawing/2014/main" val="292958358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2B2E5-50FC-C6C7-2F99-CC2BDB3F2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3A38C0D9-1C1A-43C3-849A-4C12950DC872}" type="datetime1">
              <a:rPr lang="en-US">
                <a:latin typeface="Calibri" panose="020F0502020204030204"/>
              </a:rPr>
              <a:pPr defTabSz="457200"/>
              <a:t>6/30/2026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37E1C-E30F-78EC-314E-3E2043A49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AD33D9D5-3F94-4D0E-99A1-5E245C39E9B7}" type="slidenum">
              <a:rPr lang="en-US">
                <a:latin typeface="Calibri" panose="020F0502020204030204"/>
              </a:rPr>
              <a:pPr defTabSz="457200"/>
              <a:t>6</a:t>
            </a:fld>
            <a:endParaRPr lang="en-US" dirty="0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591772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sz="8000" dirty="0">
                <a:solidFill>
                  <a:schemeClr val="tx1"/>
                </a:solidFill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tx1"/>
                </a:solidFill>
                <a:cs typeface="Times New Roman" panose="02020603050405020304" pitchFamily="18" charset="0"/>
              </a:rPr>
              <a:t>week 1&amp;2</a:t>
            </a:r>
            <a:br>
              <a:rPr lang="en-US" sz="8000" dirty="0">
                <a:solidFill>
                  <a:schemeClr val="tx1"/>
                </a:solidFill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tx1"/>
                </a:solidFill>
                <a:cs typeface="Times New Roman" panose="02020603050405020304" pitchFamily="18" charset="0"/>
              </a:rPr>
              <a:t>Systems Analysis and Design Basics </a:t>
            </a:r>
          </a:p>
        </p:txBody>
      </p:sp>
    </p:spTree>
    <p:extLst>
      <p:ext uri="{BB962C8B-B14F-4D97-AF65-F5344CB8AC3E}">
        <p14:creationId xmlns:p14="http://schemas.microsoft.com/office/powerpoint/2010/main" val="243177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Systems Analysis and Design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752" y="1858886"/>
            <a:ext cx="11386720" cy="243398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tx1"/>
                </a:solidFill>
              </a:rPr>
              <a:t>Systems development is systematic process which includes phases such as planning, analysis, design, deployment, and maintenance.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tx1"/>
                </a:solidFill>
              </a:rPr>
              <a:t> Systems analysis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tx1"/>
                </a:solidFill>
              </a:rPr>
              <a:t> Systems design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0D66AF88-B53C-4FCF-8273-295C073C6491}" type="datetime1">
              <a:rPr lang="en-US">
                <a:latin typeface="Calibri" panose="020F0502020204030204"/>
              </a:rPr>
              <a:pPr defTabSz="457200"/>
              <a:t>6/30/2026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AD33D9D5-3F94-4D0E-99A1-5E245C39E9B7}" type="slidenum">
              <a:rPr lang="en-US">
                <a:latin typeface="Calibri" panose="020F0502020204030204"/>
              </a:rPr>
              <a:pPr defTabSz="457200"/>
              <a:t>8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AutoShape 4" descr="In-Depth: Interfacing an I2C LCD with Arduino"/>
          <p:cNvSpPr>
            <a:spLocks noChangeAspect="1" noChangeArrowheads="1"/>
          </p:cNvSpPr>
          <p:nvPr/>
        </p:nvSpPr>
        <p:spPr bwMode="auto">
          <a:xfrm>
            <a:off x="3079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61222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Systems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734" y="1896103"/>
            <a:ext cx="11317968" cy="440494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tx1"/>
                </a:solidFill>
              </a:rPr>
              <a:t>It is a process of collecting and interpreting facts, identifying the problems, and decomposition of a system into its components.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tx1"/>
                </a:solidFill>
              </a:rPr>
              <a:t>System analysis is conducted for the purpose of studying a system or its parts in order to identify its objectives. It is a problem solving technique that improves the system and ensures that all the components of the system work efficiently to accomplish their purpose.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tx1"/>
                </a:solidFill>
              </a:rPr>
              <a:t>Analysis specifies what the system should do.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0D66AF88-B53C-4FCF-8273-295C073C6491}" type="datetime1">
              <a:rPr lang="en-US">
                <a:latin typeface="Calibri" panose="020F0502020204030204"/>
              </a:rPr>
              <a:pPr defTabSz="457200"/>
              <a:t>6/30/2026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AD33D9D5-3F94-4D0E-99A1-5E245C39E9B7}" type="slidenum">
              <a:rPr lang="en-US">
                <a:latin typeface="Calibri" panose="020F0502020204030204"/>
              </a:rPr>
              <a:pPr defTabSz="457200"/>
              <a:t>9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AutoShape 4" descr="In-Depth: Interfacing an I2C LCD with Arduino"/>
          <p:cNvSpPr>
            <a:spLocks noChangeAspect="1" noChangeArrowheads="1"/>
          </p:cNvSpPr>
          <p:nvPr/>
        </p:nvSpPr>
        <p:spPr bwMode="auto">
          <a:xfrm>
            <a:off x="3079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88899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Systems Design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75" y="1875767"/>
            <a:ext cx="11399611" cy="440494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tx1"/>
                </a:solidFill>
              </a:rPr>
              <a:t>It is a process of planning a new business system or replacing an existing system by defining its components or modules to satisfy the specific requirements.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tx1"/>
                </a:solidFill>
              </a:rPr>
              <a:t> Before planning, you need to understand the old system thoroughly and determine how computers can best be used in order to operate efficiently.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tx1"/>
                </a:solidFill>
              </a:rPr>
              <a:t>System Design focuses on how to accomplish the objective of the system. 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0D66AF88-B53C-4FCF-8273-295C073C6491}" type="datetime1">
              <a:rPr lang="en-US">
                <a:latin typeface="Calibri" panose="020F0502020204030204"/>
              </a:rPr>
              <a:pPr defTabSz="457200"/>
              <a:t>6/30/2026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AD33D9D5-3F94-4D0E-99A1-5E245C39E9B7}" type="slidenum">
              <a:rPr lang="en-US">
                <a:latin typeface="Calibri" panose="020F0502020204030204"/>
              </a:rPr>
              <a:pPr defTabSz="457200"/>
              <a:t>10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AutoShape 4" descr="In-Depth: Interfacing an I2C LCD with Arduino"/>
          <p:cNvSpPr>
            <a:spLocks noChangeAspect="1" noChangeArrowheads="1"/>
          </p:cNvSpPr>
          <p:nvPr/>
        </p:nvSpPr>
        <p:spPr bwMode="auto">
          <a:xfrm>
            <a:off x="3079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Picture 2" descr="What is System Designing? Definition Of System Designing | Its Basic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487" y="4343400"/>
            <a:ext cx="6466114" cy="1868087"/>
          </a:xfrm>
          <a:prstGeom prst="snip2SameRect">
            <a:avLst>
              <a:gd name="adj1" fmla="val 23347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327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Properties of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2249" y="1539558"/>
            <a:ext cx="8735787" cy="428808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endParaRPr lang="en-GB" sz="24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tx1"/>
                </a:solidFill>
              </a:rPr>
              <a:t>Organization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tx1"/>
                </a:solidFill>
              </a:rPr>
              <a:t>Interaction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tx1"/>
                </a:solidFill>
              </a:rPr>
              <a:t>Interdependence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tx1"/>
                </a:solidFill>
              </a:rPr>
              <a:t>Integration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tx1"/>
                </a:solidFill>
              </a:rPr>
              <a:t>Integration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tx1"/>
                </a:solidFill>
              </a:rPr>
              <a:t>Central Objective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0D66AF88-B53C-4FCF-8273-295C073C6491}" type="datetime1">
              <a:rPr lang="en-US">
                <a:latin typeface="Calibri" panose="020F0502020204030204"/>
              </a:rPr>
              <a:pPr defTabSz="457200"/>
              <a:t>6/30/2026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AD33D9D5-3F94-4D0E-99A1-5E245C39E9B7}" type="slidenum">
              <a:rPr lang="en-US">
                <a:latin typeface="Calibri" panose="020F0502020204030204"/>
              </a:rPr>
              <a:pPr defTabSz="457200"/>
              <a:t>11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AutoShape 4" descr="In-Depth: Interfacing an I2C LCD with Arduino"/>
          <p:cNvSpPr>
            <a:spLocks noChangeAspect="1" noChangeArrowheads="1"/>
          </p:cNvSpPr>
          <p:nvPr/>
        </p:nvSpPr>
        <p:spPr bwMode="auto">
          <a:xfrm>
            <a:off x="3079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78359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Properties of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2967" y="1814363"/>
            <a:ext cx="6457129" cy="428808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sz="2400" b="1" dirty="0">
                <a:solidFill>
                  <a:schemeClr val="tx1"/>
                </a:solidFill>
              </a:rPr>
              <a:t>Organization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tx1"/>
                </a:solidFill>
              </a:rPr>
              <a:t>Organization implies structure and order. It is the arrangement of components that helps to achieve predetermined objectives.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sz="24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202122"/>
                </a:solidFill>
                <a:latin typeface="Arial" panose="020B0604020202020204" pitchFamily="34" charset="0"/>
              </a:rPr>
              <a:t>An </a:t>
            </a:r>
            <a:r>
              <a:rPr lang="en-US" sz="2000" b="1" dirty="0">
                <a:solidFill>
                  <a:srgbClr val="202122"/>
                </a:solidFill>
                <a:latin typeface="Arial" panose="020B0604020202020204" pitchFamily="34" charset="0"/>
              </a:rPr>
              <a:t>organization</a:t>
            </a:r>
            <a:r>
              <a:rPr lang="en-US" sz="2000" dirty="0">
                <a:solidFill>
                  <a:srgbClr val="202122"/>
                </a:solidFill>
                <a:latin typeface="Arial" panose="020B0604020202020204" pitchFamily="34" charset="0"/>
              </a:rPr>
              <a:t> or </a:t>
            </a:r>
            <a:r>
              <a:rPr lang="en-US" sz="2000" b="1" dirty="0" err="1">
                <a:solidFill>
                  <a:srgbClr val="202122"/>
                </a:solidFill>
                <a:latin typeface="Arial" panose="020B0604020202020204" pitchFamily="34" charset="0"/>
              </a:rPr>
              <a:t>organisation</a:t>
            </a:r>
            <a:r>
              <a:rPr lang="en-US" sz="2000" dirty="0">
                <a:solidFill>
                  <a:srgbClr val="202122"/>
                </a:solidFill>
                <a:latin typeface="Arial" panose="020B0604020202020204" pitchFamily="34" charset="0"/>
              </a:rPr>
              <a:t> is an </a:t>
            </a:r>
            <a:r>
              <a:rPr lang="en-US" sz="2000" dirty="0">
                <a:latin typeface="Arial" panose="020B0604020202020204" pitchFamily="34" charset="0"/>
              </a:rPr>
              <a:t>entity</a:t>
            </a:r>
            <a:r>
              <a:rPr lang="en-US" sz="2000" dirty="0">
                <a:solidFill>
                  <a:srgbClr val="202122"/>
                </a:solidFill>
                <a:latin typeface="Arial" panose="020B0604020202020204" pitchFamily="34" charset="0"/>
              </a:rPr>
              <a:t>—such as a </a:t>
            </a:r>
            <a:r>
              <a:rPr lang="en-US" sz="2000" dirty="0">
                <a:latin typeface="Arial" panose="020B0604020202020204" pitchFamily="34" charset="0"/>
              </a:rPr>
              <a:t>company</a:t>
            </a:r>
            <a:r>
              <a:rPr lang="en-US" sz="2000" dirty="0">
                <a:solidFill>
                  <a:srgbClr val="202122"/>
                </a:solidFill>
                <a:latin typeface="Arial" panose="020B0604020202020204" pitchFamily="34" charset="0"/>
              </a:rPr>
              <a:t>, or </a:t>
            </a:r>
            <a:r>
              <a:rPr lang="en-US" sz="2000" dirty="0">
                <a:latin typeface="Arial" panose="020B0604020202020204" pitchFamily="34" charset="0"/>
              </a:rPr>
              <a:t>corporation</a:t>
            </a:r>
            <a:r>
              <a:rPr lang="en-US" sz="2000" dirty="0">
                <a:solidFill>
                  <a:srgbClr val="202122"/>
                </a:solidFill>
                <a:latin typeface="Arial" panose="020B0604020202020204" pitchFamily="34" charset="0"/>
              </a:rPr>
              <a:t> or an institution (</a:t>
            </a:r>
            <a:r>
              <a:rPr lang="en-US" sz="2000" dirty="0">
                <a:latin typeface="Arial" panose="020B0604020202020204" pitchFamily="34" charset="0"/>
              </a:rPr>
              <a:t>formal organization</a:t>
            </a:r>
            <a:r>
              <a:rPr lang="en-US" sz="2000" dirty="0">
                <a:solidFill>
                  <a:srgbClr val="202122"/>
                </a:solidFill>
                <a:latin typeface="Arial" panose="020B0604020202020204" pitchFamily="34" charset="0"/>
              </a:rPr>
              <a:t>), or an </a:t>
            </a:r>
            <a:r>
              <a:rPr lang="en-US" sz="2000" dirty="0">
                <a:latin typeface="Arial" panose="020B0604020202020204" pitchFamily="34" charset="0"/>
              </a:rPr>
              <a:t>association</a:t>
            </a:r>
            <a:r>
              <a:rPr lang="en-US" sz="2000" dirty="0">
                <a:solidFill>
                  <a:srgbClr val="202122"/>
                </a:solidFill>
                <a:latin typeface="Arial" panose="020B0604020202020204" pitchFamily="34" charset="0"/>
              </a:rPr>
              <a:t>—comprising one or more </a:t>
            </a:r>
            <a:r>
              <a:rPr lang="en-US" sz="2000" dirty="0">
                <a:latin typeface="Arial" panose="020B0604020202020204" pitchFamily="34" charset="0"/>
              </a:rPr>
              <a:t>people</a:t>
            </a:r>
            <a:r>
              <a:rPr lang="en-US" sz="2000" dirty="0">
                <a:solidFill>
                  <a:srgbClr val="202122"/>
                </a:solidFill>
                <a:latin typeface="Arial" panose="020B0604020202020204" pitchFamily="34" charset="0"/>
              </a:rPr>
              <a:t> and having a particular purpose.</a:t>
            </a:r>
            <a:endParaRPr lang="en-GB" sz="24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GB" sz="24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0D66AF88-B53C-4FCF-8273-295C073C6491}" type="datetime1">
              <a:rPr lang="en-US">
                <a:latin typeface="Calibri" panose="020F0502020204030204"/>
              </a:rPr>
              <a:pPr defTabSz="457200"/>
              <a:t>6/30/2026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AD33D9D5-3F94-4D0E-99A1-5E245C39E9B7}" type="slidenum">
              <a:rPr lang="en-US">
                <a:latin typeface="Calibri" panose="020F0502020204030204"/>
              </a:rPr>
              <a:pPr defTabSz="457200"/>
              <a:t>12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AutoShape 4" descr="In-Depth: Interfacing an I2C LCD with Arduino"/>
          <p:cNvSpPr>
            <a:spLocks noChangeAspect="1" noChangeArrowheads="1"/>
          </p:cNvSpPr>
          <p:nvPr/>
        </p:nvSpPr>
        <p:spPr bwMode="auto">
          <a:xfrm>
            <a:off x="3079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6EF607-3A98-FB74-5C96-EEDC7D74C1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328" y="1814364"/>
            <a:ext cx="4551454" cy="358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3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4B310-98E1-4E56-0856-7A508AB54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Properties of Systems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B49E8-E455-409E-C7E8-0704BC885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019" y="1737361"/>
            <a:ext cx="5239320" cy="402336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sz="2000" b="1" dirty="0">
                <a:solidFill>
                  <a:schemeClr val="tx1"/>
                </a:solidFill>
              </a:rPr>
              <a:t>Interaction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tx1"/>
                </a:solidFill>
              </a:rPr>
              <a:t>Interaction defined by the manner in which the components operate with each other. For example, in an organization, purchasing department must interact with production department and payroll with personnel department.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000" b="1" dirty="0">
                <a:solidFill>
                  <a:schemeClr val="tx1"/>
                </a:solidFill>
              </a:rPr>
              <a:t>Interdependence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tx1"/>
                </a:solidFill>
              </a:rPr>
              <a:t> Interdependence means how the components of a system depend on one another. For proper functioning, the components are coordinated and linked together according to a specified plan. The output of one subsystem is the required by other subsystem as input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1BE75-AC64-EAA1-574B-C46642B01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3A38C0D9-1C1A-43C3-849A-4C12950DC872}" type="datetime1">
              <a:rPr lang="en-US">
                <a:latin typeface="Calibri" panose="020F0502020204030204"/>
              </a:rPr>
              <a:pPr defTabSz="457200"/>
              <a:t>6/30/2026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FBF48-D5D8-2FE6-FDE2-08271F453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AD33D9D5-3F94-4D0E-99A1-5E245C39E9B7}" type="slidenum">
              <a:rPr lang="en-US">
                <a:latin typeface="Calibri" panose="020F0502020204030204"/>
              </a:rPr>
              <a:pPr defTabSz="457200"/>
              <a:t>13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7BD82F-7A44-71EB-6AF6-E1C773F77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663" y="1879170"/>
            <a:ext cx="5039137" cy="346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290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Properties of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76" y="1737362"/>
            <a:ext cx="6450634" cy="4235057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sz="2400" b="1" dirty="0">
                <a:solidFill>
                  <a:schemeClr val="tx1"/>
                </a:solidFill>
              </a:rPr>
              <a:t>Integration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205" dirty="0">
                <a:solidFill>
                  <a:schemeClr val="tx1"/>
                </a:solidFill>
              </a:rPr>
              <a:t>Integration is concerned with how a system components are connected together. It means that the parts of the system work together within the system even if each part performs a unique function.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400" b="1" dirty="0">
                <a:solidFill>
                  <a:schemeClr val="tx1"/>
                </a:solidFill>
              </a:rPr>
              <a:t>Central Objective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205" dirty="0">
                <a:solidFill>
                  <a:schemeClr val="tx1"/>
                </a:solidFill>
              </a:rPr>
              <a:t>The objective of system must be central. It may be real or stated. It is not uncommon for an organization to state an objective and operate to achieve another.</a:t>
            </a:r>
          </a:p>
          <a:p>
            <a:pPr lvl="1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205" dirty="0">
                <a:solidFill>
                  <a:schemeClr val="tx1"/>
                </a:solidFill>
              </a:rPr>
              <a:t>The users must know the main objective of a computer application early in the analysis for a successful design and conversion.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0D66AF88-B53C-4FCF-8273-295C073C6491}" type="datetime1">
              <a:rPr lang="en-US">
                <a:latin typeface="Calibri" panose="020F0502020204030204"/>
              </a:rPr>
              <a:pPr defTabSz="457200"/>
              <a:t>6/30/2026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AD33D9D5-3F94-4D0E-99A1-5E245C39E9B7}" type="slidenum">
              <a:rPr lang="en-US">
                <a:latin typeface="Calibri" panose="020F0502020204030204"/>
              </a:rPr>
              <a:pPr defTabSz="457200"/>
              <a:t>14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AutoShape 4" descr="In-Depth: Interfacing an I2C LCD with Arduino"/>
          <p:cNvSpPr>
            <a:spLocks noChangeAspect="1" noChangeArrowheads="1"/>
          </p:cNvSpPr>
          <p:nvPr/>
        </p:nvSpPr>
        <p:spPr bwMode="auto">
          <a:xfrm>
            <a:off x="3079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DB889B-7ACC-9F5A-845D-ECBCDD84F8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976" y="1947088"/>
            <a:ext cx="4073128" cy="387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25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1142</Words>
  <Application>Microsoft Office PowerPoint</Application>
  <PresentationFormat>Widescreen</PresentationFormat>
  <Paragraphs>278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Calibri Light (Headings)</vt:lpstr>
      <vt:lpstr>Century Gothic (Headings)</vt:lpstr>
      <vt:lpstr>Times New Roman</vt:lpstr>
      <vt:lpstr>Wingdings</vt:lpstr>
      <vt:lpstr>Office Theme</vt:lpstr>
      <vt:lpstr>Retrospect</vt:lpstr>
      <vt:lpstr>CSE0613-2201 System Analysis &amp; Design</vt:lpstr>
      <vt:lpstr> System Analysis &amp; Design</vt:lpstr>
      <vt:lpstr>Summary of Course Content</vt:lpstr>
      <vt:lpstr>Assessment Pattern</vt:lpstr>
      <vt:lpstr>Course Plan</vt:lpstr>
      <vt:lpstr>Course Plan</vt:lpstr>
      <vt:lpstr> week 1&amp;2 Systems Analysis and Design Basics </vt:lpstr>
      <vt:lpstr>Systems Analysis and Design </vt:lpstr>
      <vt:lpstr>Systems Analysis</vt:lpstr>
      <vt:lpstr>Systems Design </vt:lpstr>
      <vt:lpstr>Properties of Systems</vt:lpstr>
      <vt:lpstr>Properties of Systems</vt:lpstr>
      <vt:lpstr>Properties of Systems</vt:lpstr>
      <vt:lpstr>Properties of Systems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partho sarathi sarker</dc:creator>
  <cp:lastModifiedBy>partho sarathi sarker</cp:lastModifiedBy>
  <cp:revision>1</cp:revision>
  <dcterms:created xsi:type="dcterms:W3CDTF">2026-06-30T17:01:54Z</dcterms:created>
  <dcterms:modified xsi:type="dcterms:W3CDTF">2026-06-30T17:04:39Z</dcterms:modified>
</cp:coreProperties>
</file>