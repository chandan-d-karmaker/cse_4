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316" r:id="rId2"/>
    <p:sldId id="317" r:id="rId3"/>
    <p:sldId id="315" r:id="rId4"/>
    <p:sldId id="318" r:id="rId5"/>
    <p:sldId id="334" r:id="rId6"/>
    <p:sldId id="319" r:id="rId7"/>
    <p:sldId id="320" r:id="rId8"/>
    <p:sldId id="321" r:id="rId9"/>
    <p:sldId id="322" r:id="rId10"/>
    <p:sldId id="323" r:id="rId11"/>
    <p:sldId id="324" r:id="rId12"/>
    <p:sldId id="325" r:id="rId13"/>
    <p:sldId id="327" r:id="rId14"/>
    <p:sldId id="328" r:id="rId15"/>
    <p:sldId id="329" r:id="rId16"/>
    <p:sldId id="330" r:id="rId17"/>
    <p:sldId id="331" r:id="rId18"/>
    <p:sldId id="332" r:id="rId19"/>
    <p:sldId id="333" r:id="rId20"/>
    <p:sldId id="335" r:id="rId21"/>
    <p:sldId id="336" r:id="rId22"/>
    <p:sldId id="338" r:id="rId23"/>
    <p:sldId id="337" r:id="rId24"/>
    <p:sldId id="273" r:id="rId25"/>
  </p:sldIdLst>
  <p:sldSz cx="18288000" cy="10287000"/>
  <p:notesSz cx="18288000" cy="10287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00" autoAdjust="0"/>
    <p:restoredTop sz="94660"/>
  </p:normalViewPr>
  <p:slideViewPr>
    <p:cSldViewPr>
      <p:cViewPr>
        <p:scale>
          <a:sx n="50" d="100"/>
          <a:sy n="50" d="100"/>
        </p:scale>
        <p:origin x="-642" y="246"/>
      </p:cViewPr>
      <p:guideLst>
        <p:guide orient="horz" pos="2880"/>
        <p:guide pos="2160"/>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43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0358438" y="0"/>
            <a:ext cx="7924800" cy="514350"/>
          </a:xfrm>
          <a:prstGeom prst="rect">
            <a:avLst/>
          </a:prstGeom>
        </p:spPr>
        <p:txBody>
          <a:bodyPr vert="horz" lIns="91440" tIns="45720" rIns="91440" bIns="45720" rtlCol="0"/>
          <a:lstStyle>
            <a:lvl1pPr algn="r">
              <a:defRPr sz="1200"/>
            </a:lvl1pPr>
          </a:lstStyle>
          <a:p>
            <a:fld id="{CD7DE000-452F-458D-97E8-5E8704B20F1E}" type="datetimeFigureOut">
              <a:rPr lang="en-US" smtClean="0"/>
              <a:t>9/13/2026</a:t>
            </a:fld>
            <a:endParaRPr lang="en-US"/>
          </a:p>
        </p:txBody>
      </p:sp>
      <p:sp>
        <p:nvSpPr>
          <p:cNvPr id="4" name="Slide Image Placeholder 3"/>
          <p:cNvSpPr>
            <a:spLocks noGrp="1" noRot="1" noChangeAspect="1"/>
          </p:cNvSpPr>
          <p:nvPr>
            <p:ph type="sldImg" idx="2"/>
          </p:nvPr>
        </p:nvSpPr>
        <p:spPr>
          <a:xfrm>
            <a:off x="5715000" y="771525"/>
            <a:ext cx="6858000" cy="3857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828800" y="4886325"/>
            <a:ext cx="14630400" cy="46291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771063"/>
            <a:ext cx="7924800" cy="5143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0358438" y="9771063"/>
            <a:ext cx="7924800" cy="514350"/>
          </a:xfrm>
          <a:prstGeom prst="rect">
            <a:avLst/>
          </a:prstGeom>
        </p:spPr>
        <p:txBody>
          <a:bodyPr vert="horz" lIns="91440" tIns="45720" rIns="91440" bIns="45720" rtlCol="0" anchor="b"/>
          <a:lstStyle>
            <a:lvl1pPr algn="r">
              <a:defRPr sz="1200"/>
            </a:lvl1pPr>
          </a:lstStyle>
          <a:p>
            <a:fld id="{AEAF944D-B155-46F9-91BD-D015D810679E}" type="slidenum">
              <a:rPr lang="en-US" smtClean="0"/>
              <a:t>‹#›</a:t>
            </a:fld>
            <a:endParaRPr lang="en-US"/>
          </a:p>
        </p:txBody>
      </p:sp>
    </p:spTree>
    <p:extLst>
      <p:ext uri="{BB962C8B-B14F-4D97-AF65-F5344CB8AC3E}">
        <p14:creationId xmlns:p14="http://schemas.microsoft.com/office/powerpoint/2010/main" val="309089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5300" b="1" i="0">
                <a:solidFill>
                  <a:srgbClr val="004AAC"/>
                </a:solidFill>
                <a:latin typeface="Trebuchet MS"/>
                <a:cs typeface="Trebuchet MS"/>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25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300" b="1" i="0">
                <a:solidFill>
                  <a:srgbClr val="004AAC"/>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325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8000" cy="10286999"/>
          </a:xfrm>
          <a:prstGeom prst="rect">
            <a:avLst/>
          </a:prstGeom>
        </p:spPr>
      </p:pic>
      <p:sp>
        <p:nvSpPr>
          <p:cNvPr id="2" name="Holder 2"/>
          <p:cNvSpPr>
            <a:spLocks noGrp="1"/>
          </p:cNvSpPr>
          <p:nvPr>
            <p:ph type="title"/>
          </p:nvPr>
        </p:nvSpPr>
        <p:spPr/>
        <p:txBody>
          <a:bodyPr lIns="0" tIns="0" rIns="0" bIns="0"/>
          <a:lstStyle>
            <a:lvl1pPr>
              <a:defRPr sz="5300" b="1" i="0">
                <a:solidFill>
                  <a:srgbClr val="004AAC"/>
                </a:solidFill>
                <a:latin typeface="Trebuchet MS"/>
                <a:cs typeface="Trebuchet MS"/>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1416677" y="1735067"/>
            <a:ext cx="6884034" cy="5681980"/>
          </a:xfrm>
          <a:prstGeom prst="rect">
            <a:avLst/>
          </a:prstGeom>
        </p:spPr>
        <p:txBody>
          <a:bodyPr wrap="square" lIns="0" tIns="0" rIns="0" bIns="0">
            <a:spAutoFit/>
          </a:bodyPr>
          <a:lstStyle>
            <a:lvl1pPr>
              <a:defRPr sz="4250" b="0" i="0">
                <a:solidFill>
                  <a:schemeClr val="bg1"/>
                </a:solidFill>
                <a:latin typeface="Lucida Sans Unicode"/>
                <a:cs typeface="Lucida Sans Unicode"/>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300" b="1" i="0">
                <a:solidFill>
                  <a:srgbClr val="004AAC"/>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02812" y="123583"/>
            <a:ext cx="15284029" cy="1011307"/>
          </a:xfrm>
          <a:prstGeom prst="rect">
            <a:avLst/>
          </a:prstGeom>
        </p:spPr>
        <p:txBody>
          <a:bodyPr wrap="square" lIns="0" tIns="0" rIns="0" bIns="0">
            <a:spAutoFit/>
          </a:bodyPr>
          <a:lstStyle>
            <a:lvl1pPr>
              <a:defRPr sz="5300" b="1" i="0">
                <a:solidFill>
                  <a:srgbClr val="004AAC"/>
                </a:solidFill>
                <a:latin typeface="Trebuchet MS"/>
                <a:cs typeface="Trebuchet MS"/>
              </a:defRPr>
            </a:lvl1pPr>
          </a:lstStyle>
          <a:p>
            <a:endParaRPr/>
          </a:p>
        </p:txBody>
      </p:sp>
      <p:sp>
        <p:nvSpPr>
          <p:cNvPr id="3" name="Holder 3"/>
          <p:cNvSpPr>
            <a:spLocks noGrp="1"/>
          </p:cNvSpPr>
          <p:nvPr>
            <p:ph type="body" idx="1"/>
          </p:nvPr>
        </p:nvSpPr>
        <p:spPr>
          <a:xfrm>
            <a:off x="1106020" y="2475668"/>
            <a:ext cx="16561435" cy="5835650"/>
          </a:xfrm>
          <a:prstGeom prst="rect">
            <a:avLst/>
          </a:prstGeom>
        </p:spPr>
        <p:txBody>
          <a:bodyPr wrap="square" lIns="0" tIns="0" rIns="0" bIns="0">
            <a:spAutoFit/>
          </a:bodyPr>
          <a:lstStyle>
            <a:lvl1pPr>
              <a:defRPr sz="325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9/13/2026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rot="1541580">
            <a:off x="4553153" y="3772746"/>
            <a:ext cx="6629400" cy="1323439"/>
          </a:xfrm>
          <a:prstGeom prst="rect">
            <a:avLst/>
          </a:prstGeom>
          <a:noFill/>
        </p:spPr>
        <p:txBody>
          <a:bodyPr wrap="square" rtlCol="0">
            <a:spAutoFit/>
          </a:bodyPr>
          <a:lstStyle/>
          <a:p>
            <a:r>
              <a:rPr lang="en-US" sz="8000" b="1" dirty="0" smtClean="0"/>
              <a:t>Chapter Five</a:t>
            </a:r>
            <a:endParaRPr lang="en-US" sz="8000" b="1" dirty="0"/>
          </a:p>
        </p:txBody>
      </p:sp>
    </p:spTree>
    <p:extLst>
      <p:ext uri="{BB962C8B-B14F-4D97-AF65-F5344CB8AC3E}">
        <p14:creationId xmlns:p14="http://schemas.microsoft.com/office/powerpoint/2010/main" val="3622081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749136" y="1485900"/>
            <a:ext cx="14706600" cy="6863417"/>
          </a:xfrm>
          <a:prstGeom prst="rect">
            <a:avLst/>
          </a:prstGeom>
        </p:spPr>
        <p:txBody>
          <a:bodyPr wrap="square">
            <a:spAutoFit/>
          </a:bodyPr>
          <a:lstStyle/>
          <a:p>
            <a:pPr marL="571500" indent="-571500">
              <a:buFont typeface="Wingdings" pitchFamily="2" charset="2"/>
              <a:buChar char="Ø"/>
            </a:pPr>
            <a:r>
              <a:rPr lang="en-US" sz="4000" b="1" dirty="0" smtClean="0">
                <a:latin typeface="+mn-lt"/>
              </a:rPr>
              <a:t>At the end of this chapter, we will be able to </a:t>
            </a:r>
          </a:p>
          <a:p>
            <a:r>
              <a:rPr lang="en-US" sz="4000" b="1" dirty="0" smtClean="0">
                <a:latin typeface="+mn-lt"/>
              </a:rPr>
              <a:t> </a:t>
            </a:r>
          </a:p>
          <a:p>
            <a:pPr marL="571500" indent="-571500">
              <a:lnSpc>
                <a:spcPct val="150000"/>
              </a:lnSpc>
              <a:buFont typeface="Arial" pitchFamily="34" charset="0"/>
              <a:buChar char="•"/>
            </a:pPr>
            <a:r>
              <a:rPr lang="en-US" sz="4000" dirty="0" smtClean="0">
                <a:latin typeface="+mn-lt"/>
              </a:rPr>
              <a:t>explain the idea and importance of ledger as a permanent book </a:t>
            </a:r>
          </a:p>
          <a:p>
            <a:pPr marL="571500" indent="-571500">
              <a:lnSpc>
                <a:spcPct val="150000"/>
              </a:lnSpc>
              <a:buFont typeface="Arial" pitchFamily="34" charset="0"/>
              <a:buChar char="•"/>
            </a:pPr>
            <a:r>
              <a:rPr lang="en-US" sz="4000" dirty="0" smtClean="0">
                <a:latin typeface="+mn-lt"/>
              </a:rPr>
              <a:t>classify the types of ledger </a:t>
            </a:r>
          </a:p>
          <a:p>
            <a:pPr marL="571500" indent="-571500">
              <a:lnSpc>
                <a:spcPct val="150000"/>
              </a:lnSpc>
              <a:buFont typeface="Arial" pitchFamily="34" charset="0"/>
              <a:buChar char="•"/>
            </a:pPr>
            <a:r>
              <a:rPr lang="en-US" sz="4000" dirty="0" smtClean="0">
                <a:latin typeface="+mn-lt"/>
              </a:rPr>
              <a:t>detect the differences between Journal &amp; Ledger </a:t>
            </a:r>
          </a:p>
          <a:p>
            <a:pPr marL="571500" indent="-571500">
              <a:lnSpc>
                <a:spcPct val="150000"/>
              </a:lnSpc>
              <a:buFont typeface="Arial" pitchFamily="34" charset="0"/>
              <a:buChar char="•"/>
            </a:pPr>
            <a:r>
              <a:rPr lang="en-US" sz="4000" dirty="0" smtClean="0">
                <a:latin typeface="+mn-lt"/>
              </a:rPr>
              <a:t>identify the balances by preparing accounts through ‘T’ and ‘Moving balance’-format </a:t>
            </a:r>
          </a:p>
          <a:p>
            <a:pPr marL="571500" indent="-571500">
              <a:lnSpc>
                <a:spcPct val="150000"/>
              </a:lnSpc>
              <a:buFont typeface="Arial" pitchFamily="34" charset="0"/>
              <a:buChar char="•"/>
            </a:pPr>
            <a:r>
              <a:rPr lang="en-US" sz="4000" dirty="0" smtClean="0">
                <a:latin typeface="+mn-lt"/>
              </a:rPr>
              <a:t>analyze the significance of debit &amp; credit balance of ledgers. </a:t>
            </a:r>
            <a:endParaRPr lang="en-US" sz="3600" dirty="0" smtClean="0">
              <a:solidFill>
                <a:srgbClr val="000000"/>
              </a:solidFill>
              <a:effectLst/>
              <a:latin typeface="+mn-lt"/>
            </a:endParaRPr>
          </a:p>
        </p:txBody>
      </p:sp>
    </p:spTree>
    <p:extLst>
      <p:ext uri="{BB962C8B-B14F-4D97-AF65-F5344CB8AC3E}">
        <p14:creationId xmlns:p14="http://schemas.microsoft.com/office/powerpoint/2010/main" val="1938756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520536" y="1165860"/>
            <a:ext cx="15163800" cy="5201424"/>
          </a:xfrm>
          <a:prstGeom prst="rect">
            <a:avLst/>
          </a:prstGeom>
        </p:spPr>
        <p:txBody>
          <a:bodyPr wrap="square">
            <a:spAutoFit/>
          </a:bodyPr>
          <a:lstStyle/>
          <a:p>
            <a:pPr algn="ctr"/>
            <a:r>
              <a:rPr lang="en-US" sz="5400" b="1" dirty="0" smtClean="0"/>
              <a:t>Ledger</a:t>
            </a:r>
          </a:p>
          <a:p>
            <a:pPr algn="ctr"/>
            <a:endParaRPr lang="en-US" sz="5400" b="1" dirty="0" smtClean="0"/>
          </a:p>
          <a:p>
            <a:pPr marL="457200" indent="-457200" algn="just">
              <a:buFont typeface="Arial" pitchFamily="34" charset="0"/>
              <a:buChar char="•"/>
            </a:pPr>
            <a:r>
              <a:rPr lang="en-US" sz="2800" dirty="0" smtClean="0"/>
              <a:t>After the recording of transactions primarily it’s necessary to transfer these to the concerned heads of account following the classification of accounts. </a:t>
            </a:r>
          </a:p>
          <a:p>
            <a:endParaRPr lang="en-US" sz="2800" dirty="0"/>
          </a:p>
          <a:p>
            <a:pPr marL="457200" indent="-457200">
              <a:buFont typeface="Arial" pitchFamily="34" charset="0"/>
              <a:buChar char="•"/>
            </a:pPr>
            <a:r>
              <a:rPr lang="en-US" sz="2800" dirty="0" smtClean="0"/>
              <a:t>Ledger assembles the scattered purchase, sales and other income and expenses and helps in ascertaining total purchase, total sales and other total income &amp; expenses. </a:t>
            </a:r>
          </a:p>
          <a:p>
            <a:endParaRPr lang="en-US" sz="2800" dirty="0"/>
          </a:p>
          <a:p>
            <a:pPr marL="457200" indent="-457200">
              <a:buFont typeface="Arial" pitchFamily="34" charset="0"/>
              <a:buChar char="•"/>
            </a:pPr>
            <a:r>
              <a:rPr lang="en-US" sz="2800" dirty="0" smtClean="0"/>
              <a:t>To know about the balances of accounts and to testify their arithmetic accuracy along with having a primary about the total condition of the business are included in this chapter. </a:t>
            </a:r>
            <a:endParaRPr lang="en-US" sz="2800"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6515100"/>
            <a:ext cx="14703136" cy="3534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9700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520536" y="1165860"/>
            <a:ext cx="15163800" cy="7725192"/>
          </a:xfrm>
          <a:prstGeom prst="rect">
            <a:avLst/>
          </a:prstGeom>
        </p:spPr>
        <p:txBody>
          <a:bodyPr wrap="square">
            <a:spAutoFit/>
          </a:bodyPr>
          <a:lstStyle/>
          <a:p>
            <a:pPr algn="ctr"/>
            <a:r>
              <a:rPr lang="en-US" sz="5400" dirty="0" smtClean="0">
                <a:latin typeface="+mn-lt"/>
              </a:rPr>
              <a:t>Concept of ledger</a:t>
            </a:r>
          </a:p>
          <a:p>
            <a:pPr algn="ctr"/>
            <a:endParaRPr lang="en-US" sz="5400" b="1" dirty="0" smtClean="0">
              <a:latin typeface="+mn-lt"/>
            </a:endParaRPr>
          </a:p>
          <a:p>
            <a:pPr marL="457200" indent="-457200" algn="just">
              <a:buFont typeface="Arial" pitchFamily="34" charset="0"/>
              <a:buChar char="•"/>
            </a:pPr>
            <a:r>
              <a:rPr lang="en-US" sz="3600" dirty="0">
                <a:latin typeface="+mn-lt"/>
              </a:rPr>
              <a:t>A Ledger is the principal book or record in accounting where all financial transactions are classified, summarized, and maintained.</a:t>
            </a:r>
            <a:endParaRPr lang="en-US" sz="3600" dirty="0" smtClean="0">
              <a:latin typeface="+mn-lt"/>
            </a:endParaRPr>
          </a:p>
          <a:p>
            <a:pPr algn="just"/>
            <a:endParaRPr lang="en-US" sz="3600" dirty="0">
              <a:latin typeface="+mn-lt"/>
            </a:endParaRPr>
          </a:p>
          <a:p>
            <a:pPr marL="457200" indent="-457200" algn="just">
              <a:buFont typeface="Arial" pitchFamily="34" charset="0"/>
              <a:buChar char="•"/>
            </a:pPr>
            <a:r>
              <a:rPr lang="en-US" sz="3600" dirty="0" smtClean="0">
                <a:latin typeface="+mn-lt"/>
              </a:rPr>
              <a:t>If Items are displayed serially and classified properly it can be located and the amount can be obtained easily. After recording transactions in journal are entered into the ledger serially and classified manner permanently. </a:t>
            </a:r>
          </a:p>
          <a:p>
            <a:pPr algn="just"/>
            <a:endParaRPr lang="en-US" sz="3600" dirty="0" smtClean="0">
              <a:latin typeface="+mn-lt"/>
            </a:endParaRPr>
          </a:p>
          <a:p>
            <a:pPr marL="457200" indent="-457200" algn="just">
              <a:buFont typeface="Arial" pitchFamily="34" charset="0"/>
              <a:buChar char="•"/>
            </a:pPr>
            <a:r>
              <a:rPr lang="en-US" sz="3600" dirty="0" smtClean="0">
                <a:latin typeface="+mn-lt"/>
              </a:rPr>
              <a:t>It is not possible from journal to know about the total result and financial condition of a business. In a ledger the same type of classes of accounts are recorded in different heads of accounts.</a:t>
            </a:r>
          </a:p>
          <a:p>
            <a:pPr algn="just"/>
            <a:endParaRPr lang="en-US" sz="2800" dirty="0">
              <a:latin typeface="+mn-lt"/>
            </a:endParaRPr>
          </a:p>
        </p:txBody>
      </p:sp>
    </p:spTree>
    <p:extLst>
      <p:ext uri="{BB962C8B-B14F-4D97-AF65-F5344CB8AC3E}">
        <p14:creationId xmlns:p14="http://schemas.microsoft.com/office/powerpoint/2010/main" val="2465186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p:nvPr/>
        </p:nvSpPr>
        <p:spPr>
          <a:xfrm>
            <a:off x="-1371600" y="2357437"/>
            <a:ext cx="11201400" cy="1754326"/>
          </a:xfrm>
          <a:prstGeom prst="rect">
            <a:avLst/>
          </a:prstGeom>
        </p:spPr>
        <p:txBody>
          <a:bodyPr wrap="square">
            <a:spAutoFit/>
          </a:bodyPr>
          <a:lstStyle/>
          <a:p>
            <a:pPr algn="ctr"/>
            <a:r>
              <a:rPr lang="en-US" sz="8000" b="1" dirty="0" smtClean="0">
                <a:latin typeface="+mn-lt"/>
              </a:rPr>
              <a:t>Types of Ledger</a:t>
            </a:r>
          </a:p>
          <a:p>
            <a:pPr algn="just"/>
            <a:endParaRPr lang="en-US" sz="2800" dirty="0">
              <a:latin typeface="+mn-lt"/>
            </a:endParaRPr>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8594" y="1134337"/>
            <a:ext cx="9420355" cy="420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5524500"/>
            <a:ext cx="12995377" cy="476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635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143000" y="266700"/>
            <a:ext cx="15163800" cy="6093976"/>
          </a:xfrm>
          <a:prstGeom prst="rect">
            <a:avLst/>
          </a:prstGeom>
        </p:spPr>
        <p:txBody>
          <a:bodyPr wrap="square">
            <a:spAutoFit/>
          </a:bodyPr>
          <a:lstStyle/>
          <a:p>
            <a:pPr algn="ctr"/>
            <a:r>
              <a:rPr lang="en-US" sz="5400" dirty="0" smtClean="0">
                <a:latin typeface="+mn-lt"/>
              </a:rPr>
              <a:t>Features of ledger</a:t>
            </a:r>
            <a:endParaRPr lang="en-US" sz="2800" dirty="0">
              <a:latin typeface="+mn-lt"/>
            </a:endParaRPr>
          </a:p>
          <a:p>
            <a:pPr marL="457200" indent="-457200" algn="just">
              <a:lnSpc>
                <a:spcPct val="150000"/>
              </a:lnSpc>
              <a:buFont typeface="Wingdings" pitchFamily="2" charset="2"/>
              <a:buChar char="q"/>
            </a:pPr>
            <a:r>
              <a:rPr lang="en-US" sz="2800" b="1" dirty="0" smtClean="0">
                <a:latin typeface="+mn-lt"/>
              </a:rPr>
              <a:t>Features: </a:t>
            </a:r>
          </a:p>
          <a:p>
            <a:pPr marL="457200" indent="-457200" algn="just">
              <a:lnSpc>
                <a:spcPct val="150000"/>
              </a:lnSpc>
              <a:buFont typeface="Arial" pitchFamily="34" charset="0"/>
              <a:buChar char="•"/>
            </a:pPr>
            <a:r>
              <a:rPr lang="en-US" sz="2800" dirty="0" smtClean="0">
                <a:latin typeface="+mn-lt"/>
              </a:rPr>
              <a:t>Each account is given a title </a:t>
            </a:r>
          </a:p>
          <a:p>
            <a:pPr marL="457200" indent="-457200" algn="just">
              <a:lnSpc>
                <a:spcPct val="150000"/>
              </a:lnSpc>
              <a:buFont typeface="Arial" pitchFamily="34" charset="0"/>
              <a:buChar char="•"/>
            </a:pPr>
            <a:r>
              <a:rPr lang="en-US" sz="2800" dirty="0" smtClean="0">
                <a:latin typeface="+mn-lt"/>
              </a:rPr>
              <a:t>Moving Balance Method and T format are used for keeping ledger </a:t>
            </a:r>
          </a:p>
          <a:p>
            <a:pPr marL="457200" indent="-457200" algn="just">
              <a:lnSpc>
                <a:spcPct val="150000"/>
              </a:lnSpc>
              <a:buFont typeface="Arial" pitchFamily="34" charset="0"/>
              <a:buChar char="•"/>
            </a:pPr>
            <a:r>
              <a:rPr lang="en-US" sz="2800" dirty="0" smtClean="0">
                <a:latin typeface="+mn-lt"/>
              </a:rPr>
              <a:t>Balance of each accounts are identified individually </a:t>
            </a:r>
          </a:p>
          <a:p>
            <a:pPr marL="457200" indent="-457200" algn="just">
              <a:lnSpc>
                <a:spcPct val="150000"/>
              </a:lnSpc>
              <a:buFont typeface="Arial" pitchFamily="34" charset="0"/>
              <a:buChar char="•"/>
            </a:pPr>
            <a:r>
              <a:rPr lang="en-US" sz="2800" dirty="0" smtClean="0">
                <a:latin typeface="+mn-lt"/>
              </a:rPr>
              <a:t>In preparing ledger journal acts as a helping book. Journal folio no. is </a:t>
            </a:r>
            <a:r>
              <a:rPr lang="en-US" sz="2800" dirty="0" err="1" smtClean="0">
                <a:latin typeface="+mn-lt"/>
              </a:rPr>
              <a:t>mentoned</a:t>
            </a:r>
            <a:r>
              <a:rPr lang="en-US" sz="2800" dirty="0" smtClean="0">
                <a:latin typeface="+mn-lt"/>
              </a:rPr>
              <a:t> at the time of recording to Ledger. </a:t>
            </a:r>
          </a:p>
          <a:p>
            <a:pPr marL="457200" indent="-457200" algn="just">
              <a:lnSpc>
                <a:spcPct val="150000"/>
              </a:lnSpc>
              <a:buFont typeface="Arial" pitchFamily="34" charset="0"/>
              <a:buChar char="•"/>
            </a:pPr>
            <a:r>
              <a:rPr lang="en-US" sz="2800" dirty="0" smtClean="0">
                <a:latin typeface="+mn-lt"/>
              </a:rPr>
              <a:t>Balance of Ledgers help to verify the arithmetical accuracy of keeping accounts </a:t>
            </a:r>
          </a:p>
          <a:p>
            <a:pPr marL="457200" indent="-457200" algn="just">
              <a:lnSpc>
                <a:spcPct val="150000"/>
              </a:lnSpc>
              <a:buFont typeface="Arial" pitchFamily="34" charset="0"/>
              <a:buChar char="•"/>
            </a:pPr>
            <a:r>
              <a:rPr lang="en-US" sz="2800" dirty="0" smtClean="0">
                <a:latin typeface="+mn-lt"/>
              </a:rPr>
              <a:t>Trial Balance is prepared with the balance of Ledgers. </a:t>
            </a:r>
            <a:endParaRPr lang="en-US" sz="2800" dirty="0">
              <a:latin typeface="+mn-lt"/>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6360676"/>
            <a:ext cx="13716000" cy="3431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4384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329564"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520536" y="571500"/>
            <a:ext cx="15163800" cy="8402300"/>
          </a:xfrm>
          <a:prstGeom prst="rect">
            <a:avLst/>
          </a:prstGeom>
        </p:spPr>
        <p:txBody>
          <a:bodyPr wrap="square">
            <a:spAutoFit/>
          </a:bodyPr>
          <a:lstStyle/>
          <a:p>
            <a:pPr algn="ctr"/>
            <a:r>
              <a:rPr lang="en-US" sz="5400" dirty="0" smtClean="0">
                <a:latin typeface="+mn-lt"/>
              </a:rPr>
              <a:t>Importance of ledger</a:t>
            </a:r>
          </a:p>
          <a:p>
            <a:pPr algn="ctr"/>
            <a:endParaRPr lang="en-US" sz="5400" b="1" dirty="0" smtClean="0">
              <a:latin typeface="+mn-lt"/>
            </a:endParaRPr>
          </a:p>
          <a:p>
            <a:pPr marL="457200" indent="-457200" algn="just">
              <a:lnSpc>
                <a:spcPct val="150000"/>
              </a:lnSpc>
              <a:buFont typeface="Arial" pitchFamily="34" charset="0"/>
              <a:buChar char="•"/>
            </a:pPr>
            <a:r>
              <a:rPr lang="en-US" sz="3600" dirty="0" smtClean="0">
                <a:latin typeface="+mn-lt"/>
              </a:rPr>
              <a:t>Since transactions are properly arranged in a sequence to accounts, users can easily access their desired information from the ledger. </a:t>
            </a:r>
          </a:p>
          <a:p>
            <a:pPr marL="457200" indent="-457200" algn="just">
              <a:lnSpc>
                <a:spcPct val="150000"/>
              </a:lnSpc>
              <a:buFont typeface="Arial" pitchFamily="34" charset="0"/>
              <a:buChar char="•"/>
            </a:pPr>
            <a:r>
              <a:rPr lang="en-US" sz="3600" dirty="0" smtClean="0">
                <a:latin typeface="+mn-lt"/>
              </a:rPr>
              <a:t>It’s possible to get idea about the total amount of assets, liabilities, income and expenses of a business from the ledger. </a:t>
            </a:r>
          </a:p>
          <a:p>
            <a:pPr marL="457200" indent="-457200" algn="just">
              <a:lnSpc>
                <a:spcPct val="150000"/>
              </a:lnSpc>
              <a:buFont typeface="Arial" pitchFamily="34" charset="0"/>
              <a:buChar char="•"/>
            </a:pPr>
            <a:r>
              <a:rPr lang="en-US" sz="3600" dirty="0" smtClean="0">
                <a:latin typeface="+mn-lt"/>
              </a:rPr>
              <a:t>For the purpose of preparing trial balance, the balances of ledger are used and as such arithmetical accuracy is confirmed. </a:t>
            </a:r>
          </a:p>
          <a:p>
            <a:pPr marL="457200" indent="-457200" algn="just">
              <a:lnSpc>
                <a:spcPct val="150000"/>
              </a:lnSpc>
              <a:buFont typeface="Arial" pitchFamily="34" charset="0"/>
              <a:buChar char="•"/>
            </a:pPr>
            <a:r>
              <a:rPr lang="en-US" sz="3600" dirty="0" smtClean="0">
                <a:latin typeface="+mn-lt"/>
              </a:rPr>
              <a:t>The necessity and importance of ledger is amplified by saying that ‘Ledger is the king of all books of accounts’. </a:t>
            </a:r>
            <a:endParaRPr lang="en-US" sz="3600" dirty="0">
              <a:latin typeface="+mn-lt"/>
            </a:endParaRPr>
          </a:p>
        </p:txBody>
      </p:sp>
    </p:spTree>
    <p:extLst>
      <p:ext uri="{BB962C8B-B14F-4D97-AF65-F5344CB8AC3E}">
        <p14:creationId xmlns:p14="http://schemas.microsoft.com/office/powerpoint/2010/main" val="2642583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564" y="0"/>
            <a:ext cx="18329564" cy="1028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501486" y="388352"/>
            <a:ext cx="15163800" cy="9787295"/>
          </a:xfrm>
          <a:prstGeom prst="rect">
            <a:avLst/>
          </a:prstGeom>
        </p:spPr>
        <p:txBody>
          <a:bodyPr wrap="square">
            <a:spAutoFit/>
          </a:bodyPr>
          <a:lstStyle/>
          <a:p>
            <a:pPr algn="ctr"/>
            <a:r>
              <a:rPr lang="en-US" sz="5400" dirty="0" smtClean="0">
                <a:latin typeface="+mn-lt"/>
              </a:rPr>
              <a:t>Distinguish between Journal and ledger</a:t>
            </a:r>
            <a:endParaRPr lang="en-US" sz="6000" dirty="0" smtClean="0">
              <a:latin typeface="+mn-lt"/>
            </a:endParaRPr>
          </a:p>
          <a:p>
            <a:pPr marL="457200" indent="-457200" algn="just">
              <a:lnSpc>
                <a:spcPct val="150000"/>
              </a:lnSpc>
              <a:buFont typeface="Arial" pitchFamily="34" charset="0"/>
              <a:buChar char="•"/>
            </a:pPr>
            <a:r>
              <a:rPr lang="en-US" sz="3200" dirty="0" smtClean="0">
                <a:latin typeface="+mn-lt"/>
              </a:rPr>
              <a:t>Journal and ledger both belong to the steps of accounting cycle. Ledger by comparison is more important and useful than journal. Keeping journal is optional while compulsory for the case of ledger. Apart from the arithmetical accuracy of accounts the ledger reflects the financial results and condition of a business. </a:t>
            </a:r>
          </a:p>
          <a:p>
            <a:pPr marL="457200" indent="-457200" algn="just">
              <a:lnSpc>
                <a:spcPct val="150000"/>
              </a:lnSpc>
              <a:buFont typeface="Arial" pitchFamily="34" charset="0"/>
              <a:buChar char="•"/>
            </a:pPr>
            <a:endParaRPr lang="en-US" sz="3200" dirty="0" smtClean="0">
              <a:latin typeface="+mn-lt"/>
            </a:endParaRPr>
          </a:p>
          <a:p>
            <a:pPr marL="457200" indent="-457200" algn="just">
              <a:lnSpc>
                <a:spcPct val="150000"/>
              </a:lnSpc>
              <a:buFont typeface="Arial" pitchFamily="34" charset="0"/>
              <a:buChar char="•"/>
            </a:pPr>
            <a:r>
              <a:rPr lang="en-US" sz="3200" dirty="0" smtClean="0">
                <a:latin typeface="+mn-lt"/>
              </a:rPr>
              <a:t>There are differences between the tables of a journal and a ledger. In a journal only the debit and credit side of transaction is identified where as in a ledger balance of each accounts are identified by comparing total debits and total credits. </a:t>
            </a:r>
          </a:p>
          <a:p>
            <a:pPr algn="just">
              <a:lnSpc>
                <a:spcPct val="150000"/>
              </a:lnSpc>
            </a:pPr>
            <a:endParaRPr lang="en-US" sz="3200" dirty="0" smtClean="0">
              <a:latin typeface="+mn-lt"/>
            </a:endParaRPr>
          </a:p>
          <a:p>
            <a:pPr marL="457200" indent="-457200" algn="just">
              <a:lnSpc>
                <a:spcPct val="150000"/>
              </a:lnSpc>
              <a:buFont typeface="Arial" pitchFamily="34" charset="0"/>
              <a:buChar char="•"/>
            </a:pPr>
            <a:r>
              <a:rPr lang="en-US" sz="3200" dirty="0" smtClean="0">
                <a:latin typeface="+mn-lt"/>
              </a:rPr>
              <a:t>For preparing the ledger properly and accurately journal acts as a supplementary book.</a:t>
            </a:r>
          </a:p>
          <a:p>
            <a:pPr algn="just">
              <a:lnSpc>
                <a:spcPct val="150000"/>
              </a:lnSpc>
            </a:pPr>
            <a:endParaRPr lang="en-US" sz="3200" dirty="0" smtClean="0">
              <a:latin typeface="+mn-lt"/>
            </a:endParaRPr>
          </a:p>
          <a:p>
            <a:pPr marL="457200" indent="-457200" algn="just">
              <a:lnSpc>
                <a:spcPct val="150000"/>
              </a:lnSpc>
              <a:buFont typeface="Arial" pitchFamily="34" charset="0"/>
              <a:buChar char="•"/>
            </a:pPr>
            <a:r>
              <a:rPr lang="en-US" sz="3200" dirty="0" smtClean="0">
                <a:latin typeface="+mn-lt"/>
              </a:rPr>
              <a:t>Journal is chronological (by date) whereas ledger is by account category.</a:t>
            </a:r>
            <a:endParaRPr lang="en-US" sz="3200" dirty="0">
              <a:latin typeface="+mn-lt"/>
            </a:endParaRPr>
          </a:p>
        </p:txBody>
      </p:sp>
    </p:spTree>
    <p:extLst>
      <p:ext uri="{BB962C8B-B14F-4D97-AF65-F5344CB8AC3E}">
        <p14:creationId xmlns:p14="http://schemas.microsoft.com/office/powerpoint/2010/main" val="3597762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p:nvPr/>
        </p:nvSpPr>
        <p:spPr>
          <a:xfrm>
            <a:off x="1501486" y="190500"/>
            <a:ext cx="15163800" cy="923330"/>
          </a:xfrm>
          <a:prstGeom prst="rect">
            <a:avLst/>
          </a:prstGeom>
        </p:spPr>
        <p:txBody>
          <a:bodyPr wrap="square">
            <a:spAutoFit/>
          </a:bodyPr>
          <a:lstStyle/>
          <a:p>
            <a:pPr algn="ctr"/>
            <a:r>
              <a:rPr lang="en-US" sz="5400" u="sng" dirty="0" smtClean="0">
                <a:latin typeface="+mn-lt"/>
              </a:rPr>
              <a:t>Posting in ledger</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1486" y="1094780"/>
            <a:ext cx="1446882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295400" y="7190780"/>
            <a:ext cx="15849600" cy="3108543"/>
          </a:xfrm>
          <a:prstGeom prst="rect">
            <a:avLst/>
          </a:prstGeom>
        </p:spPr>
        <p:txBody>
          <a:bodyPr wrap="square">
            <a:spAutoFit/>
          </a:bodyPr>
          <a:lstStyle/>
          <a:p>
            <a:pPr marL="457200" indent="-457200" algn="just">
              <a:buFont typeface="Arial" pitchFamily="34" charset="0"/>
              <a:buChar char="•"/>
            </a:pPr>
            <a:r>
              <a:rPr lang="en-US" sz="2800" b="1" dirty="0" smtClean="0">
                <a:latin typeface="+mn-lt"/>
              </a:rPr>
              <a:t>Looking at the posting</a:t>
            </a:r>
            <a:r>
              <a:rPr lang="en-US" sz="2800" dirty="0" smtClean="0">
                <a:latin typeface="+mn-lt"/>
              </a:rPr>
              <a:t>, as purchase account is debited in journal, it is posted to the debit side of the purchase ledger, but in the particulars column the opposite credited head name i.e. Cash account is mentioned. </a:t>
            </a:r>
          </a:p>
          <a:p>
            <a:pPr marL="457200" indent="-457200" algn="just">
              <a:buFont typeface="Arial" pitchFamily="34" charset="0"/>
              <a:buChar char="•"/>
            </a:pPr>
            <a:r>
              <a:rPr lang="en-US" sz="2800" b="1" dirty="0" smtClean="0">
                <a:latin typeface="+mn-lt"/>
              </a:rPr>
              <a:t>On the other hand</a:t>
            </a:r>
            <a:r>
              <a:rPr lang="en-US" sz="2800" dirty="0" smtClean="0">
                <a:latin typeface="+mn-lt"/>
              </a:rPr>
              <a:t>, Cash accounts is credit so it has been posted to credit side of Cash ledger but the particulars column is represented in the name of debit side account i.e. Purchase account. With these it is identifiable that purchase account is debited by which account, while cash account is credited by which account. </a:t>
            </a:r>
            <a:endParaRPr lang="en-US" sz="2800" dirty="0">
              <a:latin typeface="+mn-lt"/>
            </a:endParaRPr>
          </a:p>
        </p:txBody>
      </p:sp>
    </p:spTree>
    <p:extLst>
      <p:ext uri="{BB962C8B-B14F-4D97-AF65-F5344CB8AC3E}">
        <p14:creationId xmlns:p14="http://schemas.microsoft.com/office/powerpoint/2010/main" val="989365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9588" cy="1054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295400" y="1409700"/>
            <a:ext cx="16002000" cy="6955750"/>
          </a:xfrm>
          <a:prstGeom prst="rect">
            <a:avLst/>
          </a:prstGeom>
        </p:spPr>
        <p:txBody>
          <a:bodyPr wrap="square">
            <a:spAutoFit/>
          </a:bodyPr>
          <a:lstStyle/>
          <a:p>
            <a:pPr>
              <a:lnSpc>
                <a:spcPct val="150000"/>
              </a:lnSpc>
            </a:pPr>
            <a:r>
              <a:rPr lang="en-US" sz="2800" dirty="0" smtClean="0">
                <a:latin typeface="+mn-lt"/>
              </a:rPr>
              <a:t>Therefore, the debit side posting of an account in a ledger will be recorded in the name of its subsequent account into the particular column vice versa. </a:t>
            </a:r>
          </a:p>
          <a:p>
            <a:endParaRPr lang="en-US" sz="2800" dirty="0">
              <a:latin typeface="+mn-lt"/>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400" b="1" i="0" u="sng" strike="noStrike" kern="0" cap="none" spc="0" normalizeH="0" baseline="0" noProof="0" dirty="0" smtClean="0">
                <a:ln>
                  <a:noFill/>
                </a:ln>
                <a:solidFill>
                  <a:sysClr val="windowText" lastClr="000000"/>
                </a:solidFill>
                <a:effectLst/>
                <a:uLnTx/>
                <a:uFillTx/>
                <a:latin typeface="Calibri"/>
              </a:rPr>
              <a:t>Balancing in ledger</a:t>
            </a:r>
            <a:endParaRPr lang="en-US" sz="2800" b="1" dirty="0" smtClean="0">
              <a:latin typeface="+mn-lt"/>
            </a:endParaRPr>
          </a:p>
          <a:p>
            <a:endParaRPr lang="en-US" sz="2800" dirty="0">
              <a:latin typeface="+mn-lt"/>
            </a:endParaRPr>
          </a:p>
          <a:p>
            <a:pPr marL="457200" indent="-457200">
              <a:lnSpc>
                <a:spcPct val="150000"/>
              </a:lnSpc>
              <a:buFont typeface="Courier New" pitchFamily="49" charset="0"/>
              <a:buChar char="o"/>
            </a:pPr>
            <a:r>
              <a:rPr lang="en-US" sz="2800" dirty="0" smtClean="0">
                <a:latin typeface="+mn-lt"/>
              </a:rPr>
              <a:t>Balancing of Accounts During the time of preparing a ledger, the first step is posting and the next step is balancing. </a:t>
            </a:r>
          </a:p>
          <a:p>
            <a:pPr marL="457200" indent="-457200">
              <a:lnSpc>
                <a:spcPct val="150000"/>
              </a:lnSpc>
              <a:buFont typeface="Courier New" pitchFamily="49" charset="0"/>
              <a:buChar char="o"/>
            </a:pPr>
            <a:r>
              <a:rPr lang="en-US" sz="2800" dirty="0" smtClean="0">
                <a:latin typeface="+mn-lt"/>
              </a:rPr>
              <a:t>In general, terms the word balancing means what remains. For example: 5 kg of rice purchased and 3 kg of which have been consumed so the remaining is 2 kg. </a:t>
            </a:r>
          </a:p>
          <a:p>
            <a:pPr marL="457200" indent="-457200">
              <a:lnSpc>
                <a:spcPct val="150000"/>
              </a:lnSpc>
              <a:buFont typeface="Courier New" pitchFamily="49" charset="0"/>
              <a:buChar char="o"/>
            </a:pPr>
            <a:r>
              <a:rPr lang="en-US" sz="2800" dirty="0" smtClean="0">
                <a:latin typeface="+mn-lt"/>
              </a:rPr>
              <a:t>Ascertaining the balance of an account is almost like this. The difference between the posted amount in debit and credit side of the accounts is known as balancing. </a:t>
            </a:r>
            <a:endParaRPr lang="en-US" sz="2800" dirty="0">
              <a:latin typeface="+mn-lt"/>
            </a:endParaRPr>
          </a:p>
        </p:txBody>
      </p:sp>
    </p:spTree>
    <p:extLst>
      <p:ext uri="{BB962C8B-B14F-4D97-AF65-F5344CB8AC3E}">
        <p14:creationId xmlns:p14="http://schemas.microsoft.com/office/powerpoint/2010/main" val="1244644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1295400" y="647700"/>
            <a:ext cx="16002000" cy="923330"/>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400" b="1" i="0" u="sng" strike="noStrike" kern="0" cap="none" spc="0" normalizeH="0" baseline="0" noProof="0" dirty="0" smtClean="0">
                <a:ln>
                  <a:noFill/>
                </a:ln>
                <a:solidFill>
                  <a:sysClr val="windowText" lastClr="000000"/>
                </a:solidFill>
                <a:effectLst/>
                <a:uLnTx/>
                <a:uFillTx/>
                <a:latin typeface="Calibri"/>
              </a:rPr>
              <a:t>Balancing in ledger</a:t>
            </a:r>
            <a:endParaRPr lang="en-US" sz="2800" b="1" dirty="0" smtClean="0">
              <a:latin typeface="+mn-lt"/>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4550" y="1790700"/>
            <a:ext cx="14018845" cy="7866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7385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9588" cy="1054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295400" y="243185"/>
            <a:ext cx="16002000" cy="923330"/>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400" b="1" i="0" u="sng" strike="noStrike" kern="0" cap="none" spc="0" normalizeH="0" baseline="0" noProof="0" dirty="0" smtClean="0">
                <a:ln>
                  <a:noFill/>
                </a:ln>
                <a:solidFill>
                  <a:sysClr val="windowText" lastClr="000000"/>
                </a:solidFill>
                <a:effectLst/>
                <a:uLnTx/>
                <a:uFillTx/>
                <a:latin typeface="Calibri"/>
              </a:rPr>
              <a:t>Balancing in ledger</a:t>
            </a:r>
            <a:endParaRPr lang="en-US" sz="2800" b="1" dirty="0" smtClean="0">
              <a:latin typeface="+mn-lt"/>
            </a:endParaRPr>
          </a:p>
        </p:txBody>
      </p:sp>
      <p:sp>
        <p:nvSpPr>
          <p:cNvPr id="2" name="Rectangle 1"/>
          <p:cNvSpPr/>
          <p:nvPr/>
        </p:nvSpPr>
        <p:spPr>
          <a:xfrm>
            <a:off x="1295400" y="1409700"/>
            <a:ext cx="15849600" cy="8427820"/>
          </a:xfrm>
          <a:prstGeom prst="rect">
            <a:avLst/>
          </a:prstGeom>
        </p:spPr>
        <p:txBody>
          <a:bodyPr wrap="square">
            <a:spAutoFit/>
          </a:bodyPr>
          <a:lstStyle/>
          <a:p>
            <a:pPr marL="457200" indent="-457200">
              <a:lnSpc>
                <a:spcPct val="150000"/>
              </a:lnSpc>
              <a:buFont typeface="Arial" pitchFamily="34" charset="0"/>
              <a:buChar char="•"/>
            </a:pPr>
            <a:r>
              <a:rPr lang="en-US" sz="2800" dirty="0" smtClean="0">
                <a:latin typeface="+mn-lt"/>
              </a:rPr>
              <a:t> The debit and credit side summation must be equal. So, the amount which is higher must be recorded on either sides of the accounts, In the above account the debit side indicate the higher amount (20,000) and hence has been written on both debit and credit side. </a:t>
            </a:r>
          </a:p>
          <a:p>
            <a:pPr marL="457200" indent="-457200">
              <a:lnSpc>
                <a:spcPct val="150000"/>
              </a:lnSpc>
              <a:buFont typeface="Arial" pitchFamily="34" charset="0"/>
              <a:buChar char="•"/>
            </a:pPr>
            <a:r>
              <a:rPr lang="en-US" sz="2800" dirty="0" smtClean="0">
                <a:latin typeface="+mn-lt"/>
              </a:rPr>
              <a:t>Underneath the summation of each side the accounts must be closed by drawing two parallel lines. </a:t>
            </a:r>
          </a:p>
          <a:p>
            <a:pPr marL="457200" indent="-457200">
              <a:lnSpc>
                <a:spcPct val="150000"/>
              </a:lnSpc>
              <a:buFont typeface="Arial" pitchFamily="34" charset="0"/>
              <a:buChar char="•"/>
            </a:pPr>
            <a:r>
              <a:rPr lang="en-US" sz="2800" dirty="0" smtClean="0">
                <a:latin typeface="+mn-lt"/>
              </a:rPr>
              <a:t>Generally at the end of a specific time the difference between the debit and credit side is ascertained. The difference is then headed by balance C\D i.e. carried down and putting it in the lower side both side equaled. The above account is for the month March, so the difference is calculated at the end 31st  March. </a:t>
            </a:r>
          </a:p>
          <a:p>
            <a:pPr marL="457200" indent="-457200">
              <a:lnSpc>
                <a:spcPct val="150000"/>
              </a:lnSpc>
              <a:buFont typeface="Arial" pitchFamily="34" charset="0"/>
              <a:buChar char="•"/>
            </a:pPr>
            <a:r>
              <a:rPr lang="en-US" sz="2800" dirty="0" smtClean="0">
                <a:latin typeface="+mn-lt"/>
              </a:rPr>
              <a:t>Balance c/d at the end of a particular period will be posted to the opposite side of the account mentioning Balance b/d i.e. brought down at the beginning of a next period. </a:t>
            </a:r>
          </a:p>
          <a:p>
            <a:pPr marL="457200" indent="-457200">
              <a:lnSpc>
                <a:spcPct val="150000"/>
              </a:lnSpc>
              <a:buFont typeface="Arial" pitchFamily="34" charset="0"/>
              <a:buChar char="•"/>
            </a:pPr>
            <a:r>
              <a:rPr lang="en-US" sz="2800" dirty="0" smtClean="0">
                <a:latin typeface="+mn-lt"/>
              </a:rPr>
              <a:t>The balance represents the higher amount it indicates. for example-  the above cash account indicate debit balance, so on the 1st  </a:t>
            </a:r>
            <a:r>
              <a:rPr lang="en-US" sz="2800" dirty="0">
                <a:latin typeface="+mn-lt"/>
              </a:rPr>
              <a:t>A</a:t>
            </a:r>
            <a:r>
              <a:rPr lang="en-US" sz="2800" dirty="0" smtClean="0">
                <a:latin typeface="+mn-lt"/>
              </a:rPr>
              <a:t>pril Balance b/d is written on the debit side of Cash account and the ledger of </a:t>
            </a:r>
            <a:r>
              <a:rPr lang="en-US" sz="2800" dirty="0">
                <a:latin typeface="+mn-lt"/>
              </a:rPr>
              <a:t>A</a:t>
            </a:r>
            <a:r>
              <a:rPr lang="en-US" sz="2800" dirty="0" smtClean="0">
                <a:latin typeface="+mn-lt"/>
              </a:rPr>
              <a:t>pril has been opened. </a:t>
            </a:r>
            <a:endParaRPr lang="en-US" sz="2800" dirty="0">
              <a:latin typeface="+mn-lt"/>
            </a:endParaRPr>
          </a:p>
        </p:txBody>
      </p:sp>
    </p:spTree>
    <p:extLst>
      <p:ext uri="{BB962C8B-B14F-4D97-AF65-F5344CB8AC3E}">
        <p14:creationId xmlns:p14="http://schemas.microsoft.com/office/powerpoint/2010/main" val="2309727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66700"/>
            <a:ext cx="14121135" cy="9587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7703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0" y="1943100"/>
            <a:ext cx="14091140" cy="5305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2095500" y="1239112"/>
            <a:ext cx="4686300" cy="584775"/>
          </a:xfrm>
          <a:prstGeom prst="rect">
            <a:avLst/>
          </a:prstGeom>
          <a:noFill/>
        </p:spPr>
        <p:txBody>
          <a:bodyPr wrap="square" rtlCol="0">
            <a:spAutoFit/>
          </a:bodyPr>
          <a:lstStyle/>
          <a:p>
            <a:r>
              <a:rPr lang="en-US" sz="3200" b="1" dirty="0" smtClean="0">
                <a:latin typeface="+mn-lt"/>
              </a:rPr>
              <a:t>Exercise:</a:t>
            </a:r>
            <a:endParaRPr lang="en-US" sz="3200" b="1" dirty="0">
              <a:latin typeface="+mn-lt"/>
            </a:endParaRPr>
          </a:p>
        </p:txBody>
      </p:sp>
    </p:spTree>
    <p:extLst>
      <p:ext uri="{BB962C8B-B14F-4D97-AF65-F5344CB8AC3E}">
        <p14:creationId xmlns:p14="http://schemas.microsoft.com/office/powerpoint/2010/main" val="170486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9588" cy="1054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295400" y="243185"/>
            <a:ext cx="16002000" cy="923330"/>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5400" b="1" u="sng" dirty="0">
                <a:latin typeface="Calibri"/>
              </a:rPr>
              <a:t>‘Moving Balance’ - Table</a:t>
            </a:r>
            <a:endParaRPr lang="en-US" sz="2800" b="1" dirty="0" smtClean="0">
              <a:latin typeface="+mn-lt"/>
            </a:endParaRPr>
          </a:p>
        </p:txBody>
      </p:sp>
      <p:sp>
        <p:nvSpPr>
          <p:cNvPr id="2" name="Rectangle 1"/>
          <p:cNvSpPr/>
          <p:nvPr/>
        </p:nvSpPr>
        <p:spPr>
          <a:xfrm>
            <a:off x="1447800" y="4686300"/>
            <a:ext cx="15849600" cy="2031325"/>
          </a:xfrm>
          <a:prstGeom prst="rect">
            <a:avLst/>
          </a:prstGeom>
        </p:spPr>
        <p:txBody>
          <a:bodyPr wrap="square">
            <a:spAutoFit/>
          </a:bodyPr>
          <a:lstStyle/>
          <a:p>
            <a:pPr marL="457200" indent="-457200">
              <a:lnSpc>
                <a:spcPct val="150000"/>
              </a:lnSpc>
              <a:buFont typeface="Arial" pitchFamily="34" charset="0"/>
              <a:buChar char="•"/>
            </a:pPr>
            <a:r>
              <a:rPr lang="en-US" sz="2800" dirty="0" smtClean="0">
                <a:latin typeface="+mn-lt"/>
              </a:rPr>
              <a:t>In moving balance method for ascertaining the balance no particular date is required. The balance is calculated just after each posting. </a:t>
            </a:r>
          </a:p>
          <a:p>
            <a:pPr marL="457200" indent="-457200">
              <a:lnSpc>
                <a:spcPct val="150000"/>
              </a:lnSpc>
              <a:buFont typeface="Arial" pitchFamily="34" charset="0"/>
              <a:buChar char="•"/>
            </a:pPr>
            <a:r>
              <a:rPr lang="en-US" sz="2800" dirty="0" smtClean="0">
                <a:latin typeface="+mn-lt"/>
              </a:rPr>
              <a:t>There are separate columns for showing the balance in the moving balance method.</a:t>
            </a:r>
            <a:endParaRPr lang="en-US" sz="2800" dirty="0">
              <a:latin typeface="+mn-lt"/>
            </a:endParaRP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409700"/>
            <a:ext cx="15163799"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Table 4"/>
          <p:cNvGraphicFramePr>
            <a:graphicFrameLocks noGrp="1"/>
          </p:cNvGraphicFramePr>
          <p:nvPr>
            <p:extLst>
              <p:ext uri="{D42A27DB-BD31-4B8C-83A1-F6EECF244321}">
                <p14:modId xmlns:p14="http://schemas.microsoft.com/office/powerpoint/2010/main" val="3068696192"/>
              </p:ext>
            </p:extLst>
          </p:nvPr>
        </p:nvGraphicFramePr>
        <p:xfrm>
          <a:off x="2590800" y="6896100"/>
          <a:ext cx="12420600" cy="2956560"/>
        </p:xfrm>
        <a:graphic>
          <a:graphicData uri="http://schemas.openxmlformats.org/drawingml/2006/table">
            <a:tbl>
              <a:tblPr firstRow="1" bandRow="1">
                <a:tableStyleId>{1E171933-4619-4E11-9A3F-F7608DF75F80}</a:tableStyleId>
              </a:tblPr>
              <a:tblGrid>
                <a:gridCol w="6210300"/>
                <a:gridCol w="6210300"/>
              </a:tblGrid>
              <a:tr h="518160">
                <a:tc>
                  <a:txBody>
                    <a:bodyPr/>
                    <a:lstStyle/>
                    <a:p>
                      <a:r>
                        <a:rPr lang="en-US" sz="3200" dirty="0" smtClean="0">
                          <a:effectLst/>
                        </a:rPr>
                        <a:t>Accounts Posting </a:t>
                      </a:r>
                      <a:endParaRPr lang="en-US" sz="3200" dirty="0" smtClean="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3200" dirty="0" smtClean="0">
                          <a:effectLst/>
                        </a:rPr>
                        <a:t>Balance of Accounts</a:t>
                      </a:r>
                      <a:endParaRPr lang="en-US" sz="3200" dirty="0" smtClean="0"/>
                    </a:p>
                  </a:txBody>
                  <a:tcPr/>
                </a:tc>
              </a:tr>
              <a:tr h="640080">
                <a:tc>
                  <a:txBody>
                    <a:bodyPr/>
                    <a:lstStyle/>
                    <a:p>
                      <a:r>
                        <a:rPr lang="en-US" sz="3200" dirty="0" smtClean="0">
                          <a:effectLst/>
                        </a:rPr>
                        <a:t>Debit Posting </a:t>
                      </a:r>
                      <a:endParaRPr lang="en-US" sz="3200" dirty="0" smtClean="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3200" dirty="0" smtClean="0">
                          <a:effectLst/>
                        </a:rPr>
                        <a:t>Debit Balance + </a:t>
                      </a:r>
                      <a:endParaRPr lang="en-US" sz="3200" dirty="0" smtClean="0"/>
                    </a:p>
                  </a:txBody>
                  <a:tcPr/>
                </a:tc>
              </a:tr>
              <a:tr h="518160">
                <a:tc>
                  <a:txBody>
                    <a:bodyPr/>
                    <a:lstStyle/>
                    <a:p>
                      <a:r>
                        <a:rPr lang="en-US" sz="3200" dirty="0" smtClean="0">
                          <a:effectLst/>
                        </a:rPr>
                        <a:t>Credit Posting </a:t>
                      </a:r>
                      <a:endParaRPr lang="en-US" sz="3200" dirty="0" smtClean="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3200" dirty="0" smtClean="0">
                          <a:effectLst/>
                        </a:rPr>
                        <a:t>Debit Balance - </a:t>
                      </a:r>
                      <a:endParaRPr lang="en-US" sz="3200" dirty="0" smtClean="0"/>
                    </a:p>
                  </a:txBody>
                  <a:tcPr/>
                </a:tc>
              </a:tr>
              <a:tr h="518160">
                <a:tc>
                  <a:txBody>
                    <a:bodyPr/>
                    <a:lstStyle/>
                    <a:p>
                      <a:r>
                        <a:rPr lang="en-US" sz="3200" dirty="0" smtClean="0">
                          <a:effectLst/>
                        </a:rPr>
                        <a:t>Credit Posting</a:t>
                      </a:r>
                      <a:endParaRPr lang="en-US" sz="3200" dirty="0" smtClean="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3200" dirty="0" smtClean="0">
                          <a:effectLst/>
                        </a:rPr>
                        <a:t>Credit Balance + </a:t>
                      </a:r>
                      <a:endParaRPr lang="en-US" sz="3200" dirty="0" smtClean="0"/>
                    </a:p>
                  </a:txBody>
                  <a:tcPr/>
                </a:tc>
              </a:tr>
              <a:tr h="518160">
                <a:tc>
                  <a:txBody>
                    <a:bodyPr/>
                    <a:lstStyle/>
                    <a:p>
                      <a:r>
                        <a:rPr lang="en-US" sz="3200" dirty="0" smtClean="0">
                          <a:effectLst/>
                        </a:rPr>
                        <a:t>Debit Posting </a:t>
                      </a:r>
                      <a:endParaRPr lang="en-US" sz="3200" dirty="0" smtClean="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3200" dirty="0" smtClean="0">
                          <a:effectLst/>
                        </a:rPr>
                        <a:t>Credit Balance - </a:t>
                      </a:r>
                      <a:endParaRPr lang="en-US" sz="3200" dirty="0" smtClean="0"/>
                    </a:p>
                  </a:txBody>
                  <a:tcPr/>
                </a:tc>
              </a:tr>
            </a:tbl>
          </a:graphicData>
        </a:graphic>
      </p:graphicFrame>
    </p:spTree>
    <p:extLst>
      <p:ext uri="{BB962C8B-B14F-4D97-AF65-F5344CB8AC3E}">
        <p14:creationId xmlns:p14="http://schemas.microsoft.com/office/powerpoint/2010/main" val="525978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p:cNvSpPr txBox="1"/>
          <p:nvPr/>
        </p:nvSpPr>
        <p:spPr>
          <a:xfrm>
            <a:off x="2095500" y="1239112"/>
            <a:ext cx="4686300" cy="584775"/>
          </a:xfrm>
          <a:prstGeom prst="rect">
            <a:avLst/>
          </a:prstGeom>
          <a:noFill/>
        </p:spPr>
        <p:txBody>
          <a:bodyPr wrap="square" rtlCol="0">
            <a:spAutoFit/>
          </a:bodyPr>
          <a:lstStyle/>
          <a:p>
            <a:r>
              <a:rPr lang="en-US" sz="3200" b="1" dirty="0" smtClean="0">
                <a:latin typeface="+mn-lt"/>
              </a:rPr>
              <a:t>Exercise:</a:t>
            </a:r>
            <a:endParaRPr lang="en-US" sz="3200" b="1" dirty="0">
              <a:latin typeface="+mn-lt"/>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0" y="2019300"/>
            <a:ext cx="13830300" cy="483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62191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9588" cy="1054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33400" y="3924300"/>
            <a:ext cx="6171406" cy="1754326"/>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5400" b="1" u="sng" dirty="0">
                <a:latin typeface="Calibri"/>
              </a:rPr>
              <a:t>General/ Normal Balance of Accounts</a:t>
            </a:r>
            <a:endParaRPr lang="en-US" sz="2800" b="1" dirty="0" smtClean="0">
              <a:latin typeface="+mn-lt"/>
            </a:endParaRPr>
          </a:p>
        </p:txBody>
      </p:sp>
      <p:graphicFrame>
        <p:nvGraphicFramePr>
          <p:cNvPr id="5" name="Table 4"/>
          <p:cNvGraphicFramePr>
            <a:graphicFrameLocks noGrp="1"/>
          </p:cNvGraphicFramePr>
          <p:nvPr>
            <p:extLst>
              <p:ext uri="{D42A27DB-BD31-4B8C-83A1-F6EECF244321}">
                <p14:modId xmlns:p14="http://schemas.microsoft.com/office/powerpoint/2010/main" val="4042715423"/>
              </p:ext>
            </p:extLst>
          </p:nvPr>
        </p:nvGraphicFramePr>
        <p:xfrm>
          <a:off x="6800850" y="3144976"/>
          <a:ext cx="11487150" cy="3535680"/>
        </p:xfrm>
        <a:graphic>
          <a:graphicData uri="http://schemas.openxmlformats.org/drawingml/2006/table">
            <a:tbl>
              <a:tblPr firstRow="1" bandRow="1">
                <a:tableStyleId>{1E171933-4619-4E11-9A3F-F7608DF75F80}</a:tableStyleId>
              </a:tblPr>
              <a:tblGrid>
                <a:gridCol w="5743575"/>
                <a:gridCol w="5743575"/>
              </a:tblGrid>
              <a:tr h="518160">
                <a:tc>
                  <a:txBody>
                    <a:bodyPr/>
                    <a:lstStyle/>
                    <a:p>
                      <a:r>
                        <a:rPr lang="en-US" sz="3200" dirty="0" smtClean="0">
                          <a:solidFill>
                            <a:schemeClr val="bg1"/>
                          </a:solidFill>
                          <a:effectLst/>
                          <a:latin typeface="Times-Bold"/>
                        </a:rPr>
                        <a:t>Classification of Accounts </a:t>
                      </a:r>
                      <a:endParaRPr lang="en-US" sz="3200" dirty="0" smtClean="0">
                        <a:solidFill>
                          <a:schemeClr val="bg1"/>
                        </a:solidFill>
                      </a:endParaRPr>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3200" dirty="0" smtClean="0">
                          <a:effectLst/>
                        </a:rPr>
                        <a:t>Balance of Accounts</a:t>
                      </a:r>
                      <a:endParaRPr lang="en-US" sz="3200" dirty="0" smtClean="0"/>
                    </a:p>
                  </a:txBody>
                  <a:tcPr/>
                </a:tc>
              </a:tr>
              <a:tr h="640080">
                <a:tc>
                  <a:txBody>
                    <a:bodyPr/>
                    <a:lstStyle/>
                    <a:p>
                      <a:r>
                        <a:rPr lang="en-US" sz="3200" dirty="0" smtClean="0">
                          <a:solidFill>
                            <a:srgbClr val="000000"/>
                          </a:solidFill>
                          <a:effectLst/>
                          <a:latin typeface="Times-Roman"/>
                        </a:rPr>
                        <a:t>Assets </a:t>
                      </a:r>
                      <a:endParaRPr lang="en-US" sz="3200" dirty="0" smtClean="0"/>
                    </a:p>
                  </a:txBody>
                  <a:tcPr/>
                </a:tc>
                <a:tc>
                  <a:txBody>
                    <a:bodyPr/>
                    <a:lstStyle/>
                    <a:p>
                      <a:r>
                        <a:rPr lang="en-US" sz="3200" dirty="0" smtClean="0">
                          <a:solidFill>
                            <a:srgbClr val="000000"/>
                          </a:solidFill>
                          <a:effectLst/>
                          <a:latin typeface="Times-Roman"/>
                        </a:rPr>
                        <a:t>Debit Balance </a:t>
                      </a:r>
                      <a:endParaRPr lang="en-US" sz="3200" dirty="0" smtClean="0"/>
                    </a:p>
                  </a:txBody>
                  <a:tcPr/>
                </a:tc>
              </a:tr>
              <a:tr h="518160">
                <a:tc>
                  <a:txBody>
                    <a:bodyPr/>
                    <a:lstStyle/>
                    <a:p>
                      <a:r>
                        <a:rPr lang="en-US" sz="3200" dirty="0" smtClean="0">
                          <a:solidFill>
                            <a:srgbClr val="000000"/>
                          </a:solidFill>
                          <a:effectLst/>
                          <a:latin typeface="Times-Roman"/>
                        </a:rPr>
                        <a:t>Liabilities </a:t>
                      </a:r>
                      <a:endParaRPr lang="en-US" sz="3200" dirty="0" smtClean="0"/>
                    </a:p>
                  </a:txBody>
                  <a:tcPr/>
                </a:tc>
                <a:tc>
                  <a:txBody>
                    <a:bodyPr/>
                    <a:lstStyle/>
                    <a:p>
                      <a:r>
                        <a:rPr lang="en-US" sz="3200" dirty="0" smtClean="0">
                          <a:solidFill>
                            <a:srgbClr val="000000"/>
                          </a:solidFill>
                          <a:effectLst/>
                          <a:latin typeface="Times-Roman"/>
                        </a:rPr>
                        <a:t>Credit Balance </a:t>
                      </a:r>
                      <a:endParaRPr lang="en-US" sz="3200" dirty="0" smtClean="0"/>
                    </a:p>
                  </a:txBody>
                  <a:tcPr/>
                </a:tc>
              </a:tr>
              <a:tr h="518160">
                <a:tc>
                  <a:txBody>
                    <a:bodyPr/>
                    <a:lstStyle/>
                    <a:p>
                      <a:r>
                        <a:rPr lang="en-US" sz="3200" dirty="0" smtClean="0">
                          <a:solidFill>
                            <a:srgbClr val="000000"/>
                          </a:solidFill>
                          <a:effectLst/>
                          <a:latin typeface="Times-Roman"/>
                        </a:rPr>
                        <a:t>Equity </a:t>
                      </a:r>
                      <a:endParaRPr lang="en-US" sz="3200" dirty="0" smtClean="0"/>
                    </a:p>
                  </a:txBody>
                  <a:tcPr/>
                </a:tc>
                <a:tc>
                  <a:txBody>
                    <a:bodyPr/>
                    <a:lstStyle/>
                    <a:p>
                      <a:r>
                        <a:rPr lang="en-US" sz="3200" dirty="0" smtClean="0">
                          <a:solidFill>
                            <a:srgbClr val="000000"/>
                          </a:solidFill>
                          <a:effectLst/>
                          <a:latin typeface="Times-Roman"/>
                        </a:rPr>
                        <a:t>Credit Balance </a:t>
                      </a:r>
                      <a:endParaRPr lang="en-US" sz="3200" dirty="0" smtClean="0"/>
                    </a:p>
                  </a:txBody>
                  <a:tcPr/>
                </a:tc>
              </a:tr>
              <a:tr h="518160">
                <a:tc>
                  <a:txBody>
                    <a:bodyPr/>
                    <a:lstStyle/>
                    <a:p>
                      <a:r>
                        <a:rPr lang="en-US" sz="3200" dirty="0" smtClean="0">
                          <a:solidFill>
                            <a:srgbClr val="000000"/>
                          </a:solidFill>
                          <a:effectLst/>
                          <a:latin typeface="Times-Roman"/>
                        </a:rPr>
                        <a:t>Revenue </a:t>
                      </a:r>
                      <a:endParaRPr lang="en-US" sz="3200" dirty="0" smtClean="0"/>
                    </a:p>
                  </a:txBody>
                  <a:tcPr/>
                </a:tc>
                <a:tc>
                  <a:txBody>
                    <a:bodyPr/>
                    <a:lstStyle/>
                    <a:p>
                      <a:r>
                        <a:rPr lang="en-US" sz="3200" dirty="0" smtClean="0">
                          <a:solidFill>
                            <a:srgbClr val="000000"/>
                          </a:solidFill>
                          <a:effectLst/>
                          <a:latin typeface="Times-Roman"/>
                        </a:rPr>
                        <a:t>Credit Balance </a:t>
                      </a:r>
                      <a:endParaRPr lang="en-US" sz="3200" dirty="0" smtClean="0"/>
                    </a:p>
                  </a:txBody>
                  <a:tcPr/>
                </a:tc>
              </a:tr>
              <a:tr h="518160">
                <a:tc>
                  <a:txBody>
                    <a:bodyPr/>
                    <a:lstStyle/>
                    <a:p>
                      <a:r>
                        <a:rPr lang="en-US" sz="3200" dirty="0" smtClean="0">
                          <a:solidFill>
                            <a:srgbClr val="000000"/>
                          </a:solidFill>
                          <a:effectLst/>
                          <a:latin typeface="Times-Roman"/>
                        </a:rPr>
                        <a:t>Expense </a:t>
                      </a:r>
                      <a:endParaRPr lang="en-US" sz="3200" dirty="0" smtClean="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3200" dirty="0" smtClean="0">
                          <a:solidFill>
                            <a:srgbClr val="000000"/>
                          </a:solidFill>
                          <a:effectLst/>
                          <a:latin typeface="Times-Roman"/>
                        </a:rPr>
                        <a:t>Debit Balance </a:t>
                      </a:r>
                      <a:endParaRPr lang="en-US" sz="3200" dirty="0" smtClean="0"/>
                    </a:p>
                  </a:txBody>
                  <a:tcPr/>
                </a:tc>
              </a:tr>
            </a:tbl>
          </a:graphicData>
        </a:graphic>
      </p:graphicFrame>
    </p:spTree>
    <p:extLst>
      <p:ext uri="{BB962C8B-B14F-4D97-AF65-F5344CB8AC3E}">
        <p14:creationId xmlns:p14="http://schemas.microsoft.com/office/powerpoint/2010/main" val="1142347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9588" cy="1054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1752600" y="1943100"/>
            <a:ext cx="15278100" cy="6740307"/>
          </a:xfrm>
          <a:prstGeom prst="rect">
            <a:avLst/>
          </a:prstGeom>
        </p:spPr>
        <p:txBody>
          <a:bodyPr wrap="square">
            <a:spAutoFit/>
          </a:bodyPr>
          <a:lstStyle/>
          <a:p>
            <a:r>
              <a:rPr lang="en-US" sz="3600" b="1" dirty="0" smtClean="0">
                <a:solidFill>
                  <a:srgbClr val="000000"/>
                </a:solidFill>
                <a:effectLst/>
                <a:latin typeface="+mn-lt"/>
              </a:rPr>
              <a:t>Exercise: 1</a:t>
            </a:r>
          </a:p>
          <a:p>
            <a:r>
              <a:rPr lang="en-US" sz="3600" dirty="0" smtClean="0">
                <a:solidFill>
                  <a:srgbClr val="000000"/>
                </a:solidFill>
                <a:effectLst/>
                <a:latin typeface="+mn-lt"/>
              </a:rPr>
              <a:t>Preparing of Ledger from General Journal </a:t>
            </a:r>
            <a:r>
              <a:rPr lang="en-US" sz="3600" dirty="0">
                <a:solidFill>
                  <a:srgbClr val="000000"/>
                </a:solidFill>
                <a:latin typeface="+mn-lt"/>
              </a:rPr>
              <a:t>o</a:t>
            </a:r>
            <a:r>
              <a:rPr lang="en-US" sz="3600" dirty="0" smtClean="0">
                <a:solidFill>
                  <a:srgbClr val="000000"/>
                </a:solidFill>
                <a:effectLst/>
                <a:latin typeface="+mn-lt"/>
              </a:rPr>
              <a:t>n 1 February 2026 Mr. </a:t>
            </a:r>
            <a:r>
              <a:rPr lang="en-US" sz="3600" dirty="0" err="1" smtClean="0">
                <a:solidFill>
                  <a:srgbClr val="000000"/>
                </a:solidFill>
                <a:effectLst/>
                <a:latin typeface="+mn-lt"/>
              </a:rPr>
              <a:t>Shahin</a:t>
            </a:r>
            <a:r>
              <a:rPr lang="en-US" sz="3600" dirty="0" smtClean="0">
                <a:solidFill>
                  <a:srgbClr val="000000"/>
                </a:solidFill>
                <a:effectLst/>
                <a:latin typeface="+mn-lt"/>
              </a:rPr>
              <a:t> started a business with capital of Tk. 1, 00,000.His transactions for the month were</a:t>
            </a:r>
            <a:endParaRPr lang="en-US" sz="3600" dirty="0" smtClean="0">
              <a:latin typeface="+mn-lt"/>
            </a:endParaRPr>
          </a:p>
          <a:p>
            <a:r>
              <a:rPr lang="en-US" sz="3600" dirty="0" smtClean="0">
                <a:solidFill>
                  <a:srgbClr val="000000"/>
                </a:solidFill>
                <a:effectLst/>
                <a:latin typeface="+mn-lt"/>
              </a:rPr>
              <a:t>Feb. 2 Furniture purchase Tk.20, 000. </a:t>
            </a:r>
            <a:endParaRPr lang="en-US" sz="3600" dirty="0" smtClean="0">
              <a:latin typeface="+mn-lt"/>
            </a:endParaRPr>
          </a:p>
          <a:p>
            <a:r>
              <a:rPr lang="en-US" sz="3600" dirty="0" smtClean="0">
                <a:solidFill>
                  <a:srgbClr val="000000"/>
                </a:solidFill>
                <a:effectLst/>
                <a:latin typeface="+mn-lt"/>
              </a:rPr>
              <a:t>,, 3 Goods purchased on credit Tk. 30,000. </a:t>
            </a:r>
            <a:endParaRPr lang="en-US" sz="3600" dirty="0" smtClean="0">
              <a:latin typeface="+mn-lt"/>
            </a:endParaRPr>
          </a:p>
          <a:p>
            <a:r>
              <a:rPr lang="en-US" sz="3600" dirty="0" smtClean="0">
                <a:solidFill>
                  <a:srgbClr val="000000"/>
                </a:solidFill>
                <a:effectLst/>
                <a:latin typeface="+mn-lt"/>
              </a:rPr>
              <a:t>,, 5 Goods sold Tk. 25,000 </a:t>
            </a:r>
            <a:endParaRPr lang="en-US" sz="3600" dirty="0" smtClean="0">
              <a:latin typeface="+mn-lt"/>
            </a:endParaRPr>
          </a:p>
          <a:p>
            <a:r>
              <a:rPr lang="en-US" sz="3600" dirty="0" smtClean="0">
                <a:solidFill>
                  <a:srgbClr val="000000"/>
                </a:solidFill>
                <a:effectLst/>
                <a:latin typeface="+mn-lt"/>
              </a:rPr>
              <a:t>,, 8 Purchase returns Tk. 2,000. </a:t>
            </a:r>
            <a:endParaRPr lang="en-US" sz="3600" dirty="0" smtClean="0">
              <a:latin typeface="+mn-lt"/>
            </a:endParaRPr>
          </a:p>
          <a:p>
            <a:r>
              <a:rPr lang="en-US" sz="3600" dirty="0" smtClean="0">
                <a:solidFill>
                  <a:srgbClr val="000000"/>
                </a:solidFill>
                <a:effectLst/>
                <a:latin typeface="+mn-lt"/>
              </a:rPr>
              <a:t>,, 12 Tk.10,000 paid to creditor. </a:t>
            </a:r>
            <a:endParaRPr lang="en-US" sz="3600" dirty="0" smtClean="0">
              <a:latin typeface="+mn-lt"/>
            </a:endParaRPr>
          </a:p>
          <a:p>
            <a:r>
              <a:rPr lang="en-US" sz="3600" dirty="0" smtClean="0">
                <a:solidFill>
                  <a:srgbClr val="000000"/>
                </a:solidFill>
                <a:effectLst/>
                <a:latin typeface="+mn-lt"/>
              </a:rPr>
              <a:t>,, 18 A bank account opened by depositing Tk. 15,000. </a:t>
            </a:r>
            <a:endParaRPr lang="en-US" sz="3600" dirty="0" smtClean="0">
              <a:latin typeface="+mn-lt"/>
            </a:endParaRPr>
          </a:p>
          <a:p>
            <a:r>
              <a:rPr lang="en-US" sz="3600" dirty="0" smtClean="0">
                <a:solidFill>
                  <a:srgbClr val="000000"/>
                </a:solidFill>
                <a:effectLst/>
                <a:latin typeface="+mn-lt"/>
              </a:rPr>
              <a:t>,, 22 Goods sold and received a </a:t>
            </a:r>
            <a:r>
              <a:rPr lang="en-US" sz="3600" dirty="0" err="1" smtClean="0">
                <a:solidFill>
                  <a:srgbClr val="000000"/>
                </a:solidFill>
                <a:effectLst/>
                <a:latin typeface="+mn-lt"/>
              </a:rPr>
              <a:t>cheque</a:t>
            </a:r>
            <a:r>
              <a:rPr lang="en-US" sz="3600" dirty="0" smtClean="0">
                <a:solidFill>
                  <a:srgbClr val="000000"/>
                </a:solidFill>
                <a:effectLst/>
                <a:latin typeface="+mn-lt"/>
              </a:rPr>
              <a:t>. Tk. 8,000 </a:t>
            </a:r>
            <a:endParaRPr lang="en-US" sz="3600" dirty="0" smtClean="0">
              <a:latin typeface="+mn-lt"/>
            </a:endParaRPr>
          </a:p>
          <a:p>
            <a:r>
              <a:rPr lang="en-US" sz="3600" dirty="0" smtClean="0">
                <a:solidFill>
                  <a:srgbClr val="000000"/>
                </a:solidFill>
                <a:effectLst/>
                <a:latin typeface="+mn-lt"/>
              </a:rPr>
              <a:t>,, 25 Goods Purchased from </a:t>
            </a:r>
            <a:r>
              <a:rPr lang="en-US" sz="3600" dirty="0" err="1" smtClean="0">
                <a:solidFill>
                  <a:srgbClr val="000000"/>
                </a:solidFill>
                <a:effectLst/>
                <a:latin typeface="+mn-lt"/>
              </a:rPr>
              <a:t>Shafiq</a:t>
            </a:r>
            <a:r>
              <a:rPr lang="en-US" sz="3600" dirty="0" smtClean="0">
                <a:solidFill>
                  <a:srgbClr val="000000"/>
                </a:solidFill>
                <a:effectLst/>
                <a:latin typeface="+mn-lt"/>
              </a:rPr>
              <a:t> by </a:t>
            </a:r>
            <a:r>
              <a:rPr lang="en-US" sz="3600" dirty="0" err="1" smtClean="0">
                <a:solidFill>
                  <a:srgbClr val="000000"/>
                </a:solidFill>
                <a:effectLst/>
                <a:latin typeface="+mn-lt"/>
              </a:rPr>
              <a:t>cheque</a:t>
            </a:r>
            <a:r>
              <a:rPr lang="en-US" sz="3600" dirty="0" smtClean="0">
                <a:solidFill>
                  <a:srgbClr val="000000"/>
                </a:solidFill>
                <a:effectLst/>
                <a:latin typeface="+mn-lt"/>
              </a:rPr>
              <a:t> Tk. 6,000. </a:t>
            </a:r>
            <a:endParaRPr lang="en-US" sz="3600" dirty="0" smtClean="0">
              <a:latin typeface="+mn-lt"/>
            </a:endParaRPr>
          </a:p>
          <a:p>
            <a:r>
              <a:rPr lang="en-US" sz="3600" dirty="0" smtClean="0">
                <a:solidFill>
                  <a:srgbClr val="000000"/>
                </a:solidFill>
                <a:effectLst/>
                <a:latin typeface="+mn-lt"/>
              </a:rPr>
              <a:t>,, 28 Salaries paid to the employees Tk. 5,000. </a:t>
            </a:r>
            <a:endParaRPr lang="en-US" sz="3600" dirty="0">
              <a:latin typeface="+mn-lt"/>
            </a:endParaRPr>
          </a:p>
        </p:txBody>
      </p:sp>
    </p:spTree>
    <p:extLst>
      <p:ext uri="{BB962C8B-B14F-4D97-AF65-F5344CB8AC3E}">
        <p14:creationId xmlns:p14="http://schemas.microsoft.com/office/powerpoint/2010/main" val="2199657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9588" cy="1054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752600" y="1562100"/>
            <a:ext cx="14935200" cy="6986528"/>
          </a:xfrm>
          <a:prstGeom prst="rect">
            <a:avLst/>
          </a:prstGeom>
        </p:spPr>
        <p:txBody>
          <a:bodyPr wrap="square">
            <a:spAutoFit/>
          </a:bodyPr>
          <a:lstStyle/>
          <a:p>
            <a:r>
              <a:rPr lang="en-US" sz="3600" b="1" dirty="0" smtClean="0">
                <a:solidFill>
                  <a:srgbClr val="000000"/>
                </a:solidFill>
                <a:effectLst/>
                <a:latin typeface="+mn-lt"/>
              </a:rPr>
              <a:t>Exercise: 2</a:t>
            </a:r>
            <a:endParaRPr lang="en-US" sz="3600" b="1" dirty="0" smtClean="0">
              <a:latin typeface="+mn-lt"/>
            </a:endParaRPr>
          </a:p>
          <a:p>
            <a:r>
              <a:rPr lang="en-US" sz="3200" dirty="0" smtClean="0">
                <a:solidFill>
                  <a:srgbClr val="000000"/>
                </a:solidFill>
                <a:effectLst/>
                <a:latin typeface="+mn-lt"/>
              </a:rPr>
              <a:t>Post the following Transactions into the ledger account and balance the accounts </a:t>
            </a:r>
            <a:endParaRPr lang="en-US" sz="3200" dirty="0" smtClean="0">
              <a:latin typeface="+mn-lt"/>
            </a:endParaRPr>
          </a:p>
          <a:p>
            <a:r>
              <a:rPr lang="en-US" sz="3200" dirty="0" smtClean="0">
                <a:solidFill>
                  <a:srgbClr val="000000"/>
                </a:solidFill>
                <a:effectLst/>
                <a:latin typeface="+mn-lt"/>
              </a:rPr>
              <a:t>of </a:t>
            </a:r>
            <a:r>
              <a:rPr lang="en-US" sz="3200" dirty="0" err="1" smtClean="0">
                <a:solidFill>
                  <a:srgbClr val="000000"/>
                </a:solidFill>
                <a:effectLst/>
                <a:latin typeface="+mn-lt"/>
              </a:rPr>
              <a:t>Rumana</a:t>
            </a:r>
            <a:r>
              <a:rPr lang="en-US" sz="3200" dirty="0" smtClean="0">
                <a:solidFill>
                  <a:srgbClr val="000000"/>
                </a:solidFill>
                <a:effectLst/>
                <a:latin typeface="+mn-lt"/>
              </a:rPr>
              <a:t> </a:t>
            </a:r>
            <a:r>
              <a:rPr lang="en-US" sz="3200" dirty="0" err="1" smtClean="0">
                <a:solidFill>
                  <a:srgbClr val="000000"/>
                </a:solidFill>
                <a:effectLst/>
                <a:latin typeface="+mn-lt"/>
              </a:rPr>
              <a:t>Akter</a:t>
            </a:r>
            <a:r>
              <a:rPr lang="en-US" sz="3200" dirty="0" smtClean="0">
                <a:solidFill>
                  <a:srgbClr val="000000"/>
                </a:solidFill>
                <a:effectLst/>
                <a:latin typeface="+mn-lt"/>
              </a:rPr>
              <a:t>. </a:t>
            </a:r>
            <a:endParaRPr lang="en-US" sz="3200" dirty="0" smtClean="0">
              <a:latin typeface="+mn-lt"/>
            </a:endParaRPr>
          </a:p>
          <a:p>
            <a:r>
              <a:rPr lang="en-US" sz="3200" dirty="0" smtClean="0">
                <a:solidFill>
                  <a:srgbClr val="000000"/>
                </a:solidFill>
                <a:effectLst/>
                <a:latin typeface="+mn-lt"/>
              </a:rPr>
              <a:t>2026</a:t>
            </a:r>
            <a:endParaRPr lang="en-US" sz="3200" dirty="0" smtClean="0">
              <a:latin typeface="+mn-lt"/>
            </a:endParaRPr>
          </a:p>
          <a:p>
            <a:r>
              <a:rPr lang="en-US" sz="3200" dirty="0" smtClean="0">
                <a:solidFill>
                  <a:srgbClr val="000000"/>
                </a:solidFill>
                <a:effectLst/>
                <a:latin typeface="+mn-lt"/>
              </a:rPr>
              <a:t>August 1 Sold goods on credit Tk.15,000. </a:t>
            </a:r>
            <a:endParaRPr lang="en-US" sz="3200" dirty="0" smtClean="0">
              <a:latin typeface="+mn-lt"/>
            </a:endParaRPr>
          </a:p>
          <a:p>
            <a:r>
              <a:rPr lang="en-US" sz="3200" dirty="0" smtClean="0">
                <a:solidFill>
                  <a:srgbClr val="000000"/>
                </a:solidFill>
                <a:effectLst/>
                <a:latin typeface="+mn-lt"/>
              </a:rPr>
              <a:t>,, 2 Loan has taken of Tk.30,000. </a:t>
            </a:r>
            <a:endParaRPr lang="en-US" sz="3200" dirty="0" smtClean="0">
              <a:latin typeface="+mn-lt"/>
            </a:endParaRPr>
          </a:p>
          <a:p>
            <a:r>
              <a:rPr lang="en-US" sz="3200" dirty="0" smtClean="0">
                <a:solidFill>
                  <a:srgbClr val="000000"/>
                </a:solidFill>
                <a:effectLst/>
                <a:latin typeface="+mn-lt"/>
              </a:rPr>
              <a:t>,, 6 Deposited in the Bank Tk.10,000. </a:t>
            </a:r>
            <a:endParaRPr lang="en-US" sz="3200" dirty="0" smtClean="0">
              <a:latin typeface="+mn-lt"/>
            </a:endParaRPr>
          </a:p>
          <a:p>
            <a:r>
              <a:rPr lang="en-US" sz="3200" dirty="0" smtClean="0">
                <a:solidFill>
                  <a:srgbClr val="000000"/>
                </a:solidFill>
                <a:effectLst/>
                <a:latin typeface="+mn-lt"/>
              </a:rPr>
              <a:t>,, 8 Purchased goods returned Tk.2,000. </a:t>
            </a:r>
            <a:endParaRPr lang="en-US" sz="3200" dirty="0" smtClean="0">
              <a:latin typeface="+mn-lt"/>
            </a:endParaRPr>
          </a:p>
          <a:p>
            <a:r>
              <a:rPr lang="en-US" sz="3200" dirty="0" smtClean="0">
                <a:solidFill>
                  <a:srgbClr val="000000"/>
                </a:solidFill>
                <a:effectLst/>
                <a:latin typeface="+mn-lt"/>
              </a:rPr>
              <a:t>,, 12 Cash Tk.6,000 received from debtor. </a:t>
            </a:r>
            <a:endParaRPr lang="en-US" sz="3200" dirty="0" smtClean="0">
              <a:latin typeface="+mn-lt"/>
            </a:endParaRPr>
          </a:p>
          <a:p>
            <a:r>
              <a:rPr lang="en-US" sz="3200" dirty="0" smtClean="0">
                <a:solidFill>
                  <a:srgbClr val="000000"/>
                </a:solidFill>
                <a:effectLst/>
                <a:latin typeface="+mn-lt"/>
              </a:rPr>
              <a:t>,, 15 Withdrawn cash from Bank for personal use Tk.1,000. </a:t>
            </a:r>
            <a:endParaRPr lang="en-US" sz="3200" dirty="0" smtClean="0">
              <a:latin typeface="+mn-lt"/>
            </a:endParaRPr>
          </a:p>
          <a:p>
            <a:r>
              <a:rPr lang="en-US" sz="3200" dirty="0" smtClean="0">
                <a:solidFill>
                  <a:srgbClr val="000000"/>
                </a:solidFill>
                <a:effectLst/>
                <a:latin typeface="+mn-lt"/>
              </a:rPr>
              <a:t>,, 20 Goods purchased by </a:t>
            </a:r>
            <a:r>
              <a:rPr lang="en-US" sz="3200" dirty="0" err="1" smtClean="0">
                <a:solidFill>
                  <a:srgbClr val="000000"/>
                </a:solidFill>
                <a:effectLst/>
                <a:latin typeface="+mn-lt"/>
              </a:rPr>
              <a:t>cheque</a:t>
            </a:r>
            <a:r>
              <a:rPr lang="en-US" sz="3200" dirty="0" smtClean="0">
                <a:solidFill>
                  <a:srgbClr val="000000"/>
                </a:solidFill>
                <a:effectLst/>
                <a:latin typeface="+mn-lt"/>
              </a:rPr>
              <a:t> Tk.4,000. </a:t>
            </a:r>
            <a:endParaRPr lang="en-US" sz="3200" dirty="0" smtClean="0">
              <a:latin typeface="+mn-lt"/>
            </a:endParaRPr>
          </a:p>
          <a:p>
            <a:r>
              <a:rPr lang="en-US" sz="3200" dirty="0" smtClean="0">
                <a:solidFill>
                  <a:srgbClr val="000000"/>
                </a:solidFill>
                <a:effectLst/>
                <a:latin typeface="+mn-lt"/>
              </a:rPr>
              <a:t>,, 25 goods sold Tk.12,000. </a:t>
            </a:r>
            <a:endParaRPr lang="en-US" sz="3200" dirty="0" smtClean="0">
              <a:latin typeface="+mn-lt"/>
            </a:endParaRPr>
          </a:p>
          <a:p>
            <a:r>
              <a:rPr lang="en-US" sz="3200" dirty="0" smtClean="0">
                <a:solidFill>
                  <a:srgbClr val="000000"/>
                </a:solidFill>
                <a:effectLst/>
                <a:latin typeface="+mn-lt"/>
              </a:rPr>
              <a:t>Divided into two groups, one follows ‘T’ and other ‘Moving Balance’ method. </a:t>
            </a:r>
            <a:endParaRPr lang="en-US" sz="3200" dirty="0" smtClean="0">
              <a:latin typeface="+mn-lt"/>
            </a:endParaRPr>
          </a:p>
          <a:p>
            <a:r>
              <a:rPr lang="en-US" sz="3200" dirty="0" smtClean="0">
                <a:solidFill>
                  <a:srgbClr val="000000"/>
                </a:solidFill>
                <a:effectLst/>
                <a:latin typeface="+mn-lt"/>
              </a:rPr>
              <a:t>Match the balances with one another. </a:t>
            </a:r>
            <a:endParaRPr lang="en-US" sz="3200" dirty="0">
              <a:latin typeface="+mn-lt"/>
            </a:endParaRPr>
          </a:p>
        </p:txBody>
      </p:sp>
    </p:spTree>
    <p:extLst>
      <p:ext uri="{BB962C8B-B14F-4D97-AF65-F5344CB8AC3E}">
        <p14:creationId xmlns:p14="http://schemas.microsoft.com/office/powerpoint/2010/main" val="1579567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9588" cy="1054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752600" y="1562100"/>
            <a:ext cx="14935200" cy="6678751"/>
          </a:xfrm>
          <a:prstGeom prst="rect">
            <a:avLst/>
          </a:prstGeom>
        </p:spPr>
        <p:txBody>
          <a:bodyPr wrap="square">
            <a:spAutoFit/>
          </a:bodyPr>
          <a:lstStyle/>
          <a:p>
            <a:r>
              <a:rPr lang="en-US" sz="3600" b="1" dirty="0" smtClean="0">
                <a:solidFill>
                  <a:srgbClr val="000000"/>
                </a:solidFill>
                <a:effectLst/>
                <a:latin typeface="+mn-lt"/>
              </a:rPr>
              <a:t>Exercise: 3</a:t>
            </a:r>
            <a:endParaRPr lang="en-US" sz="3600" b="1" dirty="0" smtClean="0">
              <a:latin typeface="+mn-lt"/>
            </a:endParaRPr>
          </a:p>
          <a:p>
            <a:r>
              <a:rPr lang="en-US" sz="3600" dirty="0" smtClean="0">
                <a:solidFill>
                  <a:srgbClr val="000000"/>
                </a:solidFill>
                <a:effectLst/>
                <a:latin typeface="+mn-lt"/>
              </a:rPr>
              <a:t>Post the following Transactions into the ledger account and balance the accounts of </a:t>
            </a:r>
            <a:r>
              <a:rPr lang="en-US" sz="3600" dirty="0">
                <a:latin typeface="+mn-lt"/>
              </a:rPr>
              <a:t>Mr. </a:t>
            </a:r>
            <a:r>
              <a:rPr lang="en-US" sz="3600" dirty="0" err="1" smtClean="0">
                <a:latin typeface="+mn-lt"/>
              </a:rPr>
              <a:t>Rakib</a:t>
            </a:r>
            <a:r>
              <a:rPr lang="en-US" sz="3600" dirty="0" smtClean="0">
                <a:latin typeface="+mn-lt"/>
              </a:rPr>
              <a:t>.</a:t>
            </a:r>
            <a:endParaRPr lang="en-US" sz="3600" dirty="0" smtClean="0">
              <a:solidFill>
                <a:srgbClr val="000000"/>
              </a:solidFill>
              <a:effectLst/>
              <a:latin typeface="+mn-lt"/>
            </a:endParaRPr>
          </a:p>
          <a:p>
            <a:endParaRPr lang="en-US" sz="3600" dirty="0" smtClean="0">
              <a:latin typeface="+mn-lt"/>
            </a:endParaRPr>
          </a:p>
          <a:p>
            <a:r>
              <a:rPr lang="en-US" sz="3600" dirty="0">
                <a:latin typeface="+mn-lt"/>
              </a:rPr>
              <a:t>On 1st July 2011 Mr. </a:t>
            </a:r>
            <a:r>
              <a:rPr lang="en-US" sz="3600" dirty="0" err="1">
                <a:latin typeface="+mn-lt"/>
              </a:rPr>
              <a:t>Rakib</a:t>
            </a:r>
            <a:r>
              <a:rPr lang="en-US" sz="3600" dirty="0">
                <a:latin typeface="+mn-lt"/>
              </a:rPr>
              <a:t> started a business with cash tk.30,000 and goods worth </a:t>
            </a:r>
            <a:r>
              <a:rPr lang="en-US" sz="3600" dirty="0" smtClean="0">
                <a:latin typeface="+mn-lt"/>
              </a:rPr>
              <a:t>tk.15,000</a:t>
            </a:r>
            <a:r>
              <a:rPr lang="en-US" sz="3600" dirty="0">
                <a:latin typeface="+mn-lt"/>
              </a:rPr>
              <a:t>. Other transactions </a:t>
            </a:r>
            <a:r>
              <a:rPr lang="en-US" sz="3600" dirty="0" smtClean="0">
                <a:latin typeface="+mn-lt"/>
              </a:rPr>
              <a:t>were ,</a:t>
            </a:r>
          </a:p>
          <a:p>
            <a:r>
              <a:rPr lang="en-US" sz="3600" dirty="0" smtClean="0">
                <a:latin typeface="+mn-lt"/>
              </a:rPr>
              <a:t>July </a:t>
            </a:r>
            <a:r>
              <a:rPr lang="en-US" sz="3600" dirty="0">
                <a:latin typeface="+mn-lt"/>
              </a:rPr>
              <a:t>2 Sold goods for cash Tk.20,000. </a:t>
            </a:r>
            <a:endParaRPr lang="en-US" sz="3600" dirty="0" smtClean="0">
              <a:latin typeface="+mn-lt"/>
            </a:endParaRPr>
          </a:p>
          <a:p>
            <a:r>
              <a:rPr lang="en-US" sz="3600" dirty="0">
                <a:latin typeface="+mn-lt"/>
              </a:rPr>
              <a:t>,, 3 Furniture Purchase 5,000 Taka. </a:t>
            </a:r>
            <a:endParaRPr lang="en-US" sz="3600" dirty="0" smtClean="0">
              <a:latin typeface="+mn-lt"/>
            </a:endParaRPr>
          </a:p>
          <a:p>
            <a:r>
              <a:rPr lang="en-US" sz="3600" dirty="0">
                <a:latin typeface="+mn-lt"/>
              </a:rPr>
              <a:t>,, 5 Tk.3000 deposited into Bank. </a:t>
            </a:r>
            <a:endParaRPr lang="en-US" sz="3600" dirty="0" smtClean="0">
              <a:latin typeface="+mn-lt"/>
            </a:endParaRPr>
          </a:p>
          <a:p>
            <a:r>
              <a:rPr lang="en-US" sz="3600" dirty="0">
                <a:latin typeface="+mn-lt"/>
              </a:rPr>
              <a:t>,, 10 Goods purchased Tk.7,000. </a:t>
            </a:r>
            <a:endParaRPr lang="en-US" sz="3600" dirty="0" smtClean="0">
              <a:latin typeface="+mn-lt"/>
            </a:endParaRPr>
          </a:p>
          <a:p>
            <a:r>
              <a:rPr lang="en-US" sz="3600" dirty="0">
                <a:latin typeface="+mn-lt"/>
              </a:rPr>
              <a:t>,, 15 Withdraw Tk.1,000. </a:t>
            </a:r>
            <a:endParaRPr lang="en-US" sz="3600" dirty="0" smtClean="0">
              <a:latin typeface="+mn-lt"/>
            </a:endParaRPr>
          </a:p>
          <a:p>
            <a:r>
              <a:rPr lang="en-US" sz="3600" dirty="0">
                <a:latin typeface="+mn-lt"/>
              </a:rPr>
              <a:t>,, 20 Salaries Paid to the employees Tk. 2000. </a:t>
            </a:r>
          </a:p>
        </p:txBody>
      </p:sp>
    </p:spTree>
    <p:extLst>
      <p:ext uri="{BB962C8B-B14F-4D97-AF65-F5344CB8AC3E}">
        <p14:creationId xmlns:p14="http://schemas.microsoft.com/office/powerpoint/2010/main" val="38460241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9588" cy="1054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752600" y="1562100"/>
            <a:ext cx="14935200" cy="6678751"/>
          </a:xfrm>
          <a:prstGeom prst="rect">
            <a:avLst/>
          </a:prstGeom>
        </p:spPr>
        <p:txBody>
          <a:bodyPr wrap="square">
            <a:spAutoFit/>
          </a:bodyPr>
          <a:lstStyle/>
          <a:p>
            <a:r>
              <a:rPr lang="en-US" sz="3600" b="1" dirty="0" smtClean="0">
                <a:solidFill>
                  <a:srgbClr val="000000"/>
                </a:solidFill>
                <a:effectLst/>
                <a:latin typeface="+mn-lt"/>
              </a:rPr>
              <a:t>Exercise: 4</a:t>
            </a:r>
            <a:endParaRPr lang="en-US" sz="3600" b="1" dirty="0" smtClean="0">
              <a:latin typeface="+mn-lt"/>
            </a:endParaRPr>
          </a:p>
          <a:p>
            <a:r>
              <a:rPr lang="en-US" sz="3600" dirty="0">
                <a:latin typeface="+mn-lt"/>
              </a:rPr>
              <a:t>On March </a:t>
            </a:r>
            <a:r>
              <a:rPr lang="en-US" sz="3600" dirty="0" smtClean="0">
                <a:latin typeface="+mn-lt"/>
              </a:rPr>
              <a:t>2026 </a:t>
            </a:r>
            <a:r>
              <a:rPr lang="en-US" sz="3600" dirty="0">
                <a:latin typeface="+mn-lt"/>
              </a:rPr>
              <a:t>the transactions of </a:t>
            </a:r>
            <a:r>
              <a:rPr lang="en-US" sz="3600" dirty="0" err="1">
                <a:latin typeface="+mn-lt"/>
              </a:rPr>
              <a:t>Selim</a:t>
            </a:r>
            <a:r>
              <a:rPr lang="en-US" sz="3600" dirty="0">
                <a:latin typeface="+mn-lt"/>
              </a:rPr>
              <a:t> and Co. were : </a:t>
            </a:r>
            <a:endParaRPr lang="en-US" sz="3600" dirty="0" smtClean="0">
              <a:latin typeface="+mn-lt"/>
            </a:endParaRPr>
          </a:p>
          <a:p>
            <a:r>
              <a:rPr lang="en-US" sz="3600" dirty="0">
                <a:latin typeface="+mn-lt"/>
              </a:rPr>
              <a:t>March 1 Started business with cash tk.50,000 </a:t>
            </a:r>
            <a:endParaRPr lang="en-US" sz="3600" dirty="0" smtClean="0">
              <a:latin typeface="+mn-lt"/>
            </a:endParaRPr>
          </a:p>
          <a:p>
            <a:r>
              <a:rPr lang="en-US" sz="3600" dirty="0">
                <a:latin typeface="+mn-lt"/>
              </a:rPr>
              <a:t>March 3 Opened an account into bank by depositing tk.15,000 </a:t>
            </a:r>
            <a:endParaRPr lang="en-US" sz="3600" dirty="0" smtClean="0">
              <a:latin typeface="+mn-lt"/>
            </a:endParaRPr>
          </a:p>
          <a:p>
            <a:r>
              <a:rPr lang="en-US" sz="3600" dirty="0">
                <a:latin typeface="+mn-lt"/>
              </a:rPr>
              <a:t>March 5 Goods purchased on credit tk.20,000 </a:t>
            </a:r>
            <a:endParaRPr lang="en-US" sz="3600" dirty="0" smtClean="0">
              <a:latin typeface="+mn-lt"/>
            </a:endParaRPr>
          </a:p>
          <a:p>
            <a:r>
              <a:rPr lang="en-US" sz="3600" dirty="0">
                <a:latin typeface="+mn-lt"/>
              </a:rPr>
              <a:t>March 7 Furniture purchased tk.10,000 </a:t>
            </a:r>
            <a:endParaRPr lang="en-US" sz="3600" dirty="0" smtClean="0">
              <a:latin typeface="+mn-lt"/>
            </a:endParaRPr>
          </a:p>
          <a:p>
            <a:r>
              <a:rPr lang="en-US" sz="3600" dirty="0">
                <a:latin typeface="+mn-lt"/>
              </a:rPr>
              <a:t>March 10 Goods sold tk.30,000 </a:t>
            </a:r>
            <a:endParaRPr lang="en-US" sz="3600" dirty="0" smtClean="0">
              <a:latin typeface="+mn-lt"/>
            </a:endParaRPr>
          </a:p>
          <a:p>
            <a:r>
              <a:rPr lang="en-US" sz="3600" dirty="0">
                <a:latin typeface="+mn-lt"/>
              </a:rPr>
              <a:t>March 12 Paid to creditors by </a:t>
            </a:r>
            <a:r>
              <a:rPr lang="en-US" sz="3600" dirty="0" err="1">
                <a:latin typeface="+mn-lt"/>
              </a:rPr>
              <a:t>cheque</a:t>
            </a:r>
            <a:r>
              <a:rPr lang="en-US" sz="3600" dirty="0">
                <a:latin typeface="+mn-lt"/>
              </a:rPr>
              <a:t> tk.12,000. </a:t>
            </a:r>
            <a:endParaRPr lang="en-US" sz="3600" dirty="0" smtClean="0">
              <a:latin typeface="+mn-lt"/>
            </a:endParaRPr>
          </a:p>
          <a:p>
            <a:endParaRPr lang="en-US" sz="3600" dirty="0" smtClean="0">
              <a:latin typeface="+mn-lt"/>
            </a:endParaRPr>
          </a:p>
          <a:p>
            <a:r>
              <a:rPr lang="en-US" sz="3600" dirty="0" smtClean="0">
                <a:latin typeface="+mn-lt"/>
              </a:rPr>
              <a:t>a</a:t>
            </a:r>
            <a:r>
              <a:rPr lang="en-US" sz="3600" dirty="0">
                <a:latin typeface="+mn-lt"/>
              </a:rPr>
              <a:t>) Pass the journal entries for the transactions of March 5 and 12. </a:t>
            </a:r>
            <a:endParaRPr lang="en-US" sz="3600" dirty="0" smtClean="0">
              <a:latin typeface="+mn-lt"/>
            </a:endParaRPr>
          </a:p>
          <a:p>
            <a:r>
              <a:rPr lang="en-US" sz="3600" dirty="0">
                <a:latin typeface="+mn-lt"/>
              </a:rPr>
              <a:t>b) Prepare Cash account, Bank account, Purchase account, and Creditors account </a:t>
            </a:r>
            <a:r>
              <a:rPr lang="en-US" sz="3600" dirty="0" smtClean="0">
                <a:latin typeface="+mn-lt"/>
              </a:rPr>
              <a:t>from </a:t>
            </a:r>
            <a:r>
              <a:rPr lang="en-US" sz="3600" dirty="0">
                <a:latin typeface="+mn-lt"/>
              </a:rPr>
              <a:t>the above transactions of </a:t>
            </a:r>
            <a:r>
              <a:rPr lang="en-US" sz="3600" dirty="0" err="1">
                <a:latin typeface="+mn-lt"/>
              </a:rPr>
              <a:t>Selim</a:t>
            </a:r>
            <a:r>
              <a:rPr lang="en-US" sz="3600" dirty="0">
                <a:latin typeface="+mn-lt"/>
              </a:rPr>
              <a:t> and Co. </a:t>
            </a:r>
            <a:endParaRPr lang="en-US" sz="3600" dirty="0" smtClean="0">
              <a:latin typeface="+mn-lt"/>
            </a:endParaRPr>
          </a:p>
        </p:txBody>
      </p:sp>
    </p:spTree>
    <p:extLst>
      <p:ext uri="{BB962C8B-B14F-4D97-AF65-F5344CB8AC3E}">
        <p14:creationId xmlns:p14="http://schemas.microsoft.com/office/powerpoint/2010/main" val="2072508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9588" cy="1054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752600" y="1562100"/>
            <a:ext cx="14935200" cy="8956298"/>
          </a:xfrm>
          <a:prstGeom prst="rect">
            <a:avLst/>
          </a:prstGeom>
        </p:spPr>
        <p:txBody>
          <a:bodyPr wrap="square">
            <a:spAutoFit/>
          </a:bodyPr>
          <a:lstStyle/>
          <a:p>
            <a:r>
              <a:rPr lang="en-US" sz="3600" b="1" dirty="0" smtClean="0">
                <a:solidFill>
                  <a:srgbClr val="000000"/>
                </a:solidFill>
                <a:effectLst/>
                <a:latin typeface="+mn-lt"/>
              </a:rPr>
              <a:t>Exercise: </a:t>
            </a:r>
            <a:r>
              <a:rPr lang="en-US" sz="3600" b="1" dirty="0" smtClean="0">
                <a:solidFill>
                  <a:srgbClr val="000000"/>
                </a:solidFill>
                <a:effectLst/>
                <a:latin typeface="+mn-lt"/>
              </a:rPr>
              <a:t>5</a:t>
            </a:r>
            <a:endParaRPr lang="en-US" sz="3600" b="1" dirty="0" smtClean="0">
              <a:latin typeface="+mn-lt"/>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3600" b="0" i="0" u="none" strike="noStrike" kern="0" cap="none" spc="0" normalizeH="0" baseline="0" noProof="0" dirty="0" smtClean="0">
                <a:ln>
                  <a:noFill/>
                </a:ln>
                <a:solidFill>
                  <a:sysClr val="windowText" lastClr="000000"/>
                </a:solidFill>
                <a:effectLst/>
                <a:uLnTx/>
                <a:uFillTx/>
                <a:latin typeface="Calibri"/>
              </a:rPr>
              <a:t>On 1st June 2025 Abu </a:t>
            </a:r>
            <a:r>
              <a:rPr kumimoji="0" lang="en-US" sz="3600" b="0" i="0" u="none" strike="noStrike" kern="0" cap="none" spc="0" normalizeH="0" baseline="0" noProof="0" dirty="0" err="1" smtClean="0">
                <a:ln>
                  <a:noFill/>
                </a:ln>
                <a:solidFill>
                  <a:sysClr val="windowText" lastClr="000000"/>
                </a:solidFill>
                <a:effectLst/>
                <a:uLnTx/>
                <a:uFillTx/>
                <a:latin typeface="Calibri"/>
              </a:rPr>
              <a:t>Taleb</a:t>
            </a:r>
            <a:r>
              <a:rPr kumimoji="0" lang="en-US" sz="3600" b="0" i="0" u="none" strike="noStrike" kern="0" cap="none" spc="0" normalizeH="0" baseline="0" noProof="0" dirty="0" smtClean="0">
                <a:ln>
                  <a:noFill/>
                </a:ln>
                <a:solidFill>
                  <a:sysClr val="windowText" lastClr="000000"/>
                </a:solidFill>
                <a:effectLst/>
                <a:uLnTx/>
                <a:uFillTx/>
                <a:latin typeface="Calibri"/>
              </a:rPr>
              <a:t> </a:t>
            </a:r>
            <a:r>
              <a:rPr kumimoji="0" lang="en-US" sz="3600" b="0" i="0" u="none" strike="noStrike" kern="0" cap="none" spc="0" normalizeH="0" baseline="0" noProof="0" dirty="0" err="1" smtClean="0">
                <a:ln>
                  <a:noFill/>
                </a:ln>
                <a:solidFill>
                  <a:sysClr val="windowText" lastClr="000000"/>
                </a:solidFill>
                <a:effectLst/>
                <a:uLnTx/>
                <a:uFillTx/>
                <a:latin typeface="Calibri"/>
              </a:rPr>
              <a:t>Sarker</a:t>
            </a:r>
            <a:r>
              <a:rPr kumimoji="0" lang="en-US" sz="3600" b="0" i="0" u="none" strike="noStrike" kern="0" cap="none" spc="0" normalizeH="0" baseline="0" noProof="0" dirty="0" smtClean="0">
                <a:ln>
                  <a:noFill/>
                </a:ln>
                <a:solidFill>
                  <a:sysClr val="windowText" lastClr="000000"/>
                </a:solidFill>
                <a:effectLst/>
                <a:uLnTx/>
                <a:uFillTx/>
                <a:latin typeface="Calibri"/>
              </a:rPr>
              <a:t> started a business with a capital of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600" b="0" i="0" u="none" strike="noStrike" kern="0" cap="none" spc="0" normalizeH="0" baseline="0" noProof="0" dirty="0" smtClean="0">
                <a:ln>
                  <a:noFill/>
                </a:ln>
                <a:solidFill>
                  <a:sysClr val="windowText" lastClr="000000"/>
                </a:solidFill>
                <a:effectLst/>
                <a:uLnTx/>
                <a:uFillTx/>
                <a:latin typeface="Calibri"/>
              </a:rPr>
              <a:t>Tk.20,000. His transaction for the month were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600" b="0" i="0" u="none" strike="noStrike" kern="0" cap="none" spc="0" normalizeH="0" baseline="0" noProof="0" dirty="0" smtClean="0">
                <a:ln>
                  <a:noFill/>
                </a:ln>
                <a:solidFill>
                  <a:sysClr val="windowText" lastClr="000000"/>
                </a:solidFill>
                <a:effectLst/>
                <a:uLnTx/>
                <a:uFillTx/>
                <a:latin typeface="Calibri"/>
              </a:rPr>
              <a:t>June 1 Furniture purchased Tk.5,000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600" b="0" i="0" u="none" strike="noStrike" kern="0" cap="none" spc="0" normalizeH="0" baseline="0" noProof="0" dirty="0" smtClean="0">
                <a:ln>
                  <a:noFill/>
                </a:ln>
                <a:solidFill>
                  <a:sysClr val="windowText" lastClr="000000"/>
                </a:solidFill>
                <a:effectLst/>
                <a:uLnTx/>
                <a:uFillTx/>
                <a:latin typeface="Calibri"/>
              </a:rPr>
              <a:t>,, 3 Commission received Tk.1,000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600" b="0" i="0" u="none" strike="noStrike" kern="0" cap="none" spc="0" normalizeH="0" baseline="0" noProof="0" dirty="0" smtClean="0">
                <a:ln>
                  <a:noFill/>
                </a:ln>
                <a:solidFill>
                  <a:sysClr val="windowText" lastClr="000000"/>
                </a:solidFill>
                <a:effectLst/>
                <a:uLnTx/>
                <a:uFillTx/>
                <a:latin typeface="Calibri"/>
              </a:rPr>
              <a:t>,, 4 Goods purchased on credit Tk.8,000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600" b="0" i="0" u="none" strike="noStrike" kern="0" cap="none" spc="0" normalizeH="0" baseline="0" noProof="0" dirty="0" smtClean="0">
                <a:ln>
                  <a:noFill/>
                </a:ln>
                <a:solidFill>
                  <a:sysClr val="windowText" lastClr="000000"/>
                </a:solidFill>
                <a:effectLst/>
                <a:uLnTx/>
                <a:uFillTx/>
                <a:latin typeface="Calibri"/>
              </a:rPr>
              <a:t>,, 7 Goods sold to Azad for cash Tk.6,000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600" b="0" i="0" u="none" strike="noStrike" kern="0" cap="none" spc="0" normalizeH="0" baseline="0" noProof="0" dirty="0" smtClean="0">
                <a:ln>
                  <a:noFill/>
                </a:ln>
                <a:solidFill>
                  <a:sysClr val="windowText" lastClr="000000"/>
                </a:solidFill>
                <a:effectLst/>
                <a:uLnTx/>
                <a:uFillTx/>
                <a:latin typeface="Calibri"/>
              </a:rPr>
              <a:t>,, 9 Goods purchased Tk.4,000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600" b="0" i="0" u="none" strike="noStrike" kern="0" cap="none" spc="0" normalizeH="0" baseline="0" noProof="0" dirty="0" smtClean="0">
                <a:ln>
                  <a:noFill/>
                </a:ln>
                <a:solidFill>
                  <a:sysClr val="windowText" lastClr="000000"/>
                </a:solidFill>
                <a:effectLst/>
                <a:uLnTx/>
                <a:uFillTx/>
                <a:latin typeface="Calibri"/>
              </a:rPr>
              <a:t>,, 11 Cash paid to creditor Tk.3,000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600" b="0" i="0" u="none" strike="noStrike" kern="0" cap="none" spc="0" normalizeH="0" baseline="0" noProof="0" dirty="0" smtClean="0">
                <a:ln>
                  <a:noFill/>
                </a:ln>
                <a:solidFill>
                  <a:sysClr val="windowText" lastClr="000000"/>
                </a:solidFill>
                <a:effectLst/>
                <a:uLnTx/>
                <a:uFillTx/>
                <a:latin typeface="Calibri"/>
              </a:rPr>
              <a:t>,, 16 Advertisement expenses paid Tk.2,000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600" b="0" i="0" u="none" strike="noStrike" kern="0" cap="none" spc="0" normalizeH="0" baseline="0" noProof="0" dirty="0" smtClean="0">
                <a:ln>
                  <a:noFill/>
                </a:ln>
                <a:solidFill>
                  <a:sysClr val="windowText" lastClr="000000"/>
                </a:solidFill>
                <a:effectLst/>
                <a:uLnTx/>
                <a:uFillTx/>
                <a:latin typeface="Calibri"/>
              </a:rPr>
              <a:t>,, 26 Stationary purchased Tk.500.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600" b="0" i="0" u="none" strike="noStrike" kern="0" cap="none" spc="0" normalizeH="0" baseline="0" noProof="0" dirty="0" smtClean="0">
                <a:ln>
                  <a:noFill/>
                </a:ln>
                <a:solidFill>
                  <a:sysClr val="windowText" lastClr="000000"/>
                </a:solidFill>
                <a:effectLst/>
                <a:uLnTx/>
                <a:uFillTx/>
                <a:latin typeface="Calibri"/>
              </a:rPr>
              <a:t>,, 28 Goods sold Tk.7,000 </a:t>
            </a:r>
          </a:p>
          <a:p>
            <a:endParaRPr lang="en-US" sz="3600" dirty="0" smtClean="0">
              <a:latin typeface="+mn-lt"/>
            </a:endParaRPr>
          </a:p>
          <a:p>
            <a:r>
              <a:rPr lang="en-US" sz="3600" dirty="0" smtClean="0">
                <a:latin typeface="+mn-lt"/>
              </a:rPr>
              <a:t>a</a:t>
            </a:r>
            <a:r>
              <a:rPr lang="en-US" sz="3600" dirty="0">
                <a:latin typeface="+mn-lt"/>
              </a:rPr>
              <a:t>) Pass the journal entries for the transactions of March </a:t>
            </a:r>
            <a:r>
              <a:rPr lang="en-US" sz="3600" dirty="0" smtClean="0">
                <a:latin typeface="+mn-lt"/>
              </a:rPr>
              <a:t>4 </a:t>
            </a:r>
            <a:r>
              <a:rPr lang="en-US" sz="3600" dirty="0">
                <a:latin typeface="+mn-lt"/>
              </a:rPr>
              <a:t>and </a:t>
            </a:r>
            <a:r>
              <a:rPr lang="en-US" sz="3600" dirty="0" smtClean="0">
                <a:latin typeface="+mn-lt"/>
              </a:rPr>
              <a:t>11. </a:t>
            </a:r>
            <a:endParaRPr lang="en-US" sz="3600" dirty="0" smtClean="0">
              <a:latin typeface="+mn-lt"/>
            </a:endParaRPr>
          </a:p>
          <a:p>
            <a:r>
              <a:rPr lang="en-US" sz="3600" dirty="0">
                <a:latin typeface="+mn-lt"/>
              </a:rPr>
              <a:t>b) Prepare Cash account, </a:t>
            </a:r>
            <a:r>
              <a:rPr lang="en-US" sz="3600" dirty="0" smtClean="0">
                <a:latin typeface="+mn-lt"/>
              </a:rPr>
              <a:t>Sales </a:t>
            </a:r>
            <a:r>
              <a:rPr lang="en-US" sz="3600" dirty="0" smtClean="0">
                <a:latin typeface="+mn-lt"/>
              </a:rPr>
              <a:t>account</a:t>
            </a:r>
            <a:r>
              <a:rPr lang="en-US" sz="3600" dirty="0">
                <a:latin typeface="+mn-lt"/>
              </a:rPr>
              <a:t>, Purchase account, and Creditors account </a:t>
            </a:r>
            <a:r>
              <a:rPr lang="en-US" sz="3600" dirty="0" smtClean="0">
                <a:latin typeface="+mn-lt"/>
              </a:rPr>
              <a:t>from </a:t>
            </a:r>
            <a:r>
              <a:rPr lang="en-US" sz="3600" dirty="0">
                <a:latin typeface="+mn-lt"/>
              </a:rPr>
              <a:t>the above transactions </a:t>
            </a:r>
            <a:r>
              <a:rPr lang="en-US" sz="3600" dirty="0" smtClean="0">
                <a:latin typeface="+mn-lt"/>
              </a:rPr>
              <a:t>. </a:t>
            </a:r>
            <a:endParaRPr lang="en-US" sz="3600" dirty="0" smtClean="0">
              <a:latin typeface="+mn-lt"/>
            </a:endParaRPr>
          </a:p>
        </p:txBody>
      </p:sp>
    </p:spTree>
    <p:extLst>
      <p:ext uri="{BB962C8B-B14F-4D97-AF65-F5344CB8AC3E}">
        <p14:creationId xmlns:p14="http://schemas.microsoft.com/office/powerpoint/2010/main" val="41581756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9588" cy="1054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752600" y="1562100"/>
            <a:ext cx="14935200" cy="8402300"/>
          </a:xfrm>
          <a:prstGeom prst="rect">
            <a:avLst/>
          </a:prstGeom>
        </p:spPr>
        <p:txBody>
          <a:bodyPr wrap="square">
            <a:spAutoFit/>
          </a:bodyPr>
          <a:lstStyle/>
          <a:p>
            <a:r>
              <a:rPr lang="en-US" sz="3600" b="1" dirty="0" smtClean="0">
                <a:solidFill>
                  <a:srgbClr val="000000"/>
                </a:solidFill>
                <a:effectLst/>
                <a:latin typeface="+mn-lt"/>
              </a:rPr>
              <a:t>Exercise: </a:t>
            </a:r>
            <a:r>
              <a:rPr lang="en-US" sz="3600" b="1" dirty="0" smtClean="0">
                <a:solidFill>
                  <a:srgbClr val="000000"/>
                </a:solidFill>
                <a:effectLst/>
                <a:latin typeface="+mn-lt"/>
              </a:rPr>
              <a:t>6</a:t>
            </a:r>
            <a:endParaRPr lang="en-US" sz="3600" b="1" dirty="0" smtClean="0">
              <a:latin typeface="+mn-lt"/>
            </a:endParaRPr>
          </a:p>
          <a:p>
            <a:r>
              <a:rPr lang="en-US" sz="3600" dirty="0">
                <a:latin typeface="+mn-lt"/>
              </a:rPr>
              <a:t>Mr. </a:t>
            </a:r>
            <a:r>
              <a:rPr lang="en-US" sz="3600" dirty="0" err="1">
                <a:latin typeface="+mn-lt"/>
              </a:rPr>
              <a:t>Shahid</a:t>
            </a:r>
            <a:r>
              <a:rPr lang="en-US" sz="3600" dirty="0">
                <a:latin typeface="+mn-lt"/>
              </a:rPr>
              <a:t> is a businessman. He has a nursery at </a:t>
            </a:r>
            <a:r>
              <a:rPr lang="en-US" sz="3600" dirty="0" err="1">
                <a:latin typeface="+mn-lt"/>
              </a:rPr>
              <a:t>Ashuliya</a:t>
            </a:r>
            <a:r>
              <a:rPr lang="en-US" sz="3600" dirty="0">
                <a:latin typeface="+mn-lt"/>
              </a:rPr>
              <a:t> of </a:t>
            </a:r>
            <a:r>
              <a:rPr lang="en-US" sz="3600" dirty="0" err="1">
                <a:latin typeface="+mn-lt"/>
              </a:rPr>
              <a:t>Savar</a:t>
            </a:r>
            <a:r>
              <a:rPr lang="en-US" sz="3600" dirty="0">
                <a:latin typeface="+mn-lt"/>
              </a:rPr>
              <a:t>. He produces </a:t>
            </a:r>
            <a:r>
              <a:rPr lang="en-US" sz="3600" dirty="0" smtClean="0">
                <a:latin typeface="+mn-lt"/>
              </a:rPr>
              <a:t>different </a:t>
            </a:r>
            <a:r>
              <a:rPr lang="en-US" sz="3600" dirty="0">
                <a:latin typeface="+mn-lt"/>
              </a:rPr>
              <a:t>types of sapling of flowers, fruits, and medicated trees. </a:t>
            </a:r>
            <a:endParaRPr lang="en-US" sz="3600" dirty="0" smtClean="0">
              <a:latin typeface="+mn-lt"/>
            </a:endParaRPr>
          </a:p>
          <a:p>
            <a:r>
              <a:rPr lang="en-US" sz="3600" dirty="0" smtClean="0">
                <a:latin typeface="+mn-lt"/>
              </a:rPr>
              <a:t>On </a:t>
            </a:r>
            <a:r>
              <a:rPr lang="en-US" sz="3600" dirty="0">
                <a:latin typeface="+mn-lt"/>
              </a:rPr>
              <a:t>July </a:t>
            </a:r>
            <a:r>
              <a:rPr lang="en-US" sz="3600" dirty="0" smtClean="0">
                <a:latin typeface="+mn-lt"/>
              </a:rPr>
              <a:t>2026 </a:t>
            </a:r>
            <a:r>
              <a:rPr lang="en-US" sz="3600" dirty="0">
                <a:latin typeface="+mn-lt"/>
              </a:rPr>
              <a:t>the </a:t>
            </a:r>
            <a:r>
              <a:rPr lang="en-US" sz="3600" dirty="0" smtClean="0">
                <a:latin typeface="+mn-lt"/>
              </a:rPr>
              <a:t>following </a:t>
            </a:r>
            <a:r>
              <a:rPr lang="en-US" sz="3600" dirty="0">
                <a:latin typeface="+mn-lt"/>
              </a:rPr>
              <a:t>transactions occurred in his business : </a:t>
            </a:r>
            <a:endParaRPr lang="en-US" sz="3600" dirty="0" smtClean="0">
              <a:latin typeface="+mn-lt"/>
            </a:endParaRPr>
          </a:p>
          <a:p>
            <a:r>
              <a:rPr lang="en-US" sz="3600" dirty="0">
                <a:latin typeface="+mn-lt"/>
              </a:rPr>
              <a:t>July 05 Trees and seeds purchased from Rahim tk.25,000 </a:t>
            </a:r>
            <a:endParaRPr lang="en-US" sz="3600" dirty="0" smtClean="0">
              <a:latin typeface="+mn-lt"/>
            </a:endParaRPr>
          </a:p>
          <a:p>
            <a:r>
              <a:rPr lang="en-US" sz="3600" dirty="0">
                <a:latin typeface="+mn-lt"/>
              </a:rPr>
              <a:t>July 10 Sold to </a:t>
            </a:r>
            <a:r>
              <a:rPr lang="en-US" sz="3600" dirty="0" err="1">
                <a:latin typeface="+mn-lt"/>
              </a:rPr>
              <a:t>Rashed</a:t>
            </a:r>
            <a:r>
              <a:rPr lang="en-US" sz="3600" dirty="0">
                <a:latin typeface="+mn-lt"/>
              </a:rPr>
              <a:t> &amp; Co in cash tk.37,000 </a:t>
            </a:r>
            <a:endParaRPr lang="en-US" sz="3600" dirty="0" smtClean="0">
              <a:latin typeface="+mn-lt"/>
            </a:endParaRPr>
          </a:p>
          <a:p>
            <a:r>
              <a:rPr lang="en-US" sz="3600" dirty="0">
                <a:latin typeface="+mn-lt"/>
              </a:rPr>
              <a:t>July 19 Trees returned </a:t>
            </a:r>
            <a:r>
              <a:rPr lang="en-US" sz="3600" dirty="0" smtClean="0">
                <a:latin typeface="+mn-lt"/>
              </a:rPr>
              <a:t>tk.2,500 </a:t>
            </a:r>
          </a:p>
          <a:p>
            <a:r>
              <a:rPr lang="en-US" sz="3600" dirty="0">
                <a:latin typeface="+mn-lt"/>
              </a:rPr>
              <a:t>July 30 Salary paid to employee </a:t>
            </a:r>
            <a:r>
              <a:rPr lang="en-US" sz="3600" dirty="0" smtClean="0">
                <a:latin typeface="+mn-lt"/>
              </a:rPr>
              <a:t>tk.4,500 </a:t>
            </a:r>
          </a:p>
          <a:p>
            <a:r>
              <a:rPr lang="en-US" sz="3600" dirty="0">
                <a:latin typeface="+mn-lt"/>
              </a:rPr>
              <a:t>July 31 Advertisement expense </a:t>
            </a:r>
            <a:r>
              <a:rPr lang="en-US" sz="3600" dirty="0" smtClean="0">
                <a:latin typeface="+mn-lt"/>
              </a:rPr>
              <a:t>tk.1,500 </a:t>
            </a:r>
          </a:p>
          <a:p>
            <a:endParaRPr lang="en-US" sz="3600" dirty="0" smtClean="0">
              <a:latin typeface="+mn-lt"/>
            </a:endParaRPr>
          </a:p>
          <a:p>
            <a:r>
              <a:rPr lang="en-US" sz="3600" dirty="0">
                <a:latin typeface="+mn-lt"/>
              </a:rPr>
              <a:t>a) Pass the journal entries for the transactions of July 05 and 10. </a:t>
            </a:r>
            <a:endParaRPr lang="en-US" sz="3600" dirty="0" smtClean="0">
              <a:latin typeface="+mn-lt"/>
            </a:endParaRPr>
          </a:p>
          <a:p>
            <a:r>
              <a:rPr lang="en-US" sz="3600" dirty="0">
                <a:latin typeface="+mn-lt"/>
              </a:rPr>
              <a:t>b) Determine the balance of cash account, purchase account, and purchase </a:t>
            </a:r>
            <a:r>
              <a:rPr lang="en-US" sz="3600" dirty="0" smtClean="0">
                <a:latin typeface="+mn-lt"/>
              </a:rPr>
              <a:t>return </a:t>
            </a:r>
            <a:r>
              <a:rPr lang="en-US" sz="3600" dirty="0">
                <a:latin typeface="+mn-lt"/>
              </a:rPr>
              <a:t>account using ‘T’ ledger format. </a:t>
            </a:r>
            <a:endParaRPr lang="en-US" sz="3600" dirty="0" smtClean="0">
              <a:latin typeface="+mn-lt"/>
            </a:endParaRPr>
          </a:p>
          <a:p>
            <a:r>
              <a:rPr lang="en-US" sz="3600" dirty="0">
                <a:latin typeface="+mn-lt"/>
              </a:rPr>
              <a:t>c) Prepare Rahim account, sales account, salary account and advertisement </a:t>
            </a:r>
            <a:r>
              <a:rPr lang="en-US" sz="3600" dirty="0" smtClean="0">
                <a:latin typeface="+mn-lt"/>
              </a:rPr>
              <a:t>account </a:t>
            </a:r>
            <a:r>
              <a:rPr lang="en-US" sz="3600" dirty="0">
                <a:latin typeface="+mn-lt"/>
              </a:rPr>
              <a:t>using ‘Moving Balance’ ledger format.</a:t>
            </a:r>
            <a:endParaRPr lang="en-US" sz="3600" dirty="0" smtClean="0">
              <a:latin typeface="+mn-lt"/>
            </a:endParaRPr>
          </a:p>
        </p:txBody>
      </p:sp>
    </p:spTree>
    <p:extLst>
      <p:ext uri="{BB962C8B-B14F-4D97-AF65-F5344CB8AC3E}">
        <p14:creationId xmlns:p14="http://schemas.microsoft.com/office/powerpoint/2010/main" val="40002180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4057750"/>
            <a:ext cx="3505200" cy="2171700"/>
          </a:xfrm>
          <a:custGeom>
            <a:avLst/>
            <a:gdLst/>
            <a:ahLst/>
            <a:cxnLst/>
            <a:rect l="l" t="t" r="r" b="b"/>
            <a:pathLst>
              <a:path w="5113020" h="2171700">
                <a:moveTo>
                  <a:pt x="4344088" y="2171499"/>
                </a:moveTo>
                <a:lnTo>
                  <a:pt x="0" y="2171499"/>
                </a:lnTo>
                <a:lnTo>
                  <a:pt x="0" y="0"/>
                </a:lnTo>
                <a:lnTo>
                  <a:pt x="4344088" y="0"/>
                </a:lnTo>
                <a:lnTo>
                  <a:pt x="4383790" y="1412"/>
                </a:lnTo>
                <a:lnTo>
                  <a:pt x="4422972" y="5605"/>
                </a:lnTo>
                <a:lnTo>
                  <a:pt x="4461583" y="12510"/>
                </a:lnTo>
                <a:lnTo>
                  <a:pt x="4499577" y="22058"/>
                </a:lnTo>
                <a:lnTo>
                  <a:pt x="4536904" y="34182"/>
                </a:lnTo>
                <a:lnTo>
                  <a:pt x="4573516" y="48813"/>
                </a:lnTo>
                <a:lnTo>
                  <a:pt x="4609364" y="65883"/>
                </a:lnTo>
                <a:lnTo>
                  <a:pt x="4644400" y="85323"/>
                </a:lnTo>
                <a:lnTo>
                  <a:pt x="4678576" y="107066"/>
                </a:lnTo>
                <a:lnTo>
                  <a:pt x="4711843" y="131044"/>
                </a:lnTo>
                <a:lnTo>
                  <a:pt x="4744152" y="157187"/>
                </a:lnTo>
                <a:lnTo>
                  <a:pt x="4775455" y="185429"/>
                </a:lnTo>
                <a:lnTo>
                  <a:pt x="4805704" y="215700"/>
                </a:lnTo>
                <a:lnTo>
                  <a:pt x="4834850" y="247932"/>
                </a:lnTo>
                <a:lnTo>
                  <a:pt x="4862844" y="282058"/>
                </a:lnTo>
                <a:lnTo>
                  <a:pt x="4889639" y="318008"/>
                </a:lnTo>
                <a:lnTo>
                  <a:pt x="4915185" y="355716"/>
                </a:lnTo>
                <a:lnTo>
                  <a:pt x="4939434" y="395112"/>
                </a:lnTo>
                <a:lnTo>
                  <a:pt x="4962339" y="436128"/>
                </a:lnTo>
                <a:lnTo>
                  <a:pt x="4983849" y="478696"/>
                </a:lnTo>
                <a:lnTo>
                  <a:pt x="5003917" y="522748"/>
                </a:lnTo>
                <a:lnTo>
                  <a:pt x="5022494" y="568216"/>
                </a:lnTo>
                <a:lnTo>
                  <a:pt x="5039533" y="615032"/>
                </a:lnTo>
                <a:lnTo>
                  <a:pt x="5054983" y="663126"/>
                </a:lnTo>
                <a:lnTo>
                  <a:pt x="5068797" y="712432"/>
                </a:lnTo>
                <a:lnTo>
                  <a:pt x="5080927" y="762880"/>
                </a:lnTo>
                <a:lnTo>
                  <a:pt x="5091324" y="814403"/>
                </a:lnTo>
                <a:lnTo>
                  <a:pt x="5099939" y="866933"/>
                </a:lnTo>
                <a:lnTo>
                  <a:pt x="5106724" y="920400"/>
                </a:lnTo>
                <a:lnTo>
                  <a:pt x="5111630" y="974737"/>
                </a:lnTo>
                <a:lnTo>
                  <a:pt x="5112759" y="995634"/>
                </a:lnTo>
                <a:lnTo>
                  <a:pt x="5112759" y="1175864"/>
                </a:lnTo>
                <a:lnTo>
                  <a:pt x="5106724" y="1251098"/>
                </a:lnTo>
                <a:lnTo>
                  <a:pt x="5099939" y="1304565"/>
                </a:lnTo>
                <a:lnTo>
                  <a:pt x="5091324" y="1357095"/>
                </a:lnTo>
                <a:lnTo>
                  <a:pt x="5080927" y="1408618"/>
                </a:lnTo>
                <a:lnTo>
                  <a:pt x="5068797" y="1459066"/>
                </a:lnTo>
                <a:lnTo>
                  <a:pt x="5054983" y="1508372"/>
                </a:lnTo>
                <a:lnTo>
                  <a:pt x="5039533" y="1556466"/>
                </a:lnTo>
                <a:lnTo>
                  <a:pt x="5022494" y="1603282"/>
                </a:lnTo>
                <a:lnTo>
                  <a:pt x="5003917" y="1648750"/>
                </a:lnTo>
                <a:lnTo>
                  <a:pt x="4983849" y="1692802"/>
                </a:lnTo>
                <a:lnTo>
                  <a:pt x="4962339" y="1735370"/>
                </a:lnTo>
                <a:lnTo>
                  <a:pt x="4939434" y="1776386"/>
                </a:lnTo>
                <a:lnTo>
                  <a:pt x="4915185" y="1815782"/>
                </a:lnTo>
                <a:lnTo>
                  <a:pt x="4889639" y="1853490"/>
                </a:lnTo>
                <a:lnTo>
                  <a:pt x="4862844" y="1889440"/>
                </a:lnTo>
                <a:lnTo>
                  <a:pt x="4834850" y="1923566"/>
                </a:lnTo>
                <a:lnTo>
                  <a:pt x="4805704" y="1955798"/>
                </a:lnTo>
                <a:lnTo>
                  <a:pt x="4775455" y="1986069"/>
                </a:lnTo>
                <a:lnTo>
                  <a:pt x="4744152" y="2014311"/>
                </a:lnTo>
                <a:lnTo>
                  <a:pt x="4711843" y="2040454"/>
                </a:lnTo>
                <a:lnTo>
                  <a:pt x="4678576" y="2064432"/>
                </a:lnTo>
                <a:lnTo>
                  <a:pt x="4644400" y="2086175"/>
                </a:lnTo>
                <a:lnTo>
                  <a:pt x="4609364" y="2105615"/>
                </a:lnTo>
                <a:lnTo>
                  <a:pt x="4573516" y="2122685"/>
                </a:lnTo>
                <a:lnTo>
                  <a:pt x="4536904" y="2137316"/>
                </a:lnTo>
                <a:lnTo>
                  <a:pt x="4499577" y="2149440"/>
                </a:lnTo>
                <a:lnTo>
                  <a:pt x="4461583" y="2158988"/>
                </a:lnTo>
                <a:lnTo>
                  <a:pt x="4422972" y="2165893"/>
                </a:lnTo>
                <a:lnTo>
                  <a:pt x="4383790" y="2170086"/>
                </a:lnTo>
                <a:lnTo>
                  <a:pt x="4344088" y="2171499"/>
                </a:lnTo>
                <a:close/>
              </a:path>
            </a:pathLst>
          </a:custGeom>
          <a:solidFill>
            <a:srgbClr val="004AAC"/>
          </a:solidFill>
        </p:spPr>
        <p:txBody>
          <a:bodyPr wrap="square" lIns="0" tIns="0" rIns="0" bIns="0" rtlCol="0"/>
          <a:lstStyle/>
          <a:p>
            <a:endParaRPr/>
          </a:p>
        </p:txBody>
      </p:sp>
      <p:sp>
        <p:nvSpPr>
          <p:cNvPr id="3" name="object 3"/>
          <p:cNvSpPr/>
          <p:nvPr/>
        </p:nvSpPr>
        <p:spPr>
          <a:xfrm>
            <a:off x="14478000" y="4057750"/>
            <a:ext cx="3810056" cy="2171700"/>
          </a:xfrm>
          <a:custGeom>
            <a:avLst/>
            <a:gdLst/>
            <a:ahLst/>
            <a:cxnLst/>
            <a:rect l="l" t="t" r="r" b="b"/>
            <a:pathLst>
              <a:path w="5203825" h="2171700">
                <a:moveTo>
                  <a:pt x="5203769" y="2171498"/>
                </a:moveTo>
                <a:lnTo>
                  <a:pt x="771524" y="2171499"/>
                </a:lnTo>
                <a:lnTo>
                  <a:pt x="731822" y="2170086"/>
                </a:lnTo>
                <a:lnTo>
                  <a:pt x="692641" y="2165893"/>
                </a:lnTo>
                <a:lnTo>
                  <a:pt x="654029" y="2158988"/>
                </a:lnTo>
                <a:lnTo>
                  <a:pt x="616035" y="2149440"/>
                </a:lnTo>
                <a:lnTo>
                  <a:pt x="578709" y="2137316"/>
                </a:lnTo>
                <a:lnTo>
                  <a:pt x="542097" y="2122685"/>
                </a:lnTo>
                <a:lnTo>
                  <a:pt x="506249" y="2105615"/>
                </a:lnTo>
                <a:lnTo>
                  <a:pt x="471212" y="2086175"/>
                </a:lnTo>
                <a:lnTo>
                  <a:pt x="437037" y="2064432"/>
                </a:lnTo>
                <a:lnTo>
                  <a:pt x="403770" y="2040454"/>
                </a:lnTo>
                <a:lnTo>
                  <a:pt x="371461" y="2014311"/>
                </a:lnTo>
                <a:lnTo>
                  <a:pt x="340158" y="1986069"/>
                </a:lnTo>
                <a:lnTo>
                  <a:pt x="309909" y="1955798"/>
                </a:lnTo>
                <a:lnTo>
                  <a:pt x="280763" y="1923566"/>
                </a:lnTo>
                <a:lnTo>
                  <a:pt x="252769" y="1889440"/>
                </a:lnTo>
                <a:lnTo>
                  <a:pt x="225974" y="1853490"/>
                </a:lnTo>
                <a:lnTo>
                  <a:pt x="200428" y="1815782"/>
                </a:lnTo>
                <a:lnTo>
                  <a:pt x="176178" y="1776386"/>
                </a:lnTo>
                <a:lnTo>
                  <a:pt x="153274" y="1735370"/>
                </a:lnTo>
                <a:lnTo>
                  <a:pt x="131764" y="1692802"/>
                </a:lnTo>
                <a:lnTo>
                  <a:pt x="111696" y="1648750"/>
                </a:lnTo>
                <a:lnTo>
                  <a:pt x="93119" y="1603282"/>
                </a:lnTo>
                <a:lnTo>
                  <a:pt x="76080" y="1556466"/>
                </a:lnTo>
                <a:lnTo>
                  <a:pt x="60630" y="1508372"/>
                </a:lnTo>
                <a:lnTo>
                  <a:pt x="46815" y="1459066"/>
                </a:lnTo>
                <a:lnTo>
                  <a:pt x="34686" y="1408618"/>
                </a:lnTo>
                <a:lnTo>
                  <a:pt x="24289" y="1357095"/>
                </a:lnTo>
                <a:lnTo>
                  <a:pt x="15674" y="1304565"/>
                </a:lnTo>
                <a:lnTo>
                  <a:pt x="8889" y="1251098"/>
                </a:lnTo>
                <a:lnTo>
                  <a:pt x="3983" y="1196761"/>
                </a:lnTo>
                <a:lnTo>
                  <a:pt x="1003" y="1141622"/>
                </a:lnTo>
                <a:lnTo>
                  <a:pt x="0" y="1085749"/>
                </a:lnTo>
                <a:lnTo>
                  <a:pt x="1003" y="1029876"/>
                </a:lnTo>
                <a:lnTo>
                  <a:pt x="3983" y="974737"/>
                </a:lnTo>
                <a:lnTo>
                  <a:pt x="8889" y="920400"/>
                </a:lnTo>
                <a:lnTo>
                  <a:pt x="15674" y="866933"/>
                </a:lnTo>
                <a:lnTo>
                  <a:pt x="24289" y="814403"/>
                </a:lnTo>
                <a:lnTo>
                  <a:pt x="34686" y="762880"/>
                </a:lnTo>
                <a:lnTo>
                  <a:pt x="46815" y="712432"/>
                </a:lnTo>
                <a:lnTo>
                  <a:pt x="60630" y="663126"/>
                </a:lnTo>
                <a:lnTo>
                  <a:pt x="76080" y="615032"/>
                </a:lnTo>
                <a:lnTo>
                  <a:pt x="93119" y="568216"/>
                </a:lnTo>
                <a:lnTo>
                  <a:pt x="111696" y="522748"/>
                </a:lnTo>
                <a:lnTo>
                  <a:pt x="131764" y="478696"/>
                </a:lnTo>
                <a:lnTo>
                  <a:pt x="153274" y="436128"/>
                </a:lnTo>
                <a:lnTo>
                  <a:pt x="176178" y="395111"/>
                </a:lnTo>
                <a:lnTo>
                  <a:pt x="200428" y="355716"/>
                </a:lnTo>
                <a:lnTo>
                  <a:pt x="225974" y="318008"/>
                </a:lnTo>
                <a:lnTo>
                  <a:pt x="252769" y="282057"/>
                </a:lnTo>
                <a:lnTo>
                  <a:pt x="280763" y="247932"/>
                </a:lnTo>
                <a:lnTo>
                  <a:pt x="309909" y="215699"/>
                </a:lnTo>
                <a:lnTo>
                  <a:pt x="340158" y="185428"/>
                </a:lnTo>
                <a:lnTo>
                  <a:pt x="371461" y="157187"/>
                </a:lnTo>
                <a:lnTo>
                  <a:pt x="403770" y="131044"/>
                </a:lnTo>
                <a:lnTo>
                  <a:pt x="437037" y="107066"/>
                </a:lnTo>
                <a:lnTo>
                  <a:pt x="471212" y="85323"/>
                </a:lnTo>
                <a:lnTo>
                  <a:pt x="506249" y="65882"/>
                </a:lnTo>
                <a:lnTo>
                  <a:pt x="542097" y="48813"/>
                </a:lnTo>
                <a:lnTo>
                  <a:pt x="578709" y="34182"/>
                </a:lnTo>
                <a:lnTo>
                  <a:pt x="616035" y="22058"/>
                </a:lnTo>
                <a:lnTo>
                  <a:pt x="654029" y="12510"/>
                </a:lnTo>
                <a:lnTo>
                  <a:pt x="692641" y="5605"/>
                </a:lnTo>
                <a:lnTo>
                  <a:pt x="731822" y="1412"/>
                </a:lnTo>
                <a:lnTo>
                  <a:pt x="771524" y="0"/>
                </a:lnTo>
                <a:lnTo>
                  <a:pt x="5203769" y="0"/>
                </a:lnTo>
                <a:lnTo>
                  <a:pt x="5203769" y="2171498"/>
                </a:lnTo>
                <a:close/>
              </a:path>
            </a:pathLst>
          </a:custGeom>
          <a:solidFill>
            <a:srgbClr val="004AAC"/>
          </a:solidFill>
        </p:spPr>
        <p:txBody>
          <a:bodyPr wrap="square" lIns="0" tIns="0" rIns="0" bIns="0" rtlCol="0"/>
          <a:lstStyle/>
          <a:p>
            <a:endParaRPr/>
          </a:p>
        </p:txBody>
      </p:sp>
      <p:sp>
        <p:nvSpPr>
          <p:cNvPr id="6" name="object 6"/>
          <p:cNvSpPr txBox="1"/>
          <p:nvPr/>
        </p:nvSpPr>
        <p:spPr>
          <a:xfrm>
            <a:off x="2556510" y="4102225"/>
            <a:ext cx="12226291" cy="2082750"/>
          </a:xfrm>
          <a:prstGeom prst="rect">
            <a:avLst/>
          </a:prstGeom>
        </p:spPr>
        <p:txBody>
          <a:bodyPr vert="horz" wrap="square" lIns="0" tIns="12065" rIns="0" bIns="0" rtlCol="0">
            <a:spAutoFit/>
          </a:bodyPr>
          <a:lstStyle/>
          <a:p>
            <a:pPr marL="1838960" marR="1831339" algn="ctr">
              <a:lnSpc>
                <a:spcPct val="117200"/>
              </a:lnSpc>
              <a:spcBef>
                <a:spcPts val="95"/>
              </a:spcBef>
            </a:pPr>
            <a:r>
              <a:rPr lang="en-US" sz="11500" b="1" dirty="0" smtClean="0">
                <a:solidFill>
                  <a:schemeClr val="tx2"/>
                </a:solidFill>
                <a:latin typeface="Lucida Calligraphy" pitchFamily="66" charset="0"/>
                <a:cs typeface="Lucida Sans Unicode"/>
              </a:rPr>
              <a:t>Thank You</a:t>
            </a:r>
            <a:endParaRPr sz="11500" b="1" dirty="0">
              <a:solidFill>
                <a:schemeClr val="tx2"/>
              </a:solidFill>
              <a:latin typeface="Lucida Calligraphy" pitchFamily="66" charset="0"/>
              <a:cs typeface="Lucida Sans Unicode"/>
            </a:endParaRPr>
          </a:p>
        </p:txBody>
      </p:sp>
    </p:spTree>
    <p:extLst>
      <p:ext uri="{BB962C8B-B14F-4D97-AF65-F5344CB8AC3E}">
        <p14:creationId xmlns:p14="http://schemas.microsoft.com/office/powerpoint/2010/main" val="2092510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6745</TotalTime>
  <Words>1668</Words>
  <Application>Microsoft Office PowerPoint</Application>
  <PresentationFormat>Custom</PresentationFormat>
  <Paragraphs>164</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ACN 0411-2201</dc:title>
  <cp:lastModifiedBy>User</cp:lastModifiedBy>
  <cp:revision>105</cp:revision>
  <dcterms:created xsi:type="dcterms:W3CDTF">2026-06-29T07:36:54Z</dcterms:created>
  <dcterms:modified xsi:type="dcterms:W3CDTF">2026-09-13T17:08:14Z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2026-06-29T00:00:00Z</vt:filetime>
  </property>
  <property fmtid="{D5CDD505-2E9C-101B-9397-08002B2CF9AE}" pid="4" name="LastSaved">
    <vt:filetime>2026-06-29T00:00:00Z</vt:filetime>
  </property>
  <property fmtid="{D5CDD505-2E9C-101B-9397-08002B2CF9AE}" pid="5" name="Producer">
    <vt:lpwstr>iLovePDF</vt:lpwstr>
  </property>
</Properties>
</file>