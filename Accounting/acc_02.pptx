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EBD5740-6E80-44D2-AE40-732F360631EC}"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AF4681-8205-4D25-BF22-67E1BECE5B8D}" type="slidenum">
              <a:rPr lang="en-US" smtClean="0"/>
              <a:t>‹#›</a:t>
            </a:fld>
            <a:endParaRPr lang="en-US"/>
          </a:p>
        </p:txBody>
      </p:sp>
    </p:spTree>
    <p:extLst>
      <p:ext uri="{BB962C8B-B14F-4D97-AF65-F5344CB8AC3E}">
        <p14:creationId xmlns:p14="http://schemas.microsoft.com/office/powerpoint/2010/main" val="4089298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EBD5740-6E80-44D2-AE40-732F360631EC}"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AF4681-8205-4D25-BF22-67E1BECE5B8D}" type="slidenum">
              <a:rPr lang="en-US" smtClean="0"/>
              <a:t>‹#›</a:t>
            </a:fld>
            <a:endParaRPr lang="en-US"/>
          </a:p>
        </p:txBody>
      </p:sp>
    </p:spTree>
    <p:extLst>
      <p:ext uri="{BB962C8B-B14F-4D97-AF65-F5344CB8AC3E}">
        <p14:creationId xmlns:p14="http://schemas.microsoft.com/office/powerpoint/2010/main" val="2028329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EBD5740-6E80-44D2-AE40-732F360631EC}"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AF4681-8205-4D25-BF22-67E1BECE5B8D}" type="slidenum">
              <a:rPr lang="en-US" smtClean="0"/>
              <a:t>‹#›</a:t>
            </a:fld>
            <a:endParaRPr lang="en-US"/>
          </a:p>
        </p:txBody>
      </p:sp>
    </p:spTree>
    <p:extLst>
      <p:ext uri="{BB962C8B-B14F-4D97-AF65-F5344CB8AC3E}">
        <p14:creationId xmlns:p14="http://schemas.microsoft.com/office/powerpoint/2010/main" val="2094876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EBD5740-6E80-44D2-AE40-732F360631EC}" type="datetimeFigureOut">
              <a:rPr lang="en-US" smtClean="0"/>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AF4681-8205-4D25-BF22-67E1BECE5B8D}" type="slidenum">
              <a:rPr lang="en-US" smtClean="0"/>
              <a:t>‹#›</a:t>
            </a:fld>
            <a:endParaRPr lang="en-US"/>
          </a:p>
        </p:txBody>
      </p:sp>
    </p:spTree>
    <p:extLst>
      <p:ext uri="{BB962C8B-B14F-4D97-AF65-F5344CB8AC3E}">
        <p14:creationId xmlns:p14="http://schemas.microsoft.com/office/powerpoint/2010/main" val="4230153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EBD5740-6E80-44D2-AE40-732F360631EC}" type="datetimeFigureOut">
              <a:rPr lang="en-US" smtClean="0"/>
              <a:t>7/12/2026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AF4681-8205-4D25-BF22-67E1BECE5B8D}" type="slidenum">
              <a:rPr lang="en-US" smtClean="0"/>
              <a:t>‹#›</a:t>
            </a:fld>
            <a:endParaRPr lang="en-US"/>
          </a:p>
        </p:txBody>
      </p:sp>
    </p:spTree>
    <p:extLst>
      <p:ext uri="{BB962C8B-B14F-4D97-AF65-F5344CB8AC3E}">
        <p14:creationId xmlns:p14="http://schemas.microsoft.com/office/powerpoint/2010/main" val="1190040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EBD5740-6E80-44D2-AE40-732F360631EC}" type="datetimeFigureOut">
              <a:rPr lang="en-US" smtClean="0"/>
              <a:t>7/12/2026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AF4681-8205-4D25-BF22-67E1BECE5B8D}" type="slidenum">
              <a:rPr lang="en-US" smtClean="0"/>
              <a:t>‹#›</a:t>
            </a:fld>
            <a:endParaRPr lang="en-US"/>
          </a:p>
        </p:txBody>
      </p:sp>
    </p:spTree>
    <p:extLst>
      <p:ext uri="{BB962C8B-B14F-4D97-AF65-F5344CB8AC3E}">
        <p14:creationId xmlns:p14="http://schemas.microsoft.com/office/powerpoint/2010/main" val="2640651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BD5740-6E80-44D2-AE40-732F360631EC}" type="datetimeFigureOut">
              <a:rPr lang="en-US" smtClean="0"/>
              <a:t>7/12/2026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DAF4681-8205-4D25-BF22-67E1BECE5B8D}" type="slidenum">
              <a:rPr lang="en-US" smtClean="0"/>
              <a:t>‹#›</a:t>
            </a:fld>
            <a:endParaRPr lang="en-US"/>
          </a:p>
        </p:txBody>
      </p:sp>
    </p:spTree>
    <p:extLst>
      <p:ext uri="{BB962C8B-B14F-4D97-AF65-F5344CB8AC3E}">
        <p14:creationId xmlns:p14="http://schemas.microsoft.com/office/powerpoint/2010/main" val="2749691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EBD5740-6E80-44D2-AE40-732F360631EC}" type="datetimeFigureOut">
              <a:rPr lang="en-US" smtClean="0"/>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AF4681-8205-4D25-BF22-67E1BECE5B8D}" type="slidenum">
              <a:rPr lang="en-US" smtClean="0"/>
              <a:t>‹#›</a:t>
            </a:fld>
            <a:endParaRPr lang="en-US"/>
          </a:p>
        </p:txBody>
      </p:sp>
    </p:spTree>
    <p:extLst>
      <p:ext uri="{BB962C8B-B14F-4D97-AF65-F5344CB8AC3E}">
        <p14:creationId xmlns:p14="http://schemas.microsoft.com/office/powerpoint/2010/main" val="1503421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EBD5740-6E80-44D2-AE40-732F360631EC}" type="datetimeFigureOut">
              <a:rPr lang="en-US" smtClean="0"/>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AF4681-8205-4D25-BF22-67E1BECE5B8D}" type="slidenum">
              <a:rPr lang="en-US" smtClean="0"/>
              <a:t>‹#›</a:t>
            </a:fld>
            <a:endParaRPr lang="en-US"/>
          </a:p>
        </p:txBody>
      </p:sp>
    </p:spTree>
    <p:extLst>
      <p:ext uri="{BB962C8B-B14F-4D97-AF65-F5344CB8AC3E}">
        <p14:creationId xmlns:p14="http://schemas.microsoft.com/office/powerpoint/2010/main" val="2433616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EBD5740-6E80-44D2-AE40-732F360631EC}"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AF4681-8205-4D25-BF22-67E1BECE5B8D}" type="slidenum">
              <a:rPr lang="en-US" smtClean="0"/>
              <a:t>‹#›</a:t>
            </a:fld>
            <a:endParaRPr lang="en-US"/>
          </a:p>
        </p:txBody>
      </p:sp>
    </p:spTree>
    <p:extLst>
      <p:ext uri="{BB962C8B-B14F-4D97-AF65-F5344CB8AC3E}">
        <p14:creationId xmlns:p14="http://schemas.microsoft.com/office/powerpoint/2010/main" val="3794792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EBD5740-6E80-44D2-AE40-732F360631EC}"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AF4681-8205-4D25-BF22-67E1BECE5B8D}" type="slidenum">
              <a:rPr lang="en-US" smtClean="0"/>
              <a:t>‹#›</a:t>
            </a:fld>
            <a:endParaRPr lang="en-US"/>
          </a:p>
        </p:txBody>
      </p:sp>
    </p:spTree>
    <p:extLst>
      <p:ext uri="{BB962C8B-B14F-4D97-AF65-F5344CB8AC3E}">
        <p14:creationId xmlns:p14="http://schemas.microsoft.com/office/powerpoint/2010/main" val="2688505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BD5740-6E80-44D2-AE40-732F360631EC}" type="datetimeFigureOut">
              <a:rPr lang="en-US" smtClean="0"/>
              <a:t>7/12/2026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AF4681-8205-4D25-BF22-67E1BECE5B8D}" type="slidenum">
              <a:rPr lang="en-US" smtClean="0"/>
              <a:t>‹#›</a:t>
            </a:fld>
            <a:endParaRPr lang="en-US"/>
          </a:p>
        </p:txBody>
      </p:sp>
    </p:spTree>
    <p:extLst>
      <p:ext uri="{BB962C8B-B14F-4D97-AF65-F5344CB8AC3E}">
        <p14:creationId xmlns:p14="http://schemas.microsoft.com/office/powerpoint/2010/main" val="1854692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380"/>
            <a:ext cx="9144000" cy="6853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5295900" y="1244600"/>
            <a:ext cx="2180821" cy="543739"/>
          </a:xfrm>
        </p:spPr>
        <p:txBody>
          <a:bodyPr>
            <a:normAutofit fontScale="90000"/>
          </a:bodyPr>
          <a:lstStyle/>
          <a:p>
            <a:r>
              <a:rPr lang="en-US" dirty="0" smtClean="0">
                <a:solidFill>
                  <a:schemeClr val="tx1"/>
                </a:solidFill>
              </a:rPr>
              <a:t>Chapter Two</a:t>
            </a:r>
            <a:endParaRPr lang="en-US" dirty="0">
              <a:solidFill>
                <a:schemeClr val="tx1"/>
              </a:solidFill>
            </a:endParaRPr>
          </a:p>
        </p:txBody>
      </p:sp>
    </p:spTree>
    <p:extLst>
      <p:ext uri="{BB962C8B-B14F-4D97-AF65-F5344CB8AC3E}">
        <p14:creationId xmlns:p14="http://schemas.microsoft.com/office/powerpoint/2010/main" val="2630889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736601"/>
            <a:ext cx="8862060" cy="6121400"/>
            <a:chOff x="823632" y="1638413"/>
            <a:chExt cx="8324849" cy="8229599"/>
          </a:xfrm>
        </p:grpSpPr>
        <p:sp>
          <p:nvSpPr>
            <p:cNvPr id="4" name="object 4"/>
            <p:cNvSpPr/>
            <p:nvPr/>
          </p:nvSpPr>
          <p:spPr>
            <a:xfrm>
              <a:off x="3831974" y="4309832"/>
              <a:ext cx="4762500" cy="4762500"/>
            </a:xfrm>
            <a:custGeom>
              <a:avLst/>
              <a:gdLst/>
              <a:ahLst/>
              <a:cxnLst/>
              <a:rect l="l" t="t" r="r" b="b"/>
              <a:pathLst>
                <a:path w="4762500" h="4762500">
                  <a:moveTo>
                    <a:pt x="4730750" y="4762500"/>
                  </a:moveTo>
                  <a:lnTo>
                    <a:pt x="31750" y="4762500"/>
                  </a:lnTo>
                  <a:lnTo>
                    <a:pt x="19288" y="4760039"/>
                  </a:lnTo>
                  <a:lnTo>
                    <a:pt x="9207" y="4753292"/>
                  </a:lnTo>
                  <a:lnTo>
                    <a:pt x="2460" y="4743211"/>
                  </a:lnTo>
                  <a:lnTo>
                    <a:pt x="0" y="4730750"/>
                  </a:lnTo>
                  <a:lnTo>
                    <a:pt x="0" y="31750"/>
                  </a:lnTo>
                  <a:lnTo>
                    <a:pt x="2460" y="19288"/>
                  </a:lnTo>
                  <a:lnTo>
                    <a:pt x="9207" y="9207"/>
                  </a:lnTo>
                  <a:lnTo>
                    <a:pt x="19288" y="2460"/>
                  </a:lnTo>
                  <a:lnTo>
                    <a:pt x="31750" y="0"/>
                  </a:lnTo>
                  <a:lnTo>
                    <a:pt x="4730750" y="0"/>
                  </a:lnTo>
                  <a:lnTo>
                    <a:pt x="4743211" y="2460"/>
                  </a:lnTo>
                  <a:lnTo>
                    <a:pt x="4753292" y="9207"/>
                  </a:lnTo>
                  <a:lnTo>
                    <a:pt x="4760039" y="19288"/>
                  </a:lnTo>
                  <a:lnTo>
                    <a:pt x="4762500" y="31750"/>
                  </a:lnTo>
                  <a:lnTo>
                    <a:pt x="4762500" y="63500"/>
                  </a:lnTo>
                  <a:lnTo>
                    <a:pt x="63500" y="63500"/>
                  </a:lnTo>
                  <a:lnTo>
                    <a:pt x="63500" y="4699000"/>
                  </a:lnTo>
                  <a:lnTo>
                    <a:pt x="4762500" y="4699000"/>
                  </a:lnTo>
                  <a:lnTo>
                    <a:pt x="4762500" y="4730750"/>
                  </a:lnTo>
                  <a:lnTo>
                    <a:pt x="4760039" y="4743211"/>
                  </a:lnTo>
                  <a:lnTo>
                    <a:pt x="4753292" y="4753292"/>
                  </a:lnTo>
                  <a:lnTo>
                    <a:pt x="4743211" y="4760039"/>
                  </a:lnTo>
                  <a:lnTo>
                    <a:pt x="4730750" y="4762500"/>
                  </a:lnTo>
                  <a:close/>
                </a:path>
                <a:path w="4762500" h="4762500">
                  <a:moveTo>
                    <a:pt x="4762500" y="4699000"/>
                  </a:moveTo>
                  <a:lnTo>
                    <a:pt x="4699000" y="4699000"/>
                  </a:lnTo>
                  <a:lnTo>
                    <a:pt x="4699000" y="63500"/>
                  </a:lnTo>
                  <a:lnTo>
                    <a:pt x="4762500" y="63500"/>
                  </a:lnTo>
                  <a:lnTo>
                    <a:pt x="4762500" y="4699000"/>
                  </a:lnTo>
                  <a:close/>
                </a:path>
              </a:pathLst>
            </a:custGeom>
            <a:solidFill>
              <a:srgbClr val="070404"/>
            </a:solidFill>
          </p:spPr>
          <p:txBody>
            <a:bodyPr wrap="square" lIns="0" tIns="0" rIns="0" bIns="0" rtlCol="0"/>
            <a:lstStyle/>
            <a:p>
              <a:endParaRPr/>
            </a:p>
          </p:txBody>
        </p:sp>
        <p:pic>
          <p:nvPicPr>
            <p:cNvPr id="5" name="object 5"/>
            <p:cNvPicPr/>
            <p:nvPr/>
          </p:nvPicPr>
          <p:blipFill>
            <a:blip r:embed="rId2" cstate="print"/>
            <a:stretch>
              <a:fillRect/>
            </a:stretch>
          </p:blipFill>
          <p:spPr>
            <a:xfrm>
              <a:off x="823632" y="1638413"/>
              <a:ext cx="8324849" cy="8229599"/>
            </a:xfrm>
            <a:prstGeom prst="rect">
              <a:avLst/>
            </a:prstGeom>
          </p:spPr>
        </p:pic>
      </p:grpSp>
      <p:sp>
        <p:nvSpPr>
          <p:cNvPr id="8" name="object 8" descr="$PPTXTitle"/>
          <p:cNvSpPr txBox="1">
            <a:spLocks noGrp="1"/>
          </p:cNvSpPr>
          <p:nvPr>
            <p:ph type="title"/>
          </p:nvPr>
        </p:nvSpPr>
        <p:spPr>
          <a:xfrm>
            <a:off x="-1524000" y="353309"/>
            <a:ext cx="5127415" cy="766583"/>
          </a:xfrm>
          <a:prstGeom prst="rect">
            <a:avLst/>
          </a:prstGeom>
        </p:spPr>
        <p:txBody>
          <a:bodyPr vert="horz" wrap="square" lIns="0" tIns="149569" rIns="0" bIns="0" rtlCol="0">
            <a:spAutoFit/>
          </a:bodyPr>
          <a:lstStyle/>
          <a:p>
            <a:pPr marL="1822450">
              <a:spcBef>
                <a:spcPts val="56"/>
              </a:spcBef>
            </a:pPr>
            <a:r>
              <a:rPr lang="en-US" sz="4000" spc="302" dirty="0">
                <a:solidFill>
                  <a:schemeClr val="accent6">
                    <a:lumMod val="75000"/>
                  </a:schemeClr>
                </a:solidFill>
                <a:latin typeface="Arial MT"/>
                <a:cs typeface="Arial MT"/>
              </a:rPr>
              <a:t>Transaction</a:t>
            </a:r>
            <a:endParaRPr sz="4000" dirty="0">
              <a:solidFill>
                <a:schemeClr val="accent6">
                  <a:lumMod val="75000"/>
                </a:schemeClr>
              </a:solidFill>
              <a:latin typeface="Arial MT"/>
              <a:cs typeface="Arial MT"/>
            </a:endParaRPr>
          </a:p>
        </p:txBody>
      </p:sp>
      <p:sp>
        <p:nvSpPr>
          <p:cNvPr id="18" name="object 18"/>
          <p:cNvSpPr txBox="1"/>
          <p:nvPr/>
        </p:nvSpPr>
        <p:spPr>
          <a:xfrm>
            <a:off x="1659022" y="1643862"/>
            <a:ext cx="6134100" cy="4111809"/>
          </a:xfrm>
          <a:prstGeom prst="rect">
            <a:avLst/>
          </a:prstGeom>
        </p:spPr>
        <p:txBody>
          <a:bodyPr vert="horz" wrap="square" lIns="0" tIns="6756" rIns="0" bIns="0" rtlCol="0">
            <a:spAutoFit/>
          </a:bodyPr>
          <a:lstStyle/>
          <a:p>
            <a:pPr algn="just"/>
            <a:r>
              <a:rPr lang="en-US" sz="2200" dirty="0">
                <a:solidFill>
                  <a:srgbClr val="000000"/>
                </a:solidFill>
                <a:latin typeface="Times New Roman"/>
              </a:rPr>
              <a:t>Many events occur in business. However, not all these events can be recorded in the book of accounts. Only the events that are measurable in terms of money or something </a:t>
            </a:r>
            <a:endParaRPr lang="en-US" sz="2200" dirty="0"/>
          </a:p>
          <a:p>
            <a:pPr algn="just"/>
            <a:r>
              <a:rPr lang="en-US" sz="2200" dirty="0">
                <a:solidFill>
                  <a:srgbClr val="000000"/>
                </a:solidFill>
                <a:latin typeface="Times New Roman"/>
              </a:rPr>
              <a:t>that brought changes financial position are to be treated as transactions. For example, suppose Mr. </a:t>
            </a:r>
            <a:r>
              <a:rPr lang="en-US" sz="2200" dirty="0" err="1">
                <a:solidFill>
                  <a:srgbClr val="000000"/>
                </a:solidFill>
                <a:latin typeface="Times New Roman"/>
              </a:rPr>
              <a:t>Simanto</a:t>
            </a:r>
            <a:r>
              <a:rPr lang="en-US" sz="2200" dirty="0">
                <a:solidFill>
                  <a:srgbClr val="000000"/>
                </a:solidFill>
                <a:latin typeface="Times New Roman"/>
              </a:rPr>
              <a:t> bought an </a:t>
            </a:r>
            <a:r>
              <a:rPr lang="en-US" sz="2200" dirty="0" err="1">
                <a:solidFill>
                  <a:srgbClr val="000000"/>
                </a:solidFill>
                <a:latin typeface="Times New Roman"/>
              </a:rPr>
              <a:t>almirah</a:t>
            </a:r>
            <a:r>
              <a:rPr lang="en-US" sz="2200" dirty="0">
                <a:solidFill>
                  <a:srgbClr val="000000"/>
                </a:solidFill>
                <a:latin typeface="Times New Roman"/>
              </a:rPr>
              <a:t> with 5000 taka, again got himself injured coming from the shop. Both these incidents are events. Only the first one is related to financial change and treated, as transaction but the later has no relation to the financial matter and such should not be recorded as transaction. </a:t>
            </a:r>
            <a:endParaRPr sz="2100" dirty="0">
              <a:latin typeface="Arial MT"/>
              <a:cs typeface="Arial MT"/>
            </a:endParaRPr>
          </a:p>
        </p:txBody>
      </p:sp>
    </p:spTree>
    <p:extLst>
      <p:ext uri="{BB962C8B-B14F-4D97-AF65-F5344CB8AC3E}">
        <p14:creationId xmlns:p14="http://schemas.microsoft.com/office/powerpoint/2010/main" val="540037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280626" y="939800"/>
            <a:ext cx="8862060" cy="5070668"/>
          </a:xfrm>
          <a:prstGeom prst="rect">
            <a:avLst/>
          </a:prstGeom>
        </p:spPr>
      </p:pic>
      <p:sp>
        <p:nvSpPr>
          <p:cNvPr id="8" name="object 8" descr="$PPTXTitle"/>
          <p:cNvSpPr txBox="1">
            <a:spLocks noGrp="1"/>
          </p:cNvSpPr>
          <p:nvPr>
            <p:ph type="title"/>
          </p:nvPr>
        </p:nvSpPr>
        <p:spPr>
          <a:xfrm>
            <a:off x="-1738252" y="173217"/>
            <a:ext cx="6346615" cy="766583"/>
          </a:xfrm>
          <a:prstGeom prst="rect">
            <a:avLst/>
          </a:prstGeom>
        </p:spPr>
        <p:txBody>
          <a:bodyPr vert="horz" wrap="square" lIns="0" tIns="149569" rIns="0" bIns="0" rtlCol="0">
            <a:spAutoFit/>
          </a:bodyPr>
          <a:lstStyle/>
          <a:p>
            <a:pPr marL="1822450">
              <a:spcBef>
                <a:spcPts val="56"/>
              </a:spcBef>
            </a:pPr>
            <a:r>
              <a:rPr lang="en-US" sz="4000" spc="302" dirty="0">
                <a:solidFill>
                  <a:schemeClr val="accent6">
                    <a:lumMod val="75000"/>
                  </a:schemeClr>
                </a:solidFill>
                <a:latin typeface="Arial MT"/>
                <a:cs typeface="Arial MT"/>
              </a:rPr>
              <a:t>Transaction</a:t>
            </a:r>
            <a:endParaRPr sz="4000" dirty="0">
              <a:solidFill>
                <a:schemeClr val="accent6">
                  <a:lumMod val="75000"/>
                </a:schemeClr>
              </a:solidFill>
              <a:latin typeface="Arial MT"/>
              <a:cs typeface="Arial MT"/>
            </a:endParaRPr>
          </a:p>
        </p:txBody>
      </p:sp>
      <p:sp>
        <p:nvSpPr>
          <p:cNvPr id="18" name="object 18"/>
          <p:cNvSpPr txBox="1"/>
          <p:nvPr/>
        </p:nvSpPr>
        <p:spPr>
          <a:xfrm>
            <a:off x="1435056" y="2034783"/>
            <a:ext cx="6553200" cy="2376702"/>
          </a:xfrm>
          <a:prstGeom prst="rect">
            <a:avLst/>
          </a:prstGeom>
        </p:spPr>
        <p:txBody>
          <a:bodyPr vert="horz" wrap="square" lIns="0" tIns="6756" rIns="0" bIns="0" rtlCol="0">
            <a:spAutoFit/>
          </a:bodyPr>
          <a:lstStyle/>
          <a:p>
            <a:pPr algn="just"/>
            <a:r>
              <a:rPr lang="en-US" sz="2200" dirty="0">
                <a:solidFill>
                  <a:srgbClr val="000000"/>
                </a:solidFill>
                <a:latin typeface="Times New Roman"/>
              </a:rPr>
              <a:t>Without the cash or credit, purchase or sales there can be other exchange of services that lead to transaction. For example, salary paid to Mrs. </a:t>
            </a:r>
            <a:r>
              <a:rPr lang="en-US" sz="2200" dirty="0" err="1">
                <a:solidFill>
                  <a:srgbClr val="000000"/>
                </a:solidFill>
                <a:latin typeface="Times New Roman"/>
              </a:rPr>
              <a:t>Mahbuba</a:t>
            </a:r>
            <a:r>
              <a:rPr lang="en-US" sz="2200" dirty="0">
                <a:solidFill>
                  <a:srgbClr val="000000"/>
                </a:solidFill>
                <a:latin typeface="Times New Roman"/>
              </a:rPr>
              <a:t> for her job or received 3000tk because of rent. This is also a transaction. Again, invisible events can also be a transaction. For example, assets used for a long time thus the value depreciation can also be a case of transaction. </a:t>
            </a:r>
            <a:endParaRPr sz="2100" dirty="0">
              <a:latin typeface="Arial MT"/>
              <a:cs typeface="Arial MT"/>
            </a:endParaRPr>
          </a:p>
        </p:txBody>
      </p:sp>
    </p:spTree>
    <p:extLst>
      <p:ext uri="{BB962C8B-B14F-4D97-AF65-F5344CB8AC3E}">
        <p14:creationId xmlns:p14="http://schemas.microsoft.com/office/powerpoint/2010/main" val="1340855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4001"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Wave 7"/>
          <p:cNvSpPr/>
          <p:nvPr/>
        </p:nvSpPr>
        <p:spPr>
          <a:xfrm>
            <a:off x="304800" y="1193800"/>
            <a:ext cx="342900" cy="304800"/>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206" tIns="25603" rIns="51206" bIns="25603" numCol="1" spcCol="0" rtlCol="0" fromWordArt="0" anchor="ctr" anchorCtr="0" forceAA="0" compatLnSpc="1">
            <a:prstTxWarp prst="textNoShape">
              <a:avLst/>
            </a:prstTxWarp>
            <a:noAutofit/>
          </a:bodyPr>
          <a:lstStyle/>
          <a:p>
            <a:pPr algn="ctr"/>
            <a:r>
              <a:rPr lang="en-US" sz="2000" b="1" dirty="0">
                <a:solidFill>
                  <a:schemeClr val="tx1"/>
                </a:solidFill>
              </a:rPr>
              <a:t>1</a:t>
            </a:r>
            <a:endParaRPr lang="en-US" sz="800" b="1" dirty="0">
              <a:solidFill>
                <a:schemeClr val="tx1"/>
              </a:solidFill>
            </a:endParaRPr>
          </a:p>
        </p:txBody>
      </p:sp>
      <p:sp>
        <p:nvSpPr>
          <p:cNvPr id="10" name="Wave 9"/>
          <p:cNvSpPr/>
          <p:nvPr/>
        </p:nvSpPr>
        <p:spPr>
          <a:xfrm>
            <a:off x="304800" y="2184400"/>
            <a:ext cx="342900" cy="304800"/>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206" tIns="25603" rIns="51206" bIns="25603" numCol="1" spcCol="0" rtlCol="0" fromWordArt="0" anchor="ctr" anchorCtr="0" forceAA="0" compatLnSpc="1">
            <a:prstTxWarp prst="textNoShape">
              <a:avLst/>
            </a:prstTxWarp>
            <a:noAutofit/>
          </a:bodyPr>
          <a:lstStyle/>
          <a:p>
            <a:pPr algn="ctr"/>
            <a:r>
              <a:rPr lang="en-US" sz="2000" b="1" dirty="0">
                <a:solidFill>
                  <a:schemeClr val="tx1"/>
                </a:solidFill>
              </a:rPr>
              <a:t>2</a:t>
            </a:r>
            <a:endParaRPr lang="en-US" b="1" dirty="0">
              <a:solidFill>
                <a:schemeClr val="tx1"/>
              </a:solidFill>
            </a:endParaRPr>
          </a:p>
        </p:txBody>
      </p:sp>
      <p:sp>
        <p:nvSpPr>
          <p:cNvPr id="11" name="Wave 10"/>
          <p:cNvSpPr/>
          <p:nvPr/>
        </p:nvSpPr>
        <p:spPr>
          <a:xfrm>
            <a:off x="304800" y="2870200"/>
            <a:ext cx="342900" cy="304800"/>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206" tIns="25603" rIns="51206" bIns="25603" numCol="1" spcCol="0" rtlCol="0" fromWordArt="0" anchor="ctr" anchorCtr="0" forceAA="0" compatLnSpc="1">
            <a:prstTxWarp prst="textNoShape">
              <a:avLst/>
            </a:prstTxWarp>
            <a:noAutofit/>
          </a:bodyPr>
          <a:lstStyle/>
          <a:p>
            <a:pPr algn="ctr"/>
            <a:r>
              <a:rPr lang="en-US" sz="2000" b="1" dirty="0">
                <a:solidFill>
                  <a:schemeClr val="tx1"/>
                </a:solidFill>
              </a:rPr>
              <a:t>3</a:t>
            </a:r>
            <a:endParaRPr lang="en-US" b="1" dirty="0">
              <a:solidFill>
                <a:schemeClr val="tx1"/>
              </a:solidFill>
            </a:endParaRPr>
          </a:p>
        </p:txBody>
      </p:sp>
      <p:sp>
        <p:nvSpPr>
          <p:cNvPr id="12" name="Wave 11"/>
          <p:cNvSpPr/>
          <p:nvPr/>
        </p:nvSpPr>
        <p:spPr>
          <a:xfrm>
            <a:off x="304800" y="3916640"/>
            <a:ext cx="342900" cy="304800"/>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206" tIns="25603" rIns="51206" bIns="25603" numCol="1" spcCol="0" rtlCol="0" fromWordArt="0" anchor="ctr" anchorCtr="0" forceAA="0" compatLnSpc="1">
            <a:prstTxWarp prst="textNoShape">
              <a:avLst/>
            </a:prstTxWarp>
            <a:noAutofit/>
          </a:bodyPr>
          <a:lstStyle/>
          <a:p>
            <a:pPr algn="ctr"/>
            <a:r>
              <a:rPr lang="en-US" sz="2000" b="1" dirty="0">
                <a:solidFill>
                  <a:schemeClr val="tx1"/>
                </a:solidFill>
              </a:rPr>
              <a:t>4</a:t>
            </a:r>
            <a:endParaRPr lang="en-US" b="1" dirty="0">
              <a:solidFill>
                <a:schemeClr val="tx1"/>
              </a:solidFill>
            </a:endParaRPr>
          </a:p>
        </p:txBody>
      </p:sp>
      <p:sp>
        <p:nvSpPr>
          <p:cNvPr id="13" name="Wave 12"/>
          <p:cNvSpPr/>
          <p:nvPr/>
        </p:nvSpPr>
        <p:spPr>
          <a:xfrm>
            <a:off x="304800" y="4509893"/>
            <a:ext cx="342900" cy="304800"/>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206" tIns="25603" rIns="51206" bIns="25603" numCol="1" spcCol="0" rtlCol="0" fromWordArt="0" anchor="ctr" anchorCtr="0" forceAA="0" compatLnSpc="1">
            <a:prstTxWarp prst="textNoShape">
              <a:avLst/>
            </a:prstTxWarp>
            <a:noAutofit/>
          </a:bodyPr>
          <a:lstStyle/>
          <a:p>
            <a:pPr algn="ctr"/>
            <a:r>
              <a:rPr lang="en-US" b="1" dirty="0">
                <a:solidFill>
                  <a:schemeClr val="tx1"/>
                </a:solidFill>
              </a:rPr>
              <a:t>5</a:t>
            </a:r>
          </a:p>
        </p:txBody>
      </p:sp>
      <p:sp>
        <p:nvSpPr>
          <p:cNvPr id="14" name="Wave 13"/>
          <p:cNvSpPr/>
          <p:nvPr/>
        </p:nvSpPr>
        <p:spPr>
          <a:xfrm>
            <a:off x="304800" y="5521696"/>
            <a:ext cx="342900" cy="304800"/>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206" tIns="25603" rIns="51206" bIns="25603" numCol="1" spcCol="0" rtlCol="0" fromWordArt="0" anchor="ctr" anchorCtr="0" forceAA="0" compatLnSpc="1">
            <a:prstTxWarp prst="textNoShape">
              <a:avLst/>
            </a:prstTxWarp>
            <a:noAutofit/>
          </a:bodyPr>
          <a:lstStyle/>
          <a:p>
            <a:pPr algn="ctr"/>
            <a:r>
              <a:rPr lang="en-US" b="1" dirty="0">
                <a:solidFill>
                  <a:schemeClr val="tx1"/>
                </a:solidFill>
              </a:rPr>
              <a:t>6</a:t>
            </a:r>
          </a:p>
        </p:txBody>
      </p:sp>
      <p:sp>
        <p:nvSpPr>
          <p:cNvPr id="9" name="Rounded Rectangle 8"/>
          <p:cNvSpPr/>
          <p:nvPr/>
        </p:nvSpPr>
        <p:spPr>
          <a:xfrm>
            <a:off x="304800" y="401782"/>
            <a:ext cx="4343400" cy="406400"/>
          </a:xfrm>
          <a:prstGeom prst="round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51206" tIns="25603" rIns="51206" bIns="25603" numCol="1" spcCol="0" rtlCol="0" fromWordArt="0" anchor="ctr" anchorCtr="0" forceAA="0" compatLnSpc="1">
            <a:prstTxWarp prst="textNoShape">
              <a:avLst/>
            </a:prstTxWarp>
            <a:noAutofit/>
          </a:bodyPr>
          <a:lstStyle/>
          <a:p>
            <a:pPr algn="ctr"/>
            <a:r>
              <a:rPr lang="en-US" sz="2200" b="1" dirty="0">
                <a:solidFill>
                  <a:schemeClr val="tx1"/>
                </a:solidFill>
              </a:rPr>
              <a:t>Features of Transactions</a:t>
            </a:r>
          </a:p>
        </p:txBody>
      </p:sp>
      <p:sp>
        <p:nvSpPr>
          <p:cNvPr id="16" name="TextBox 15"/>
          <p:cNvSpPr txBox="1"/>
          <p:nvPr/>
        </p:nvSpPr>
        <p:spPr>
          <a:xfrm>
            <a:off x="647700" y="1000695"/>
            <a:ext cx="8001000" cy="1046440"/>
          </a:xfrm>
          <a:prstGeom prst="rect">
            <a:avLst/>
          </a:prstGeom>
          <a:noFill/>
        </p:spPr>
        <p:txBody>
          <a:bodyPr wrap="square" lIns="51206" tIns="25603" rIns="51206" bIns="25603" rtlCol="0">
            <a:spAutoFit/>
          </a:bodyPr>
          <a:lstStyle/>
          <a:p>
            <a:r>
              <a:rPr lang="en-US" sz="1300" b="1" dirty="0">
                <a:solidFill>
                  <a:srgbClr val="000000"/>
                </a:solidFill>
                <a:latin typeface="TimesNewRomanPS-BoldMT"/>
              </a:rPr>
              <a:t>Measurable in terms of money:</a:t>
            </a:r>
            <a:r>
              <a:rPr lang="en-US" sz="1300" dirty="0">
                <a:solidFill>
                  <a:srgbClr val="000000"/>
                </a:solidFill>
                <a:latin typeface="Times New Roman"/>
              </a:rPr>
              <a:t> One of the important features of a transaction is that it has to be measurable in terms of money or else it could not be treated as transaction.</a:t>
            </a:r>
          </a:p>
          <a:p>
            <a:r>
              <a:rPr lang="en-US" sz="1300" dirty="0">
                <a:solidFill>
                  <a:srgbClr val="000000"/>
                </a:solidFill>
                <a:latin typeface="Times New Roman"/>
              </a:rPr>
              <a:t>	For Example: For example, the death of manager of a firm is loss to the firm but is not measurable in terms of money. However, goods destroyed by fire worth 20,000 taka are a loss to the firm and will be treated as a transaction.</a:t>
            </a:r>
            <a:endParaRPr lang="en-US" sz="1300" dirty="0"/>
          </a:p>
        </p:txBody>
      </p:sp>
      <p:sp>
        <p:nvSpPr>
          <p:cNvPr id="17" name="TextBox 16"/>
          <p:cNvSpPr txBox="1"/>
          <p:nvPr/>
        </p:nvSpPr>
        <p:spPr>
          <a:xfrm>
            <a:off x="651164" y="2221346"/>
            <a:ext cx="7807036" cy="851925"/>
          </a:xfrm>
          <a:prstGeom prst="rect">
            <a:avLst/>
          </a:prstGeom>
          <a:noFill/>
        </p:spPr>
        <p:txBody>
          <a:bodyPr wrap="square" lIns="51206" tIns="25603" rIns="51206" bIns="25603" rtlCol="0">
            <a:spAutoFit/>
          </a:bodyPr>
          <a:lstStyle/>
          <a:p>
            <a:r>
              <a:rPr lang="en-US" sz="1300" b="1" dirty="0">
                <a:solidFill>
                  <a:srgbClr val="000000"/>
                </a:solidFill>
                <a:latin typeface="Times New Roman" pitchFamily="18" charset="0"/>
                <a:cs typeface="Times New Roman" pitchFamily="18" charset="0"/>
              </a:rPr>
              <a:t>Changes of financial condition: </a:t>
            </a:r>
            <a:r>
              <a:rPr lang="en-US" sz="1300" dirty="0">
                <a:solidFill>
                  <a:srgbClr val="000000"/>
                </a:solidFill>
                <a:latin typeface="Times New Roman" pitchFamily="18" charset="0"/>
                <a:cs typeface="Times New Roman" pitchFamily="18" charset="0"/>
              </a:rPr>
              <a:t>If any event brings any financial changes of a firm, it will </a:t>
            </a:r>
            <a:r>
              <a:rPr lang="en-US" sz="1300" dirty="0">
                <a:latin typeface="Times New Roman" pitchFamily="18" charset="0"/>
                <a:cs typeface="Times New Roman" pitchFamily="18" charset="0"/>
              </a:rPr>
              <a:t>be treated as a transaction.</a:t>
            </a:r>
          </a:p>
          <a:p>
            <a:r>
              <a:rPr lang="en-US" sz="1300" dirty="0">
                <a:latin typeface="Times New Roman" pitchFamily="18" charset="0"/>
                <a:cs typeface="Times New Roman" pitchFamily="18" charset="0"/>
              </a:rPr>
              <a:t>	For Example: </a:t>
            </a:r>
            <a:r>
              <a:rPr lang="en-US" sz="1300" dirty="0">
                <a:latin typeface="Times New Roman"/>
              </a:rPr>
              <a:t>business has been increased by 5000 taka at the same time cash 5000 taka has also been decreased</a:t>
            </a:r>
            <a:r>
              <a:rPr lang="en-US" sz="1300" dirty="0">
                <a:solidFill>
                  <a:srgbClr val="000000"/>
                </a:solidFill>
                <a:latin typeface="Times New Roman"/>
              </a:rPr>
              <a:t>. </a:t>
            </a:r>
            <a:endParaRPr lang="en-US" sz="1300" dirty="0">
              <a:solidFill>
                <a:schemeClr val="bg1"/>
              </a:solidFill>
              <a:latin typeface="Times New Roman" pitchFamily="18" charset="0"/>
              <a:cs typeface="Times New Roman" pitchFamily="18" charset="0"/>
            </a:endParaRPr>
          </a:p>
        </p:txBody>
      </p:sp>
      <p:sp>
        <p:nvSpPr>
          <p:cNvPr id="18" name="TextBox 17"/>
          <p:cNvSpPr txBox="1"/>
          <p:nvPr/>
        </p:nvSpPr>
        <p:spPr>
          <a:xfrm>
            <a:off x="651163" y="2870200"/>
            <a:ext cx="7807037" cy="851925"/>
          </a:xfrm>
          <a:prstGeom prst="rect">
            <a:avLst/>
          </a:prstGeom>
          <a:noFill/>
        </p:spPr>
        <p:txBody>
          <a:bodyPr wrap="square" lIns="51206" tIns="25603" rIns="51206" bIns="25603" rtlCol="0">
            <a:spAutoFit/>
          </a:bodyPr>
          <a:lstStyle/>
          <a:p>
            <a:r>
              <a:rPr lang="en-US" sz="1300" b="1" dirty="0">
                <a:solidFill>
                  <a:srgbClr val="000000"/>
                </a:solidFill>
                <a:latin typeface="TimesNewRomanPS-BoldMT"/>
              </a:rPr>
              <a:t>Dual entity: </a:t>
            </a:r>
            <a:r>
              <a:rPr lang="en-US" sz="1300" dirty="0">
                <a:solidFill>
                  <a:srgbClr val="000000"/>
                </a:solidFill>
                <a:latin typeface="Times New Roman"/>
              </a:rPr>
              <a:t>Every transaction must include two parties. That is one party will receive benefits while the other will ensure the same. </a:t>
            </a:r>
          </a:p>
          <a:p>
            <a:r>
              <a:rPr lang="en-US" sz="1300" dirty="0">
                <a:solidFill>
                  <a:srgbClr val="000000"/>
                </a:solidFill>
                <a:latin typeface="Times New Roman"/>
              </a:rPr>
              <a:t>	For example – salaries paid to the workers taka 5000. Here one party is the salary expense </a:t>
            </a:r>
            <a:endParaRPr lang="en-US" sz="1300" dirty="0"/>
          </a:p>
          <a:p>
            <a:r>
              <a:rPr lang="en-US" sz="1300" dirty="0">
                <a:solidFill>
                  <a:srgbClr val="000000"/>
                </a:solidFill>
                <a:latin typeface="Times New Roman"/>
              </a:rPr>
              <a:t>account while the other one is cash account.</a:t>
            </a:r>
            <a:endParaRPr lang="en-US" sz="1300" dirty="0"/>
          </a:p>
        </p:txBody>
      </p:sp>
      <p:sp>
        <p:nvSpPr>
          <p:cNvPr id="19" name="TextBox 18"/>
          <p:cNvSpPr txBox="1"/>
          <p:nvPr/>
        </p:nvSpPr>
        <p:spPr>
          <a:xfrm>
            <a:off x="651164" y="3916640"/>
            <a:ext cx="7730837" cy="651870"/>
          </a:xfrm>
          <a:prstGeom prst="rect">
            <a:avLst/>
          </a:prstGeom>
          <a:noFill/>
        </p:spPr>
        <p:txBody>
          <a:bodyPr wrap="square" lIns="51206" tIns="25603" rIns="51206" bIns="25603" rtlCol="0">
            <a:spAutoFit/>
          </a:bodyPr>
          <a:lstStyle/>
          <a:p>
            <a:r>
              <a:rPr lang="en-US" sz="1300" b="1" dirty="0">
                <a:solidFill>
                  <a:srgbClr val="000000"/>
                </a:solidFill>
                <a:latin typeface="Times New Roman" pitchFamily="18" charset="0"/>
                <a:cs typeface="Times New Roman" pitchFamily="18" charset="0"/>
              </a:rPr>
              <a:t>Impact over accounting equation:</a:t>
            </a:r>
            <a:r>
              <a:rPr lang="en-US" sz="1300" dirty="0">
                <a:solidFill>
                  <a:srgbClr val="000000"/>
                </a:solidFill>
                <a:latin typeface="Times New Roman" pitchFamily="18" charset="0"/>
                <a:cs typeface="Times New Roman" pitchFamily="18" charset="0"/>
              </a:rPr>
              <a:t> Each transaction leaves a direct impact over the accounting equation. The items of transactions are affected by accounting equation. “Asset= Liabilities+ owner’s Equity” this accounting equation. </a:t>
            </a:r>
            <a:endParaRPr lang="en-US" sz="1300" dirty="0">
              <a:latin typeface="Times New Roman" pitchFamily="18" charset="0"/>
              <a:cs typeface="Times New Roman" pitchFamily="18" charset="0"/>
            </a:endParaRPr>
          </a:p>
        </p:txBody>
      </p:sp>
      <p:sp>
        <p:nvSpPr>
          <p:cNvPr id="20" name="TextBox 19"/>
          <p:cNvSpPr txBox="1"/>
          <p:nvPr/>
        </p:nvSpPr>
        <p:spPr>
          <a:xfrm>
            <a:off x="651164" y="4470638"/>
            <a:ext cx="7807036" cy="851925"/>
          </a:xfrm>
          <a:prstGeom prst="rect">
            <a:avLst/>
          </a:prstGeom>
          <a:noFill/>
        </p:spPr>
        <p:txBody>
          <a:bodyPr wrap="square" lIns="51206" tIns="25603" rIns="51206" bIns="25603" rtlCol="0">
            <a:spAutoFit/>
          </a:bodyPr>
          <a:lstStyle/>
          <a:p>
            <a:r>
              <a:rPr lang="en-US" sz="1300" b="1" dirty="0">
                <a:solidFill>
                  <a:srgbClr val="000000"/>
                </a:solidFill>
                <a:latin typeface="Times New Roman" pitchFamily="18" charset="0"/>
                <a:cs typeface="Times New Roman" pitchFamily="18" charset="0"/>
              </a:rPr>
              <a:t>Historical event: </a:t>
            </a:r>
            <a:r>
              <a:rPr lang="en-US" sz="1300" dirty="0">
                <a:solidFill>
                  <a:srgbClr val="000000"/>
                </a:solidFill>
                <a:latin typeface="Times New Roman" pitchFamily="18" charset="0"/>
                <a:cs typeface="Times New Roman" pitchFamily="18" charset="0"/>
              </a:rPr>
              <a:t>The financial matters that have taken place previously are known as historical transactions. Again, some events that may take in future are also known as transaction. If any future events change the financial position of the business, it will also be treated as transaction. </a:t>
            </a:r>
          </a:p>
          <a:p>
            <a:r>
              <a:rPr lang="en-US" sz="1300" dirty="0">
                <a:solidFill>
                  <a:srgbClr val="000000"/>
                </a:solidFill>
                <a:latin typeface="Times New Roman" pitchFamily="18" charset="0"/>
                <a:cs typeface="Times New Roman" pitchFamily="18" charset="0"/>
              </a:rPr>
              <a:t>	For example – reserve for bad debts, reserve for discount etc.</a:t>
            </a:r>
            <a:endParaRPr lang="en-US" sz="1300" dirty="0">
              <a:latin typeface="Times New Roman" pitchFamily="18" charset="0"/>
              <a:cs typeface="Times New Roman" pitchFamily="18" charset="0"/>
            </a:endParaRPr>
          </a:p>
        </p:txBody>
      </p:sp>
      <p:sp>
        <p:nvSpPr>
          <p:cNvPr id="21" name="TextBox 20"/>
          <p:cNvSpPr txBox="1"/>
          <p:nvPr/>
        </p:nvSpPr>
        <p:spPr>
          <a:xfrm>
            <a:off x="651164" y="5517078"/>
            <a:ext cx="7807036" cy="851925"/>
          </a:xfrm>
          <a:prstGeom prst="rect">
            <a:avLst/>
          </a:prstGeom>
          <a:noFill/>
        </p:spPr>
        <p:txBody>
          <a:bodyPr wrap="square" lIns="51206" tIns="25603" rIns="51206" bIns="25603" rtlCol="0">
            <a:spAutoFit/>
          </a:bodyPr>
          <a:lstStyle/>
          <a:p>
            <a:r>
              <a:rPr lang="en-US" sz="1300" b="1" dirty="0">
                <a:solidFill>
                  <a:srgbClr val="000000"/>
                </a:solidFill>
                <a:latin typeface="Times New Roman" pitchFamily="18" charset="0"/>
                <a:cs typeface="Times New Roman" pitchFamily="18" charset="0"/>
              </a:rPr>
              <a:t>Complete and independent:</a:t>
            </a:r>
            <a:r>
              <a:rPr lang="en-US" sz="1300" dirty="0">
                <a:solidFill>
                  <a:srgbClr val="000000"/>
                </a:solidFill>
                <a:latin typeface="Times New Roman" pitchFamily="18" charset="0"/>
                <a:cs typeface="Times New Roman" pitchFamily="18" charset="0"/>
              </a:rPr>
              <a:t> Another important feature of transaction is that each transaction is completely separate and independent from the others. </a:t>
            </a:r>
          </a:p>
          <a:p>
            <a:r>
              <a:rPr lang="en-US" sz="1300" dirty="0">
                <a:solidFill>
                  <a:srgbClr val="000000"/>
                </a:solidFill>
                <a:latin typeface="Times New Roman" pitchFamily="18" charset="0"/>
                <a:cs typeface="Times New Roman" pitchFamily="18" charset="0"/>
              </a:rPr>
              <a:t>	For example – goods sold on credit taka 10,000 and the payment of which is received after 7 day. Here goods sold on credit are a transaction while 7 days later the payment received is a separate account. </a:t>
            </a:r>
            <a:endParaRPr lang="en-US" sz="1300" dirty="0">
              <a:latin typeface="Times New Roman" pitchFamily="18" charset="0"/>
              <a:cs typeface="Times New Roman" pitchFamily="18" charset="0"/>
            </a:endParaRPr>
          </a:p>
        </p:txBody>
      </p:sp>
    </p:spTree>
    <p:extLst>
      <p:ext uri="{BB962C8B-B14F-4D97-AF65-F5344CB8AC3E}">
        <p14:creationId xmlns:p14="http://schemas.microsoft.com/office/powerpoint/2010/main" val="3166594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280626" y="939800"/>
            <a:ext cx="8862060" cy="5070668"/>
          </a:xfrm>
          <a:prstGeom prst="rect">
            <a:avLst/>
          </a:prstGeom>
        </p:spPr>
      </p:pic>
      <p:sp>
        <p:nvSpPr>
          <p:cNvPr id="8" name="object 8" descr="$PPTXTitle"/>
          <p:cNvSpPr txBox="1">
            <a:spLocks noGrp="1"/>
          </p:cNvSpPr>
          <p:nvPr>
            <p:ph type="title"/>
          </p:nvPr>
        </p:nvSpPr>
        <p:spPr>
          <a:xfrm>
            <a:off x="-1371600" y="353309"/>
            <a:ext cx="7642015" cy="766583"/>
          </a:xfrm>
          <a:prstGeom prst="rect">
            <a:avLst/>
          </a:prstGeom>
        </p:spPr>
        <p:txBody>
          <a:bodyPr vert="horz" wrap="square" lIns="0" tIns="149569" rIns="0" bIns="0" rtlCol="0">
            <a:spAutoFit/>
          </a:bodyPr>
          <a:lstStyle/>
          <a:p>
            <a:pPr marL="1822450">
              <a:spcBef>
                <a:spcPts val="56"/>
              </a:spcBef>
            </a:pPr>
            <a:r>
              <a:rPr lang="en-US" sz="4000" spc="302" dirty="0">
                <a:solidFill>
                  <a:schemeClr val="accent6">
                    <a:lumMod val="75000"/>
                  </a:schemeClr>
                </a:solidFill>
                <a:latin typeface="Arial MT"/>
                <a:cs typeface="Arial MT"/>
              </a:rPr>
              <a:t>Transaction</a:t>
            </a:r>
            <a:endParaRPr sz="4000" dirty="0">
              <a:solidFill>
                <a:schemeClr val="accent6">
                  <a:lumMod val="75000"/>
                </a:schemeClr>
              </a:solidFill>
              <a:latin typeface="Arial MT"/>
              <a:cs typeface="Arial MT"/>
            </a:endParaRPr>
          </a:p>
        </p:txBody>
      </p:sp>
      <p:sp>
        <p:nvSpPr>
          <p:cNvPr id="18" name="object 18"/>
          <p:cNvSpPr txBox="1"/>
          <p:nvPr/>
        </p:nvSpPr>
        <p:spPr>
          <a:xfrm>
            <a:off x="1435056" y="2034782"/>
            <a:ext cx="6553200" cy="2038147"/>
          </a:xfrm>
          <a:prstGeom prst="rect">
            <a:avLst/>
          </a:prstGeom>
        </p:spPr>
        <p:txBody>
          <a:bodyPr vert="horz" wrap="square" lIns="0" tIns="6756" rIns="0" bIns="0" rtlCol="0">
            <a:spAutoFit/>
          </a:bodyPr>
          <a:lstStyle/>
          <a:p>
            <a:pPr algn="just"/>
            <a:r>
              <a:rPr lang="en-US" sz="2200" dirty="0"/>
              <a:t>Literally, the meaning of the word transaction is to ‘give’ and ‘receive’ or give and take. In every transaction, there is one recipient of benefit while the other provides benefit. For example – </a:t>
            </a:r>
            <a:r>
              <a:rPr lang="en-US" sz="2200" dirty="0" err="1"/>
              <a:t>Ratan</a:t>
            </a:r>
            <a:r>
              <a:rPr lang="en-US" sz="2200" dirty="0"/>
              <a:t> gave </a:t>
            </a:r>
            <a:r>
              <a:rPr lang="en-US" sz="2200" dirty="0" err="1"/>
              <a:t>Manik</a:t>
            </a:r>
            <a:r>
              <a:rPr lang="en-US" sz="2200" dirty="0"/>
              <a:t> tk.1,000. With this, we see two parties. </a:t>
            </a:r>
            <a:r>
              <a:rPr lang="en-US" sz="2200" dirty="0" err="1"/>
              <a:t>Ratan</a:t>
            </a:r>
            <a:r>
              <a:rPr lang="en-US" sz="2200" dirty="0"/>
              <a:t> gave tk.1000 while </a:t>
            </a:r>
            <a:r>
              <a:rPr lang="en-US" sz="2200" dirty="0" err="1"/>
              <a:t>Manik</a:t>
            </a:r>
            <a:r>
              <a:rPr lang="en-US" sz="2200" dirty="0"/>
              <a:t> received the same. </a:t>
            </a:r>
            <a:endParaRPr sz="2100" dirty="0">
              <a:latin typeface="Arial MT"/>
              <a:cs typeface="Arial MT"/>
            </a:endParaRPr>
          </a:p>
        </p:txBody>
      </p:sp>
    </p:spTree>
    <p:extLst>
      <p:ext uri="{BB962C8B-B14F-4D97-AF65-F5344CB8AC3E}">
        <p14:creationId xmlns:p14="http://schemas.microsoft.com/office/powerpoint/2010/main" val="786295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280626" y="939800"/>
            <a:ext cx="8862060" cy="5070668"/>
          </a:xfrm>
          <a:prstGeom prst="rect">
            <a:avLst/>
          </a:prstGeom>
        </p:spPr>
      </p:pic>
      <p:sp>
        <p:nvSpPr>
          <p:cNvPr id="8" name="object 8" descr="$PPTXTitle"/>
          <p:cNvSpPr txBox="1">
            <a:spLocks noGrp="1"/>
          </p:cNvSpPr>
          <p:nvPr>
            <p:ph type="title"/>
          </p:nvPr>
        </p:nvSpPr>
        <p:spPr>
          <a:xfrm>
            <a:off x="-1371600" y="353309"/>
            <a:ext cx="7642015" cy="766583"/>
          </a:xfrm>
          <a:prstGeom prst="rect">
            <a:avLst/>
          </a:prstGeom>
        </p:spPr>
        <p:txBody>
          <a:bodyPr vert="horz" wrap="square" lIns="0" tIns="149569" rIns="0" bIns="0" rtlCol="0">
            <a:spAutoFit/>
          </a:bodyPr>
          <a:lstStyle/>
          <a:p>
            <a:pPr marL="1822450">
              <a:spcBef>
                <a:spcPts val="56"/>
              </a:spcBef>
            </a:pPr>
            <a:r>
              <a:rPr lang="en-US" sz="4000" spc="302" dirty="0">
                <a:solidFill>
                  <a:schemeClr val="accent6">
                    <a:lumMod val="75000"/>
                  </a:schemeClr>
                </a:solidFill>
                <a:latin typeface="Arial MT"/>
                <a:cs typeface="Arial MT"/>
              </a:rPr>
              <a:t>Transaction</a:t>
            </a:r>
            <a:endParaRPr sz="4000" dirty="0">
              <a:solidFill>
                <a:schemeClr val="accent6">
                  <a:lumMod val="75000"/>
                </a:schemeClr>
              </a:solidFill>
              <a:latin typeface="Arial MT"/>
              <a:cs typeface="Arial MT"/>
            </a:endParaRPr>
          </a:p>
        </p:txBody>
      </p:sp>
      <p:sp>
        <p:nvSpPr>
          <p:cNvPr id="18" name="object 18"/>
          <p:cNvSpPr txBox="1"/>
          <p:nvPr/>
        </p:nvSpPr>
        <p:spPr>
          <a:xfrm>
            <a:off x="1435056" y="2034783"/>
            <a:ext cx="6553200" cy="2376702"/>
          </a:xfrm>
          <a:prstGeom prst="rect">
            <a:avLst/>
          </a:prstGeom>
        </p:spPr>
        <p:txBody>
          <a:bodyPr vert="horz" wrap="square" lIns="0" tIns="6756" rIns="0" bIns="0" rtlCol="0">
            <a:spAutoFit/>
          </a:bodyPr>
          <a:lstStyle/>
          <a:p>
            <a:pPr marL="320040" indent="-320040" algn="just">
              <a:buFont typeface="Arial" pitchFamily="34" charset="0"/>
              <a:buChar char="•"/>
            </a:pPr>
            <a:r>
              <a:rPr lang="en-US" sz="2200" dirty="0"/>
              <a:t>Again, invisible events can also be a transaction. For example, assets used for a long time thus the value depreciation can also be a case of transaction. </a:t>
            </a:r>
          </a:p>
          <a:p>
            <a:pPr algn="just"/>
            <a:endParaRPr lang="en-US" sz="2200" dirty="0"/>
          </a:p>
          <a:p>
            <a:pPr marL="320040" indent="-320040" algn="just">
              <a:buFont typeface="Arial" pitchFamily="34" charset="0"/>
              <a:buChar char="•"/>
            </a:pPr>
            <a:r>
              <a:rPr lang="en-US" sz="2200" dirty="0"/>
              <a:t>Exchange of money or money’s worth any event or service that reflects on the financial condition of a firm will be treated as transaction. </a:t>
            </a:r>
            <a:endParaRPr sz="2100" dirty="0">
              <a:latin typeface="Arial MT"/>
              <a:cs typeface="Arial MT"/>
            </a:endParaRPr>
          </a:p>
        </p:txBody>
      </p:sp>
    </p:spTree>
    <p:extLst>
      <p:ext uri="{BB962C8B-B14F-4D97-AF65-F5344CB8AC3E}">
        <p14:creationId xmlns:p14="http://schemas.microsoft.com/office/powerpoint/2010/main" val="4238362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101406" y="82389"/>
            <a:ext cx="7642015" cy="553998"/>
          </a:xfrm>
        </p:spPr>
        <p:txBody>
          <a:bodyPr/>
          <a:lstStyle/>
          <a:p>
            <a:r>
              <a:rPr lang="en-US" sz="3000" dirty="0"/>
              <a:t>Identifying transaction:</a:t>
            </a:r>
            <a:endParaRPr lang="en-US" dirty="0"/>
          </a:p>
        </p:txBody>
      </p:sp>
      <p:sp>
        <p:nvSpPr>
          <p:cNvPr id="3" name="Rectangle 2"/>
          <p:cNvSpPr/>
          <p:nvPr/>
        </p:nvSpPr>
        <p:spPr>
          <a:xfrm>
            <a:off x="495300" y="889000"/>
            <a:ext cx="7543800" cy="5037686"/>
          </a:xfrm>
          <a:prstGeom prst="rect">
            <a:avLst/>
          </a:prstGeom>
        </p:spPr>
        <p:txBody>
          <a:bodyPr wrap="square" lIns="51206" tIns="25603" rIns="51206" bIns="25603">
            <a:spAutoFit/>
          </a:bodyPr>
          <a:lstStyle/>
          <a:p>
            <a:r>
              <a:rPr lang="en-US" dirty="0"/>
              <a:t>Which events are transactions and which are not is explained by the following examples- </a:t>
            </a:r>
          </a:p>
          <a:p>
            <a:r>
              <a:rPr lang="en-US" dirty="0"/>
              <a:t>In the business of Mr. </a:t>
            </a:r>
            <a:r>
              <a:rPr lang="en-US" dirty="0" err="1"/>
              <a:t>Sohail</a:t>
            </a:r>
            <a:r>
              <a:rPr lang="en-US" dirty="0"/>
              <a:t>, the following events took place- </a:t>
            </a:r>
          </a:p>
          <a:p>
            <a:endParaRPr lang="en-US" dirty="0"/>
          </a:p>
          <a:p>
            <a:pPr marL="288036" indent="-288036">
              <a:buFont typeface="+mj-lt"/>
              <a:buAutoNum type="arabicPeriod"/>
            </a:pPr>
            <a:r>
              <a:rPr lang="en-US" dirty="0"/>
              <a:t>Mr. </a:t>
            </a:r>
            <a:r>
              <a:rPr lang="en-US" dirty="0" err="1"/>
              <a:t>Sohail</a:t>
            </a:r>
            <a:r>
              <a:rPr lang="en-US" dirty="0"/>
              <a:t> started business with tk.50,000. </a:t>
            </a:r>
          </a:p>
          <a:p>
            <a:pPr marL="288036" indent="-288036">
              <a:buAutoNum type="arabicPeriod"/>
            </a:pPr>
            <a:r>
              <a:rPr lang="en-US" dirty="0"/>
              <a:t>He purchased goods with cash tk.15,000. </a:t>
            </a:r>
          </a:p>
          <a:p>
            <a:pPr marL="288036" indent="-288036">
              <a:buAutoNum type="arabicPeriod"/>
            </a:pPr>
            <a:r>
              <a:rPr lang="en-US" dirty="0"/>
              <a:t>He has paid one of his creditors tk.10,000. </a:t>
            </a:r>
          </a:p>
          <a:p>
            <a:pPr marL="288036" indent="-288036">
              <a:buAutoNum type="arabicPeriod"/>
            </a:pPr>
            <a:r>
              <a:rPr lang="en-US" dirty="0"/>
              <a:t>He has placed an order for purchasing goods worth tk.8,000. </a:t>
            </a:r>
          </a:p>
          <a:p>
            <a:pPr marL="288036" indent="-288036">
              <a:buAutoNum type="arabicPeriod"/>
            </a:pPr>
            <a:r>
              <a:rPr lang="en-US" dirty="0"/>
              <a:t>Made an expense for advertisement worth tk.2,000. </a:t>
            </a:r>
          </a:p>
          <a:p>
            <a:pPr marL="288036" indent="-288036">
              <a:buAutoNum type="arabicPeriod"/>
            </a:pPr>
            <a:r>
              <a:rPr lang="en-US" dirty="0"/>
              <a:t>Mr. </a:t>
            </a:r>
            <a:r>
              <a:rPr lang="en-US" dirty="0" err="1"/>
              <a:t>Mamun</a:t>
            </a:r>
            <a:r>
              <a:rPr lang="en-US" dirty="0"/>
              <a:t> has appointed as manager in business for a monthly salary tk.7,000. </a:t>
            </a:r>
          </a:p>
          <a:p>
            <a:pPr marL="288036" indent="-288036">
              <a:buAutoNum type="arabicPeriod"/>
            </a:pPr>
            <a:r>
              <a:rPr lang="en-US" dirty="0"/>
              <a:t>Withdrawn from business for his personal use tk.3,000. </a:t>
            </a:r>
          </a:p>
          <a:p>
            <a:pPr marL="288036" indent="-288036">
              <a:buAutoNum type="arabicPeriod"/>
            </a:pPr>
            <a:r>
              <a:rPr lang="en-US" dirty="0"/>
              <a:t>Tk.500 has stolen from his personal fund. </a:t>
            </a:r>
          </a:p>
          <a:p>
            <a:pPr marL="288036" indent="-288036">
              <a:buAutoNum type="arabicPeriod"/>
            </a:pPr>
            <a:r>
              <a:rPr lang="en-US" dirty="0"/>
              <a:t>Agreed to purchase goods from </a:t>
            </a:r>
            <a:r>
              <a:rPr lang="en-US" dirty="0" err="1"/>
              <a:t>Hashem</a:t>
            </a:r>
            <a:r>
              <a:rPr lang="en-US" dirty="0"/>
              <a:t> Brother’s worth tk.10,000 per month. </a:t>
            </a:r>
          </a:p>
          <a:p>
            <a:pPr marL="288036" indent="-288036">
              <a:buAutoNum type="arabicPeriod"/>
            </a:pPr>
            <a:r>
              <a:rPr lang="en-US" dirty="0"/>
              <a:t>Sold goods to </a:t>
            </a:r>
            <a:r>
              <a:rPr lang="en-US" dirty="0" err="1"/>
              <a:t>Hanif</a:t>
            </a:r>
            <a:r>
              <a:rPr lang="en-US" dirty="0"/>
              <a:t> on account tk.10,000. </a:t>
            </a:r>
          </a:p>
          <a:p>
            <a:pPr marL="288036" indent="-288036">
              <a:buAutoNum type="arabicPeriod"/>
            </a:pPr>
            <a:endParaRPr lang="en-US" dirty="0"/>
          </a:p>
          <a:p>
            <a:r>
              <a:rPr lang="en-US" dirty="0"/>
              <a:t>Whether these events are transaction or not explained with reason- </a:t>
            </a:r>
          </a:p>
        </p:txBody>
      </p:sp>
    </p:spTree>
    <p:extLst>
      <p:ext uri="{BB962C8B-B14F-4D97-AF65-F5344CB8AC3E}">
        <p14:creationId xmlns:p14="http://schemas.microsoft.com/office/powerpoint/2010/main" val="3009247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101406" y="82389"/>
            <a:ext cx="7642015" cy="553998"/>
          </a:xfrm>
        </p:spPr>
        <p:txBody>
          <a:bodyPr/>
          <a:lstStyle/>
          <a:p>
            <a:r>
              <a:rPr lang="en-US" sz="3000" dirty="0"/>
              <a:t>Identifying transaction:</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078466162"/>
              </p:ext>
            </p:extLst>
          </p:nvPr>
        </p:nvGraphicFramePr>
        <p:xfrm>
          <a:off x="495300" y="736600"/>
          <a:ext cx="7962900" cy="7176347"/>
        </p:xfrm>
        <a:graphic>
          <a:graphicData uri="http://schemas.openxmlformats.org/drawingml/2006/table">
            <a:tbl>
              <a:tblPr firstRow="1" bandRow="1">
                <a:tableStyleId>{5C22544A-7EE6-4342-B048-85BDC9FD1C3A}</a:tableStyleId>
              </a:tblPr>
              <a:tblGrid>
                <a:gridCol w="647700"/>
                <a:gridCol w="1524000"/>
                <a:gridCol w="5791200"/>
              </a:tblGrid>
              <a:tr h="668867">
                <a:tc>
                  <a:txBody>
                    <a:bodyPr/>
                    <a:lstStyle/>
                    <a:p>
                      <a:r>
                        <a:rPr lang="en-US" sz="1900" dirty="0" smtClean="0"/>
                        <a:t>SI.</a:t>
                      </a:r>
                      <a:r>
                        <a:rPr lang="en-US" sz="1900" baseline="0" dirty="0" smtClean="0"/>
                        <a:t> No</a:t>
                      </a:r>
                      <a:endParaRPr lang="en-US" sz="1900" dirty="0"/>
                    </a:p>
                  </a:txBody>
                  <a:tcPr marL="45720" marR="45720" marT="30480" marB="30480"/>
                </a:tc>
                <a:tc>
                  <a:txBody>
                    <a:bodyPr/>
                    <a:lstStyle/>
                    <a:p>
                      <a:r>
                        <a:rPr lang="en-US" sz="1900" dirty="0" smtClean="0"/>
                        <a:t>Whether transaction or not</a:t>
                      </a:r>
                      <a:endParaRPr lang="en-US" sz="1900" dirty="0"/>
                    </a:p>
                  </a:txBody>
                  <a:tcPr marL="45720" marR="45720" marT="30480" marB="30480"/>
                </a:tc>
                <a:tc>
                  <a:txBody>
                    <a:bodyPr/>
                    <a:lstStyle/>
                    <a:p>
                      <a:r>
                        <a:rPr lang="en-US" sz="1900" dirty="0" smtClean="0"/>
                        <a:t>Explanation with reason</a:t>
                      </a:r>
                      <a:endParaRPr lang="en-US" sz="1900" dirty="0"/>
                    </a:p>
                  </a:txBody>
                  <a:tcPr marL="45720" marR="45720" marT="30480" marB="30480"/>
                </a:tc>
              </a:tr>
              <a:tr h="914400">
                <a:tc>
                  <a:txBody>
                    <a:bodyPr/>
                    <a:lstStyle/>
                    <a:p>
                      <a:r>
                        <a:rPr lang="en-US" sz="1900" dirty="0" smtClean="0"/>
                        <a:t>1.</a:t>
                      </a:r>
                      <a:endParaRPr lang="en-US" sz="1900" dirty="0"/>
                    </a:p>
                  </a:txBody>
                  <a:tcPr marL="45720" marR="45720" marT="30480" marB="30480"/>
                </a:tc>
                <a:tc>
                  <a:txBody>
                    <a:bodyPr/>
                    <a:lstStyle/>
                    <a:p>
                      <a:r>
                        <a:rPr lang="en-US" sz="1900" dirty="0" smtClean="0"/>
                        <a:t>Transaction</a:t>
                      </a:r>
                      <a:endParaRPr lang="en-US" sz="1900" dirty="0"/>
                    </a:p>
                  </a:txBody>
                  <a:tcPr marL="45720" marR="45720" marT="30480" marB="30480"/>
                </a:tc>
                <a:tc>
                  <a:txBody>
                    <a:bodyPr/>
                    <a:lstStyle/>
                    <a:p>
                      <a:r>
                        <a:rPr lang="en-US" sz="1900" dirty="0" smtClean="0"/>
                        <a:t>Since cash brought in as capital it has brought a financial change and includes two parties involved in it- one the capital of the owner and the other is the cash.</a:t>
                      </a:r>
                      <a:endParaRPr lang="en-US" sz="1900" dirty="0"/>
                    </a:p>
                  </a:txBody>
                  <a:tcPr marL="45720" marR="45720" marT="30480" marB="30480"/>
                </a:tc>
              </a:tr>
              <a:tr h="668867">
                <a:tc>
                  <a:txBody>
                    <a:bodyPr/>
                    <a:lstStyle/>
                    <a:p>
                      <a:r>
                        <a:rPr lang="en-US" sz="1900" dirty="0" smtClean="0"/>
                        <a:t>2.</a:t>
                      </a:r>
                      <a:endParaRPr lang="en-US" sz="1900" dirty="0"/>
                    </a:p>
                  </a:txBody>
                  <a:tcPr marL="45720" marR="45720" marT="30480" marB="30480"/>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900" dirty="0" smtClean="0"/>
                        <a:t>Transaction</a:t>
                      </a:r>
                    </a:p>
                    <a:p>
                      <a:endParaRPr lang="en-US" sz="1900" dirty="0"/>
                    </a:p>
                  </a:txBody>
                  <a:tcPr marL="45720" marR="45720" marT="30480" marB="30480"/>
                </a:tc>
                <a:tc>
                  <a:txBody>
                    <a:bodyPr/>
                    <a:lstStyle/>
                    <a:p>
                      <a:r>
                        <a:rPr lang="en-US" sz="1900" dirty="0" smtClean="0"/>
                        <a:t>Value of product is measurable in terms of money. Purchase of goods is an expense to the business, while the payment has decreased the cash amount. </a:t>
                      </a:r>
                      <a:endParaRPr lang="en-US" sz="1900" dirty="0"/>
                    </a:p>
                  </a:txBody>
                  <a:tcPr marL="45720" marR="45720" marT="30480" marB="30480"/>
                </a:tc>
              </a:tr>
              <a:tr h="668867">
                <a:tc>
                  <a:txBody>
                    <a:bodyPr/>
                    <a:lstStyle/>
                    <a:p>
                      <a:r>
                        <a:rPr lang="en-US" sz="1900" dirty="0" smtClean="0"/>
                        <a:t>3.</a:t>
                      </a:r>
                      <a:endParaRPr lang="en-US" sz="1900" dirty="0"/>
                    </a:p>
                  </a:txBody>
                  <a:tcPr marL="45720" marR="45720" marT="30480" marB="30480"/>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900" dirty="0" smtClean="0"/>
                        <a:t>Transaction</a:t>
                      </a:r>
                    </a:p>
                    <a:p>
                      <a:endParaRPr lang="en-US" sz="1900" dirty="0"/>
                    </a:p>
                  </a:txBody>
                  <a:tcPr marL="45720" marR="45720" marT="30480" marB="30480"/>
                </a:tc>
                <a:tc>
                  <a:txBody>
                    <a:bodyPr/>
                    <a:lstStyle/>
                    <a:p>
                      <a:r>
                        <a:rPr lang="en-US" sz="1900" dirty="0" smtClean="0"/>
                        <a:t>Payment to the creditor has decreased both the liability as well as the cash of the business, so financial condition has been affected.</a:t>
                      </a:r>
                      <a:endParaRPr lang="en-US" sz="1900" dirty="0"/>
                    </a:p>
                  </a:txBody>
                  <a:tcPr marL="45720" marR="45720" marT="30480" marB="30480"/>
                </a:tc>
              </a:tr>
              <a:tr h="914400">
                <a:tc>
                  <a:txBody>
                    <a:bodyPr/>
                    <a:lstStyle/>
                    <a:p>
                      <a:r>
                        <a:rPr lang="en-US" sz="1900" dirty="0" smtClean="0"/>
                        <a:t>4</a:t>
                      </a:r>
                      <a:endParaRPr lang="en-US" sz="1900" dirty="0"/>
                    </a:p>
                  </a:txBody>
                  <a:tcPr marL="45720" marR="45720" marT="30480" marB="30480"/>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900" dirty="0" smtClean="0"/>
                        <a:t>Not a Transaction</a:t>
                      </a:r>
                    </a:p>
                    <a:p>
                      <a:endParaRPr lang="en-US" sz="1900" dirty="0"/>
                    </a:p>
                  </a:txBody>
                  <a:tcPr marL="45720" marR="45720" marT="30480" marB="30480"/>
                </a:tc>
                <a:tc>
                  <a:txBody>
                    <a:bodyPr/>
                    <a:lstStyle/>
                    <a:p>
                      <a:r>
                        <a:rPr lang="en-US" sz="1900" dirty="0" smtClean="0"/>
                        <a:t>Placing order for the purchase of goods does not mean actual purchase. The buying and selling of the goods have not been taken place, so it is not a transaction. </a:t>
                      </a:r>
                      <a:endParaRPr lang="en-US" sz="1900" dirty="0"/>
                    </a:p>
                  </a:txBody>
                  <a:tcPr marL="45720" marR="45720" marT="30480" marB="30480"/>
                </a:tc>
              </a:tr>
              <a:tr h="668867">
                <a:tc>
                  <a:txBody>
                    <a:bodyPr/>
                    <a:lstStyle/>
                    <a:p>
                      <a:r>
                        <a:rPr lang="en-US" sz="1900" dirty="0" smtClean="0"/>
                        <a:t>5</a:t>
                      </a:r>
                      <a:endParaRPr lang="en-US" sz="1900" dirty="0"/>
                    </a:p>
                  </a:txBody>
                  <a:tcPr marL="45720" marR="45720" marT="30480" marB="30480"/>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900" dirty="0" smtClean="0"/>
                        <a:t>Transaction</a:t>
                      </a:r>
                    </a:p>
                    <a:p>
                      <a:endParaRPr lang="en-US" sz="1900" dirty="0"/>
                    </a:p>
                  </a:txBody>
                  <a:tcPr marL="45720" marR="45720" marT="30480" marB="30480"/>
                </a:tc>
                <a:tc>
                  <a:txBody>
                    <a:bodyPr/>
                    <a:lstStyle/>
                    <a:p>
                      <a:r>
                        <a:rPr lang="en-US" sz="1900" dirty="0" smtClean="0"/>
                        <a:t>The business has taken a benefit by placing advertisement and the value paid for it has brought a financial change. </a:t>
                      </a:r>
                      <a:endParaRPr lang="en-US" sz="1900" dirty="0"/>
                    </a:p>
                  </a:txBody>
                  <a:tcPr marL="45720" marR="45720" marT="30480" marB="30480"/>
                </a:tc>
              </a:tr>
              <a:tr h="668867">
                <a:tc>
                  <a:txBody>
                    <a:bodyPr/>
                    <a:lstStyle/>
                    <a:p>
                      <a:r>
                        <a:rPr lang="en-US" sz="1900" dirty="0" smtClean="0"/>
                        <a:t>6</a:t>
                      </a:r>
                      <a:endParaRPr lang="en-US" sz="1900" dirty="0"/>
                    </a:p>
                  </a:txBody>
                  <a:tcPr marL="45720" marR="45720" marT="30480" marB="30480"/>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900" dirty="0" smtClean="0"/>
                        <a:t>Not a Transaction</a:t>
                      </a:r>
                    </a:p>
                    <a:p>
                      <a:endParaRPr lang="en-US" sz="1900" dirty="0"/>
                    </a:p>
                  </a:txBody>
                  <a:tcPr marL="45720" marR="45720" marT="30480" marB="30480"/>
                </a:tc>
                <a:tc>
                  <a:txBody>
                    <a:bodyPr/>
                    <a:lstStyle/>
                    <a:p>
                      <a:r>
                        <a:rPr lang="en-US" sz="1900" dirty="0" smtClean="0"/>
                        <a:t>Giving appointment letter to any person has not brought any financial change to the business ad it does not include any cash flow either. </a:t>
                      </a:r>
                      <a:endParaRPr lang="en-US" sz="1900" dirty="0"/>
                    </a:p>
                  </a:txBody>
                  <a:tcPr marL="45720" marR="45720" marT="30480" marB="30480"/>
                </a:tc>
              </a:tr>
              <a:tr h="668867">
                <a:tc>
                  <a:txBody>
                    <a:bodyPr/>
                    <a:lstStyle/>
                    <a:p>
                      <a:r>
                        <a:rPr lang="en-US" sz="1900" dirty="0" smtClean="0"/>
                        <a:t>7</a:t>
                      </a:r>
                      <a:endParaRPr lang="en-US" sz="1900" dirty="0"/>
                    </a:p>
                  </a:txBody>
                  <a:tcPr marL="45720" marR="45720" marT="30480" marB="30480"/>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900" dirty="0" smtClean="0"/>
                        <a:t>Transaction</a:t>
                      </a:r>
                    </a:p>
                    <a:p>
                      <a:endParaRPr lang="en-US" sz="1900" dirty="0"/>
                    </a:p>
                  </a:txBody>
                  <a:tcPr marL="45720" marR="45720" marT="30480" marB="30480"/>
                </a:tc>
                <a:tc>
                  <a:txBody>
                    <a:bodyPr/>
                    <a:lstStyle/>
                    <a:p>
                      <a:r>
                        <a:rPr lang="en-US" sz="1900" dirty="0" smtClean="0"/>
                        <a:t>The owner has taken a benefit by withdrawing amount from the business, so the cash of the business has been affected. </a:t>
                      </a:r>
                      <a:endParaRPr lang="en-US" sz="1900" dirty="0"/>
                    </a:p>
                  </a:txBody>
                  <a:tcPr marL="45720" marR="45720" marT="30480" marB="30480"/>
                </a:tc>
              </a:tr>
            </a:tbl>
          </a:graphicData>
        </a:graphic>
      </p:graphicFrame>
    </p:spTree>
    <p:extLst>
      <p:ext uri="{BB962C8B-B14F-4D97-AF65-F5344CB8AC3E}">
        <p14:creationId xmlns:p14="http://schemas.microsoft.com/office/powerpoint/2010/main" val="4102983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101406" y="82389"/>
            <a:ext cx="7642015" cy="553998"/>
          </a:xfrm>
        </p:spPr>
        <p:txBody>
          <a:bodyPr/>
          <a:lstStyle/>
          <a:p>
            <a:r>
              <a:rPr lang="en-US" sz="3000" dirty="0"/>
              <a:t>Identifying transaction:</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178510582"/>
              </p:ext>
            </p:extLst>
          </p:nvPr>
        </p:nvGraphicFramePr>
        <p:xfrm>
          <a:off x="495300" y="736600"/>
          <a:ext cx="7962900" cy="3718560"/>
        </p:xfrm>
        <a:graphic>
          <a:graphicData uri="http://schemas.openxmlformats.org/drawingml/2006/table">
            <a:tbl>
              <a:tblPr firstRow="1" bandRow="1">
                <a:tableStyleId>{5C22544A-7EE6-4342-B048-85BDC9FD1C3A}</a:tableStyleId>
              </a:tblPr>
              <a:tblGrid>
                <a:gridCol w="647700"/>
                <a:gridCol w="1524000"/>
                <a:gridCol w="5791200"/>
              </a:tblGrid>
              <a:tr h="668867">
                <a:tc>
                  <a:txBody>
                    <a:bodyPr/>
                    <a:lstStyle/>
                    <a:p>
                      <a:r>
                        <a:rPr lang="en-US" sz="1900" dirty="0" smtClean="0"/>
                        <a:t>SI.</a:t>
                      </a:r>
                      <a:r>
                        <a:rPr lang="en-US" sz="1900" baseline="0" dirty="0" smtClean="0"/>
                        <a:t> No</a:t>
                      </a:r>
                      <a:endParaRPr lang="en-US" sz="1900" dirty="0"/>
                    </a:p>
                  </a:txBody>
                  <a:tcPr marL="45720" marR="45720" marT="30480" marB="30480"/>
                </a:tc>
                <a:tc>
                  <a:txBody>
                    <a:bodyPr/>
                    <a:lstStyle/>
                    <a:p>
                      <a:r>
                        <a:rPr lang="en-US" sz="1900" dirty="0" smtClean="0"/>
                        <a:t>Whether transaction or not</a:t>
                      </a:r>
                      <a:endParaRPr lang="en-US" sz="1900" dirty="0"/>
                    </a:p>
                  </a:txBody>
                  <a:tcPr marL="45720" marR="45720" marT="30480" marB="30480"/>
                </a:tc>
                <a:tc>
                  <a:txBody>
                    <a:bodyPr/>
                    <a:lstStyle/>
                    <a:p>
                      <a:r>
                        <a:rPr lang="en-US" sz="1900" dirty="0" smtClean="0"/>
                        <a:t>Explanation with reason</a:t>
                      </a:r>
                      <a:endParaRPr lang="en-US" sz="1900" dirty="0"/>
                    </a:p>
                  </a:txBody>
                  <a:tcPr marL="45720" marR="45720" marT="30480" marB="30480"/>
                </a:tc>
              </a:tr>
              <a:tr h="668867">
                <a:tc>
                  <a:txBody>
                    <a:bodyPr/>
                    <a:lstStyle/>
                    <a:p>
                      <a:r>
                        <a:rPr lang="en-US" sz="1900" dirty="0" smtClean="0"/>
                        <a:t>8.</a:t>
                      </a:r>
                      <a:endParaRPr lang="en-US" sz="1900" dirty="0"/>
                    </a:p>
                  </a:txBody>
                  <a:tcPr marL="45720" marR="45720" marT="30480" marB="30480"/>
                </a:tc>
                <a:tc>
                  <a:txBody>
                    <a:bodyPr/>
                    <a:lstStyle/>
                    <a:p>
                      <a:r>
                        <a:rPr lang="en-US" sz="1900" dirty="0" smtClean="0"/>
                        <a:t>Not a Transaction</a:t>
                      </a:r>
                      <a:endParaRPr lang="en-US" sz="1900" dirty="0"/>
                    </a:p>
                  </a:txBody>
                  <a:tcPr marL="45720" marR="45720" marT="30480" marB="30480"/>
                </a:tc>
                <a:tc>
                  <a:txBody>
                    <a:bodyPr/>
                    <a:lstStyle/>
                    <a:p>
                      <a:r>
                        <a:rPr lang="en-US" sz="1900" dirty="0" smtClean="0"/>
                        <a:t>Loss of personal savings is not related to the business; the loss belongs to the owner alone. So the cash of the business is not affected. </a:t>
                      </a:r>
                      <a:endParaRPr lang="en-US" sz="1900" dirty="0"/>
                    </a:p>
                  </a:txBody>
                  <a:tcPr marL="45720" marR="45720" marT="30480" marB="30480"/>
                </a:tc>
              </a:tr>
              <a:tr h="914400">
                <a:tc>
                  <a:txBody>
                    <a:bodyPr/>
                    <a:lstStyle/>
                    <a:p>
                      <a:r>
                        <a:rPr lang="en-US" sz="1900" dirty="0" smtClean="0"/>
                        <a:t>9.</a:t>
                      </a:r>
                      <a:endParaRPr lang="en-US" sz="1900" dirty="0"/>
                    </a:p>
                  </a:txBody>
                  <a:tcPr marL="45720" marR="45720" marT="30480" marB="30480"/>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900" dirty="0" smtClean="0"/>
                        <a:t>Not a Transaction</a:t>
                      </a:r>
                    </a:p>
                    <a:p>
                      <a:endParaRPr lang="en-US" sz="1900" dirty="0"/>
                    </a:p>
                  </a:txBody>
                  <a:tcPr marL="45720" marR="45720" marT="30480" marB="30480"/>
                </a:tc>
                <a:tc>
                  <a:txBody>
                    <a:bodyPr/>
                    <a:lstStyle/>
                    <a:p>
                      <a:r>
                        <a:rPr lang="en-US" sz="1900" dirty="0" smtClean="0"/>
                        <a:t>Has been agreed to purchase but actual purchase has not been taken place and the payment of which is neither made. So no financial changes occur in the business.</a:t>
                      </a:r>
                      <a:endParaRPr lang="en-US" sz="1900" dirty="0"/>
                    </a:p>
                  </a:txBody>
                  <a:tcPr marL="45720" marR="45720" marT="30480" marB="30480"/>
                </a:tc>
              </a:tr>
              <a:tr h="668867">
                <a:tc>
                  <a:txBody>
                    <a:bodyPr/>
                    <a:lstStyle/>
                    <a:p>
                      <a:r>
                        <a:rPr lang="en-US" sz="1900" dirty="0" smtClean="0"/>
                        <a:t>10.</a:t>
                      </a:r>
                      <a:endParaRPr lang="en-US" sz="1900" dirty="0"/>
                    </a:p>
                  </a:txBody>
                  <a:tcPr marL="45720" marR="45720" marT="30480" marB="30480"/>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900" dirty="0" smtClean="0"/>
                        <a:t>Transaction</a:t>
                      </a:r>
                    </a:p>
                    <a:p>
                      <a:endParaRPr lang="en-US" sz="1900" dirty="0"/>
                    </a:p>
                  </a:txBody>
                  <a:tcPr marL="45720" marR="45720" marT="30480" marB="30480"/>
                </a:tc>
                <a:tc>
                  <a:txBody>
                    <a:bodyPr/>
                    <a:lstStyle/>
                    <a:p>
                      <a:r>
                        <a:rPr lang="en-US" sz="1900" dirty="0" smtClean="0"/>
                        <a:t>By selling goods on credit to </a:t>
                      </a:r>
                      <a:r>
                        <a:rPr lang="en-US" sz="1900" dirty="0" err="1" smtClean="0"/>
                        <a:t>Hanif</a:t>
                      </a:r>
                      <a:r>
                        <a:rPr lang="en-US" sz="1900" dirty="0" smtClean="0"/>
                        <a:t>, the business has given him a benefit, which is an income to the business. It has brought a financial change. </a:t>
                      </a:r>
                      <a:endParaRPr lang="en-US" sz="1900" dirty="0"/>
                    </a:p>
                  </a:txBody>
                  <a:tcPr marL="45720" marR="45720" marT="30480" marB="30480"/>
                </a:tc>
              </a:tr>
            </a:tbl>
          </a:graphicData>
        </a:graphic>
      </p:graphicFrame>
      <p:sp>
        <p:nvSpPr>
          <p:cNvPr id="3" name="Rectangle 2"/>
          <p:cNvSpPr/>
          <p:nvPr/>
        </p:nvSpPr>
        <p:spPr>
          <a:xfrm>
            <a:off x="495300" y="3937001"/>
            <a:ext cx="7962900" cy="851925"/>
          </a:xfrm>
          <a:prstGeom prst="rect">
            <a:avLst/>
          </a:prstGeom>
        </p:spPr>
        <p:txBody>
          <a:bodyPr wrap="square" lIns="51206" tIns="25603" rIns="51206" bIns="25603">
            <a:spAutoFit/>
          </a:bodyPr>
          <a:lstStyle/>
          <a:p>
            <a:r>
              <a:rPr lang="en-US" sz="2000" b="1" dirty="0"/>
              <a:t>Accounting Equation: </a:t>
            </a:r>
            <a:r>
              <a:rPr lang="en-US" sz="1600" dirty="0"/>
              <a:t>In a particular time, the total asset of an organization should be equal to the sum of owner’s equity and external liabilities. The equation that represents this fundamental concept is known as accounting equation.</a:t>
            </a:r>
          </a:p>
        </p:txBody>
      </p:sp>
      <p:sp>
        <p:nvSpPr>
          <p:cNvPr id="5" name="Oval 4"/>
          <p:cNvSpPr/>
          <p:nvPr/>
        </p:nvSpPr>
        <p:spPr>
          <a:xfrm>
            <a:off x="1638300" y="5029200"/>
            <a:ext cx="1143000" cy="1371600"/>
          </a:xfrm>
          <a:prstGeom prst="ellipse">
            <a:avLst/>
          </a:prstGeom>
        </p:spPr>
        <p:style>
          <a:lnRef idx="0">
            <a:schemeClr val="accent1"/>
          </a:lnRef>
          <a:fillRef idx="3">
            <a:schemeClr val="accent1"/>
          </a:fillRef>
          <a:effectRef idx="3">
            <a:schemeClr val="accent1"/>
          </a:effectRef>
          <a:fontRef idx="minor">
            <a:schemeClr val="lt1"/>
          </a:fontRef>
        </p:style>
        <p:txBody>
          <a:bodyPr lIns="51206" tIns="25603" rIns="51206" bIns="25603" rtlCol="0" anchor="ctr"/>
          <a:lstStyle/>
          <a:p>
            <a:pPr algn="ctr"/>
            <a:r>
              <a:rPr lang="en-US" sz="4000" b="1" dirty="0">
                <a:solidFill>
                  <a:schemeClr val="tx1"/>
                </a:solidFill>
              </a:rPr>
              <a:t>A</a:t>
            </a:r>
          </a:p>
          <a:p>
            <a:pPr algn="ctr"/>
            <a:r>
              <a:rPr lang="en-US" sz="1600" b="1" dirty="0">
                <a:solidFill>
                  <a:schemeClr val="tx1"/>
                </a:solidFill>
              </a:rPr>
              <a:t>Assets</a:t>
            </a:r>
          </a:p>
          <a:p>
            <a:pPr algn="ctr"/>
            <a:endParaRPr lang="en-US" b="1" dirty="0">
              <a:solidFill>
                <a:schemeClr val="tx1"/>
              </a:solidFill>
            </a:endParaRPr>
          </a:p>
        </p:txBody>
      </p:sp>
      <p:sp>
        <p:nvSpPr>
          <p:cNvPr id="6" name="Equal 5"/>
          <p:cNvSpPr/>
          <p:nvPr/>
        </p:nvSpPr>
        <p:spPr>
          <a:xfrm>
            <a:off x="2781300" y="5447145"/>
            <a:ext cx="723900" cy="558800"/>
          </a:xfrm>
          <a:prstGeom prst="mathEqual">
            <a:avLst/>
          </a:prstGeom>
        </p:spPr>
        <p:style>
          <a:lnRef idx="0">
            <a:schemeClr val="accent1"/>
          </a:lnRef>
          <a:fillRef idx="3">
            <a:schemeClr val="accent1"/>
          </a:fillRef>
          <a:effectRef idx="3">
            <a:schemeClr val="accent1"/>
          </a:effectRef>
          <a:fontRef idx="minor">
            <a:schemeClr val="lt1"/>
          </a:fontRef>
        </p:style>
        <p:txBody>
          <a:bodyPr lIns="51206" tIns="25603" rIns="51206" bIns="25603" rtlCol="0" anchor="ctr"/>
          <a:lstStyle/>
          <a:p>
            <a:pPr algn="ctr"/>
            <a:endParaRPr lang="en-US">
              <a:solidFill>
                <a:schemeClr val="tx1"/>
              </a:solidFill>
            </a:endParaRPr>
          </a:p>
        </p:txBody>
      </p:sp>
      <p:sp>
        <p:nvSpPr>
          <p:cNvPr id="7" name="Oval 6"/>
          <p:cNvSpPr/>
          <p:nvPr/>
        </p:nvSpPr>
        <p:spPr>
          <a:xfrm>
            <a:off x="3515591" y="5029200"/>
            <a:ext cx="1181100" cy="1371600"/>
          </a:xfrm>
          <a:prstGeom prst="ellipse">
            <a:avLst/>
          </a:prstGeom>
        </p:spPr>
        <p:style>
          <a:lnRef idx="0">
            <a:schemeClr val="accent1"/>
          </a:lnRef>
          <a:fillRef idx="3">
            <a:schemeClr val="accent1"/>
          </a:fillRef>
          <a:effectRef idx="3">
            <a:schemeClr val="accent1"/>
          </a:effectRef>
          <a:fontRef idx="minor">
            <a:schemeClr val="lt1"/>
          </a:fontRef>
        </p:style>
        <p:txBody>
          <a:bodyPr lIns="51206" tIns="25603" rIns="51206" bIns="25603" rtlCol="0" anchor="ctr"/>
          <a:lstStyle/>
          <a:p>
            <a:pPr algn="ctr"/>
            <a:r>
              <a:rPr lang="en-US" sz="4000" b="1" dirty="0">
                <a:solidFill>
                  <a:schemeClr val="tx1"/>
                </a:solidFill>
              </a:rPr>
              <a:t>L</a:t>
            </a:r>
            <a:endParaRPr lang="en-US" sz="1600" b="1" dirty="0">
              <a:solidFill>
                <a:schemeClr val="tx1"/>
              </a:solidFill>
            </a:endParaRPr>
          </a:p>
          <a:p>
            <a:pPr algn="ctr"/>
            <a:r>
              <a:rPr lang="en-US" sz="1600" b="1" dirty="0">
                <a:solidFill>
                  <a:schemeClr val="tx1"/>
                </a:solidFill>
              </a:rPr>
              <a:t>Liabilities</a:t>
            </a:r>
            <a:endParaRPr lang="en-US" b="1" dirty="0">
              <a:solidFill>
                <a:schemeClr val="tx1"/>
              </a:solidFill>
            </a:endParaRPr>
          </a:p>
        </p:txBody>
      </p:sp>
      <p:sp>
        <p:nvSpPr>
          <p:cNvPr id="8" name="Plus 7"/>
          <p:cNvSpPr/>
          <p:nvPr/>
        </p:nvSpPr>
        <p:spPr>
          <a:xfrm>
            <a:off x="4714009" y="5320145"/>
            <a:ext cx="723900" cy="812800"/>
          </a:xfrm>
          <a:prstGeom prst="mathPlus">
            <a:avLst/>
          </a:prstGeom>
        </p:spPr>
        <p:style>
          <a:lnRef idx="0">
            <a:schemeClr val="accent1"/>
          </a:lnRef>
          <a:fillRef idx="3">
            <a:schemeClr val="accent1"/>
          </a:fillRef>
          <a:effectRef idx="3">
            <a:schemeClr val="accent1"/>
          </a:effectRef>
          <a:fontRef idx="minor">
            <a:schemeClr val="lt1"/>
          </a:fontRef>
        </p:style>
        <p:txBody>
          <a:bodyPr lIns="51206" tIns="25603" rIns="51206" bIns="25603" rtlCol="0" anchor="ctr"/>
          <a:lstStyle/>
          <a:p>
            <a:pPr algn="ctr"/>
            <a:endParaRPr lang="en-US">
              <a:solidFill>
                <a:schemeClr val="tx1"/>
              </a:solidFill>
            </a:endParaRPr>
          </a:p>
        </p:txBody>
      </p:sp>
      <p:sp>
        <p:nvSpPr>
          <p:cNvPr id="9" name="Oval 8"/>
          <p:cNvSpPr/>
          <p:nvPr/>
        </p:nvSpPr>
        <p:spPr>
          <a:xfrm>
            <a:off x="5437909" y="5029200"/>
            <a:ext cx="1181100" cy="1371600"/>
          </a:xfrm>
          <a:prstGeom prst="ellipse">
            <a:avLst/>
          </a:prstGeom>
        </p:spPr>
        <p:style>
          <a:lnRef idx="0">
            <a:schemeClr val="accent1"/>
          </a:lnRef>
          <a:fillRef idx="3">
            <a:schemeClr val="accent1"/>
          </a:fillRef>
          <a:effectRef idx="3">
            <a:schemeClr val="accent1"/>
          </a:effectRef>
          <a:fontRef idx="minor">
            <a:schemeClr val="lt1"/>
          </a:fontRef>
        </p:style>
        <p:txBody>
          <a:bodyPr lIns="51206" tIns="25603" rIns="51206" bIns="25603" rtlCol="0" anchor="ctr"/>
          <a:lstStyle/>
          <a:p>
            <a:pPr algn="ctr"/>
            <a:r>
              <a:rPr lang="en-US" sz="4000" b="1" dirty="0">
                <a:solidFill>
                  <a:schemeClr val="tx1"/>
                </a:solidFill>
              </a:rPr>
              <a:t>OE</a:t>
            </a:r>
            <a:endParaRPr lang="en-US" sz="1600" b="1" dirty="0">
              <a:solidFill>
                <a:schemeClr val="tx1"/>
              </a:solidFill>
            </a:endParaRPr>
          </a:p>
          <a:p>
            <a:pPr algn="ctr"/>
            <a:r>
              <a:rPr lang="en-US" sz="1600" b="1" dirty="0">
                <a:solidFill>
                  <a:schemeClr val="tx1"/>
                </a:solidFill>
              </a:rPr>
              <a:t>Owner’s Equity</a:t>
            </a:r>
          </a:p>
        </p:txBody>
      </p:sp>
    </p:spTree>
    <p:extLst>
      <p:ext uri="{BB962C8B-B14F-4D97-AF65-F5344CB8AC3E}">
        <p14:creationId xmlns:p14="http://schemas.microsoft.com/office/powerpoint/2010/main" val="1338045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464"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747529" y="533400"/>
            <a:ext cx="7642015" cy="553998"/>
          </a:xfrm>
        </p:spPr>
        <p:txBody>
          <a:bodyPr/>
          <a:lstStyle/>
          <a:p>
            <a:r>
              <a:rPr lang="en-US" sz="3000" dirty="0"/>
              <a:t>Equation Component:</a:t>
            </a:r>
            <a:endParaRPr lang="en-US" dirty="0"/>
          </a:p>
        </p:txBody>
      </p:sp>
      <p:sp>
        <p:nvSpPr>
          <p:cNvPr id="10" name="Rectangle 9"/>
          <p:cNvSpPr/>
          <p:nvPr/>
        </p:nvSpPr>
        <p:spPr>
          <a:xfrm>
            <a:off x="514350" y="1397000"/>
            <a:ext cx="8108373" cy="4657685"/>
          </a:xfrm>
          <a:prstGeom prst="rect">
            <a:avLst/>
          </a:prstGeom>
        </p:spPr>
        <p:txBody>
          <a:bodyPr wrap="square" lIns="51206" tIns="25603" rIns="51206" bIns="25603">
            <a:spAutoFit/>
          </a:bodyPr>
          <a:lstStyle/>
          <a:p>
            <a:pPr marL="256032" indent="-256032" algn="just">
              <a:buFont typeface="Arial" pitchFamily="34" charset="0"/>
              <a:buChar char="•"/>
            </a:pPr>
            <a:r>
              <a:rPr lang="en-US" b="1" dirty="0"/>
              <a:t>Asset: </a:t>
            </a:r>
            <a:r>
              <a:rPr lang="en-US" dirty="0"/>
              <a:t>Asset means the economic resources that belong to a business that is invested for making profit. For example, furniture, buildings, machineries of a business. </a:t>
            </a:r>
          </a:p>
          <a:p>
            <a:pPr marL="256032" indent="-256032" algn="just">
              <a:buFont typeface="Arial" pitchFamily="34" charset="0"/>
              <a:buChar char="•"/>
            </a:pPr>
            <a:endParaRPr lang="en-US" dirty="0"/>
          </a:p>
          <a:p>
            <a:pPr marL="256032" indent="-256032" algn="just">
              <a:buFont typeface="Arial" pitchFamily="34" charset="0"/>
              <a:buChar char="•"/>
            </a:pPr>
            <a:r>
              <a:rPr lang="en-US" b="1" dirty="0"/>
              <a:t>Liability: </a:t>
            </a:r>
            <a:r>
              <a:rPr lang="en-US" dirty="0"/>
              <a:t>Liability means the financial rigidity that has to be paid up after a certain period of time. That is it is the claim of the third party over the total assets of the business. </a:t>
            </a:r>
          </a:p>
          <a:p>
            <a:pPr marL="256032" indent="-256032" algn="just">
              <a:buFont typeface="Arial" pitchFamily="34" charset="0"/>
              <a:buChar char="•"/>
            </a:pPr>
            <a:endParaRPr lang="en-US" dirty="0"/>
          </a:p>
          <a:p>
            <a:pPr marL="256032" indent="-256032" algn="just">
              <a:buFont typeface="Arial" pitchFamily="34" charset="0"/>
              <a:buChar char="•"/>
            </a:pPr>
            <a:r>
              <a:rPr lang="en-US" b="1" dirty="0"/>
              <a:t>Owner’s Equity: </a:t>
            </a:r>
            <a:r>
              <a:rPr lang="en-US" dirty="0"/>
              <a:t>If the claim of the third party is deducted from the total assets of the business the rest will be known as owner’s equity. That is the claim of the owner over the entire assets of the business is known as owner’s equity. Four elements affect owner’s equity. These are:</a:t>
            </a:r>
          </a:p>
          <a:p>
            <a:pPr algn="just"/>
            <a:r>
              <a:rPr lang="en-US" dirty="0"/>
              <a:t>		1. Investment of owner</a:t>
            </a:r>
          </a:p>
          <a:p>
            <a:pPr algn="just"/>
            <a:r>
              <a:rPr lang="en-US" dirty="0"/>
              <a:t>		2. Income </a:t>
            </a:r>
          </a:p>
          <a:p>
            <a:pPr algn="just"/>
            <a:r>
              <a:rPr lang="en-US" dirty="0"/>
              <a:t>		3. Drawings </a:t>
            </a:r>
          </a:p>
          <a:p>
            <a:pPr algn="just"/>
            <a:r>
              <a:rPr lang="en-US" dirty="0"/>
              <a:t>		4. Expense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4495800"/>
            <a:ext cx="4991100" cy="170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7774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2346"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101406" y="82389"/>
            <a:ext cx="7642015" cy="553998"/>
          </a:xfrm>
        </p:spPr>
        <p:txBody>
          <a:bodyPr/>
          <a:lstStyle/>
          <a:p>
            <a:r>
              <a:rPr lang="en-US" sz="3000" dirty="0"/>
              <a:t>Extending Accounting Equation :</a:t>
            </a:r>
            <a:endParaRPr lang="en-US" dirty="0"/>
          </a:p>
        </p:txBody>
      </p:sp>
      <p:sp>
        <p:nvSpPr>
          <p:cNvPr id="3" name="Rectangle 2"/>
          <p:cNvSpPr/>
          <p:nvPr/>
        </p:nvSpPr>
        <p:spPr>
          <a:xfrm>
            <a:off x="647700" y="939800"/>
            <a:ext cx="7162800" cy="5899461"/>
          </a:xfrm>
          <a:prstGeom prst="rect">
            <a:avLst/>
          </a:prstGeom>
        </p:spPr>
        <p:txBody>
          <a:bodyPr wrap="square" lIns="51206" tIns="25603" rIns="51206" bIns="25603">
            <a:spAutoFit/>
          </a:bodyPr>
          <a:lstStyle/>
          <a:p>
            <a:r>
              <a:rPr lang="en-US" sz="2000" dirty="0"/>
              <a:t>Extending Accounting Equation, we get -  </a:t>
            </a:r>
          </a:p>
          <a:p>
            <a:r>
              <a:rPr lang="en-US" sz="2000" dirty="0"/>
              <a:t>	Assets = Liabilities + Capital + Revenue - Expenses - Drawings  </a:t>
            </a:r>
          </a:p>
          <a:p>
            <a:r>
              <a:rPr lang="en-US" sz="2000" dirty="0"/>
              <a:t>Means, </a:t>
            </a:r>
          </a:p>
          <a:p>
            <a:r>
              <a:rPr lang="en-US" sz="2000" dirty="0"/>
              <a:t>		</a:t>
            </a:r>
            <a:r>
              <a:rPr lang="en-US" sz="2000" b="1" dirty="0"/>
              <a:t>A = L + (C + R – E – D) </a:t>
            </a:r>
          </a:p>
          <a:p>
            <a:r>
              <a:rPr lang="en-US" sz="2000" dirty="0"/>
              <a:t>								Where,  </a:t>
            </a:r>
          </a:p>
          <a:p>
            <a:r>
              <a:rPr lang="en-US" sz="2000" dirty="0"/>
              <a:t>									A=Assets  </a:t>
            </a:r>
          </a:p>
          <a:p>
            <a:r>
              <a:rPr lang="en-US" sz="2000" dirty="0"/>
              <a:t>									L=Liabilities  </a:t>
            </a:r>
          </a:p>
          <a:p>
            <a:r>
              <a:rPr lang="en-US" sz="2000" dirty="0"/>
              <a:t>									C=Capital  </a:t>
            </a:r>
          </a:p>
          <a:p>
            <a:r>
              <a:rPr lang="en-US" sz="2000" dirty="0"/>
              <a:t>									R=Revenue  </a:t>
            </a:r>
          </a:p>
          <a:p>
            <a:r>
              <a:rPr lang="en-US" sz="2000" dirty="0"/>
              <a:t>									E=Expenses  </a:t>
            </a:r>
          </a:p>
          <a:p>
            <a:r>
              <a:rPr lang="en-US" sz="2000" dirty="0"/>
              <a:t>									D=Drawings </a:t>
            </a:r>
          </a:p>
        </p:txBody>
      </p:sp>
    </p:spTree>
    <p:extLst>
      <p:ext uri="{BB962C8B-B14F-4D97-AF65-F5344CB8AC3E}">
        <p14:creationId xmlns:p14="http://schemas.microsoft.com/office/powerpoint/2010/main" val="415821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13855"/>
            <a:ext cx="9144000" cy="6897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101406" y="82389"/>
            <a:ext cx="7642015" cy="553998"/>
          </a:xfrm>
        </p:spPr>
        <p:txBody>
          <a:bodyPr/>
          <a:lstStyle/>
          <a:p>
            <a:r>
              <a:rPr lang="en-US" sz="3000" dirty="0"/>
              <a:t>Extending Accounting Equation :</a:t>
            </a:r>
            <a:endParaRPr lang="en-US" dirty="0"/>
          </a:p>
        </p:txBody>
      </p:sp>
      <p:sp>
        <p:nvSpPr>
          <p:cNvPr id="4" name="Rectangle 3"/>
          <p:cNvSpPr/>
          <p:nvPr/>
        </p:nvSpPr>
        <p:spPr>
          <a:xfrm>
            <a:off x="495300" y="889001"/>
            <a:ext cx="8115300" cy="3929691"/>
          </a:xfrm>
          <a:prstGeom prst="rect">
            <a:avLst/>
          </a:prstGeom>
        </p:spPr>
        <p:txBody>
          <a:bodyPr wrap="square" lIns="51206" tIns="25603" rIns="51206" bIns="25603">
            <a:spAutoFit/>
          </a:bodyPr>
          <a:lstStyle/>
          <a:p>
            <a:r>
              <a:rPr lang="en-US" dirty="0"/>
              <a:t>The impact of transactions over accounting equation is shown in the chart- </a:t>
            </a:r>
          </a:p>
          <a:p>
            <a:endParaRPr lang="en-US" dirty="0"/>
          </a:p>
          <a:p>
            <a:r>
              <a:rPr lang="en-US" dirty="0"/>
              <a:t>Mr. </a:t>
            </a:r>
            <a:r>
              <a:rPr lang="en-US" dirty="0" err="1"/>
              <a:t>Dipok</a:t>
            </a:r>
            <a:r>
              <a:rPr lang="en-US" dirty="0"/>
              <a:t> started his legal practitioner business on January 1, 2026. The transactions of the first month were as follows: </a:t>
            </a:r>
          </a:p>
          <a:p>
            <a:r>
              <a:rPr lang="en-US" dirty="0"/>
              <a:t>Jan 1 	Invested tk.50,000 in his business. </a:t>
            </a:r>
          </a:p>
          <a:p>
            <a:r>
              <a:rPr lang="en-US" dirty="0"/>
              <a:t>Jan 2 	Paid the rent for the month of January tk.3000.</a:t>
            </a:r>
          </a:p>
          <a:p>
            <a:pPr defTabSz="512064">
              <a:defRPr/>
            </a:pPr>
            <a:r>
              <a:rPr lang="en-US" dirty="0"/>
              <a:t>Jan 7 	</a:t>
            </a:r>
            <a:r>
              <a:rPr lang="en-US" kern="0" dirty="0">
                <a:solidFill>
                  <a:sysClr val="windowText" lastClr="000000"/>
                </a:solidFill>
                <a:latin typeface="Calibri"/>
              </a:rPr>
              <a:t>Machine purchase on credit worth tk.15,000.</a:t>
            </a:r>
            <a:endParaRPr lang="en-US" dirty="0"/>
          </a:p>
          <a:p>
            <a:r>
              <a:rPr lang="en-US" dirty="0"/>
              <a:t>Jan 10 	</a:t>
            </a:r>
            <a:r>
              <a:rPr lang="en-US" kern="0" dirty="0">
                <a:solidFill>
                  <a:sysClr val="windowText" lastClr="000000"/>
                </a:solidFill>
                <a:latin typeface="Calibri"/>
              </a:rPr>
              <a:t>Legal services given to the clients for cash tk.6,000.</a:t>
            </a:r>
            <a:endParaRPr lang="en-US" dirty="0"/>
          </a:p>
          <a:p>
            <a:pPr defTabSz="512064">
              <a:defRPr/>
            </a:pPr>
            <a:r>
              <a:rPr lang="en-US" dirty="0"/>
              <a:t>Jan 15 	</a:t>
            </a:r>
            <a:r>
              <a:rPr lang="en-US" kern="0" dirty="0">
                <a:solidFill>
                  <a:sysClr val="windowText" lastClr="000000"/>
                </a:solidFill>
                <a:latin typeface="Calibri"/>
              </a:rPr>
              <a:t>Paid salary to the office staff tk.2,000.</a:t>
            </a:r>
            <a:endParaRPr lang="en-US" dirty="0"/>
          </a:p>
          <a:p>
            <a:r>
              <a:rPr lang="en-US" dirty="0"/>
              <a:t>Jan 20 	</a:t>
            </a:r>
            <a:r>
              <a:rPr lang="en-US" kern="0" dirty="0">
                <a:solidFill>
                  <a:sysClr val="windowText" lastClr="000000"/>
                </a:solidFill>
                <a:latin typeface="Calibri"/>
              </a:rPr>
              <a:t>Loan taken from the bank tk.20,000.</a:t>
            </a:r>
            <a:endParaRPr lang="en-US" dirty="0"/>
          </a:p>
          <a:p>
            <a:r>
              <a:rPr lang="en-US" dirty="0"/>
              <a:t>Jan 24 	Legal services provided to the clients on credit tk.7,000. </a:t>
            </a:r>
          </a:p>
          <a:p>
            <a:r>
              <a:rPr lang="en-US" dirty="0"/>
              <a:t>Jan 29 	Dues for machine purchase paid tk.10,000. </a:t>
            </a:r>
          </a:p>
          <a:p>
            <a:endParaRPr lang="en-US" dirty="0"/>
          </a:p>
          <a:p>
            <a:r>
              <a:rPr lang="en-US" dirty="0"/>
              <a:t>Shown the impact over accounting equation in tabular format.</a:t>
            </a:r>
          </a:p>
        </p:txBody>
      </p:sp>
    </p:spTree>
    <p:extLst>
      <p:ext uri="{BB962C8B-B14F-4D97-AF65-F5344CB8AC3E}">
        <p14:creationId xmlns:p14="http://schemas.microsoft.com/office/powerpoint/2010/main" val="68464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101406" y="82389"/>
            <a:ext cx="7642015" cy="553998"/>
          </a:xfrm>
        </p:spPr>
        <p:txBody>
          <a:bodyPr/>
          <a:lstStyle/>
          <a:p>
            <a:r>
              <a:rPr lang="en-US" sz="3000" dirty="0"/>
              <a:t>Identifying transaction:</a:t>
            </a:r>
            <a:endParaRPr lang="en-US" dirty="0"/>
          </a:p>
        </p:txBody>
      </p:sp>
      <p:sp>
        <p:nvSpPr>
          <p:cNvPr id="3" name="Rectangle 2"/>
          <p:cNvSpPr/>
          <p:nvPr/>
        </p:nvSpPr>
        <p:spPr>
          <a:xfrm>
            <a:off x="114300" y="573739"/>
            <a:ext cx="8877300" cy="297927"/>
          </a:xfrm>
          <a:prstGeom prst="rect">
            <a:avLst/>
          </a:prstGeom>
        </p:spPr>
        <p:txBody>
          <a:bodyPr wrap="square" lIns="51206" tIns="25603" rIns="51206" bIns="25603">
            <a:spAutoFit/>
          </a:bodyPr>
          <a:lstStyle/>
          <a:p>
            <a:r>
              <a:rPr lang="en-US" sz="1600" dirty="0"/>
              <a:t>Effects of transactions over the elements of Accounting Equation is Shown for January 2026 - </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41400"/>
            <a:ext cx="9144000" cy="5816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7589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101406" y="82389"/>
            <a:ext cx="7642015" cy="553998"/>
          </a:xfrm>
        </p:spPr>
        <p:txBody>
          <a:bodyPr/>
          <a:lstStyle/>
          <a:p>
            <a:r>
              <a:rPr lang="en-US" sz="3000" dirty="0"/>
              <a:t>Identifying transaction:</a:t>
            </a:r>
            <a:endParaRPr lang="en-US" dirty="0"/>
          </a:p>
        </p:txBody>
      </p:sp>
      <p:sp>
        <p:nvSpPr>
          <p:cNvPr id="3" name="Rectangle 2"/>
          <p:cNvSpPr/>
          <p:nvPr/>
        </p:nvSpPr>
        <p:spPr>
          <a:xfrm>
            <a:off x="381000" y="905233"/>
            <a:ext cx="8039100" cy="4360578"/>
          </a:xfrm>
          <a:prstGeom prst="rect">
            <a:avLst/>
          </a:prstGeom>
        </p:spPr>
        <p:txBody>
          <a:bodyPr wrap="square" lIns="51206" tIns="25603" rIns="51206" bIns="25603">
            <a:spAutoFit/>
          </a:bodyPr>
          <a:lstStyle/>
          <a:p>
            <a:r>
              <a:rPr lang="en-US" sz="2000" b="1" dirty="0"/>
              <a:t>Activity: Show the effect of the following transactions in Accounting Equation using the above table. </a:t>
            </a:r>
          </a:p>
          <a:p>
            <a:endParaRPr lang="en-US" sz="2000" dirty="0"/>
          </a:p>
          <a:p>
            <a:r>
              <a:rPr lang="en-US" sz="2000" b="1" dirty="0"/>
              <a:t>Question 1: </a:t>
            </a:r>
            <a:r>
              <a:rPr lang="en-US" sz="2000" dirty="0" err="1"/>
              <a:t>Nargis</a:t>
            </a:r>
            <a:r>
              <a:rPr lang="en-US" sz="2000" dirty="0"/>
              <a:t> </a:t>
            </a:r>
            <a:r>
              <a:rPr lang="en-US" sz="2000" dirty="0" err="1"/>
              <a:t>Akter</a:t>
            </a:r>
            <a:r>
              <a:rPr lang="en-US" sz="2000" dirty="0"/>
              <a:t> has started a tailoring business on March 1, 2026. Transactions of the first month mentioned below: </a:t>
            </a:r>
          </a:p>
          <a:p>
            <a:endParaRPr lang="en-US" sz="2000" dirty="0"/>
          </a:p>
          <a:p>
            <a:pPr defTabSz="512064">
              <a:defRPr/>
            </a:pPr>
            <a:r>
              <a:rPr lang="en-US" sz="2000" dirty="0"/>
              <a:t>March 1 </a:t>
            </a:r>
            <a:r>
              <a:rPr lang="en-US" sz="2000" kern="0" dirty="0">
                <a:solidFill>
                  <a:sysClr val="windowText" lastClr="000000"/>
                </a:solidFill>
              </a:rPr>
              <a:t>Invested in Business tk.20,000. </a:t>
            </a:r>
            <a:endParaRPr lang="en-US" sz="2000" dirty="0"/>
          </a:p>
          <a:p>
            <a:r>
              <a:rPr lang="en-US" sz="2000" dirty="0"/>
              <a:t>	   3 Shop rent for the month of March paid off tk.5000 </a:t>
            </a:r>
          </a:p>
          <a:p>
            <a:r>
              <a:rPr lang="en-US" sz="2000" dirty="0"/>
              <a:t>            9 Bought sewing machine by cash tk.15,000  </a:t>
            </a:r>
          </a:p>
          <a:p>
            <a:r>
              <a:rPr lang="en-US" sz="2000" dirty="0"/>
              <a:t>           14 Stitching wages realized tk. 2,000 </a:t>
            </a:r>
          </a:p>
          <a:p>
            <a:r>
              <a:rPr lang="en-US" sz="2000" dirty="0"/>
              <a:t>	  17 Amount spent for publicity of the shop tk.1,000 </a:t>
            </a:r>
          </a:p>
          <a:p>
            <a:r>
              <a:rPr lang="en-US" sz="2000" dirty="0"/>
              <a:t>           22 Receivable from customer for stitching wages tk.1,500 </a:t>
            </a:r>
          </a:p>
          <a:p>
            <a:r>
              <a:rPr lang="en-US" sz="2000" dirty="0"/>
              <a:t>	  25 Repair of sewing machine tk. 3000.</a:t>
            </a:r>
          </a:p>
          <a:p>
            <a:r>
              <a:rPr lang="en-US" sz="2000" dirty="0"/>
              <a:t>	  30 Bill of 22nd march realized tk.1,200. </a:t>
            </a:r>
          </a:p>
        </p:txBody>
      </p:sp>
    </p:spTree>
    <p:extLst>
      <p:ext uri="{BB962C8B-B14F-4D97-AF65-F5344CB8AC3E}">
        <p14:creationId xmlns:p14="http://schemas.microsoft.com/office/powerpoint/2010/main" val="803569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2540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101406" y="82389"/>
            <a:ext cx="7642015" cy="553998"/>
          </a:xfrm>
        </p:spPr>
        <p:txBody>
          <a:bodyPr/>
          <a:lstStyle/>
          <a:p>
            <a:r>
              <a:rPr lang="en-US" sz="3000" dirty="0"/>
              <a:t>Identifying transaction:</a:t>
            </a:r>
            <a:endParaRPr lang="en-US" dirty="0"/>
          </a:p>
        </p:txBody>
      </p:sp>
      <p:sp>
        <p:nvSpPr>
          <p:cNvPr id="4" name="Rectangle 3"/>
          <p:cNvSpPr/>
          <p:nvPr/>
        </p:nvSpPr>
        <p:spPr>
          <a:xfrm>
            <a:off x="342900" y="990600"/>
            <a:ext cx="8458200" cy="4657685"/>
          </a:xfrm>
          <a:prstGeom prst="rect">
            <a:avLst/>
          </a:prstGeom>
        </p:spPr>
        <p:txBody>
          <a:bodyPr wrap="square" lIns="51206" tIns="25603" rIns="51206" bIns="25603">
            <a:spAutoFit/>
          </a:bodyPr>
          <a:lstStyle/>
          <a:p>
            <a:r>
              <a:rPr lang="en-US" b="1" dirty="0"/>
              <a:t>Question 2: </a:t>
            </a:r>
            <a:r>
              <a:rPr lang="en-US" dirty="0"/>
              <a:t>Mr. </a:t>
            </a:r>
            <a:r>
              <a:rPr lang="en-US" dirty="0" err="1"/>
              <a:t>Ashish</a:t>
            </a:r>
            <a:r>
              <a:rPr lang="en-US" dirty="0"/>
              <a:t> Kumar </a:t>
            </a:r>
            <a:r>
              <a:rPr lang="en-US" dirty="0" err="1"/>
              <a:t>Chokroborti</a:t>
            </a:r>
            <a:r>
              <a:rPr lang="en-US" dirty="0"/>
              <a:t> is a businessman. Following transactions took place in his business in December 2025- </a:t>
            </a:r>
          </a:p>
          <a:p>
            <a:endParaRPr lang="en-US" dirty="0"/>
          </a:p>
          <a:p>
            <a:r>
              <a:rPr lang="en-US" dirty="0"/>
              <a:t>Dec. 1 Started business with tk.20,000 </a:t>
            </a:r>
          </a:p>
          <a:p>
            <a:r>
              <a:rPr lang="en-US" dirty="0"/>
              <a:t>Dec. 3 Open an account in </a:t>
            </a:r>
            <a:r>
              <a:rPr lang="en-US" dirty="0" err="1"/>
              <a:t>Janata</a:t>
            </a:r>
            <a:r>
              <a:rPr lang="en-US" dirty="0"/>
              <a:t> Bank depositing tk.5,000 </a:t>
            </a:r>
          </a:p>
          <a:p>
            <a:r>
              <a:rPr lang="en-US" dirty="0"/>
              <a:t>Dec. 5 Goods purchase on credit tk.5,000 </a:t>
            </a:r>
          </a:p>
          <a:p>
            <a:r>
              <a:rPr lang="en-US" dirty="0"/>
              <a:t>Dec. 7 Goods sold in cash tk.15,000 </a:t>
            </a:r>
          </a:p>
          <a:p>
            <a:r>
              <a:rPr lang="en-US" dirty="0"/>
              <a:t>Dec. 10 Loan taken from Bank for own purpose tk.10,000 </a:t>
            </a:r>
          </a:p>
          <a:p>
            <a:r>
              <a:rPr lang="en-US" dirty="0"/>
              <a:t>Dec. 15 Furniture purchase in cash tk.3,000 </a:t>
            </a:r>
          </a:p>
          <a:p>
            <a:endParaRPr lang="en-US" dirty="0"/>
          </a:p>
          <a:p>
            <a:r>
              <a:rPr lang="en-US" b="1" dirty="0"/>
              <a:t>Requirements:</a:t>
            </a:r>
          </a:p>
          <a:p>
            <a:r>
              <a:rPr lang="en-US" dirty="0"/>
              <a:t>	a) Calculate the total amount of those events, which are not transaction. </a:t>
            </a:r>
          </a:p>
          <a:p>
            <a:r>
              <a:rPr lang="en-US" dirty="0"/>
              <a:t>	b) Identify the transactions from events with explaining reason under equation method. </a:t>
            </a:r>
          </a:p>
          <a:p>
            <a:r>
              <a:rPr lang="en-US" dirty="0"/>
              <a:t>	c) Show the effects of the transaction on accounting equation in tabular/statement format. </a:t>
            </a:r>
          </a:p>
        </p:txBody>
      </p:sp>
    </p:spTree>
    <p:extLst>
      <p:ext uri="{BB962C8B-B14F-4D97-AF65-F5344CB8AC3E}">
        <p14:creationId xmlns:p14="http://schemas.microsoft.com/office/powerpoint/2010/main" val="2960371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101406" y="82389"/>
            <a:ext cx="7642015" cy="553998"/>
          </a:xfrm>
        </p:spPr>
        <p:txBody>
          <a:bodyPr/>
          <a:lstStyle/>
          <a:p>
            <a:r>
              <a:rPr lang="en-US" sz="3000" dirty="0"/>
              <a:t>Identifying transaction:</a:t>
            </a:r>
            <a:endParaRPr lang="en-US" dirty="0"/>
          </a:p>
        </p:txBody>
      </p:sp>
      <p:sp>
        <p:nvSpPr>
          <p:cNvPr id="4" name="Rectangle 3"/>
          <p:cNvSpPr/>
          <p:nvPr/>
        </p:nvSpPr>
        <p:spPr>
          <a:xfrm>
            <a:off x="342900" y="990600"/>
            <a:ext cx="8458200" cy="4483689"/>
          </a:xfrm>
          <a:prstGeom prst="rect">
            <a:avLst/>
          </a:prstGeom>
        </p:spPr>
        <p:txBody>
          <a:bodyPr wrap="square" lIns="51206" tIns="25603" rIns="51206" bIns="25603">
            <a:spAutoFit/>
          </a:bodyPr>
          <a:lstStyle/>
          <a:p>
            <a:r>
              <a:rPr lang="en-US" b="1" dirty="0"/>
              <a:t>Question 3: </a:t>
            </a:r>
            <a:r>
              <a:rPr lang="en-US" dirty="0"/>
              <a:t>Mr. Shankar </a:t>
            </a:r>
            <a:r>
              <a:rPr lang="en-US" dirty="0" err="1"/>
              <a:t>Chondro</a:t>
            </a:r>
            <a:r>
              <a:rPr lang="en-US" dirty="0"/>
              <a:t> </a:t>
            </a:r>
            <a:r>
              <a:rPr lang="en-US" dirty="0" err="1"/>
              <a:t>Saha</a:t>
            </a:r>
            <a:r>
              <a:rPr lang="en-US" dirty="0"/>
              <a:t> is a businessman. Following transactions took place in his business in January 2026- </a:t>
            </a:r>
          </a:p>
          <a:p>
            <a:endParaRPr lang="en-US" dirty="0"/>
          </a:p>
          <a:p>
            <a:r>
              <a:rPr lang="en-US" dirty="0"/>
              <a:t>Jan. 2 A manager appointed with tk.5,000 </a:t>
            </a:r>
          </a:p>
          <a:p>
            <a:r>
              <a:rPr lang="en-US" dirty="0"/>
              <a:t>Jan. 7 Sold goods on credit tk.20,000 </a:t>
            </a:r>
          </a:p>
          <a:p>
            <a:r>
              <a:rPr lang="en-US" dirty="0"/>
              <a:t>Jan. 10 Stationary purchase in cash tk.500 </a:t>
            </a:r>
          </a:p>
          <a:p>
            <a:r>
              <a:rPr lang="en-US" dirty="0"/>
              <a:t>Jan. 12 Mr. Shankar </a:t>
            </a:r>
            <a:r>
              <a:rPr lang="en-US" dirty="0" err="1"/>
              <a:t>Chondro</a:t>
            </a:r>
            <a:r>
              <a:rPr lang="en-US" dirty="0"/>
              <a:t> </a:t>
            </a:r>
            <a:r>
              <a:rPr lang="en-US" dirty="0" err="1"/>
              <a:t>Saha</a:t>
            </a:r>
            <a:r>
              <a:rPr lang="en-US" dirty="0"/>
              <a:t> pays his son’s school salary personally</a:t>
            </a:r>
          </a:p>
          <a:p>
            <a:r>
              <a:rPr lang="en-US" dirty="0"/>
              <a:t>Jan. 20 Received tk.5,000 from </a:t>
            </a:r>
            <a:r>
              <a:rPr lang="en-US" dirty="0" err="1"/>
              <a:t>Sumona</a:t>
            </a:r>
            <a:r>
              <a:rPr lang="en-US" dirty="0"/>
              <a:t> Traders </a:t>
            </a:r>
          </a:p>
          <a:p>
            <a:r>
              <a:rPr lang="en-US" dirty="0"/>
              <a:t>Jan. 25 Paid tk.700 for advertisement </a:t>
            </a:r>
          </a:p>
          <a:p>
            <a:r>
              <a:rPr lang="en-US" dirty="0"/>
              <a:t> </a:t>
            </a:r>
          </a:p>
          <a:p>
            <a:r>
              <a:rPr lang="en-US" b="1" dirty="0"/>
              <a:t>Requirements:</a:t>
            </a:r>
          </a:p>
          <a:p>
            <a:r>
              <a:rPr lang="en-US" dirty="0"/>
              <a:t>	a) Calculate the total amount of those events, which are not transaction. </a:t>
            </a:r>
          </a:p>
          <a:p>
            <a:r>
              <a:rPr lang="en-US" dirty="0"/>
              <a:t>	b) Explain the reason of Mr. Shankar </a:t>
            </a:r>
            <a:r>
              <a:rPr lang="en-US" dirty="0" err="1"/>
              <a:t>Chondro</a:t>
            </a:r>
            <a:r>
              <a:rPr lang="en-US" dirty="0"/>
              <a:t> </a:t>
            </a:r>
            <a:r>
              <a:rPr lang="en-US" dirty="0" err="1"/>
              <a:t>Saha’s</a:t>
            </a:r>
            <a:r>
              <a:rPr lang="en-US" dirty="0"/>
              <a:t> transactions under equation method </a:t>
            </a:r>
          </a:p>
          <a:p>
            <a:r>
              <a:rPr lang="en-US" dirty="0"/>
              <a:t>	c) Show the effects of Mr. Shankar </a:t>
            </a:r>
            <a:r>
              <a:rPr lang="en-US" dirty="0" err="1"/>
              <a:t>Chondro</a:t>
            </a:r>
            <a:r>
              <a:rPr lang="en-US" dirty="0"/>
              <a:t> </a:t>
            </a:r>
            <a:r>
              <a:rPr lang="en-US" dirty="0" err="1"/>
              <a:t>Saha’s</a:t>
            </a:r>
            <a:r>
              <a:rPr lang="en-US" dirty="0"/>
              <a:t> transactions on the elements of accounting 	equation. </a:t>
            </a:r>
          </a:p>
        </p:txBody>
      </p:sp>
    </p:spTree>
    <p:extLst>
      <p:ext uri="{BB962C8B-B14F-4D97-AF65-F5344CB8AC3E}">
        <p14:creationId xmlns:p14="http://schemas.microsoft.com/office/powerpoint/2010/main" val="614751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101406" y="82389"/>
            <a:ext cx="7642015" cy="553998"/>
          </a:xfrm>
        </p:spPr>
        <p:txBody>
          <a:bodyPr/>
          <a:lstStyle/>
          <a:p>
            <a:r>
              <a:rPr lang="en-US" sz="3000" dirty="0"/>
              <a:t>Identifying transaction:</a:t>
            </a:r>
            <a:endParaRPr lang="en-US" dirty="0"/>
          </a:p>
        </p:txBody>
      </p:sp>
      <p:sp>
        <p:nvSpPr>
          <p:cNvPr id="4" name="Rectangle 3"/>
          <p:cNvSpPr/>
          <p:nvPr/>
        </p:nvSpPr>
        <p:spPr>
          <a:xfrm>
            <a:off x="342900" y="990601"/>
            <a:ext cx="8458200" cy="5037686"/>
          </a:xfrm>
          <a:prstGeom prst="rect">
            <a:avLst/>
          </a:prstGeom>
        </p:spPr>
        <p:txBody>
          <a:bodyPr wrap="square" lIns="51206" tIns="25603" rIns="51206" bIns="25603">
            <a:spAutoFit/>
          </a:bodyPr>
          <a:lstStyle/>
          <a:p>
            <a:r>
              <a:rPr lang="en-US" b="1" dirty="0"/>
              <a:t>Question 4: </a:t>
            </a:r>
            <a:r>
              <a:rPr lang="en-US" dirty="0"/>
              <a:t> Mr. </a:t>
            </a:r>
            <a:r>
              <a:rPr lang="en-US" dirty="0" err="1"/>
              <a:t>Zakir</a:t>
            </a:r>
            <a:r>
              <a:rPr lang="en-US" dirty="0"/>
              <a:t> started his legal practitioner business on 1st May 2011. The transactions </a:t>
            </a:r>
          </a:p>
          <a:p>
            <a:r>
              <a:rPr lang="en-US" dirty="0"/>
              <a:t>of the first month were as follows: </a:t>
            </a:r>
          </a:p>
          <a:p>
            <a:endParaRPr lang="en-US" dirty="0"/>
          </a:p>
          <a:p>
            <a:pPr defTabSz="512064">
              <a:defRPr/>
            </a:pPr>
            <a:r>
              <a:rPr lang="en-US" dirty="0"/>
              <a:t>May 1 </a:t>
            </a:r>
            <a:r>
              <a:rPr lang="en-US" kern="0" dirty="0">
                <a:solidFill>
                  <a:sysClr val="windowText" lastClr="000000"/>
                </a:solidFill>
                <a:latin typeface="Calibri"/>
              </a:rPr>
              <a:t>Invested tk.1,50,000 in his business. </a:t>
            </a:r>
            <a:endParaRPr lang="en-US" dirty="0"/>
          </a:p>
          <a:p>
            <a:pPr defTabSz="512064">
              <a:defRPr/>
            </a:pPr>
            <a:r>
              <a:rPr lang="en-US" dirty="0"/>
              <a:t>May 4 </a:t>
            </a:r>
            <a:r>
              <a:rPr lang="en-US" kern="0" dirty="0">
                <a:solidFill>
                  <a:sysClr val="windowText" lastClr="000000"/>
                </a:solidFill>
                <a:latin typeface="Calibri"/>
              </a:rPr>
              <a:t>Paid office rent for the month of May tk.12,000 </a:t>
            </a:r>
            <a:endParaRPr lang="en-US" dirty="0"/>
          </a:p>
          <a:p>
            <a:r>
              <a:rPr lang="en-US" dirty="0"/>
              <a:t>May 8 Machine purchase for office on credit worth tk.25,000 </a:t>
            </a:r>
          </a:p>
          <a:p>
            <a:r>
              <a:rPr lang="en-US" dirty="0"/>
              <a:t>May 12 Legal services provided to the clients for cash tk.8,000 </a:t>
            </a:r>
          </a:p>
          <a:p>
            <a:r>
              <a:rPr lang="en-US" dirty="0"/>
              <a:t>May 16 Paid salary to the office staff tk.4,000 </a:t>
            </a:r>
          </a:p>
          <a:p>
            <a:r>
              <a:rPr lang="en-US" dirty="0"/>
              <a:t>May 25 Loan taken from the bank tk.35,000. </a:t>
            </a:r>
          </a:p>
          <a:p>
            <a:r>
              <a:rPr lang="en-US" dirty="0"/>
              <a:t>May 27 Legal services provided to the clients on credit tk.10,000. </a:t>
            </a:r>
          </a:p>
          <a:p>
            <a:r>
              <a:rPr lang="en-US" dirty="0"/>
              <a:t>May 30 Dues for machine purchase paid off tk.15,000. </a:t>
            </a:r>
          </a:p>
          <a:p>
            <a:endParaRPr lang="en-US" dirty="0"/>
          </a:p>
          <a:p>
            <a:r>
              <a:rPr lang="en-US" b="1" dirty="0"/>
              <a:t>Requirements:</a:t>
            </a:r>
          </a:p>
          <a:p>
            <a:r>
              <a:rPr lang="en-US" dirty="0"/>
              <a:t>	a) What is the unpaid amount of office machine? </a:t>
            </a:r>
          </a:p>
          <a:p>
            <a:r>
              <a:rPr lang="en-US" dirty="0"/>
              <a:t>	b) Calculate the amount of Mr. </a:t>
            </a:r>
            <a:r>
              <a:rPr lang="en-US" dirty="0" err="1"/>
              <a:t>Zakir’s</a:t>
            </a:r>
            <a:r>
              <a:rPr lang="en-US" dirty="0"/>
              <a:t> equity at the end of the month.  </a:t>
            </a:r>
          </a:p>
          <a:p>
            <a:r>
              <a:rPr lang="en-US" dirty="0"/>
              <a:t>	c) Show the effects of May’s transactions on the elements of accounting equation. </a:t>
            </a:r>
          </a:p>
        </p:txBody>
      </p:sp>
    </p:spTree>
    <p:extLst>
      <p:ext uri="{BB962C8B-B14F-4D97-AF65-F5344CB8AC3E}">
        <p14:creationId xmlns:p14="http://schemas.microsoft.com/office/powerpoint/2010/main" val="1992276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1558</Words>
  <Application>Microsoft Office PowerPoint</Application>
  <PresentationFormat>On-screen Show (4:3)</PresentationFormat>
  <Paragraphs>188</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Chapter Two</vt:lpstr>
      <vt:lpstr>Transaction</vt:lpstr>
      <vt:lpstr>Transaction</vt:lpstr>
      <vt:lpstr>PowerPoint Presentation</vt:lpstr>
      <vt:lpstr>Transaction</vt:lpstr>
      <vt:lpstr>Transaction</vt:lpstr>
      <vt:lpstr>Identifying transaction:</vt:lpstr>
      <vt:lpstr>Identifying transaction:</vt:lpstr>
      <vt:lpstr>Identifying transaction:</vt:lpstr>
      <vt:lpstr>Equation Component:</vt:lpstr>
      <vt:lpstr>Extending Accounting Equation :</vt:lpstr>
      <vt:lpstr>Extending Accounting Equation :</vt:lpstr>
      <vt:lpstr>Identifying transaction:</vt:lpstr>
      <vt:lpstr>Identifying transaction:</vt:lpstr>
      <vt:lpstr>Identifying transaction:</vt:lpstr>
      <vt:lpstr>Identifying transaction:</vt:lpstr>
      <vt:lpstr>Identifying transaction: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Two</dc:title>
  <dc:creator>User</dc:creator>
  <cp:lastModifiedBy>User</cp:lastModifiedBy>
  <cp:revision>3</cp:revision>
  <dcterms:created xsi:type="dcterms:W3CDTF">2026-07-12T03:27:55Z</dcterms:created>
  <dcterms:modified xsi:type="dcterms:W3CDTF">2026-07-12T05:08:30Z</dcterms:modified>
</cp:coreProperties>
</file>