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6098EA6-6C05-485F-9417-4B722D59779C}" type="datetimeFigureOut">
              <a:rPr lang="en-US" smtClean="0"/>
              <a:t>7/12/2026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DE90CB-41B1-490A-B57F-AD17C1612B98}" type="slidenum">
              <a:rPr lang="en-US" smtClean="0"/>
              <a:t>‹#›</a:t>
            </a:fld>
            <a:endParaRPr lang="en-US"/>
          </a:p>
        </p:txBody>
      </p:sp>
    </p:spTree>
    <p:extLst>
      <p:ext uri="{BB962C8B-B14F-4D97-AF65-F5344CB8AC3E}">
        <p14:creationId xmlns:p14="http://schemas.microsoft.com/office/powerpoint/2010/main" val="38208543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6098EA6-6C05-485F-9417-4B722D59779C}" type="datetimeFigureOut">
              <a:rPr lang="en-US" smtClean="0"/>
              <a:t>7/12/2026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DE90CB-41B1-490A-B57F-AD17C1612B98}" type="slidenum">
              <a:rPr lang="en-US" smtClean="0"/>
              <a:t>‹#›</a:t>
            </a:fld>
            <a:endParaRPr lang="en-US"/>
          </a:p>
        </p:txBody>
      </p:sp>
    </p:spTree>
    <p:extLst>
      <p:ext uri="{BB962C8B-B14F-4D97-AF65-F5344CB8AC3E}">
        <p14:creationId xmlns:p14="http://schemas.microsoft.com/office/powerpoint/2010/main" val="1780543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6098EA6-6C05-485F-9417-4B722D59779C}" type="datetimeFigureOut">
              <a:rPr lang="en-US" smtClean="0"/>
              <a:t>7/12/2026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DE90CB-41B1-490A-B57F-AD17C1612B98}" type="slidenum">
              <a:rPr lang="en-US" smtClean="0"/>
              <a:t>‹#›</a:t>
            </a:fld>
            <a:endParaRPr lang="en-US"/>
          </a:p>
        </p:txBody>
      </p:sp>
    </p:spTree>
    <p:extLst>
      <p:ext uri="{BB962C8B-B14F-4D97-AF65-F5344CB8AC3E}">
        <p14:creationId xmlns:p14="http://schemas.microsoft.com/office/powerpoint/2010/main" val="39767886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6098EA6-6C05-485F-9417-4B722D59779C}" type="datetimeFigureOut">
              <a:rPr lang="en-US" smtClean="0"/>
              <a:t>7/12/2026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DE90CB-41B1-490A-B57F-AD17C1612B98}" type="slidenum">
              <a:rPr lang="en-US" smtClean="0"/>
              <a:t>‹#›</a:t>
            </a:fld>
            <a:endParaRPr lang="en-US"/>
          </a:p>
        </p:txBody>
      </p:sp>
    </p:spTree>
    <p:extLst>
      <p:ext uri="{BB962C8B-B14F-4D97-AF65-F5344CB8AC3E}">
        <p14:creationId xmlns:p14="http://schemas.microsoft.com/office/powerpoint/2010/main" val="15032802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6098EA6-6C05-485F-9417-4B722D59779C}" type="datetimeFigureOut">
              <a:rPr lang="en-US" smtClean="0"/>
              <a:t>7/12/2026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EDE90CB-41B1-490A-B57F-AD17C1612B98}" type="slidenum">
              <a:rPr lang="en-US" smtClean="0"/>
              <a:t>‹#›</a:t>
            </a:fld>
            <a:endParaRPr lang="en-US"/>
          </a:p>
        </p:txBody>
      </p:sp>
    </p:spTree>
    <p:extLst>
      <p:ext uri="{BB962C8B-B14F-4D97-AF65-F5344CB8AC3E}">
        <p14:creationId xmlns:p14="http://schemas.microsoft.com/office/powerpoint/2010/main" val="1184404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6098EA6-6C05-485F-9417-4B722D59779C}" type="datetimeFigureOut">
              <a:rPr lang="en-US" smtClean="0"/>
              <a:t>7/12/2026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EDE90CB-41B1-490A-B57F-AD17C1612B98}" type="slidenum">
              <a:rPr lang="en-US" smtClean="0"/>
              <a:t>‹#›</a:t>
            </a:fld>
            <a:endParaRPr lang="en-US"/>
          </a:p>
        </p:txBody>
      </p:sp>
    </p:spTree>
    <p:extLst>
      <p:ext uri="{BB962C8B-B14F-4D97-AF65-F5344CB8AC3E}">
        <p14:creationId xmlns:p14="http://schemas.microsoft.com/office/powerpoint/2010/main" val="1587409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098EA6-6C05-485F-9417-4B722D59779C}" type="datetimeFigureOut">
              <a:rPr lang="en-US" smtClean="0"/>
              <a:t>7/12/2026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EDE90CB-41B1-490A-B57F-AD17C1612B98}" type="slidenum">
              <a:rPr lang="en-US" smtClean="0"/>
              <a:t>‹#›</a:t>
            </a:fld>
            <a:endParaRPr lang="en-US"/>
          </a:p>
        </p:txBody>
      </p:sp>
    </p:spTree>
    <p:extLst>
      <p:ext uri="{BB962C8B-B14F-4D97-AF65-F5344CB8AC3E}">
        <p14:creationId xmlns:p14="http://schemas.microsoft.com/office/powerpoint/2010/main" val="10705435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6098EA6-6C05-485F-9417-4B722D59779C}" type="datetimeFigureOut">
              <a:rPr lang="en-US" smtClean="0"/>
              <a:t>7/12/2026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DE90CB-41B1-490A-B57F-AD17C1612B98}" type="slidenum">
              <a:rPr lang="en-US" smtClean="0"/>
              <a:t>‹#›</a:t>
            </a:fld>
            <a:endParaRPr lang="en-US"/>
          </a:p>
        </p:txBody>
      </p:sp>
    </p:spTree>
    <p:extLst>
      <p:ext uri="{BB962C8B-B14F-4D97-AF65-F5344CB8AC3E}">
        <p14:creationId xmlns:p14="http://schemas.microsoft.com/office/powerpoint/2010/main" val="30143907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6098EA6-6C05-485F-9417-4B722D59779C}" type="datetimeFigureOut">
              <a:rPr lang="en-US" smtClean="0"/>
              <a:t>7/12/2026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DE90CB-41B1-490A-B57F-AD17C1612B98}" type="slidenum">
              <a:rPr lang="en-US" smtClean="0"/>
              <a:t>‹#›</a:t>
            </a:fld>
            <a:endParaRPr lang="en-US"/>
          </a:p>
        </p:txBody>
      </p:sp>
    </p:spTree>
    <p:extLst>
      <p:ext uri="{BB962C8B-B14F-4D97-AF65-F5344CB8AC3E}">
        <p14:creationId xmlns:p14="http://schemas.microsoft.com/office/powerpoint/2010/main" val="41218144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6098EA6-6C05-485F-9417-4B722D59779C}" type="datetimeFigureOut">
              <a:rPr lang="en-US" smtClean="0"/>
              <a:t>7/12/2026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DE90CB-41B1-490A-B57F-AD17C1612B98}" type="slidenum">
              <a:rPr lang="en-US" smtClean="0"/>
              <a:t>‹#›</a:t>
            </a:fld>
            <a:endParaRPr lang="en-US"/>
          </a:p>
        </p:txBody>
      </p:sp>
    </p:spTree>
    <p:extLst>
      <p:ext uri="{BB962C8B-B14F-4D97-AF65-F5344CB8AC3E}">
        <p14:creationId xmlns:p14="http://schemas.microsoft.com/office/powerpoint/2010/main" val="33003508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6098EA6-6C05-485F-9417-4B722D59779C}" type="datetimeFigureOut">
              <a:rPr lang="en-US" smtClean="0"/>
              <a:t>7/12/2026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DE90CB-41B1-490A-B57F-AD17C1612B98}" type="slidenum">
              <a:rPr lang="en-US" smtClean="0"/>
              <a:t>‹#›</a:t>
            </a:fld>
            <a:endParaRPr lang="en-US"/>
          </a:p>
        </p:txBody>
      </p:sp>
    </p:spTree>
    <p:extLst>
      <p:ext uri="{BB962C8B-B14F-4D97-AF65-F5344CB8AC3E}">
        <p14:creationId xmlns:p14="http://schemas.microsoft.com/office/powerpoint/2010/main" val="30511498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098EA6-6C05-485F-9417-4B722D59779C}" type="datetimeFigureOut">
              <a:rPr lang="en-US" smtClean="0"/>
              <a:t>7/12/2026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DE90CB-41B1-490A-B57F-AD17C1612B98}" type="slidenum">
              <a:rPr lang="en-US" smtClean="0"/>
              <a:t>‹#›</a:t>
            </a:fld>
            <a:endParaRPr lang="en-US"/>
          </a:p>
        </p:txBody>
      </p:sp>
    </p:spTree>
    <p:extLst>
      <p:ext uri="{BB962C8B-B14F-4D97-AF65-F5344CB8AC3E}">
        <p14:creationId xmlns:p14="http://schemas.microsoft.com/office/powerpoint/2010/main" val="36427477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itle 2"/>
          <p:cNvSpPr>
            <a:spLocks noGrp="1"/>
          </p:cNvSpPr>
          <p:nvPr>
            <p:ph type="title"/>
          </p:nvPr>
        </p:nvSpPr>
        <p:spPr>
          <a:xfrm>
            <a:off x="4991100" y="0"/>
            <a:ext cx="3352800" cy="677109"/>
          </a:xfrm>
        </p:spPr>
        <p:txBody>
          <a:bodyPr/>
          <a:lstStyle/>
          <a:p>
            <a:r>
              <a:rPr lang="en-US" sz="3700" dirty="0"/>
              <a:t>C</a:t>
            </a:r>
            <a:r>
              <a:rPr lang="en-US" sz="3700" dirty="0"/>
              <a:t>hapter Three</a:t>
            </a:r>
            <a:endParaRPr lang="en-US" sz="3700" dirty="0"/>
          </a:p>
        </p:txBody>
      </p:sp>
    </p:spTree>
    <p:extLst>
      <p:ext uri="{BB962C8B-B14F-4D97-AF65-F5344CB8AC3E}">
        <p14:creationId xmlns:p14="http://schemas.microsoft.com/office/powerpoint/2010/main" val="14317961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3855"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itle 2"/>
          <p:cNvSpPr>
            <a:spLocks noGrp="1"/>
          </p:cNvSpPr>
          <p:nvPr>
            <p:ph type="title"/>
          </p:nvPr>
        </p:nvSpPr>
        <p:spPr>
          <a:xfrm>
            <a:off x="265449" y="482601"/>
            <a:ext cx="8585394" cy="2215991"/>
          </a:xfrm>
        </p:spPr>
        <p:txBody>
          <a:bodyPr/>
          <a:lstStyle/>
          <a:p>
            <a:pPr algn="just"/>
            <a:r>
              <a:rPr lang="en-US" sz="2000" dirty="0"/>
              <a:t>Throughout </a:t>
            </a:r>
            <a:r>
              <a:rPr lang="en-US" sz="2000" dirty="0"/>
              <a:t>the world, Double Entry System is established &amp; known as dependable, </a:t>
            </a:r>
            <a:r>
              <a:rPr lang="en-US" sz="2000" dirty="0"/>
              <a:t>scientific</a:t>
            </a:r>
            <a:r>
              <a:rPr lang="en-US" sz="2000" dirty="0"/>
              <a:t>, and complete system for keeping accounts in the business. In double </a:t>
            </a:r>
            <a:r>
              <a:rPr lang="en-US" sz="2000" dirty="0"/>
              <a:t>entry </a:t>
            </a:r>
            <a:r>
              <a:rPr lang="en-US" sz="2000" dirty="0"/>
              <a:t>system each transaction that measured or measurable in terms of money is </a:t>
            </a:r>
            <a:r>
              <a:rPr lang="en-US" sz="2000" dirty="0"/>
              <a:t>expressed </a:t>
            </a:r>
            <a:r>
              <a:rPr lang="en-US" sz="2000" dirty="0"/>
              <a:t>in dual entity. There is no alternative method of Double Entry System to </a:t>
            </a:r>
            <a:r>
              <a:rPr lang="en-US" sz="2000" dirty="0"/>
              <a:t>know </a:t>
            </a:r>
            <a:r>
              <a:rPr lang="en-US" sz="2000" dirty="0"/>
              <a:t>the actual result and financial condition of business. </a:t>
            </a:r>
          </a:p>
        </p:txBody>
      </p:sp>
      <p:sp>
        <p:nvSpPr>
          <p:cNvPr id="5" name="Rectangle 4"/>
          <p:cNvSpPr/>
          <p:nvPr/>
        </p:nvSpPr>
        <p:spPr>
          <a:xfrm>
            <a:off x="266700" y="2921000"/>
            <a:ext cx="8534400" cy="3006361"/>
          </a:xfrm>
          <a:prstGeom prst="rect">
            <a:avLst/>
          </a:prstGeom>
        </p:spPr>
        <p:txBody>
          <a:bodyPr wrap="square" lIns="51206" tIns="25603" rIns="51206" bIns="25603">
            <a:spAutoFit/>
          </a:bodyPr>
          <a:lstStyle/>
          <a:p>
            <a:r>
              <a:rPr lang="en-US" sz="1600" dirty="0"/>
              <a:t>The concept has been explained with an example: </a:t>
            </a:r>
          </a:p>
          <a:p>
            <a:r>
              <a:rPr lang="en-US" sz="1600" dirty="0"/>
              <a:t>		Salary paid to office staff tk.5,000. </a:t>
            </a:r>
          </a:p>
          <a:p>
            <a:r>
              <a:rPr lang="en-US" sz="1600" dirty="0"/>
              <a:t>For recording this transaction under double entry system, we need to identify the two parties involved in it. Two accounts involved in it are – </a:t>
            </a:r>
          </a:p>
          <a:p>
            <a:r>
              <a:rPr lang="en-US" sz="1600" dirty="0"/>
              <a:t>	a) Salary Account </a:t>
            </a:r>
          </a:p>
          <a:p>
            <a:r>
              <a:rPr lang="en-US" sz="1600" dirty="0"/>
              <a:t>	b) Cash Account </a:t>
            </a:r>
          </a:p>
          <a:p>
            <a:r>
              <a:rPr lang="en-US" sz="1600" dirty="0"/>
              <a:t>Since </a:t>
            </a:r>
            <a:r>
              <a:rPr lang="en-US" sz="1600" b="1" dirty="0"/>
              <a:t>salary is an expense </a:t>
            </a:r>
            <a:r>
              <a:rPr lang="en-US" sz="1600" dirty="0"/>
              <a:t>to the business, expense has been increase and so salary 5,000 taka will be debited. Again, </a:t>
            </a:r>
            <a:r>
              <a:rPr lang="en-US" sz="1600" b="1" dirty="0"/>
              <a:t>cash goes out while salary is paid</a:t>
            </a:r>
            <a:r>
              <a:rPr lang="en-US" sz="1600" dirty="0"/>
              <a:t>, so cash or asset will decrease and so cash account will be credited.</a:t>
            </a:r>
          </a:p>
          <a:p>
            <a:endParaRPr lang="en-US" sz="1600" dirty="0"/>
          </a:p>
          <a:p>
            <a:r>
              <a:rPr lang="en-US" sz="1600" dirty="0"/>
              <a:t>So, it is seen that the same amount have been used both for salary and cash account. This is the basic principle of Double Entry System.</a:t>
            </a:r>
            <a:endParaRPr lang="en-US" sz="1600" dirty="0"/>
          </a:p>
        </p:txBody>
      </p:sp>
    </p:spTree>
    <p:extLst>
      <p:ext uri="{BB962C8B-B14F-4D97-AF65-F5344CB8AC3E}">
        <p14:creationId xmlns:p14="http://schemas.microsoft.com/office/powerpoint/2010/main" val="17370540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3855"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101407" y="82389"/>
            <a:ext cx="6375594" cy="543739"/>
          </a:xfrm>
        </p:spPr>
        <p:txBody>
          <a:bodyPr/>
          <a:lstStyle/>
          <a:p>
            <a:r>
              <a:rPr lang="en-US" dirty="0"/>
              <a:t>Procedure of Identifying Debit and Credit: </a:t>
            </a:r>
          </a:p>
        </p:txBody>
      </p:sp>
      <p:sp>
        <p:nvSpPr>
          <p:cNvPr id="4" name="Rectangle 3"/>
          <p:cNvSpPr/>
          <p:nvPr/>
        </p:nvSpPr>
        <p:spPr>
          <a:xfrm>
            <a:off x="110837" y="1447800"/>
            <a:ext cx="5832764" cy="3098694"/>
          </a:xfrm>
          <a:prstGeom prst="rect">
            <a:avLst/>
          </a:prstGeom>
        </p:spPr>
        <p:txBody>
          <a:bodyPr wrap="square" lIns="51206" tIns="25603" rIns="51206" bIns="25603">
            <a:spAutoFit/>
          </a:bodyPr>
          <a:lstStyle/>
          <a:p>
            <a:pPr algn="just"/>
            <a:r>
              <a:rPr lang="en-US" dirty="0"/>
              <a:t>The main elements of accounting equation are asset, liability, and owner’s equity. The income of the business increases owner’s equity while the expense decreases the same. </a:t>
            </a:r>
          </a:p>
          <a:p>
            <a:pPr algn="just"/>
            <a:endParaRPr lang="en-US" dirty="0"/>
          </a:p>
          <a:p>
            <a:pPr algn="just"/>
            <a:r>
              <a:rPr lang="en-US" dirty="0"/>
              <a:t>Therefore, it can be said that, we see five types of accounts in business: </a:t>
            </a:r>
          </a:p>
          <a:p>
            <a:r>
              <a:rPr lang="en-US" dirty="0"/>
              <a:t>	1. Asset </a:t>
            </a:r>
          </a:p>
          <a:p>
            <a:r>
              <a:rPr lang="en-US" dirty="0"/>
              <a:t>	2. Liability </a:t>
            </a:r>
          </a:p>
          <a:p>
            <a:r>
              <a:rPr lang="en-US" dirty="0"/>
              <a:t>	3. Owner’s equity </a:t>
            </a:r>
          </a:p>
          <a:p>
            <a:r>
              <a:rPr lang="en-US" dirty="0"/>
              <a:t>	4. Income</a:t>
            </a:r>
          </a:p>
          <a:p>
            <a:r>
              <a:rPr lang="en-US" dirty="0"/>
              <a:t>	5. Expense</a:t>
            </a:r>
            <a:endParaRPr lang="en-US" dirty="0"/>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20782"/>
            <a:ext cx="2957946" cy="683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960615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3855"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101407" y="82389"/>
            <a:ext cx="6375594" cy="543739"/>
          </a:xfrm>
        </p:spPr>
        <p:txBody>
          <a:bodyPr/>
          <a:lstStyle/>
          <a:p>
            <a:r>
              <a:rPr lang="en-US" dirty="0"/>
              <a:t>Procedure of Identifying Debit and Credit: </a:t>
            </a:r>
          </a:p>
        </p:txBody>
      </p:sp>
      <p:sp>
        <p:nvSpPr>
          <p:cNvPr id="3" name="Rectangle 2"/>
          <p:cNvSpPr/>
          <p:nvPr/>
        </p:nvSpPr>
        <p:spPr>
          <a:xfrm>
            <a:off x="228600" y="1397675"/>
            <a:ext cx="8496300" cy="3252582"/>
          </a:xfrm>
          <a:prstGeom prst="rect">
            <a:avLst/>
          </a:prstGeom>
        </p:spPr>
        <p:txBody>
          <a:bodyPr wrap="square" lIns="51206" tIns="25603" rIns="51206" bIns="25603">
            <a:spAutoFit/>
          </a:bodyPr>
          <a:lstStyle/>
          <a:p>
            <a:r>
              <a:rPr lang="en-US" sz="1600" dirty="0"/>
              <a:t>Effects of Double Entry System in Transactions described below with examples: </a:t>
            </a:r>
          </a:p>
          <a:p>
            <a:r>
              <a:rPr lang="en-US" sz="1600" dirty="0"/>
              <a:t>1. Mr. </a:t>
            </a:r>
            <a:r>
              <a:rPr lang="en-US" sz="1600" dirty="0" err="1"/>
              <a:t>Hasan</a:t>
            </a:r>
            <a:r>
              <a:rPr lang="en-US" sz="1600" dirty="0"/>
              <a:t> has started business bringing in Tk. 50,000 as Capital. </a:t>
            </a:r>
          </a:p>
          <a:p>
            <a:r>
              <a:rPr lang="en-US" sz="1600" dirty="0"/>
              <a:t>2. Furniture bought for business Tk. 5,000. </a:t>
            </a:r>
          </a:p>
          <a:p>
            <a:r>
              <a:rPr lang="en-US" sz="1600" dirty="0"/>
              <a:t>3. Employees salary paid off Tk. 6,000 </a:t>
            </a:r>
          </a:p>
          <a:p>
            <a:r>
              <a:rPr lang="en-US" sz="1600" dirty="0"/>
              <a:t>4. Goods Purchase Tk. 20,000  </a:t>
            </a:r>
          </a:p>
          <a:p>
            <a:r>
              <a:rPr lang="en-US" sz="1600" dirty="0"/>
              <a:t>5. Tk. 25,000is deposited into Bank.  </a:t>
            </a:r>
          </a:p>
          <a:p>
            <a:r>
              <a:rPr lang="en-US" sz="1600" dirty="0"/>
              <a:t>6. Goods sold Tk. 18,000 </a:t>
            </a:r>
          </a:p>
          <a:p>
            <a:r>
              <a:rPr lang="en-US" sz="1600" dirty="0"/>
              <a:t>7. </a:t>
            </a:r>
            <a:r>
              <a:rPr lang="en-US" sz="1600" dirty="0" err="1"/>
              <a:t>Cheque</a:t>
            </a:r>
            <a:r>
              <a:rPr lang="en-US" sz="1600" dirty="0"/>
              <a:t> paid for advertisement Tk. 7,000  </a:t>
            </a:r>
          </a:p>
          <a:p>
            <a:r>
              <a:rPr lang="en-US" sz="1600" dirty="0"/>
              <a:t>8. Commission received Tk. 3,000. </a:t>
            </a:r>
          </a:p>
          <a:p>
            <a:r>
              <a:rPr lang="en-US" sz="1600" dirty="0"/>
              <a:t>9. Interest received from bank Tk. 1,200.  </a:t>
            </a:r>
          </a:p>
          <a:p>
            <a:r>
              <a:rPr lang="en-US" sz="1600" dirty="0"/>
              <a:t>10. Goods sold on credit Tk. 15,000. </a:t>
            </a:r>
          </a:p>
          <a:p>
            <a:r>
              <a:rPr lang="en-US" sz="1600" dirty="0"/>
              <a:t>11. </a:t>
            </a:r>
            <a:r>
              <a:rPr lang="en-US" sz="1600" dirty="0" err="1"/>
              <a:t>Cheque</a:t>
            </a:r>
            <a:r>
              <a:rPr lang="en-US" sz="1600" dirty="0"/>
              <a:t> paid for rent Tk. 6,000  </a:t>
            </a:r>
          </a:p>
          <a:p>
            <a:r>
              <a:rPr lang="en-US" sz="1600" dirty="0"/>
              <a:t>12. Tk. 8,000 has withdrawn from bank for business.</a:t>
            </a:r>
            <a:endParaRPr lang="en-US" sz="1600" dirty="0"/>
          </a:p>
        </p:txBody>
      </p:sp>
    </p:spTree>
    <p:extLst>
      <p:ext uri="{BB962C8B-B14F-4D97-AF65-F5344CB8AC3E}">
        <p14:creationId xmlns:p14="http://schemas.microsoft.com/office/powerpoint/2010/main" val="1878441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0782"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101407" y="82389"/>
            <a:ext cx="6375594" cy="543739"/>
          </a:xfrm>
        </p:spPr>
        <p:txBody>
          <a:bodyPr/>
          <a:lstStyle/>
          <a:p>
            <a:r>
              <a:rPr lang="en-US" dirty="0"/>
              <a:t>Procedure of Identifying Debit and Credit: </a:t>
            </a:r>
          </a:p>
        </p:txBody>
      </p:sp>
      <p:sp>
        <p:nvSpPr>
          <p:cNvPr id="4" name="Rectangle 3"/>
          <p:cNvSpPr/>
          <p:nvPr/>
        </p:nvSpPr>
        <p:spPr>
          <a:xfrm>
            <a:off x="836468" y="1295400"/>
            <a:ext cx="7429500" cy="3375693"/>
          </a:xfrm>
          <a:prstGeom prst="rect">
            <a:avLst/>
          </a:prstGeom>
        </p:spPr>
        <p:txBody>
          <a:bodyPr wrap="square" lIns="51206" tIns="25603" rIns="51206" bIns="25603">
            <a:spAutoFit/>
          </a:bodyPr>
          <a:lstStyle/>
          <a:p>
            <a:r>
              <a:rPr lang="en-US" dirty="0"/>
              <a:t>Activity: Calculate the debit &amp; credit of the following transactions identifying accounts in the book of M/S. </a:t>
            </a:r>
            <a:r>
              <a:rPr lang="en-US" dirty="0" err="1"/>
              <a:t>Joya</a:t>
            </a:r>
            <a:r>
              <a:rPr lang="en-US" dirty="0"/>
              <a:t> &amp; Co. – </a:t>
            </a:r>
          </a:p>
          <a:p>
            <a:r>
              <a:rPr lang="en-US" dirty="0"/>
              <a:t>1. Mrs. </a:t>
            </a:r>
            <a:r>
              <a:rPr lang="en-US" dirty="0" err="1"/>
              <a:t>Joya</a:t>
            </a:r>
            <a:r>
              <a:rPr lang="en-US" dirty="0"/>
              <a:t> </a:t>
            </a:r>
            <a:r>
              <a:rPr lang="en-US" dirty="0" err="1"/>
              <a:t>Mukharjee</a:t>
            </a:r>
            <a:r>
              <a:rPr lang="en-US" dirty="0"/>
              <a:t> has made additional investment tk.20,000. </a:t>
            </a:r>
          </a:p>
          <a:p>
            <a:r>
              <a:rPr lang="en-US" dirty="0"/>
              <a:t>2. Computer purchase for office tk.25,000 </a:t>
            </a:r>
          </a:p>
          <a:p>
            <a:r>
              <a:rPr lang="en-US" dirty="0"/>
              <a:t>3. Office rent paid in advance for three months tk.18,000 </a:t>
            </a:r>
          </a:p>
          <a:p>
            <a:r>
              <a:rPr lang="en-US" dirty="0"/>
              <a:t>4. Sold to </a:t>
            </a:r>
            <a:r>
              <a:rPr lang="en-US" dirty="0" err="1"/>
              <a:t>Rajon</a:t>
            </a:r>
            <a:r>
              <a:rPr lang="en-US" dirty="0"/>
              <a:t> tk.25,000 </a:t>
            </a:r>
          </a:p>
          <a:p>
            <a:r>
              <a:rPr lang="en-US" dirty="0"/>
              <a:t>5. Bank charged tk.1,500 </a:t>
            </a:r>
          </a:p>
          <a:p>
            <a:r>
              <a:rPr lang="en-US" dirty="0"/>
              <a:t>6. Withdrawn from banktk.6,000 </a:t>
            </a:r>
          </a:p>
          <a:p>
            <a:r>
              <a:rPr lang="en-US" dirty="0"/>
              <a:t>7. Goods purchased on credit tk.15,000 </a:t>
            </a:r>
          </a:p>
          <a:p>
            <a:r>
              <a:rPr lang="en-US" dirty="0"/>
              <a:t>8. Wages paid tk.3,000 </a:t>
            </a:r>
          </a:p>
          <a:p>
            <a:r>
              <a:rPr lang="en-US" dirty="0"/>
              <a:t>9. Purchase return tk.2,000 </a:t>
            </a:r>
          </a:p>
          <a:p>
            <a:r>
              <a:rPr lang="en-US" dirty="0"/>
              <a:t>10. Deposited into bank tk.10,000 </a:t>
            </a:r>
            <a:endParaRPr lang="en-US" dirty="0"/>
          </a:p>
        </p:txBody>
      </p:sp>
    </p:spTree>
    <p:extLst>
      <p:ext uri="{BB962C8B-B14F-4D97-AF65-F5344CB8AC3E}">
        <p14:creationId xmlns:p14="http://schemas.microsoft.com/office/powerpoint/2010/main" val="29563960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073" y="482600"/>
            <a:ext cx="5753100" cy="543739"/>
          </a:xfrm>
        </p:spPr>
        <p:txBody>
          <a:bodyPr/>
          <a:lstStyle/>
          <a:p>
            <a:r>
              <a:rPr lang="en-US" dirty="0"/>
              <a:t>Accounts kept under </a:t>
            </a:r>
            <a:r>
              <a:rPr lang="en-US" dirty="0" smtClean="0"/>
              <a:t>double </a:t>
            </a:r>
            <a:r>
              <a:rPr lang="en-US" dirty="0"/>
              <a:t>entry system: </a:t>
            </a:r>
          </a:p>
        </p:txBody>
      </p:sp>
      <p:sp>
        <p:nvSpPr>
          <p:cNvPr id="3" name="Rectangle 2"/>
          <p:cNvSpPr/>
          <p:nvPr/>
        </p:nvSpPr>
        <p:spPr>
          <a:xfrm>
            <a:off x="377537" y="1752601"/>
            <a:ext cx="4419600" cy="4001095"/>
          </a:xfrm>
          <a:prstGeom prst="rect">
            <a:avLst/>
          </a:prstGeom>
        </p:spPr>
        <p:txBody>
          <a:bodyPr wrap="square" lIns="51206" tIns="25603" rIns="51206" bIns="25603">
            <a:spAutoFit/>
          </a:bodyPr>
          <a:lstStyle/>
          <a:p>
            <a:r>
              <a:rPr lang="en-US" dirty="0"/>
              <a:t>The main accounts, which are kept under double entry system, are shown below: </a:t>
            </a:r>
          </a:p>
          <a:p>
            <a:endParaRPr lang="en-US" dirty="0"/>
          </a:p>
          <a:p>
            <a:pPr marL="288036" indent="-288036">
              <a:buAutoNum type="alphaLcParenR"/>
            </a:pPr>
            <a:r>
              <a:rPr lang="en-US" b="1" dirty="0"/>
              <a:t>Journal: </a:t>
            </a:r>
            <a:r>
              <a:rPr lang="en-US" dirty="0"/>
              <a:t>After transaction occurs then it is identified and debit and credit is ascertained and men it is recorded in a book. This book is known as the primary book of account or Journal. </a:t>
            </a:r>
          </a:p>
          <a:p>
            <a:pPr marL="288036" indent="-288036">
              <a:buAutoNum type="alphaLcParenR"/>
            </a:pPr>
            <a:endParaRPr lang="en-US" dirty="0"/>
          </a:p>
          <a:p>
            <a:pPr marL="288036" indent="-288036">
              <a:buAutoNum type="alphaLcParenR"/>
            </a:pPr>
            <a:r>
              <a:rPr lang="en-US" b="1" dirty="0"/>
              <a:t>Ledger: </a:t>
            </a:r>
            <a:r>
              <a:rPr lang="en-US" dirty="0"/>
              <a:t>The book where all the transactions of journal are included by transferring individually to related accounts with appropriate title is called Ledger. </a:t>
            </a:r>
            <a:endParaRPr 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1589539"/>
            <a:ext cx="3467100" cy="4138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101302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009" y="127000"/>
            <a:ext cx="5753100" cy="543739"/>
          </a:xfrm>
        </p:spPr>
        <p:txBody>
          <a:bodyPr/>
          <a:lstStyle/>
          <a:p>
            <a:r>
              <a:rPr lang="en-US" dirty="0"/>
              <a:t>Accounting cycle: </a:t>
            </a:r>
          </a:p>
        </p:txBody>
      </p:sp>
      <p:sp>
        <p:nvSpPr>
          <p:cNvPr id="3" name="Rectangle 2"/>
          <p:cNvSpPr/>
          <p:nvPr/>
        </p:nvSpPr>
        <p:spPr>
          <a:xfrm>
            <a:off x="152400" y="639619"/>
            <a:ext cx="8815615" cy="605704"/>
          </a:xfrm>
          <a:prstGeom prst="rect">
            <a:avLst/>
          </a:prstGeom>
        </p:spPr>
        <p:txBody>
          <a:bodyPr wrap="square" lIns="51206" tIns="25603" rIns="51206" bIns="25603">
            <a:spAutoFit/>
          </a:bodyPr>
          <a:lstStyle/>
          <a:p>
            <a:r>
              <a:rPr lang="en-US" dirty="0"/>
              <a:t>According to ongoing concept, it is expected that the business will go on forever. The continuous cycle of keeping accounts is known as Accounting cycle. </a:t>
            </a:r>
            <a:endParaRPr 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7800" y="1299969"/>
            <a:ext cx="3858821" cy="447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52400" y="1498600"/>
            <a:ext cx="5257800" cy="5591684"/>
          </a:xfrm>
          <a:prstGeom prst="rect">
            <a:avLst/>
          </a:prstGeom>
        </p:spPr>
        <p:txBody>
          <a:bodyPr wrap="square" lIns="51206" tIns="25603" rIns="51206" bIns="25603">
            <a:spAutoFit/>
          </a:bodyPr>
          <a:lstStyle/>
          <a:p>
            <a:pPr algn="just"/>
            <a:r>
              <a:rPr lang="en-US" b="1" dirty="0"/>
              <a:t>1.Identifying Transactions: </a:t>
            </a:r>
            <a:r>
              <a:rPr lang="en-US" dirty="0"/>
              <a:t>Analyzing each event, transactions are identified in the first stage of Accounting cycle.  </a:t>
            </a:r>
          </a:p>
          <a:p>
            <a:pPr algn="just"/>
            <a:r>
              <a:rPr lang="en-US" b="1" dirty="0"/>
              <a:t>2. Analyzing Transactions: </a:t>
            </a:r>
            <a:r>
              <a:rPr lang="en-US" dirty="0"/>
              <a:t>In this stage, each transaction is </a:t>
            </a:r>
          </a:p>
          <a:p>
            <a:pPr algn="just"/>
            <a:r>
              <a:rPr lang="en-US" dirty="0"/>
              <a:t>analyzed and accounts are identified. For example Machineries bought for Taka 5,000. Here two accounts are One Machinery Account and the other cash Account. </a:t>
            </a:r>
          </a:p>
          <a:p>
            <a:pPr algn="just"/>
            <a:r>
              <a:rPr lang="en-US" b="1" dirty="0"/>
              <a:t>3. Journalizing: </a:t>
            </a:r>
            <a:r>
              <a:rPr lang="en-US" dirty="0"/>
              <a:t>Analyzed accounts record into the primary Book of Accounts as Debit and credit chronologically and the journalizing is done.  </a:t>
            </a:r>
          </a:p>
          <a:p>
            <a:pPr algn="just"/>
            <a:r>
              <a:rPr lang="en-US" b="1" dirty="0"/>
              <a:t>4. Transfer to Ledger: </a:t>
            </a:r>
            <a:r>
              <a:rPr lang="en-US" dirty="0"/>
              <a:t>In this stage, transactions recorded in journal are recorded into the separate heads of accounts. </a:t>
            </a:r>
          </a:p>
          <a:p>
            <a:pPr algn="just"/>
            <a:r>
              <a:rPr lang="en-US" b="1" dirty="0"/>
              <a:t>5. Preparing Trial Balance: </a:t>
            </a:r>
            <a:r>
              <a:rPr lang="en-US" dirty="0"/>
              <a:t>Trial balance is prepared to testify whether the transactions are recorded accurately to their concerned head of accounts and with the balances of debit and credit of ledger, a trial balance is prepared.  </a:t>
            </a:r>
          </a:p>
        </p:txBody>
      </p:sp>
    </p:spTree>
    <p:extLst>
      <p:ext uri="{BB962C8B-B14F-4D97-AF65-F5344CB8AC3E}">
        <p14:creationId xmlns:p14="http://schemas.microsoft.com/office/powerpoint/2010/main" val="3127626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1" y="1290223"/>
            <a:ext cx="3810000" cy="447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52400" y="177801"/>
            <a:ext cx="5295900" cy="6627455"/>
          </a:xfrm>
          <a:prstGeom prst="rect">
            <a:avLst/>
          </a:prstGeom>
        </p:spPr>
        <p:txBody>
          <a:bodyPr wrap="square" lIns="51206" tIns="25603" rIns="51206" bIns="25603">
            <a:spAutoFit/>
          </a:bodyPr>
          <a:lstStyle/>
          <a:p>
            <a:pPr algn="just" defTabSz="512064">
              <a:defRPr/>
            </a:pPr>
            <a:r>
              <a:rPr lang="en-US" b="1" kern="0" dirty="0">
                <a:solidFill>
                  <a:sysClr val="windowText" lastClr="000000"/>
                </a:solidFill>
              </a:rPr>
              <a:t>6. Adjusting Entries: </a:t>
            </a:r>
            <a:r>
              <a:rPr lang="en-US" kern="0" dirty="0">
                <a:solidFill>
                  <a:sysClr val="windowText" lastClr="000000"/>
                </a:solidFill>
              </a:rPr>
              <a:t>To identify the actual financial condition of a business the receivable income, accrued expense, expenses paid in advance and unearned income these items of a particular accounting period are adjusted through adjusting entries.  </a:t>
            </a:r>
          </a:p>
          <a:p>
            <a:pPr algn="just" defTabSz="512064">
              <a:defRPr/>
            </a:pPr>
            <a:r>
              <a:rPr lang="en-US" b="1" kern="0" dirty="0">
                <a:solidFill>
                  <a:sysClr val="windowText" lastClr="000000"/>
                </a:solidFill>
              </a:rPr>
              <a:t>7. Prepare Worksheet: </a:t>
            </a:r>
            <a:r>
              <a:rPr lang="en-US" kern="0" dirty="0">
                <a:solidFill>
                  <a:sysClr val="windowText" lastClr="000000"/>
                </a:solidFill>
              </a:rPr>
              <a:t>For the objective of preparing the financial statement easier, an optional multi column statement is prepared. It is known as worksheet.  </a:t>
            </a:r>
          </a:p>
          <a:p>
            <a:pPr algn="just" defTabSz="512064">
              <a:defRPr/>
            </a:pPr>
            <a:r>
              <a:rPr lang="en-US" b="1" kern="0" dirty="0">
                <a:solidFill>
                  <a:sysClr val="windowText" lastClr="000000"/>
                </a:solidFill>
              </a:rPr>
              <a:t>8. Preparation of Financial Statement: </a:t>
            </a:r>
            <a:r>
              <a:rPr lang="en-US" kern="0" dirty="0">
                <a:solidFill>
                  <a:sysClr val="windowText" lastClr="000000"/>
                </a:solidFill>
              </a:rPr>
              <a:t>With the financial statement, the amount of profit-loss, assets, liability, and owner’s equity of a business is determined.  </a:t>
            </a:r>
          </a:p>
          <a:p>
            <a:pPr algn="just" defTabSz="512064">
              <a:defRPr/>
            </a:pPr>
            <a:r>
              <a:rPr lang="en-US" b="1" kern="0" dirty="0">
                <a:solidFill>
                  <a:sysClr val="windowText" lastClr="000000"/>
                </a:solidFill>
              </a:rPr>
              <a:t>9. Closing Entry: </a:t>
            </a:r>
            <a:r>
              <a:rPr lang="en-US" kern="0" dirty="0">
                <a:solidFill>
                  <a:sysClr val="windowText" lastClr="000000"/>
                </a:solidFill>
              </a:rPr>
              <a:t>The balance of the revenue income, revenue expense, and drawings of a business need to be closed at the end of the year. The income and expense of a business remain closed with the remaining asset, liability, and owner’s equity the next year starts. </a:t>
            </a:r>
          </a:p>
          <a:p>
            <a:pPr algn="just" defTabSz="512064">
              <a:defRPr/>
            </a:pPr>
            <a:r>
              <a:rPr lang="en-US" b="1" kern="0" dirty="0">
                <a:solidFill>
                  <a:sysClr val="windowText" lastClr="000000"/>
                </a:solidFill>
              </a:rPr>
              <a:t>10. Opening Journal: </a:t>
            </a:r>
            <a:r>
              <a:rPr lang="en-US" kern="0" dirty="0">
                <a:solidFill>
                  <a:sysClr val="windowText" lastClr="000000"/>
                </a:solidFill>
              </a:rPr>
              <a:t>Income, Expense &amp; Drawing </a:t>
            </a:r>
          </a:p>
          <a:p>
            <a:pPr algn="just" defTabSz="512064">
              <a:defRPr/>
            </a:pPr>
            <a:r>
              <a:rPr lang="en-US" kern="0" dirty="0">
                <a:solidFill>
                  <a:sysClr val="windowText" lastClr="000000"/>
                </a:solidFill>
              </a:rPr>
              <a:t>accounts are being closed by closing entry. Next accounting period starts with the remaining balance of Asset, Liability &amp; Owner’s Equity accounts. </a:t>
            </a:r>
            <a:endParaRPr lang="en-US" dirty="0"/>
          </a:p>
        </p:txBody>
      </p:sp>
    </p:spTree>
    <p:extLst>
      <p:ext uri="{BB962C8B-B14F-4D97-AF65-F5344CB8AC3E}">
        <p14:creationId xmlns:p14="http://schemas.microsoft.com/office/powerpoint/2010/main" val="5617753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817</Words>
  <Application>Microsoft Office PowerPoint</Application>
  <PresentationFormat>On-screen Show (4:3)</PresentationFormat>
  <Paragraphs>65</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Chapter Three</vt:lpstr>
      <vt:lpstr>Throughout the world, Double Entry System is established &amp; known as dependable, scientific, and complete system for keeping accounts in the business. In double entry system each transaction that measured or measurable in terms of money is expressed in dual entity. There is no alternative method of Double Entry System to know the actual result and financial condition of business. </vt:lpstr>
      <vt:lpstr>Procedure of Identifying Debit and Credit: </vt:lpstr>
      <vt:lpstr>Procedure of Identifying Debit and Credit: </vt:lpstr>
      <vt:lpstr>Procedure of Identifying Debit and Credit: </vt:lpstr>
      <vt:lpstr>Accounts kept under double entry system: </vt:lpstr>
      <vt:lpstr>Accounting cycle: </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Three</dc:title>
  <dc:creator>User</dc:creator>
  <cp:lastModifiedBy>User</cp:lastModifiedBy>
  <cp:revision>1</cp:revision>
  <dcterms:created xsi:type="dcterms:W3CDTF">2026-07-12T03:43:27Z</dcterms:created>
  <dcterms:modified xsi:type="dcterms:W3CDTF">2026-07-12T03:43:36Z</dcterms:modified>
</cp:coreProperties>
</file>