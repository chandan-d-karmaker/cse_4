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96" r:id="rId2"/>
    <p:sldId id="295" r:id="rId3"/>
    <p:sldId id="297" r:id="rId4"/>
    <p:sldId id="298" r:id="rId5"/>
    <p:sldId id="29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273" r:id="rId23"/>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09" autoAdjust="0"/>
    <p:restoredTop sz="94660"/>
  </p:normalViewPr>
  <p:slideViewPr>
    <p:cSldViewPr>
      <p:cViewPr>
        <p:scale>
          <a:sx n="33" d="100"/>
          <a:sy n="33" d="100"/>
        </p:scale>
        <p:origin x="-1050" y="-492"/>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CD7DE000-452F-458D-97E8-5E8704B20F1E}" type="datetimeFigureOut">
              <a:rPr lang="en-US" smtClean="0"/>
              <a:t>7/26/2026</a:t>
            </a:fld>
            <a:endParaRPr lang="en-US"/>
          </a:p>
        </p:txBody>
      </p:sp>
      <p:sp>
        <p:nvSpPr>
          <p:cNvPr id="4" name="Slide Image Placeholder 3"/>
          <p:cNvSpPr>
            <a:spLocks noGrp="1" noRot="1" noChangeAspect="1"/>
          </p:cNvSpPr>
          <p:nvPr>
            <p:ph type="sldImg" idx="2"/>
          </p:nvPr>
        </p:nvSpPr>
        <p:spPr>
          <a:xfrm>
            <a:off x="5715000" y="771525"/>
            <a:ext cx="6858000" cy="3857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886325"/>
            <a:ext cx="14630400" cy="46291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771063"/>
            <a:ext cx="7924800" cy="5143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4350"/>
          </a:xfrm>
          <a:prstGeom prst="rect">
            <a:avLst/>
          </a:prstGeom>
        </p:spPr>
        <p:txBody>
          <a:bodyPr vert="horz" lIns="91440" tIns="45720" rIns="91440" bIns="45720" rtlCol="0" anchor="b"/>
          <a:lstStyle>
            <a:lvl1pPr algn="r">
              <a:defRPr sz="1200"/>
            </a:lvl1pPr>
          </a:lstStyle>
          <a:p>
            <a:fld id="{AEAF944D-B155-46F9-91BD-D015D810679E}" type="slidenum">
              <a:rPr lang="en-US" smtClean="0"/>
              <a:t>‹#›</a:t>
            </a:fld>
            <a:endParaRPr lang="en-US"/>
          </a:p>
        </p:txBody>
      </p:sp>
    </p:spTree>
    <p:extLst>
      <p:ext uri="{BB962C8B-B14F-4D97-AF65-F5344CB8AC3E}">
        <p14:creationId xmlns:p14="http://schemas.microsoft.com/office/powerpoint/2010/main" val="309089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300" b="1" i="0">
                <a:solidFill>
                  <a:srgbClr val="004AAC"/>
                </a:solidFill>
                <a:latin typeface="Trebuchet MS"/>
                <a:cs typeface="Trebuchet MS"/>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5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1" i="0">
                <a:solidFill>
                  <a:srgbClr val="004AAC"/>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325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9"/>
          </a:xfrm>
          <a:prstGeom prst="rect">
            <a:avLst/>
          </a:prstGeom>
        </p:spPr>
      </p:pic>
      <p:sp>
        <p:nvSpPr>
          <p:cNvPr id="2" name="Holder 2"/>
          <p:cNvSpPr>
            <a:spLocks noGrp="1"/>
          </p:cNvSpPr>
          <p:nvPr>
            <p:ph type="title"/>
          </p:nvPr>
        </p:nvSpPr>
        <p:spPr/>
        <p:txBody>
          <a:bodyPr lIns="0" tIns="0" rIns="0" bIns="0"/>
          <a:lstStyle>
            <a:lvl1pPr>
              <a:defRPr sz="5300" b="1" i="0">
                <a:solidFill>
                  <a:srgbClr val="004AAC"/>
                </a:solidFill>
                <a:latin typeface="Trebuchet MS"/>
                <a:cs typeface="Trebuchet MS"/>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1416677" y="1735067"/>
            <a:ext cx="6884034" cy="5681980"/>
          </a:xfrm>
          <a:prstGeom prst="rect">
            <a:avLst/>
          </a:prstGeom>
        </p:spPr>
        <p:txBody>
          <a:bodyPr wrap="square" lIns="0" tIns="0" rIns="0" bIns="0">
            <a:spAutoFit/>
          </a:bodyPr>
          <a:lstStyle>
            <a:lvl1pPr>
              <a:defRPr sz="4250" b="0" i="0">
                <a:solidFill>
                  <a:schemeClr val="bg1"/>
                </a:solidFill>
                <a:latin typeface="Lucida Sans Unicode"/>
                <a:cs typeface="Lucida Sans Unicode"/>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1" i="0">
                <a:solidFill>
                  <a:srgbClr val="004AAC"/>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2812" y="123583"/>
            <a:ext cx="15284029" cy="1011307"/>
          </a:xfrm>
          <a:prstGeom prst="rect">
            <a:avLst/>
          </a:prstGeom>
        </p:spPr>
        <p:txBody>
          <a:bodyPr wrap="square" lIns="0" tIns="0" rIns="0" bIns="0">
            <a:spAutoFit/>
          </a:bodyPr>
          <a:lstStyle>
            <a:lvl1pPr>
              <a:defRPr sz="5300" b="1" i="0">
                <a:solidFill>
                  <a:srgbClr val="004AAC"/>
                </a:solidFill>
                <a:latin typeface="Trebuchet MS"/>
                <a:cs typeface="Trebuchet MS"/>
              </a:defRPr>
            </a:lvl1pPr>
          </a:lstStyle>
          <a:p>
            <a:endParaRPr/>
          </a:p>
        </p:txBody>
      </p:sp>
      <p:sp>
        <p:nvSpPr>
          <p:cNvPr id="3" name="Holder 3"/>
          <p:cNvSpPr>
            <a:spLocks noGrp="1"/>
          </p:cNvSpPr>
          <p:nvPr>
            <p:ph type="body" idx="1"/>
          </p:nvPr>
        </p:nvSpPr>
        <p:spPr>
          <a:xfrm>
            <a:off x="1106020" y="2475668"/>
            <a:ext cx="16561435" cy="5835650"/>
          </a:xfrm>
          <a:prstGeom prst="rect">
            <a:avLst/>
          </a:prstGeom>
        </p:spPr>
        <p:txBody>
          <a:bodyPr wrap="square" lIns="0" tIns="0" rIns="0" bIns="0">
            <a:spAutoFit/>
          </a:bodyPr>
          <a:lstStyle>
            <a:lvl1pPr>
              <a:defRPr sz="325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7/26/2026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219200" y="1866900"/>
            <a:ext cx="6629400" cy="1323439"/>
          </a:xfrm>
          <a:prstGeom prst="rect">
            <a:avLst/>
          </a:prstGeom>
          <a:noFill/>
        </p:spPr>
        <p:txBody>
          <a:bodyPr wrap="square" rtlCol="0">
            <a:spAutoFit/>
          </a:bodyPr>
          <a:lstStyle/>
          <a:p>
            <a:r>
              <a:rPr lang="en-US" sz="8000" b="1" dirty="0" smtClean="0"/>
              <a:t>Chapter Four</a:t>
            </a:r>
            <a:endParaRPr lang="en-US" sz="8000" b="1" dirty="0"/>
          </a:p>
        </p:txBody>
      </p:sp>
    </p:spTree>
    <p:extLst>
      <p:ext uri="{BB962C8B-B14F-4D97-AF65-F5344CB8AC3E}">
        <p14:creationId xmlns:p14="http://schemas.microsoft.com/office/powerpoint/2010/main" val="3115776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828800" y="1790701"/>
            <a:ext cx="14859000" cy="3539430"/>
          </a:xfrm>
          <a:prstGeom prst="rect">
            <a:avLst/>
          </a:prstGeom>
        </p:spPr>
        <p:txBody>
          <a:bodyPr wrap="square">
            <a:spAutoFit/>
          </a:bodyPr>
          <a:lstStyle/>
          <a:p>
            <a:r>
              <a:rPr lang="en-US" sz="4800" b="1" dirty="0" smtClean="0">
                <a:solidFill>
                  <a:srgbClr val="000000"/>
                </a:solidFill>
                <a:effectLst/>
                <a:latin typeface="+mn-lt"/>
              </a:rPr>
              <a:t>At the end of this chapter, we will be able to </a:t>
            </a:r>
            <a:endParaRPr lang="en-US" sz="4400" dirty="0" smtClean="0">
              <a:latin typeface="+mn-lt"/>
            </a:endParaRPr>
          </a:p>
          <a:p>
            <a:pPr marL="571500" indent="-571500">
              <a:buFont typeface="Wingdings" pitchFamily="2" charset="2"/>
              <a:buChar char="q"/>
            </a:pPr>
            <a:r>
              <a:rPr lang="en-US" sz="4400" dirty="0" smtClean="0">
                <a:solidFill>
                  <a:srgbClr val="000000"/>
                </a:solidFill>
                <a:effectLst/>
                <a:latin typeface="+mn-lt"/>
              </a:rPr>
              <a:t>identify and importance of journal.</a:t>
            </a:r>
          </a:p>
          <a:p>
            <a:pPr marL="571500" indent="-571500">
              <a:buFont typeface="Wingdings" pitchFamily="2" charset="2"/>
              <a:buChar char="q"/>
            </a:pPr>
            <a:r>
              <a:rPr lang="en-US" sz="4400" dirty="0" smtClean="0">
                <a:solidFill>
                  <a:srgbClr val="000000"/>
                </a:solidFill>
                <a:effectLst/>
                <a:latin typeface="+mn-lt"/>
              </a:rPr>
              <a:t>classify journal. </a:t>
            </a:r>
          </a:p>
          <a:p>
            <a:pPr marL="571500" indent="-571500">
              <a:buFont typeface="Wingdings" pitchFamily="2" charset="2"/>
              <a:buChar char="q"/>
            </a:pPr>
            <a:r>
              <a:rPr lang="en-US" sz="4400" dirty="0">
                <a:solidFill>
                  <a:srgbClr val="000000"/>
                </a:solidFill>
                <a:latin typeface="+mn-lt"/>
              </a:rPr>
              <a:t>l</a:t>
            </a:r>
            <a:r>
              <a:rPr lang="en-US" sz="4400" dirty="0" smtClean="0">
                <a:solidFill>
                  <a:srgbClr val="000000"/>
                </a:solidFill>
                <a:latin typeface="+mn-lt"/>
              </a:rPr>
              <a:t>ist the factors considered for general journal</a:t>
            </a:r>
            <a:endParaRPr lang="en-US" sz="4400" dirty="0">
              <a:latin typeface="+mn-lt"/>
            </a:endParaRPr>
          </a:p>
          <a:p>
            <a:pPr marL="571500" indent="-571500">
              <a:buFont typeface="Wingdings" pitchFamily="2" charset="2"/>
              <a:buChar char="q"/>
            </a:pPr>
            <a:r>
              <a:rPr lang="en-US" sz="4400" dirty="0" smtClean="0">
                <a:solidFill>
                  <a:srgbClr val="000000"/>
                </a:solidFill>
                <a:effectLst/>
                <a:latin typeface="+mn-lt"/>
              </a:rPr>
              <a:t>provide general journal Entry. </a:t>
            </a:r>
            <a:endParaRPr lang="en-US" sz="4400" dirty="0" smtClean="0">
              <a:latin typeface="+mn-lt"/>
            </a:endParaRPr>
          </a:p>
        </p:txBody>
      </p:sp>
    </p:spTree>
    <p:extLst>
      <p:ext uri="{BB962C8B-B14F-4D97-AF65-F5344CB8AC3E}">
        <p14:creationId xmlns:p14="http://schemas.microsoft.com/office/powerpoint/2010/main" val="2718472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143000" y="1773346"/>
            <a:ext cx="15773400" cy="6740307"/>
          </a:xfrm>
          <a:prstGeom prst="rect">
            <a:avLst/>
          </a:prstGeom>
        </p:spPr>
        <p:txBody>
          <a:bodyPr wrap="square">
            <a:spAutoFit/>
          </a:bodyPr>
          <a:lstStyle/>
          <a:p>
            <a:pPr algn="just"/>
            <a:r>
              <a:rPr lang="en-US" sz="3600" dirty="0">
                <a:latin typeface="+mn-lt"/>
              </a:rPr>
              <a:t>After the identification of financial and non-financial events, it is necessary to </a:t>
            </a:r>
            <a:endParaRPr lang="en-US" sz="3600" dirty="0" smtClean="0">
              <a:latin typeface="+mn-lt"/>
            </a:endParaRPr>
          </a:p>
          <a:p>
            <a:pPr algn="just"/>
            <a:r>
              <a:rPr lang="en-US" sz="3600" dirty="0">
                <a:latin typeface="+mn-lt"/>
              </a:rPr>
              <a:t>record the financial transactions in the books of accounts identifying Debit and </a:t>
            </a:r>
            <a:r>
              <a:rPr lang="en-US" sz="3600" dirty="0" smtClean="0">
                <a:latin typeface="+mn-lt"/>
              </a:rPr>
              <a:t>Credit </a:t>
            </a:r>
            <a:r>
              <a:rPr lang="en-US" sz="3600" dirty="0">
                <a:latin typeface="+mn-lt"/>
              </a:rPr>
              <a:t>parties. </a:t>
            </a:r>
            <a:endParaRPr lang="en-US" sz="3600" dirty="0" smtClean="0">
              <a:latin typeface="+mn-lt"/>
            </a:endParaRPr>
          </a:p>
          <a:p>
            <a:pPr algn="just"/>
            <a:endParaRPr lang="en-US" sz="3600" dirty="0"/>
          </a:p>
          <a:p>
            <a:pPr algn="just"/>
            <a:r>
              <a:rPr lang="en-US" sz="3600" dirty="0" smtClean="0">
                <a:solidFill>
                  <a:srgbClr val="000000"/>
                </a:solidFill>
                <a:effectLst/>
                <a:latin typeface="+mn-lt"/>
              </a:rPr>
              <a:t>The detail of the transaction is recorded first in journal primarily. Analyzing the debit and credit side of a transaction it is written chronologically with explanation in a journal. Later on the journal is acted as the subsidiary book for the principal book Ledger. Therefore, the journal is called the primary book of accounts. </a:t>
            </a:r>
          </a:p>
          <a:p>
            <a:pPr algn="just"/>
            <a:endParaRPr lang="en-US" sz="3600" dirty="0">
              <a:solidFill>
                <a:srgbClr val="000000"/>
              </a:solidFill>
              <a:latin typeface="+mn-lt"/>
            </a:endParaRPr>
          </a:p>
          <a:p>
            <a:pPr algn="just"/>
            <a:r>
              <a:rPr lang="en-US" sz="3600" dirty="0" smtClean="0">
                <a:latin typeface="+mn-lt"/>
              </a:rPr>
              <a:t>Keeping of journal is not compulsory but for the benefit of keeping records, it is </a:t>
            </a:r>
          </a:p>
          <a:p>
            <a:pPr algn="just"/>
            <a:r>
              <a:rPr lang="en-US" sz="3600" dirty="0" smtClean="0">
                <a:latin typeface="+mn-lt"/>
              </a:rPr>
              <a:t>required to be kept. If transactions are kept in a journal, the chance of happening </a:t>
            </a:r>
          </a:p>
          <a:p>
            <a:pPr algn="just"/>
            <a:r>
              <a:rPr lang="en-US" sz="3600" dirty="0" smtClean="0">
                <a:latin typeface="+mn-lt"/>
              </a:rPr>
              <a:t>omission of errors reduces significantly.</a:t>
            </a:r>
            <a:endParaRPr lang="en-US" sz="3600" dirty="0">
              <a:latin typeface="+mn-lt"/>
            </a:endParaRPr>
          </a:p>
        </p:txBody>
      </p:sp>
    </p:spTree>
    <p:extLst>
      <p:ext uri="{BB962C8B-B14F-4D97-AF65-F5344CB8AC3E}">
        <p14:creationId xmlns:p14="http://schemas.microsoft.com/office/powerpoint/2010/main" val="2626702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38200" y="647700"/>
            <a:ext cx="16840200" cy="9264075"/>
          </a:xfrm>
          <a:prstGeom prst="rect">
            <a:avLst/>
          </a:prstGeom>
        </p:spPr>
        <p:txBody>
          <a:bodyPr wrap="square">
            <a:spAutoFit/>
          </a:bodyPr>
          <a:lstStyle/>
          <a:p>
            <a:pPr algn="just"/>
            <a:r>
              <a:rPr lang="en-US" sz="3600" b="1" dirty="0" smtClean="0">
                <a:solidFill>
                  <a:srgbClr val="000000"/>
                </a:solidFill>
                <a:effectLst/>
                <a:latin typeface="+mn-lt"/>
              </a:rPr>
              <a:t>Importance of Journal </a:t>
            </a:r>
            <a:endParaRPr lang="en-US" sz="2800" dirty="0" smtClean="0">
              <a:latin typeface="+mn-lt"/>
            </a:endParaRPr>
          </a:p>
          <a:p>
            <a:pPr algn="just"/>
            <a:r>
              <a:rPr lang="en-US" sz="2800" dirty="0" smtClean="0">
                <a:solidFill>
                  <a:srgbClr val="000000"/>
                </a:solidFill>
                <a:effectLst/>
                <a:latin typeface="+mn-lt"/>
              </a:rPr>
              <a:t>The book of accounts of an institution must be clear and faultless. The financial result and the financial position of business are calculated based on this account. For achieving these principal objectives of accounting, the role of journal is described-</a:t>
            </a:r>
          </a:p>
          <a:p>
            <a:pPr marL="457200" indent="-457200" algn="just">
              <a:buFont typeface="Arial" pitchFamily="34" charset="0"/>
              <a:buChar char="•"/>
            </a:pPr>
            <a:r>
              <a:rPr lang="en-US" sz="2800" b="1" dirty="0" smtClean="0">
                <a:latin typeface="+mn-lt"/>
              </a:rPr>
              <a:t>Recording transactions: </a:t>
            </a:r>
            <a:r>
              <a:rPr lang="en-US" sz="2800" dirty="0" smtClean="0">
                <a:latin typeface="+mn-lt"/>
              </a:rPr>
              <a:t>Many transactions take place in an organization. Transferring those immediately to the ledger may not be possible. The transactions if recorded in a journal then transferring those later on in a ledger become easier. </a:t>
            </a:r>
          </a:p>
          <a:p>
            <a:pPr marL="457200" indent="-457200" algn="just">
              <a:buFont typeface="Arial" pitchFamily="34" charset="0"/>
              <a:buChar char="•"/>
            </a:pPr>
            <a:r>
              <a:rPr lang="en-US" sz="2800" b="1" dirty="0" smtClean="0">
                <a:latin typeface="+mn-lt"/>
              </a:rPr>
              <a:t>Knowing the total number and quantity of transactions: </a:t>
            </a:r>
            <a:r>
              <a:rPr lang="en-US" sz="2800" dirty="0" smtClean="0">
                <a:latin typeface="+mn-lt"/>
              </a:rPr>
              <a:t>It is not possible from ledger to know how many transactions took place on a certain day, in a week or in a month. Since transactions are recorded chronologically in a journal, on a certain date, week or month the total number of transaction can be ascertained. It’s also possible to know the total amount of transactions in different times. </a:t>
            </a:r>
          </a:p>
          <a:p>
            <a:pPr marL="457200" indent="-457200" algn="just">
              <a:buFont typeface="Arial" pitchFamily="34" charset="0"/>
              <a:buChar char="•"/>
            </a:pPr>
            <a:r>
              <a:rPr lang="en-US" sz="2800" b="1" dirty="0" smtClean="0">
                <a:latin typeface="+mn-lt"/>
              </a:rPr>
              <a:t>Application of Dual Entity: </a:t>
            </a:r>
            <a:r>
              <a:rPr lang="en-US" sz="2800" dirty="0" smtClean="0">
                <a:latin typeface="+mn-lt"/>
              </a:rPr>
              <a:t>In double entry system transactions are recorded into concerned Debit &amp; Credit accounts together. So, the application of dual entity can be confirmed from journal. </a:t>
            </a:r>
          </a:p>
          <a:p>
            <a:pPr marL="457200" indent="-457200" algn="just">
              <a:buFont typeface="Arial" pitchFamily="34" charset="0"/>
              <a:buChar char="•"/>
            </a:pPr>
            <a:r>
              <a:rPr lang="en-US" sz="2800" b="1" dirty="0" smtClean="0">
                <a:latin typeface="+mn-lt"/>
              </a:rPr>
              <a:t>Explanation of Transaction: </a:t>
            </a:r>
            <a:r>
              <a:rPr lang="en-US" sz="2800" dirty="0" smtClean="0">
                <a:latin typeface="+mn-lt"/>
              </a:rPr>
              <a:t>If any question arises from transaction, its explanation can be obtained from journal. Because after recording the transaction into the journal, its reasons and explanation are also provided.</a:t>
            </a:r>
          </a:p>
          <a:p>
            <a:pPr marL="457200" indent="-457200" algn="just">
              <a:buFont typeface="Arial" pitchFamily="34" charset="0"/>
              <a:buChar char="•"/>
            </a:pPr>
            <a:r>
              <a:rPr lang="en-US" sz="2800" b="1" dirty="0" smtClean="0">
                <a:latin typeface="+mn-lt"/>
              </a:rPr>
              <a:t>Reduce error &amp; faults: </a:t>
            </a:r>
            <a:r>
              <a:rPr lang="en-US" sz="2800" dirty="0" smtClean="0">
                <a:latin typeface="+mn-lt"/>
              </a:rPr>
              <a:t>If Transactions are recorded in journal before recording to ledger, the faults and being omitted from ledger become less likely to occur.</a:t>
            </a:r>
          </a:p>
          <a:p>
            <a:pPr marL="457200" indent="-457200" algn="just">
              <a:buFont typeface="Arial" pitchFamily="34" charset="0"/>
              <a:buChar char="•"/>
            </a:pPr>
            <a:r>
              <a:rPr lang="en-US" sz="2800" b="1" dirty="0" smtClean="0">
                <a:latin typeface="+mn-lt"/>
              </a:rPr>
              <a:t>Future Reference: </a:t>
            </a:r>
            <a:r>
              <a:rPr lang="en-US" sz="2800" dirty="0" smtClean="0">
                <a:latin typeface="+mn-lt"/>
              </a:rPr>
              <a:t>In journal, transactions are arranged systematically in a chronological manner. In future, it can be used as a proof or evidence. </a:t>
            </a:r>
          </a:p>
          <a:p>
            <a:pPr marL="457200" indent="-457200" algn="just">
              <a:buFont typeface="Arial" pitchFamily="34" charset="0"/>
              <a:buChar char="•"/>
            </a:pPr>
            <a:r>
              <a:rPr lang="en-US" sz="2800" b="1" dirty="0" smtClean="0">
                <a:latin typeface="+mn-lt"/>
              </a:rPr>
              <a:t>Helping aid to principal book:</a:t>
            </a:r>
            <a:r>
              <a:rPr lang="en-US" sz="2800" dirty="0" smtClean="0">
                <a:latin typeface="+mn-lt"/>
              </a:rPr>
              <a:t> Since journal act as a subsidiary book to ledger, so preparation of ledger becomes easier, clear and faultless.</a:t>
            </a:r>
            <a:endParaRPr lang="en-US" sz="2800" dirty="0">
              <a:latin typeface="+mn-lt"/>
            </a:endParaRPr>
          </a:p>
        </p:txBody>
      </p:sp>
    </p:spTree>
    <p:extLst>
      <p:ext uri="{BB962C8B-B14F-4D97-AF65-F5344CB8AC3E}">
        <p14:creationId xmlns:p14="http://schemas.microsoft.com/office/powerpoint/2010/main" val="298685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295400" y="1257300"/>
            <a:ext cx="15468600" cy="1815882"/>
          </a:xfrm>
          <a:prstGeom prst="rect">
            <a:avLst/>
          </a:prstGeom>
        </p:spPr>
        <p:txBody>
          <a:bodyPr wrap="square">
            <a:spAutoFit/>
          </a:bodyPr>
          <a:lstStyle/>
          <a:p>
            <a:pPr algn="just"/>
            <a:r>
              <a:rPr lang="en-US" sz="2800" b="1" dirty="0" smtClean="0">
                <a:latin typeface="+mn-lt"/>
              </a:rPr>
              <a:t>General Journal: </a:t>
            </a:r>
            <a:r>
              <a:rPr lang="en-US" sz="2800" dirty="0" smtClean="0">
                <a:latin typeface="+mn-lt"/>
              </a:rPr>
              <a:t>Identifying debit and credit of transaction and recording in the journal </a:t>
            </a:r>
            <a:r>
              <a:rPr lang="en-US" sz="2800" dirty="0" err="1" smtClean="0">
                <a:latin typeface="+mn-lt"/>
              </a:rPr>
              <a:t>proforma</a:t>
            </a:r>
            <a:r>
              <a:rPr lang="en-US" sz="2800" dirty="0" smtClean="0">
                <a:latin typeface="+mn-lt"/>
              </a:rPr>
              <a:t> is called general journal. A transaction should always consist of a debit and credit is not applicable. Based on transactions there can be more than on debits or credits items. But it should be watched specially that the total amount of debit should equal to the total amount of credit.</a:t>
            </a:r>
            <a:endParaRPr lang="en-US" sz="2800" dirty="0">
              <a:latin typeface="+mn-l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439" y="4305300"/>
            <a:ext cx="15760816"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9709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134600" y="114240"/>
            <a:ext cx="8111836" cy="10125849"/>
          </a:xfrm>
          <a:prstGeom prst="rect">
            <a:avLst/>
          </a:prstGeom>
        </p:spPr>
        <p:txBody>
          <a:bodyPr wrap="square">
            <a:spAutoFit/>
          </a:bodyPr>
          <a:lstStyle/>
          <a:p>
            <a:r>
              <a:rPr lang="en-US" sz="3200" b="1" dirty="0" smtClean="0">
                <a:latin typeface="+mn-lt"/>
              </a:rPr>
              <a:t>Classification of Journal:</a:t>
            </a:r>
          </a:p>
          <a:p>
            <a:r>
              <a:rPr lang="en-US" sz="2800" dirty="0" smtClean="0">
                <a:latin typeface="+mn-lt"/>
              </a:rPr>
              <a:t>For the benefits of accounts information users’ journal are classified under the following manner-</a:t>
            </a:r>
          </a:p>
          <a:p>
            <a:endParaRPr lang="en-US" sz="2800" dirty="0">
              <a:latin typeface="+mn-lt"/>
            </a:endParaRPr>
          </a:p>
          <a:p>
            <a:r>
              <a:rPr lang="en-US" sz="3200" b="1" dirty="0" smtClean="0">
                <a:solidFill>
                  <a:srgbClr val="000000"/>
                </a:solidFill>
                <a:effectLst/>
                <a:latin typeface="+mn-lt"/>
              </a:rPr>
              <a:t>Special Journal </a:t>
            </a:r>
            <a:endParaRPr lang="en-US" sz="2800" dirty="0" smtClean="0">
              <a:latin typeface="+mn-lt"/>
            </a:endParaRPr>
          </a:p>
          <a:p>
            <a:r>
              <a:rPr lang="en-US" sz="2800" dirty="0" smtClean="0">
                <a:solidFill>
                  <a:srgbClr val="000000"/>
                </a:solidFill>
                <a:effectLst/>
                <a:latin typeface="+mn-lt"/>
              </a:rPr>
              <a:t>Almost all the transaction that takes place in a business </a:t>
            </a:r>
            <a:endParaRPr lang="en-US" sz="2800" dirty="0" smtClean="0">
              <a:latin typeface="+mn-lt"/>
            </a:endParaRPr>
          </a:p>
          <a:p>
            <a:r>
              <a:rPr lang="en-US" sz="2800" dirty="0" smtClean="0">
                <a:solidFill>
                  <a:srgbClr val="000000"/>
                </a:solidFill>
                <a:effectLst/>
                <a:latin typeface="+mn-lt"/>
              </a:rPr>
              <a:t>is recorded in a special journal. </a:t>
            </a:r>
            <a:endParaRPr lang="en-US" sz="2800" dirty="0" smtClean="0">
              <a:latin typeface="+mn-lt"/>
            </a:endParaRPr>
          </a:p>
          <a:p>
            <a:pPr marL="514350" indent="-514350">
              <a:buAutoNum type="arabicPeriod"/>
            </a:pPr>
            <a:r>
              <a:rPr lang="en-US" sz="2800" b="1" dirty="0" smtClean="0">
                <a:solidFill>
                  <a:srgbClr val="000000"/>
                </a:solidFill>
                <a:effectLst/>
                <a:latin typeface="+mn-lt"/>
              </a:rPr>
              <a:t>Purchase Journal:</a:t>
            </a:r>
            <a:r>
              <a:rPr lang="en-US" sz="2800" dirty="0" smtClean="0">
                <a:solidFill>
                  <a:srgbClr val="000000"/>
                </a:solidFill>
                <a:effectLst/>
                <a:latin typeface="+mn-lt"/>
              </a:rPr>
              <a:t> All the credit goods purchases of a business are recorded in this journal.</a:t>
            </a:r>
          </a:p>
          <a:p>
            <a:pPr marL="514350" indent="-514350">
              <a:buAutoNum type="arabicPeriod"/>
            </a:pPr>
            <a:r>
              <a:rPr lang="en-US" sz="2800" b="1" dirty="0" smtClean="0">
                <a:solidFill>
                  <a:srgbClr val="000000"/>
                </a:solidFill>
                <a:effectLst/>
                <a:latin typeface="+mn-lt"/>
              </a:rPr>
              <a:t>Sales Journal: </a:t>
            </a:r>
            <a:r>
              <a:rPr lang="en-US" sz="2800" dirty="0" smtClean="0">
                <a:solidFill>
                  <a:srgbClr val="000000"/>
                </a:solidFill>
                <a:effectLst/>
                <a:latin typeface="+mn-lt"/>
              </a:rPr>
              <a:t>All the credit goods sales of a business are recorded in this journal. </a:t>
            </a:r>
          </a:p>
          <a:p>
            <a:pPr marL="514350" indent="-514350">
              <a:buAutoNum type="arabicPeriod"/>
            </a:pPr>
            <a:r>
              <a:rPr lang="en-US" sz="2800" b="1" dirty="0" smtClean="0">
                <a:solidFill>
                  <a:srgbClr val="000000"/>
                </a:solidFill>
                <a:effectLst/>
                <a:latin typeface="+mn-lt"/>
              </a:rPr>
              <a:t>Purchase Return Journal: </a:t>
            </a:r>
            <a:r>
              <a:rPr lang="en-US" sz="2800" dirty="0" smtClean="0">
                <a:solidFill>
                  <a:srgbClr val="000000"/>
                </a:solidFill>
                <a:effectLst/>
                <a:latin typeface="+mn-lt"/>
              </a:rPr>
              <a:t>Goods purchased on credit but returned are recorded in this journal. </a:t>
            </a:r>
          </a:p>
          <a:p>
            <a:pPr marL="514350" indent="-514350">
              <a:buAutoNum type="arabicPeriod"/>
            </a:pPr>
            <a:r>
              <a:rPr lang="en-US" sz="2800" b="1" dirty="0" smtClean="0">
                <a:solidFill>
                  <a:srgbClr val="000000"/>
                </a:solidFill>
                <a:effectLst/>
                <a:latin typeface="+mn-lt"/>
              </a:rPr>
              <a:t>Sales Return Journal: </a:t>
            </a:r>
            <a:r>
              <a:rPr lang="en-US" sz="2800" dirty="0" smtClean="0">
                <a:solidFill>
                  <a:srgbClr val="000000"/>
                </a:solidFill>
                <a:effectLst/>
                <a:latin typeface="+mn-lt"/>
              </a:rPr>
              <a:t>Goods sold on credit but returned are recorded in this journal. </a:t>
            </a:r>
          </a:p>
          <a:p>
            <a:pPr marL="514350" indent="-514350">
              <a:buAutoNum type="arabicPeriod"/>
            </a:pPr>
            <a:r>
              <a:rPr lang="en-US" sz="2800" b="1" dirty="0" smtClean="0">
                <a:solidFill>
                  <a:srgbClr val="000000"/>
                </a:solidFill>
                <a:effectLst/>
                <a:latin typeface="+mn-lt"/>
              </a:rPr>
              <a:t>Cash Receipt Journal:</a:t>
            </a:r>
            <a:r>
              <a:rPr lang="en-US" sz="2800" dirty="0" smtClean="0">
                <a:solidFill>
                  <a:srgbClr val="000000"/>
                </a:solidFill>
                <a:effectLst/>
                <a:latin typeface="+mn-lt"/>
              </a:rPr>
              <a:t> The transactions that include cash receipts (including goods sold for cash) are recorded in cash receipt journal. </a:t>
            </a:r>
          </a:p>
          <a:p>
            <a:pPr marL="514350" indent="-514350">
              <a:buAutoNum type="arabicPeriod"/>
            </a:pPr>
            <a:r>
              <a:rPr lang="en-US" sz="2800" b="1" dirty="0" smtClean="0">
                <a:solidFill>
                  <a:srgbClr val="000000"/>
                </a:solidFill>
                <a:effectLst/>
                <a:latin typeface="+mn-lt"/>
              </a:rPr>
              <a:t>Cash Payment journal:</a:t>
            </a:r>
            <a:r>
              <a:rPr lang="en-US" sz="2800" dirty="0" smtClean="0">
                <a:solidFill>
                  <a:srgbClr val="000000"/>
                </a:solidFill>
                <a:effectLst/>
                <a:latin typeface="+mn-lt"/>
              </a:rPr>
              <a:t> The transactions that include cash payments (including goods purchased) are recorded in cash payment journal.</a:t>
            </a:r>
          </a:p>
          <a:p>
            <a:pPr marL="457200" indent="-457200">
              <a:buAutoNum type="arabicPeriod"/>
            </a:pPr>
            <a:endParaRPr lang="en-US" sz="2800" dirty="0">
              <a:latin typeface="+mn-lt"/>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6" y="19050"/>
            <a:ext cx="9618916" cy="1026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5078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85800" y="0"/>
            <a:ext cx="17373600" cy="10064294"/>
          </a:xfrm>
          <a:prstGeom prst="rect">
            <a:avLst/>
          </a:prstGeom>
        </p:spPr>
        <p:txBody>
          <a:bodyPr wrap="square">
            <a:spAutoFit/>
          </a:bodyPr>
          <a:lstStyle/>
          <a:p>
            <a:pPr algn="just"/>
            <a:r>
              <a:rPr lang="en-US" sz="3200" b="1" dirty="0" smtClean="0">
                <a:latin typeface="+mn-lt"/>
              </a:rPr>
              <a:t>Journal Proper: </a:t>
            </a:r>
            <a:r>
              <a:rPr lang="en-US" sz="2800" dirty="0" smtClean="0">
                <a:solidFill>
                  <a:srgbClr val="000000"/>
                </a:solidFill>
                <a:effectLst/>
                <a:latin typeface="Times New Roman"/>
              </a:rPr>
              <a:t>The transactions which are not record in Special Journal, those are include in Journal </a:t>
            </a:r>
            <a:endParaRPr lang="en-US" sz="2800" dirty="0" smtClean="0"/>
          </a:p>
          <a:p>
            <a:pPr algn="just"/>
            <a:r>
              <a:rPr lang="en-US" sz="2800" dirty="0" smtClean="0">
                <a:solidFill>
                  <a:srgbClr val="000000"/>
                </a:solidFill>
                <a:effectLst/>
                <a:latin typeface="Times New Roman"/>
              </a:rPr>
              <a:t>Proper. </a:t>
            </a:r>
            <a:endParaRPr lang="en-US" sz="2800" dirty="0" smtClean="0">
              <a:solidFill>
                <a:srgbClr val="000000"/>
              </a:solidFill>
              <a:effectLst/>
              <a:latin typeface="+mn-lt"/>
            </a:endParaRPr>
          </a:p>
          <a:p>
            <a:pPr algn="just"/>
            <a:r>
              <a:rPr lang="en-US" sz="2800" b="1" dirty="0" smtClean="0">
                <a:latin typeface="+mn-lt"/>
              </a:rPr>
              <a:t>1.   Rectifying Journal: </a:t>
            </a:r>
            <a:r>
              <a:rPr lang="en-US" sz="2800" dirty="0" smtClean="0">
                <a:latin typeface="+mn-lt"/>
              </a:rPr>
              <a:t>If any mistake occurs on recording transactions, it cannot be made scrabble. The mistake is        	rectified by giving a journal entry. The entry which is given for the rectification of error is known as rectifying 	journal.</a:t>
            </a:r>
          </a:p>
          <a:p>
            <a:pPr algn="just"/>
            <a:r>
              <a:rPr lang="en-US" sz="2800" dirty="0" smtClean="0">
                <a:latin typeface="+mn-lt"/>
              </a:rPr>
              <a:t>	Example: </a:t>
            </a:r>
            <a:r>
              <a:rPr lang="en-US" sz="2800" dirty="0">
                <a:latin typeface="+mn-lt"/>
              </a:rPr>
              <a:t>Furniture purchase tk.10000, wrongly purchase account debited with tk.10,000. </a:t>
            </a:r>
            <a:endParaRPr lang="en-US" sz="2800" dirty="0" smtClean="0">
              <a:latin typeface="+mn-lt"/>
            </a:endParaRPr>
          </a:p>
          <a:p>
            <a:pPr lvl="3" algn="just"/>
            <a:r>
              <a:rPr lang="en-US" sz="2800" dirty="0">
                <a:latin typeface="+mn-lt"/>
              </a:rPr>
              <a:t>	</a:t>
            </a:r>
            <a:r>
              <a:rPr lang="en-US" sz="2800" dirty="0" smtClean="0">
                <a:latin typeface="+mn-lt"/>
              </a:rPr>
              <a:t>	Furniture Account Debit 			10000</a:t>
            </a:r>
          </a:p>
          <a:p>
            <a:pPr lvl="3" algn="just"/>
            <a:r>
              <a:rPr lang="en-US" sz="2800" dirty="0" smtClean="0">
                <a:latin typeface="+mn-lt"/>
              </a:rPr>
              <a:t> 			Purchase Account Credit 			10000</a:t>
            </a:r>
          </a:p>
          <a:p>
            <a:pPr lvl="3" algn="just"/>
            <a:r>
              <a:rPr lang="en-US" sz="2800" dirty="0" smtClean="0">
                <a:latin typeface="+mn-lt"/>
              </a:rPr>
              <a:t>		(Wrongly purchase account was debited in place of furniture account, now rectified)</a:t>
            </a:r>
          </a:p>
          <a:p>
            <a:pPr lvl="3" algn="just"/>
            <a:endParaRPr lang="en-US" sz="2800" dirty="0" smtClean="0">
              <a:latin typeface="+mn-lt"/>
            </a:endParaRPr>
          </a:p>
          <a:p>
            <a:pPr marL="514350" indent="-514350" algn="just">
              <a:buAutoNum type="arabicPeriod" startAt="2"/>
            </a:pPr>
            <a:r>
              <a:rPr lang="en-US" sz="2800" b="1" dirty="0" smtClean="0">
                <a:latin typeface="+mn-lt"/>
              </a:rPr>
              <a:t>Adjusting Journal: </a:t>
            </a:r>
            <a:r>
              <a:rPr lang="en-US" sz="2800" dirty="0" smtClean="0">
                <a:latin typeface="+mn-lt"/>
              </a:rPr>
              <a:t>Financial statements are prepared to determine the financial position of business. Unrecorded and unadjusted items (accrued and advance expense, unearned and receivable income, depreciation, reserve etc.) that are included at preparing the financial statements is known as adjusting entries.</a:t>
            </a:r>
          </a:p>
          <a:p>
            <a:pPr algn="just"/>
            <a:r>
              <a:rPr lang="en-US" sz="2800" dirty="0" smtClean="0">
                <a:latin typeface="+mn-lt"/>
              </a:rPr>
              <a:t>	Example:	Prepaid Rent Account 	Debit </a:t>
            </a:r>
          </a:p>
          <a:p>
            <a:pPr algn="just"/>
            <a:r>
              <a:rPr lang="en-US" sz="2800" dirty="0" smtClean="0">
                <a:latin typeface="+mn-lt"/>
              </a:rPr>
              <a:t> 			Rent Account 		Credit </a:t>
            </a:r>
          </a:p>
          <a:p>
            <a:pPr algn="just"/>
            <a:r>
              <a:rPr lang="en-US" sz="2800" dirty="0" smtClean="0">
                <a:latin typeface="+mn-lt"/>
              </a:rPr>
              <a:t>		(Prepaid rent adjusted with rent account)</a:t>
            </a:r>
          </a:p>
          <a:p>
            <a:pPr algn="just"/>
            <a:r>
              <a:rPr lang="en-US" sz="2800" dirty="0">
                <a:latin typeface="+mn-lt"/>
              </a:rPr>
              <a:t>	</a:t>
            </a:r>
            <a:r>
              <a:rPr lang="en-US" sz="2800" dirty="0" smtClean="0">
                <a:latin typeface="+mn-lt"/>
              </a:rPr>
              <a:t>	</a:t>
            </a:r>
          </a:p>
          <a:p>
            <a:pPr algn="just"/>
            <a:r>
              <a:rPr lang="en-US" sz="2800" b="1" dirty="0" smtClean="0">
                <a:latin typeface="+mn-lt"/>
              </a:rPr>
              <a:t>3. Closing Journal:</a:t>
            </a:r>
            <a:r>
              <a:rPr lang="en-US" sz="2800" dirty="0" smtClean="0">
                <a:latin typeface="+mn-lt"/>
              </a:rPr>
              <a:t> Revenue incomes and expenses of a particular year will not affect the next year’s accounts. So, 	during the preparation of financial statement revenue income and expenses should be closed. We have learnt 	in accounts chapter that the balances of income denote credit while the balances of expense denote debit 	balance. Beside, Drawings account is also closed by closing journal.</a:t>
            </a:r>
          </a:p>
          <a:p>
            <a:pPr algn="just"/>
            <a:r>
              <a:rPr lang="en-US" sz="2800" dirty="0">
                <a:latin typeface="+mn-lt"/>
              </a:rPr>
              <a:t>	</a:t>
            </a:r>
            <a:r>
              <a:rPr lang="en-US" sz="2800" dirty="0" smtClean="0">
                <a:latin typeface="+mn-lt"/>
              </a:rPr>
              <a:t>Example: Balance of Revenue income &amp; expenditure accounts in 2025 of a business was Purchase 50,000; Sales 	80,000; Salaries 10,000; Rent 5,000.</a:t>
            </a:r>
          </a:p>
        </p:txBody>
      </p:sp>
    </p:spTree>
    <p:extLst>
      <p:ext uri="{BB962C8B-B14F-4D97-AF65-F5344CB8AC3E}">
        <p14:creationId xmlns:p14="http://schemas.microsoft.com/office/powerpoint/2010/main" val="54558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85800" y="0"/>
            <a:ext cx="17373600" cy="10002738"/>
          </a:xfrm>
          <a:prstGeom prst="rect">
            <a:avLst/>
          </a:prstGeom>
        </p:spPr>
        <p:txBody>
          <a:bodyPr wrap="square">
            <a:spAutoFit/>
          </a:bodyPr>
          <a:lstStyle/>
          <a:p>
            <a:pPr algn="just"/>
            <a:r>
              <a:rPr lang="en-US" sz="2800" b="1" dirty="0" smtClean="0">
                <a:latin typeface="+mn-lt"/>
              </a:rPr>
              <a:t>Closing Journal: 	</a:t>
            </a:r>
          </a:p>
          <a:p>
            <a:pPr algn="just"/>
            <a:r>
              <a:rPr lang="en-US" sz="2800" b="1" dirty="0">
                <a:latin typeface="+mn-lt"/>
              </a:rPr>
              <a:t>	</a:t>
            </a:r>
            <a:r>
              <a:rPr lang="en-US" sz="2800" b="1" dirty="0" smtClean="0">
                <a:latin typeface="+mn-lt"/>
              </a:rPr>
              <a:t>	</a:t>
            </a:r>
          </a:p>
          <a:p>
            <a:pPr algn="just"/>
            <a:r>
              <a:rPr lang="en-US" sz="2800" b="1" dirty="0" smtClean="0">
                <a:latin typeface="+mn-lt"/>
              </a:rPr>
              <a:t>		a. </a:t>
            </a:r>
            <a:r>
              <a:rPr lang="en-US" sz="2800" dirty="0" smtClean="0">
                <a:latin typeface="+mn-lt"/>
              </a:rPr>
              <a:t>Sales Account 		Debit </a:t>
            </a:r>
          </a:p>
          <a:p>
            <a:pPr algn="just"/>
            <a:r>
              <a:rPr lang="en-US" sz="2800" dirty="0" smtClean="0">
                <a:latin typeface="+mn-lt"/>
              </a:rPr>
              <a:t> 			Income Statement 	Credit </a:t>
            </a:r>
          </a:p>
          <a:p>
            <a:pPr algn="just"/>
            <a:r>
              <a:rPr lang="en-US" sz="2800" dirty="0" smtClean="0">
                <a:latin typeface="+mn-lt"/>
              </a:rPr>
              <a:t>		(Sales account balance closed by transferring to Income Statement)</a:t>
            </a:r>
            <a:endParaRPr lang="en-US" sz="2800" b="1" dirty="0">
              <a:latin typeface="+mn-lt"/>
            </a:endParaRPr>
          </a:p>
          <a:p>
            <a:pPr algn="just"/>
            <a:endParaRPr lang="en-US" sz="2800" b="1" dirty="0" smtClean="0">
              <a:latin typeface="+mn-lt"/>
            </a:endParaRPr>
          </a:p>
          <a:p>
            <a:pPr algn="just"/>
            <a:r>
              <a:rPr lang="en-US" sz="2800" b="1" dirty="0">
                <a:latin typeface="+mn-lt"/>
              </a:rPr>
              <a:t>	</a:t>
            </a:r>
            <a:r>
              <a:rPr lang="en-US" sz="2800" b="1" dirty="0" smtClean="0">
                <a:latin typeface="+mn-lt"/>
              </a:rPr>
              <a:t>	b. </a:t>
            </a:r>
            <a:r>
              <a:rPr lang="en-US" sz="2800" dirty="0" smtClean="0">
                <a:latin typeface="+mn-lt"/>
              </a:rPr>
              <a:t>Income Statement 		Debit </a:t>
            </a:r>
          </a:p>
          <a:p>
            <a:pPr algn="just"/>
            <a:r>
              <a:rPr lang="en-US" sz="2800" dirty="0" smtClean="0">
                <a:latin typeface="+mn-lt"/>
              </a:rPr>
              <a:t> 			Purchase Account 			Credit </a:t>
            </a:r>
          </a:p>
          <a:p>
            <a:pPr algn="just"/>
            <a:r>
              <a:rPr lang="en-US" sz="2800" dirty="0" smtClean="0">
                <a:latin typeface="+mn-lt"/>
              </a:rPr>
              <a:t>			Salary Account 			Credit </a:t>
            </a:r>
          </a:p>
          <a:p>
            <a:pPr algn="just"/>
            <a:r>
              <a:rPr lang="en-US" sz="2800" dirty="0" smtClean="0">
                <a:latin typeface="+mn-lt"/>
              </a:rPr>
              <a:t> 			Rent Account 			Credit </a:t>
            </a:r>
          </a:p>
          <a:p>
            <a:pPr algn="just"/>
            <a:r>
              <a:rPr lang="en-US" sz="2800" dirty="0" smtClean="0">
                <a:latin typeface="+mn-lt"/>
              </a:rPr>
              <a:t>		(Balance of Purchase Account, Salary Account and Rent Account closed by transferring to Income 			Statement)</a:t>
            </a:r>
          </a:p>
          <a:p>
            <a:pPr algn="just"/>
            <a:r>
              <a:rPr lang="en-US" sz="2800" b="1" dirty="0" smtClean="0">
                <a:latin typeface="+mn-lt"/>
              </a:rPr>
              <a:t>4. Opening Journal: </a:t>
            </a:r>
            <a:r>
              <a:rPr lang="en-US" sz="2800" dirty="0" smtClean="0">
                <a:latin typeface="+mn-lt"/>
              </a:rPr>
              <a:t>Business institution is a continuous process. Assets, liabilities and owner’s equity of the last year 	are brought to beginning of the next year, for which opening journal is made.	</a:t>
            </a:r>
          </a:p>
          <a:p>
            <a:pPr algn="just"/>
            <a:r>
              <a:rPr lang="en-US" sz="2800" dirty="0" smtClean="0">
                <a:latin typeface="+mn-lt"/>
              </a:rPr>
              <a:t>	Example: On 31 December 2025, Cash Account tk.50,000, Furniture Account tk.30,000, Debtors Account 	tk.20,000, 	Creditors Account tk.15,000 and Capital Account tk.85,000</a:t>
            </a:r>
            <a:r>
              <a:rPr lang="en-US" sz="2800" dirty="0">
                <a:latin typeface="+mn-lt"/>
              </a:rPr>
              <a:t>	</a:t>
            </a:r>
            <a:r>
              <a:rPr lang="en-US" sz="2800" dirty="0" smtClean="0">
                <a:latin typeface="+mn-lt"/>
              </a:rPr>
              <a:t>	</a:t>
            </a:r>
          </a:p>
          <a:p>
            <a:pPr algn="just"/>
            <a:r>
              <a:rPr lang="en-US" sz="2800" dirty="0" smtClean="0">
                <a:latin typeface="+mn-lt"/>
              </a:rPr>
              <a:t>			</a:t>
            </a:r>
          </a:p>
          <a:p>
            <a:pPr algn="just"/>
            <a:r>
              <a:rPr lang="en-US" sz="2800" dirty="0">
                <a:latin typeface="+mn-lt"/>
              </a:rPr>
              <a:t>	</a:t>
            </a:r>
            <a:r>
              <a:rPr lang="en-US" sz="2800" dirty="0" smtClean="0">
                <a:latin typeface="+mn-lt"/>
              </a:rPr>
              <a:t>		Cash Account 		Debit </a:t>
            </a:r>
          </a:p>
          <a:p>
            <a:pPr algn="just"/>
            <a:r>
              <a:rPr lang="en-US" sz="2800" dirty="0" smtClean="0">
                <a:latin typeface="+mn-lt"/>
              </a:rPr>
              <a:t>			Furniture Account 		Debit </a:t>
            </a:r>
          </a:p>
          <a:p>
            <a:pPr algn="just"/>
            <a:r>
              <a:rPr lang="en-US" sz="2800" dirty="0" smtClean="0">
                <a:latin typeface="+mn-lt"/>
              </a:rPr>
              <a:t>			Debtors Account 		Debit </a:t>
            </a:r>
          </a:p>
          <a:p>
            <a:pPr algn="just"/>
            <a:r>
              <a:rPr lang="en-US" sz="2800" dirty="0" smtClean="0">
                <a:latin typeface="+mn-lt"/>
              </a:rPr>
              <a:t> 				Creditors Account 		Credit </a:t>
            </a:r>
          </a:p>
          <a:p>
            <a:pPr algn="just"/>
            <a:r>
              <a:rPr lang="en-US" sz="2800" dirty="0" smtClean="0">
                <a:latin typeface="+mn-lt"/>
              </a:rPr>
              <a:t> 				Capital Account 		Credit </a:t>
            </a:r>
          </a:p>
          <a:p>
            <a:pPr algn="just"/>
            <a:r>
              <a:rPr lang="en-US" sz="2800" dirty="0" smtClean="0">
                <a:latin typeface="+mn-lt"/>
              </a:rPr>
              <a:t>		(Business begin in 2024 with Assets, Liabilities &amp; Equity of 2025)</a:t>
            </a:r>
            <a:endParaRPr lang="en-US" sz="2800" dirty="0">
              <a:latin typeface="+mn-lt"/>
            </a:endParaRPr>
          </a:p>
        </p:txBody>
      </p:sp>
    </p:spTree>
    <p:extLst>
      <p:ext uri="{BB962C8B-B14F-4D97-AF65-F5344CB8AC3E}">
        <p14:creationId xmlns:p14="http://schemas.microsoft.com/office/powerpoint/2010/main" val="2880834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10002738"/>
          </a:xfrm>
          <a:prstGeom prst="rect">
            <a:avLst/>
          </a:prstGeom>
        </p:spPr>
        <p:txBody>
          <a:bodyPr wrap="square">
            <a:spAutoFit/>
          </a:bodyPr>
          <a:lstStyle/>
          <a:p>
            <a:pPr marL="457200" indent="-457200">
              <a:buFont typeface="Wingdings" pitchFamily="2" charset="2"/>
              <a:buChar char="q"/>
            </a:pPr>
            <a:r>
              <a:rPr lang="en-US" sz="2800" b="1" dirty="0" smtClean="0">
                <a:latin typeface="+mn-lt"/>
              </a:rPr>
              <a:t>Factors to be considered for General Journal: </a:t>
            </a:r>
          </a:p>
          <a:p>
            <a:r>
              <a:rPr lang="en-US" sz="2800" dirty="0" smtClean="0">
                <a:solidFill>
                  <a:srgbClr val="000000"/>
                </a:solidFill>
                <a:latin typeface="+mn-lt"/>
              </a:rPr>
              <a:t>I</a:t>
            </a:r>
            <a:r>
              <a:rPr lang="en-US" sz="2800" dirty="0" smtClean="0">
                <a:solidFill>
                  <a:srgbClr val="000000"/>
                </a:solidFill>
                <a:effectLst/>
                <a:latin typeface="+mn-lt"/>
              </a:rPr>
              <a:t>t is to be remembered that only identifying two parties is not thereby enough, besides the proper title of each heads of accounts is also important. If it is wrongly done, the real financial picture of the business will never be disclosed. </a:t>
            </a:r>
          </a:p>
          <a:p>
            <a:endParaRPr lang="en-US" sz="2800" b="1" dirty="0">
              <a:solidFill>
                <a:srgbClr val="000000"/>
              </a:solidFill>
              <a:latin typeface="+mn-lt"/>
            </a:endParaRPr>
          </a:p>
          <a:p>
            <a:r>
              <a:rPr lang="en-US" sz="2400" b="1" dirty="0" smtClean="0">
                <a:latin typeface="+mn-lt"/>
              </a:rPr>
              <a:t> </a:t>
            </a:r>
            <a:r>
              <a:rPr lang="en-US" sz="2800" dirty="0" smtClean="0">
                <a:solidFill>
                  <a:srgbClr val="000000"/>
                </a:solidFill>
                <a:effectLst/>
                <a:latin typeface="+mn-lt"/>
              </a:rPr>
              <a:t>(a) No accounts will be opened under the name goods, materials, </a:t>
            </a:r>
            <a:r>
              <a:rPr lang="en-US" sz="2800" dirty="0" err="1" smtClean="0">
                <a:solidFill>
                  <a:srgbClr val="000000"/>
                </a:solidFill>
                <a:effectLst/>
                <a:latin typeface="+mn-lt"/>
              </a:rPr>
              <a:t>cheque</a:t>
            </a:r>
            <a:r>
              <a:rPr lang="en-US" sz="2800" dirty="0" smtClean="0">
                <a:solidFill>
                  <a:srgbClr val="000000"/>
                </a:solidFill>
                <a:effectLst/>
                <a:latin typeface="+mn-lt"/>
              </a:rPr>
              <a:t> etc. </a:t>
            </a:r>
            <a:endParaRPr lang="en-US" sz="2400" dirty="0" smtClean="0">
              <a:latin typeface="+mn-lt"/>
            </a:endParaRP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endParaRPr lang="en-US" sz="2800" b="1" dirty="0" smtClean="0">
              <a:latin typeface="+mn-lt"/>
            </a:endParaRPr>
          </a:p>
          <a:p>
            <a:r>
              <a:rPr lang="en-US" sz="2800" dirty="0" smtClean="0">
                <a:solidFill>
                  <a:srgbClr val="000000"/>
                </a:solidFill>
                <a:effectLst/>
                <a:latin typeface="+mn-lt"/>
              </a:rPr>
              <a:t>		Goods sold </a:t>
            </a:r>
            <a:r>
              <a:rPr lang="en-US" sz="2800" dirty="0">
                <a:latin typeface="+mn-lt"/>
              </a:rPr>
              <a:t>	</a:t>
            </a:r>
            <a:r>
              <a:rPr lang="en-US" sz="2800" dirty="0" smtClean="0">
                <a:latin typeface="+mn-lt"/>
              </a:rPr>
              <a:t>	</a:t>
            </a:r>
            <a:r>
              <a:rPr lang="en-US" sz="2800" dirty="0" smtClean="0">
                <a:solidFill>
                  <a:srgbClr val="000000"/>
                </a:solidFill>
                <a:effectLst/>
                <a:latin typeface="+mn-lt"/>
              </a:rPr>
              <a:t>Cash Account 		 Debit</a:t>
            </a:r>
            <a:endParaRPr lang="en-US" sz="2800" dirty="0" smtClean="0">
              <a:latin typeface="+mn-lt"/>
            </a:endParaRPr>
          </a:p>
          <a:p>
            <a:r>
              <a:rPr lang="en-US" sz="2800" dirty="0" smtClean="0">
                <a:solidFill>
                  <a:srgbClr val="000000"/>
                </a:solidFill>
                <a:effectLst/>
                <a:latin typeface="+mn-lt"/>
              </a:rPr>
              <a:t>						Sale Account 	 Credit</a:t>
            </a:r>
            <a:endParaRPr lang="en-US" sz="2800" dirty="0" smtClean="0">
              <a:latin typeface="+mn-lt"/>
            </a:endParaRPr>
          </a:p>
          <a:p>
            <a:r>
              <a:rPr lang="en-US" sz="2800" dirty="0" smtClean="0">
                <a:solidFill>
                  <a:srgbClr val="000000"/>
                </a:solidFill>
                <a:effectLst/>
                <a:latin typeface="+mn-lt"/>
              </a:rPr>
              <a:t> </a:t>
            </a:r>
            <a:endParaRPr lang="en-US" sz="2800" dirty="0" smtClean="0">
              <a:latin typeface="+mn-lt"/>
            </a:endParaRPr>
          </a:p>
          <a:p>
            <a:r>
              <a:rPr lang="en-US" sz="2800" dirty="0" smtClean="0">
                <a:solidFill>
                  <a:srgbClr val="000000"/>
                </a:solidFill>
                <a:effectLst/>
                <a:latin typeface="+mn-lt"/>
              </a:rPr>
              <a:t>		</a:t>
            </a:r>
            <a:r>
              <a:rPr lang="en-US" sz="2800" dirty="0" err="1" smtClean="0">
                <a:solidFill>
                  <a:srgbClr val="000000"/>
                </a:solidFill>
                <a:effectLst/>
                <a:latin typeface="+mn-lt"/>
              </a:rPr>
              <a:t>Cheque</a:t>
            </a:r>
            <a:r>
              <a:rPr lang="en-US" sz="2800" dirty="0" smtClean="0">
                <a:solidFill>
                  <a:srgbClr val="000000"/>
                </a:solidFill>
                <a:effectLst/>
                <a:latin typeface="+mn-lt"/>
              </a:rPr>
              <a:t> issued for goods purchase </a:t>
            </a:r>
            <a:endParaRPr lang="en-US" sz="2800" dirty="0" smtClean="0">
              <a:latin typeface="+mn-lt"/>
            </a:endParaRPr>
          </a:p>
          <a:p>
            <a:r>
              <a:rPr lang="en-US" sz="2800" dirty="0" smtClean="0">
                <a:solidFill>
                  <a:srgbClr val="000000"/>
                </a:solidFill>
                <a:effectLst/>
                <a:latin typeface="+mn-lt"/>
              </a:rPr>
              <a:t>					Purchase Account 		 Debit</a:t>
            </a:r>
            <a:endParaRPr lang="en-US" sz="2800" dirty="0" smtClean="0">
              <a:latin typeface="+mn-lt"/>
            </a:endParaRPr>
          </a:p>
          <a:p>
            <a:r>
              <a:rPr lang="en-US" sz="2800" dirty="0" smtClean="0">
                <a:solidFill>
                  <a:srgbClr val="000000"/>
                </a:solidFill>
                <a:effectLst/>
                <a:latin typeface="+mn-lt"/>
              </a:rPr>
              <a:t>						Bank Account 	 Credit</a:t>
            </a:r>
          </a:p>
          <a:p>
            <a:r>
              <a:rPr lang="en-US" sz="2800" dirty="0" smtClean="0">
                <a:latin typeface="+mn-lt"/>
              </a:rPr>
              <a:t>(b) If name of the seller &amp; buyer respectively for goods purchase &amp; goods sale are mentioned, it will be considered as credit transaction. But besides name- cash, </a:t>
            </a:r>
            <a:r>
              <a:rPr lang="en-US" sz="2800" dirty="0" err="1" smtClean="0">
                <a:latin typeface="+mn-lt"/>
              </a:rPr>
              <a:t>cheque</a:t>
            </a:r>
            <a:r>
              <a:rPr lang="en-US" sz="2800" dirty="0" smtClean="0">
                <a:latin typeface="+mn-lt"/>
              </a:rPr>
              <a:t>, bank etc. words attached will not be considered as credit.</a:t>
            </a:r>
          </a:p>
          <a:p>
            <a:r>
              <a:rPr lang="en-US" sz="2800" dirty="0" smtClean="0">
                <a:solidFill>
                  <a:srgbClr val="000000"/>
                </a:solidFill>
                <a:effectLst/>
                <a:latin typeface="+mn-lt"/>
              </a:rPr>
              <a:t> </a:t>
            </a:r>
            <a:endParaRPr lang="en-US" sz="2800" dirty="0" smtClean="0">
              <a:latin typeface="+mn-lt"/>
            </a:endParaRP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Purchase from </a:t>
            </a:r>
            <a:r>
              <a:rPr lang="en-US" sz="2800" dirty="0" err="1" smtClean="0">
                <a:solidFill>
                  <a:srgbClr val="000000"/>
                </a:solidFill>
                <a:effectLst/>
                <a:latin typeface="+mn-lt"/>
              </a:rPr>
              <a:t>Hasan</a:t>
            </a:r>
            <a:r>
              <a:rPr lang="en-US" sz="2800" dirty="0" smtClean="0">
                <a:solidFill>
                  <a:srgbClr val="000000"/>
                </a:solidFill>
                <a:effectLst/>
                <a:latin typeface="+mn-lt"/>
              </a:rPr>
              <a:t>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Purchase Account 				</a:t>
            </a:r>
            <a:r>
              <a:rPr lang="en-US" sz="2800" dirty="0" smtClean="0">
                <a:solidFill>
                  <a:srgbClr val="000000"/>
                </a:solidFill>
                <a:latin typeface="+mn-lt"/>
              </a:rPr>
              <a:t>Debit </a:t>
            </a:r>
            <a:endParaRPr lang="en-US" sz="2800" dirty="0" smtClean="0">
              <a:solidFill>
                <a:srgbClr val="000000"/>
              </a:solidFill>
              <a:effectLst/>
              <a:latin typeface="+mn-lt"/>
            </a:endParaRPr>
          </a:p>
          <a:p>
            <a:r>
              <a:rPr lang="en-US" sz="2800" dirty="0" smtClean="0">
                <a:solidFill>
                  <a:srgbClr val="000000"/>
                </a:solidFill>
                <a:effectLst/>
                <a:latin typeface="+mn-lt"/>
              </a:rPr>
              <a:t>						Creditors(</a:t>
            </a:r>
            <a:r>
              <a:rPr lang="en-US" sz="2800" dirty="0" err="1" smtClean="0">
                <a:solidFill>
                  <a:srgbClr val="000000"/>
                </a:solidFill>
                <a:effectLst/>
                <a:latin typeface="+mn-lt"/>
              </a:rPr>
              <a:t>Hasan</a:t>
            </a:r>
            <a:r>
              <a:rPr lang="en-US" sz="2800" dirty="0" smtClean="0">
                <a:solidFill>
                  <a:srgbClr val="000000"/>
                </a:solidFill>
                <a:effectLst/>
                <a:latin typeface="+mn-lt"/>
              </a:rPr>
              <a:t>) Account 	</a:t>
            </a:r>
            <a:r>
              <a:rPr lang="en-US" sz="2400" dirty="0">
                <a:solidFill>
                  <a:srgbClr val="000000"/>
                </a:solidFill>
              </a:rPr>
              <a:t>Credit</a:t>
            </a:r>
            <a:r>
              <a:rPr lang="en-US" sz="2800" dirty="0">
                <a:solidFill>
                  <a:srgbClr val="000000"/>
                </a:solidFill>
              </a:rPr>
              <a:t> </a:t>
            </a:r>
          </a:p>
          <a:p>
            <a:endParaRPr lang="en-US" sz="2800" dirty="0" smtClean="0">
              <a:solidFill>
                <a:srgbClr val="000000"/>
              </a:solidFill>
              <a:effectLst/>
              <a:latin typeface="+mn-lt"/>
            </a:endParaRPr>
          </a:p>
          <a:p>
            <a:r>
              <a:rPr lang="en-US" sz="2800" dirty="0" smtClean="0">
                <a:solidFill>
                  <a:srgbClr val="000000"/>
                </a:solidFill>
                <a:effectLst/>
                <a:latin typeface="+mn-lt"/>
              </a:rPr>
              <a:t>		Goods sold to </a:t>
            </a:r>
            <a:r>
              <a:rPr lang="en-US" sz="2800" dirty="0" err="1" smtClean="0">
                <a:solidFill>
                  <a:srgbClr val="000000"/>
                </a:solidFill>
                <a:effectLst/>
                <a:latin typeface="+mn-lt"/>
              </a:rPr>
              <a:t>Khaled</a:t>
            </a:r>
            <a:r>
              <a:rPr lang="en-US" sz="2800" dirty="0" smtClean="0">
                <a:solidFill>
                  <a:srgbClr val="000000"/>
                </a:solidFill>
                <a:effectLst/>
                <a:latin typeface="+mn-lt"/>
              </a:rPr>
              <a:t> for cash </a:t>
            </a:r>
          </a:p>
          <a:p>
            <a:r>
              <a:rPr lang="en-US" sz="2800" dirty="0" smtClean="0">
                <a:solidFill>
                  <a:srgbClr val="000000"/>
                </a:solidFill>
                <a:effectLst/>
                <a:latin typeface="+mn-lt"/>
              </a:rPr>
              <a:t>					Cash Account 		Debit </a:t>
            </a:r>
          </a:p>
          <a:p>
            <a:r>
              <a:rPr lang="en-US" sz="2800" dirty="0" smtClean="0">
                <a:solidFill>
                  <a:srgbClr val="000000"/>
                </a:solidFill>
                <a:effectLst/>
                <a:latin typeface="+mn-lt"/>
              </a:rPr>
              <a:t> 						Sales Account 	Credit</a:t>
            </a:r>
          </a:p>
        </p:txBody>
      </p:sp>
    </p:spTree>
    <p:extLst>
      <p:ext uri="{BB962C8B-B14F-4D97-AF65-F5344CB8AC3E}">
        <p14:creationId xmlns:p14="http://schemas.microsoft.com/office/powerpoint/2010/main" val="483658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9571851"/>
          </a:xfrm>
          <a:prstGeom prst="rect">
            <a:avLst/>
          </a:prstGeom>
        </p:spPr>
        <p:txBody>
          <a:bodyPr wrap="square">
            <a:spAutoFit/>
          </a:bodyPr>
          <a:lstStyle/>
          <a:p>
            <a:pPr marL="457200" indent="-457200">
              <a:buFont typeface="Wingdings" pitchFamily="2" charset="2"/>
              <a:buChar char="q"/>
            </a:pPr>
            <a:r>
              <a:rPr lang="en-US" sz="2800" b="1" dirty="0" smtClean="0">
                <a:latin typeface="+mn-lt"/>
              </a:rPr>
              <a:t>Factors to be considered for General Journal: </a:t>
            </a:r>
          </a:p>
          <a:p>
            <a:r>
              <a:rPr lang="en-US" sz="2400" b="1" dirty="0" smtClean="0">
                <a:latin typeface="+mn-lt"/>
              </a:rPr>
              <a:t> </a:t>
            </a:r>
            <a:r>
              <a:rPr lang="en-US" sz="2800" dirty="0" smtClean="0">
                <a:solidFill>
                  <a:srgbClr val="000000"/>
                </a:solidFill>
                <a:effectLst/>
                <a:latin typeface="+mn-lt"/>
              </a:rPr>
              <a:t>(c) Goods bought &amp; sold on credit is mentioned but name of seller &amp; buyer is not mentioned than in Creditors account for purchase and Debtors account for sale will be recorded.</a:t>
            </a:r>
            <a:endParaRPr lang="en-US" sz="2800" dirty="0" smtClean="0">
              <a:latin typeface="+mn-lt"/>
            </a:endParaRP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Goods purchase on credit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Purchase Account 			Debit</a:t>
            </a:r>
          </a:p>
          <a:p>
            <a:r>
              <a:rPr lang="en-US" sz="2800" dirty="0" smtClean="0">
                <a:solidFill>
                  <a:srgbClr val="000000"/>
                </a:solidFill>
                <a:effectLst/>
                <a:latin typeface="+mn-lt"/>
              </a:rPr>
              <a:t> 					Creditors Account 		Credit </a:t>
            </a:r>
          </a:p>
          <a:p>
            <a:r>
              <a:rPr lang="en-US" sz="2800" dirty="0" smtClean="0">
                <a:solidFill>
                  <a:srgbClr val="000000"/>
                </a:solidFill>
                <a:effectLst/>
                <a:latin typeface="+mn-lt"/>
              </a:rPr>
              <a:t>	Goods sold on account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Debtors Account 			Debit</a:t>
            </a:r>
          </a:p>
          <a:p>
            <a:r>
              <a:rPr lang="en-US" sz="2800" dirty="0" smtClean="0">
                <a:solidFill>
                  <a:srgbClr val="000000"/>
                </a:solidFill>
                <a:effectLst/>
                <a:latin typeface="+mn-lt"/>
              </a:rPr>
              <a:t> 					Sales Account 		Credit</a:t>
            </a:r>
          </a:p>
          <a:p>
            <a:r>
              <a:rPr lang="en-US" sz="2800" dirty="0" smtClean="0">
                <a:solidFill>
                  <a:srgbClr val="000000"/>
                </a:solidFill>
                <a:effectLst/>
                <a:latin typeface="+mn-lt"/>
              </a:rPr>
              <a:t>(d) For purchase return and sales return- consider that the purchase &amp; sale had made earlier on credit.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Returns inward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Sales Returns Account 		Debit	</a:t>
            </a:r>
          </a:p>
          <a:p>
            <a:r>
              <a:rPr lang="en-US" sz="2800" dirty="0" smtClean="0">
                <a:solidFill>
                  <a:srgbClr val="000000"/>
                </a:solidFill>
                <a:effectLst/>
                <a:latin typeface="+mn-lt"/>
              </a:rPr>
              <a:t> 					Debtors Account 		Credit </a:t>
            </a:r>
          </a:p>
          <a:p>
            <a:r>
              <a:rPr lang="en-US" sz="2800" dirty="0" smtClean="0">
                <a:solidFill>
                  <a:srgbClr val="000000"/>
                </a:solidFill>
                <a:effectLst/>
                <a:latin typeface="+mn-lt"/>
              </a:rPr>
              <a:t>	Purchased goods returned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Creditors Account 				Debit </a:t>
            </a:r>
          </a:p>
          <a:p>
            <a:r>
              <a:rPr lang="en-US" sz="2800" dirty="0" smtClean="0">
                <a:solidFill>
                  <a:srgbClr val="000000"/>
                </a:solidFill>
                <a:effectLst/>
                <a:latin typeface="+mn-lt"/>
              </a:rPr>
              <a:t> 					Purchase Returns Account	 Credit</a:t>
            </a:r>
          </a:p>
          <a:p>
            <a:endParaRPr lang="en-US" sz="2800" dirty="0" smtClean="0">
              <a:solidFill>
                <a:srgbClr val="000000"/>
              </a:solidFill>
              <a:effectLst/>
              <a:latin typeface="+mn-lt"/>
            </a:endParaRPr>
          </a:p>
          <a:p>
            <a:r>
              <a:rPr lang="en-US" sz="2800" dirty="0" smtClean="0">
                <a:solidFill>
                  <a:srgbClr val="000000"/>
                </a:solidFill>
                <a:effectLst/>
                <a:latin typeface="+mn-lt"/>
              </a:rPr>
              <a:t>(e) Buying &amp; selling assets the words new, old, purchase, sale etc. can not be used. Such as Furniture purchase account, Old furniture sales account, New office equipment account etc. named accounts can’t be opened. </a:t>
            </a:r>
          </a:p>
          <a:p>
            <a:r>
              <a:rPr lang="en-US" sz="2800" dirty="0" smtClean="0">
                <a:solidFill>
                  <a:srgbClr val="000000"/>
                </a:solidFill>
                <a:effectLst/>
                <a:latin typeface="+mn-lt"/>
              </a:rPr>
              <a:t> </a:t>
            </a:r>
          </a:p>
        </p:txBody>
      </p:sp>
    </p:spTree>
    <p:extLst>
      <p:ext uri="{BB962C8B-B14F-4D97-AF65-F5344CB8AC3E}">
        <p14:creationId xmlns:p14="http://schemas.microsoft.com/office/powerpoint/2010/main" val="2245534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9140964"/>
          </a:xfrm>
          <a:prstGeom prst="rect">
            <a:avLst/>
          </a:prstGeom>
        </p:spPr>
        <p:txBody>
          <a:bodyPr wrap="square">
            <a:spAutoFit/>
          </a:bodyPr>
          <a:lstStyle/>
          <a:p>
            <a:pPr marL="457200" indent="-457200">
              <a:buFont typeface="Wingdings" pitchFamily="2" charset="2"/>
              <a:buChar char="q"/>
            </a:pPr>
            <a:r>
              <a:rPr lang="en-US" sz="2800" b="1" dirty="0" smtClean="0">
                <a:latin typeface="+mn-lt"/>
              </a:rPr>
              <a:t>Factors to be considered for General Journal: </a:t>
            </a:r>
          </a:p>
          <a:p>
            <a:r>
              <a:rPr lang="en-US" sz="2400" b="1" dirty="0" smtClean="0">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Purchase of new Furniture</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Furniture Account 		Debit</a:t>
            </a:r>
          </a:p>
          <a:p>
            <a:r>
              <a:rPr lang="en-US" sz="2800" dirty="0" smtClean="0">
                <a:solidFill>
                  <a:srgbClr val="000000"/>
                </a:solidFill>
                <a:effectLst/>
                <a:latin typeface="+mn-lt"/>
              </a:rPr>
              <a:t> 					Cash Account 		Credit</a:t>
            </a:r>
          </a:p>
          <a:p>
            <a:r>
              <a:rPr lang="en-US" sz="2800" dirty="0" smtClean="0">
                <a:solidFill>
                  <a:srgbClr val="000000"/>
                </a:solidFill>
                <a:effectLst/>
                <a:latin typeface="+mn-lt"/>
              </a:rPr>
              <a:t> 	Sold of old Machine</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Cash Account 		</a:t>
            </a:r>
            <a:r>
              <a:rPr lang="en-US" sz="2800" dirty="0">
                <a:solidFill>
                  <a:srgbClr val="000000"/>
                </a:solidFill>
              </a:rPr>
              <a:t> </a:t>
            </a:r>
            <a:r>
              <a:rPr lang="en-US" sz="2400" dirty="0">
                <a:solidFill>
                  <a:srgbClr val="000000"/>
                </a:solidFill>
              </a:rPr>
              <a:t>Debit</a:t>
            </a:r>
            <a:endParaRPr lang="en-US" sz="2800" dirty="0" smtClean="0">
              <a:solidFill>
                <a:srgbClr val="000000"/>
              </a:solidFill>
              <a:effectLst/>
              <a:latin typeface="+mn-lt"/>
            </a:endParaRPr>
          </a:p>
          <a:p>
            <a:r>
              <a:rPr lang="en-US" sz="2800" dirty="0" smtClean="0">
                <a:solidFill>
                  <a:srgbClr val="000000"/>
                </a:solidFill>
                <a:effectLst/>
                <a:latin typeface="+mn-lt"/>
              </a:rPr>
              <a:t> 					Machinery Account 	</a:t>
            </a:r>
            <a:r>
              <a:rPr lang="en-US" sz="2800" dirty="0">
                <a:solidFill>
                  <a:srgbClr val="000000"/>
                </a:solidFill>
              </a:rPr>
              <a:t> </a:t>
            </a:r>
            <a:r>
              <a:rPr lang="en-US" sz="2400" dirty="0">
                <a:solidFill>
                  <a:srgbClr val="000000"/>
                </a:solidFill>
              </a:rPr>
              <a:t>Credit</a:t>
            </a:r>
            <a:endParaRPr lang="en-US" sz="2400" dirty="0" smtClean="0">
              <a:solidFill>
                <a:srgbClr val="000000"/>
              </a:solidFill>
              <a:effectLst/>
              <a:latin typeface="+mn-lt"/>
            </a:endParaRPr>
          </a:p>
          <a:p>
            <a:r>
              <a:rPr lang="en-US" sz="2800" dirty="0" smtClean="0">
                <a:solidFill>
                  <a:srgbClr val="000000"/>
                </a:solidFill>
                <a:effectLst/>
                <a:latin typeface="+mn-lt"/>
              </a:rPr>
              <a:t> </a:t>
            </a:r>
          </a:p>
          <a:p>
            <a:r>
              <a:rPr lang="en-US" sz="2800" dirty="0" smtClean="0">
                <a:solidFill>
                  <a:srgbClr val="000000"/>
                </a:solidFill>
                <a:effectLst/>
                <a:latin typeface="+mn-lt"/>
              </a:rPr>
              <a:t> (f) There will be no accounted under the name of individual or institute for income &amp; expenses generally. Though the income is accrued and expense is due.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Salary paid to employee </a:t>
            </a:r>
            <a:r>
              <a:rPr lang="en-US" sz="2800" dirty="0" err="1" smtClean="0">
                <a:solidFill>
                  <a:srgbClr val="000000"/>
                </a:solidFill>
                <a:effectLst/>
                <a:latin typeface="+mn-lt"/>
              </a:rPr>
              <a:t>Jamil</a:t>
            </a:r>
            <a:endParaRPr lang="en-US" sz="2800" dirty="0">
              <a:solidFill>
                <a:srgbClr val="000000"/>
              </a:solidFill>
              <a:latin typeface="+mn-lt"/>
            </a:endParaRPr>
          </a:p>
          <a:p>
            <a:r>
              <a:rPr lang="en-US" sz="2800" dirty="0" smtClean="0">
                <a:solidFill>
                  <a:srgbClr val="000000"/>
                </a:solidFill>
                <a:effectLst/>
                <a:latin typeface="+mn-lt"/>
              </a:rPr>
              <a:t>				Salary Account 		Debit 	</a:t>
            </a:r>
          </a:p>
          <a:p>
            <a:r>
              <a:rPr lang="en-US" sz="2800" dirty="0" smtClean="0">
                <a:solidFill>
                  <a:srgbClr val="000000"/>
                </a:solidFill>
                <a:effectLst/>
                <a:latin typeface="+mn-lt"/>
              </a:rPr>
              <a:t> 					Cash Account 		Credit </a:t>
            </a:r>
          </a:p>
          <a:p>
            <a:r>
              <a:rPr lang="en-US" sz="2800" dirty="0" smtClean="0">
                <a:solidFill>
                  <a:srgbClr val="000000"/>
                </a:solidFill>
                <a:effectLst/>
                <a:latin typeface="+mn-lt"/>
              </a:rPr>
              <a:t>	Stationary purchased on credit from </a:t>
            </a:r>
            <a:r>
              <a:rPr lang="en-US" sz="2800" dirty="0" err="1" smtClean="0">
                <a:solidFill>
                  <a:srgbClr val="000000"/>
                </a:solidFill>
                <a:effectLst/>
                <a:latin typeface="+mn-lt"/>
              </a:rPr>
              <a:t>Moni</a:t>
            </a:r>
            <a:r>
              <a:rPr lang="en-US" sz="2800" dirty="0" smtClean="0">
                <a:solidFill>
                  <a:srgbClr val="000000"/>
                </a:solidFill>
                <a:effectLst/>
                <a:latin typeface="+mn-lt"/>
              </a:rPr>
              <a:t> Stationeries </a:t>
            </a:r>
          </a:p>
          <a:p>
            <a:r>
              <a:rPr lang="en-US" sz="2800" dirty="0" smtClean="0">
                <a:solidFill>
                  <a:srgbClr val="000000"/>
                </a:solidFill>
                <a:effectLst/>
                <a:latin typeface="+mn-lt"/>
              </a:rPr>
              <a:t>				Stationary Account 		Debit</a:t>
            </a:r>
          </a:p>
          <a:p>
            <a:r>
              <a:rPr lang="en-US" sz="2800" dirty="0" smtClean="0">
                <a:solidFill>
                  <a:srgbClr val="000000"/>
                </a:solidFill>
                <a:effectLst/>
                <a:latin typeface="+mn-lt"/>
              </a:rPr>
              <a:t> 					Stationery Due Account 		Credit</a:t>
            </a:r>
          </a:p>
          <a:p>
            <a:endParaRPr lang="en-US" sz="2800" dirty="0" smtClean="0">
              <a:solidFill>
                <a:srgbClr val="000000"/>
              </a:solidFill>
              <a:effectLst/>
              <a:latin typeface="+mn-lt"/>
            </a:endParaRPr>
          </a:p>
          <a:p>
            <a:r>
              <a:rPr lang="en-US" sz="2800" dirty="0" smtClean="0">
                <a:solidFill>
                  <a:srgbClr val="000000"/>
                </a:solidFill>
                <a:effectLst/>
                <a:latin typeface="+mn-lt"/>
              </a:rPr>
              <a:t>(g) Amount of the goods decreases because of goods is used personally or for business, distributed freely for advertisement, stolen, destroyed etc., so for all these situation Purchase account will be credited. </a:t>
            </a:r>
          </a:p>
        </p:txBody>
      </p:sp>
    </p:spTree>
    <p:extLst>
      <p:ext uri="{BB962C8B-B14F-4D97-AF65-F5344CB8AC3E}">
        <p14:creationId xmlns:p14="http://schemas.microsoft.com/office/powerpoint/2010/main" val="3048910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10002738"/>
          </a:xfrm>
          <a:prstGeom prst="rect">
            <a:avLst/>
          </a:prstGeom>
        </p:spPr>
        <p:txBody>
          <a:bodyPr wrap="square">
            <a:spAutoFit/>
          </a:bodyPr>
          <a:lstStyle/>
          <a:p>
            <a:pPr marL="457200" indent="-457200">
              <a:buFont typeface="Wingdings" pitchFamily="2" charset="2"/>
              <a:buChar char="q"/>
            </a:pPr>
            <a:r>
              <a:rPr lang="en-US" sz="2800" b="1" dirty="0" smtClean="0">
                <a:latin typeface="+mn-lt"/>
              </a:rPr>
              <a:t>Factors to be considered for General Journal: </a:t>
            </a:r>
          </a:p>
          <a:p>
            <a:r>
              <a:rPr lang="en-US" sz="2400" b="1" dirty="0" smtClean="0">
                <a:latin typeface="+mn-lt"/>
              </a:rPr>
              <a:t> 	</a:t>
            </a:r>
            <a:r>
              <a:rPr lang="en-US" sz="2800" b="1" dirty="0" smtClean="0">
                <a:solidFill>
                  <a:srgbClr val="000000"/>
                </a:solidFill>
                <a:effectLst/>
                <a:latin typeface="+mn-lt"/>
              </a:rPr>
              <a:t>Transaction 			Journal Entry </a:t>
            </a:r>
            <a:endParaRPr lang="en-US" sz="2800" dirty="0" smtClean="0">
              <a:solidFill>
                <a:srgbClr val="000000"/>
              </a:solidFill>
              <a:effectLst/>
              <a:latin typeface="+mn-lt"/>
            </a:endParaRPr>
          </a:p>
          <a:p>
            <a:r>
              <a:rPr lang="en-US" sz="2800" dirty="0" smtClean="0">
                <a:solidFill>
                  <a:srgbClr val="000000"/>
                </a:solidFill>
                <a:effectLst/>
                <a:latin typeface="+mn-lt"/>
              </a:rPr>
              <a:t>	Goods withdrawn for personal use</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Drawings Account 			Debit		</a:t>
            </a:r>
          </a:p>
          <a:p>
            <a:r>
              <a:rPr lang="en-US" sz="2800" dirty="0" smtClean="0">
                <a:solidFill>
                  <a:srgbClr val="000000"/>
                </a:solidFill>
                <a:effectLst/>
                <a:latin typeface="+mn-lt"/>
              </a:rPr>
              <a:t> 					Purchase Account 		Credit</a:t>
            </a:r>
          </a:p>
          <a:p>
            <a:r>
              <a:rPr lang="en-US" sz="2800" dirty="0" smtClean="0">
                <a:solidFill>
                  <a:srgbClr val="000000"/>
                </a:solidFill>
                <a:effectLst/>
                <a:latin typeface="+mn-lt"/>
              </a:rPr>
              <a:t>	Goods stolen from shop</a:t>
            </a:r>
          </a:p>
          <a:p>
            <a:r>
              <a:rPr lang="en-US" sz="2800" dirty="0">
                <a:solidFill>
                  <a:srgbClr val="000000"/>
                </a:solidFill>
                <a:latin typeface="+mn-lt"/>
              </a:rPr>
              <a:t>	</a:t>
            </a:r>
            <a:r>
              <a:rPr lang="en-US" sz="2800" dirty="0" smtClean="0">
                <a:solidFill>
                  <a:srgbClr val="000000"/>
                </a:solidFill>
                <a:latin typeface="+mn-lt"/>
              </a:rPr>
              <a:t>			Sundry Loss </a:t>
            </a:r>
            <a:r>
              <a:rPr lang="en-US" sz="2800" dirty="0" smtClean="0">
                <a:solidFill>
                  <a:srgbClr val="000000"/>
                </a:solidFill>
                <a:effectLst/>
                <a:latin typeface="+mn-lt"/>
              </a:rPr>
              <a:t>Account 		Debit</a:t>
            </a:r>
          </a:p>
          <a:p>
            <a:r>
              <a:rPr lang="en-US" sz="2800" dirty="0" smtClean="0">
                <a:solidFill>
                  <a:srgbClr val="000000"/>
                </a:solidFill>
                <a:effectLst/>
                <a:latin typeface="+mn-lt"/>
              </a:rPr>
              <a:t> 					Purchase Account 		Credit </a:t>
            </a:r>
          </a:p>
          <a:p>
            <a:r>
              <a:rPr lang="en-US" sz="2800" dirty="0" smtClean="0">
                <a:solidFill>
                  <a:srgbClr val="000000"/>
                </a:solidFill>
                <a:effectLst/>
                <a:latin typeface="+mn-lt"/>
              </a:rPr>
              <a:t>(h) Withdrawn from business means owner’s drawing. Withdrawn from bank is considered for business. If it is mentioned for owner, will be record in – Drawings account.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Withdrawn from Business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Drawings Account 		Debit</a:t>
            </a:r>
          </a:p>
          <a:p>
            <a:r>
              <a:rPr lang="en-US" sz="2800" dirty="0" smtClean="0">
                <a:solidFill>
                  <a:srgbClr val="000000"/>
                </a:solidFill>
                <a:effectLst/>
                <a:latin typeface="+mn-lt"/>
              </a:rPr>
              <a:t> 					Cash Account 	Credit </a:t>
            </a:r>
          </a:p>
          <a:p>
            <a:r>
              <a:rPr lang="en-US" sz="2800" dirty="0">
                <a:solidFill>
                  <a:srgbClr val="000000"/>
                </a:solidFill>
                <a:latin typeface="+mn-lt"/>
              </a:rPr>
              <a:t>	</a:t>
            </a:r>
            <a:r>
              <a:rPr lang="en-US" sz="2800" dirty="0" smtClean="0">
                <a:solidFill>
                  <a:srgbClr val="000000"/>
                </a:solidFill>
                <a:effectLst/>
                <a:latin typeface="+mn-lt"/>
              </a:rPr>
              <a:t>Withdrawn from Bank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Cash Account 		Debit</a:t>
            </a:r>
          </a:p>
          <a:p>
            <a:r>
              <a:rPr lang="en-US" sz="2800" dirty="0" smtClean="0">
                <a:solidFill>
                  <a:srgbClr val="000000"/>
                </a:solidFill>
                <a:effectLst/>
                <a:latin typeface="+mn-lt"/>
              </a:rPr>
              <a:t> 					Bank Account 	Credit</a:t>
            </a:r>
          </a:p>
          <a:p>
            <a:r>
              <a:rPr lang="en-US" sz="2800" dirty="0" smtClean="0">
                <a:solidFill>
                  <a:srgbClr val="000000"/>
                </a:solidFill>
                <a:effectLst/>
                <a:latin typeface="+mn-lt"/>
              </a:rPr>
              <a:t> </a:t>
            </a:r>
          </a:p>
          <a:p>
            <a:r>
              <a:rPr lang="en-US" sz="2800" dirty="0" smtClean="0">
                <a:solidFill>
                  <a:srgbClr val="000000"/>
                </a:solidFill>
                <a:effectLst/>
                <a:latin typeface="+mn-lt"/>
              </a:rPr>
              <a:t>(i) Goods, cash, any asset </a:t>
            </a:r>
            <a:r>
              <a:rPr lang="en-US" sz="2800" dirty="0" err="1" smtClean="0">
                <a:solidFill>
                  <a:srgbClr val="000000"/>
                </a:solidFill>
                <a:effectLst/>
                <a:latin typeface="+mn-lt"/>
              </a:rPr>
              <a:t>stoled</a:t>
            </a:r>
            <a:r>
              <a:rPr lang="en-US" sz="2800" dirty="0" smtClean="0">
                <a:solidFill>
                  <a:srgbClr val="000000"/>
                </a:solidFill>
                <a:effectLst/>
                <a:latin typeface="+mn-lt"/>
              </a:rPr>
              <a:t> or destroyed will be record in Sundry loss accounts.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Money stolen from cash box</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Sundry Loss Account 	Debit </a:t>
            </a:r>
          </a:p>
          <a:p>
            <a:r>
              <a:rPr lang="en-US" sz="2800" dirty="0" smtClean="0">
                <a:solidFill>
                  <a:srgbClr val="000000"/>
                </a:solidFill>
                <a:effectLst/>
                <a:latin typeface="+mn-lt"/>
              </a:rPr>
              <a:t> 					Cash Account 	Credit </a:t>
            </a:r>
          </a:p>
        </p:txBody>
      </p:sp>
    </p:spTree>
    <p:extLst>
      <p:ext uri="{BB962C8B-B14F-4D97-AF65-F5344CB8AC3E}">
        <p14:creationId xmlns:p14="http://schemas.microsoft.com/office/powerpoint/2010/main" val="2592885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9140964"/>
          </a:xfrm>
          <a:prstGeom prst="rect">
            <a:avLst/>
          </a:prstGeom>
        </p:spPr>
        <p:txBody>
          <a:bodyPr wrap="square">
            <a:spAutoFit/>
          </a:bodyPr>
          <a:lstStyle/>
          <a:p>
            <a:pPr marL="457200" indent="-457200">
              <a:buFont typeface="Wingdings" pitchFamily="2" charset="2"/>
              <a:buChar char="q"/>
            </a:pPr>
            <a:r>
              <a:rPr lang="en-US" sz="2800" b="1" dirty="0" smtClean="0">
                <a:latin typeface="+mn-lt"/>
              </a:rPr>
              <a:t>Factors to be considered for General Journal: </a:t>
            </a:r>
          </a:p>
          <a:p>
            <a:r>
              <a:rPr lang="en-US" sz="2400" b="1" dirty="0" smtClean="0">
                <a:latin typeface="+mn-lt"/>
              </a:rPr>
              <a:t> 	</a:t>
            </a:r>
            <a:r>
              <a:rPr lang="en-US" sz="2800" b="1" dirty="0" smtClean="0">
                <a:solidFill>
                  <a:srgbClr val="000000"/>
                </a:solidFill>
                <a:effectLst/>
                <a:latin typeface="+mn-lt"/>
              </a:rPr>
              <a:t>Transaction 			Journal Entry </a:t>
            </a:r>
            <a:endParaRPr lang="en-US" sz="2800" dirty="0" smtClean="0">
              <a:solidFill>
                <a:srgbClr val="000000"/>
              </a:solidFill>
              <a:effectLst/>
              <a:latin typeface="+mn-lt"/>
            </a:endParaRPr>
          </a:p>
          <a:p>
            <a:r>
              <a:rPr lang="en-US" sz="2800" dirty="0" smtClean="0">
                <a:solidFill>
                  <a:srgbClr val="000000"/>
                </a:solidFill>
                <a:effectLst/>
                <a:latin typeface="+mn-lt"/>
              </a:rPr>
              <a:t>	Goods destroyed by fire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Sundry Loss / Loss on fire A/c 		Debit</a:t>
            </a:r>
          </a:p>
          <a:p>
            <a:r>
              <a:rPr lang="en-US" sz="2800" dirty="0" smtClean="0">
                <a:solidFill>
                  <a:srgbClr val="000000"/>
                </a:solidFill>
                <a:effectLst/>
                <a:latin typeface="+mn-lt"/>
              </a:rPr>
              <a:t> 					Purchase Account 			Credit</a:t>
            </a:r>
          </a:p>
          <a:p>
            <a:r>
              <a:rPr lang="en-US" sz="2800" dirty="0" smtClean="0">
                <a:solidFill>
                  <a:srgbClr val="000000"/>
                </a:solidFill>
                <a:effectLst/>
                <a:latin typeface="+mn-lt"/>
              </a:rPr>
              <a:t> (j) Bank account will be always affected by bank interest allowed or charged and charges of bank.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Interest allowed by Bank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Bank Account 		Debit</a:t>
            </a:r>
          </a:p>
          <a:p>
            <a:r>
              <a:rPr lang="en-US" sz="2800" dirty="0" smtClean="0">
                <a:solidFill>
                  <a:srgbClr val="000000"/>
                </a:solidFill>
                <a:effectLst/>
                <a:latin typeface="+mn-lt"/>
              </a:rPr>
              <a:t> 					Bank Interest Account Credit</a:t>
            </a:r>
          </a:p>
          <a:p>
            <a:r>
              <a:rPr lang="en-US" sz="2800" dirty="0">
                <a:solidFill>
                  <a:srgbClr val="000000"/>
                </a:solidFill>
                <a:latin typeface="+mn-lt"/>
              </a:rPr>
              <a:t>	</a:t>
            </a:r>
            <a:r>
              <a:rPr lang="en-US" sz="2800" dirty="0" smtClean="0">
                <a:solidFill>
                  <a:srgbClr val="000000"/>
                </a:solidFill>
                <a:effectLst/>
                <a:latin typeface="+mn-lt"/>
              </a:rPr>
              <a:t>Bank charged for expenses Bank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Charge Account 		Debit 	</a:t>
            </a:r>
          </a:p>
          <a:p>
            <a:r>
              <a:rPr lang="en-US" sz="2800" dirty="0" smtClean="0">
                <a:solidFill>
                  <a:srgbClr val="000000"/>
                </a:solidFill>
                <a:effectLst/>
                <a:latin typeface="+mn-lt"/>
              </a:rPr>
              <a:t> 					Bank Account 	Credit </a:t>
            </a:r>
          </a:p>
          <a:p>
            <a:r>
              <a:rPr lang="en-US" sz="2800" dirty="0" smtClean="0">
                <a:solidFill>
                  <a:srgbClr val="000000"/>
                </a:solidFill>
                <a:effectLst/>
                <a:latin typeface="+mn-lt"/>
              </a:rPr>
              <a:t>(k) If the value of the fixed assets decreases because of using or for any </a:t>
            </a:r>
            <a:r>
              <a:rPr lang="en-US" sz="2800" dirty="0" err="1" smtClean="0">
                <a:solidFill>
                  <a:srgbClr val="000000"/>
                </a:solidFill>
                <a:effectLst/>
                <a:latin typeface="+mn-lt"/>
              </a:rPr>
              <a:t>ther</a:t>
            </a:r>
            <a:r>
              <a:rPr lang="en-US" sz="2800" dirty="0" smtClean="0">
                <a:solidFill>
                  <a:srgbClr val="000000"/>
                </a:solidFill>
                <a:effectLst/>
                <a:latin typeface="+mn-lt"/>
              </a:rPr>
              <a:t> reason, “Accumulated Depreciation account –respective assets” -named account will be credit in place of being credit the respective assets account.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Depreciation charged on furniture </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Depreciation Account 			Dr. </a:t>
            </a:r>
          </a:p>
          <a:p>
            <a:r>
              <a:rPr lang="en-US" sz="2800" dirty="0" smtClean="0">
                <a:solidFill>
                  <a:srgbClr val="000000"/>
                </a:solidFill>
                <a:effectLst/>
                <a:latin typeface="+mn-lt"/>
              </a:rPr>
              <a:t> 				Accumulated Depreciation (Furniture) A/c Cr.</a:t>
            </a:r>
          </a:p>
          <a:p>
            <a:r>
              <a:rPr lang="en-US" sz="2800" dirty="0" smtClean="0">
                <a:solidFill>
                  <a:srgbClr val="000000"/>
                </a:solidFill>
                <a:effectLst/>
                <a:latin typeface="+mn-lt"/>
              </a:rPr>
              <a:t>(l) </a:t>
            </a:r>
            <a:r>
              <a:rPr lang="en-US" sz="2800" dirty="0" err="1" smtClean="0">
                <a:solidFill>
                  <a:srgbClr val="000000"/>
                </a:solidFill>
                <a:effectLst/>
                <a:latin typeface="+mn-lt"/>
              </a:rPr>
              <a:t>Cheque</a:t>
            </a:r>
            <a:r>
              <a:rPr lang="en-US" sz="2800" dirty="0" smtClean="0">
                <a:solidFill>
                  <a:srgbClr val="000000"/>
                </a:solidFill>
                <a:effectLst/>
                <a:latin typeface="+mn-lt"/>
              </a:rPr>
              <a:t> received from any source, Bank account will be debited. Because bearer or open </a:t>
            </a:r>
            <a:r>
              <a:rPr lang="en-US" sz="2800" dirty="0" err="1" smtClean="0">
                <a:solidFill>
                  <a:srgbClr val="000000"/>
                </a:solidFill>
                <a:effectLst/>
                <a:latin typeface="+mn-lt"/>
              </a:rPr>
              <a:t>cheque</a:t>
            </a:r>
            <a:r>
              <a:rPr lang="en-US" sz="2800" dirty="0" smtClean="0">
                <a:solidFill>
                  <a:srgbClr val="000000"/>
                </a:solidFill>
                <a:effectLst/>
                <a:latin typeface="+mn-lt"/>
              </a:rPr>
              <a:t> never is handed over to organization, Account Payee </a:t>
            </a:r>
            <a:r>
              <a:rPr lang="en-US" sz="2800" dirty="0" err="1" smtClean="0">
                <a:solidFill>
                  <a:srgbClr val="000000"/>
                </a:solidFill>
                <a:effectLst/>
                <a:latin typeface="+mn-lt"/>
              </a:rPr>
              <a:t>cheque</a:t>
            </a:r>
            <a:r>
              <a:rPr lang="en-US" sz="2800" dirty="0" smtClean="0">
                <a:solidFill>
                  <a:srgbClr val="000000"/>
                </a:solidFill>
                <a:effectLst/>
                <a:latin typeface="+mn-lt"/>
              </a:rPr>
              <a:t> is provided.</a:t>
            </a:r>
          </a:p>
        </p:txBody>
      </p:sp>
    </p:spTree>
    <p:extLst>
      <p:ext uri="{BB962C8B-B14F-4D97-AF65-F5344CB8AC3E}">
        <p14:creationId xmlns:p14="http://schemas.microsoft.com/office/powerpoint/2010/main" val="3685286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9571851"/>
          </a:xfrm>
          <a:prstGeom prst="rect">
            <a:avLst/>
          </a:prstGeom>
        </p:spPr>
        <p:txBody>
          <a:bodyPr wrap="square">
            <a:spAutoFit/>
          </a:bodyPr>
          <a:lstStyle/>
          <a:p>
            <a:pPr marL="457200" indent="-457200">
              <a:buFont typeface="Wingdings" pitchFamily="2" charset="2"/>
              <a:buChar char="q"/>
            </a:pPr>
            <a:r>
              <a:rPr lang="en-US" sz="2800" b="1" dirty="0" smtClean="0">
                <a:latin typeface="+mn-lt"/>
              </a:rPr>
              <a:t>Factors to be considered for General Journal: </a:t>
            </a:r>
          </a:p>
          <a:p>
            <a:r>
              <a:rPr lang="en-US" sz="2400" b="1" dirty="0" smtClean="0">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a:t>
            </a:r>
            <a:r>
              <a:rPr lang="en-US" sz="2800" dirty="0" err="1" smtClean="0">
                <a:solidFill>
                  <a:srgbClr val="000000"/>
                </a:solidFill>
                <a:effectLst/>
                <a:latin typeface="+mn-lt"/>
              </a:rPr>
              <a:t>Cheque</a:t>
            </a:r>
            <a:r>
              <a:rPr lang="en-US" sz="2800" dirty="0" smtClean="0">
                <a:solidFill>
                  <a:srgbClr val="000000"/>
                </a:solidFill>
                <a:effectLst/>
                <a:latin typeface="+mn-lt"/>
              </a:rPr>
              <a:t> received from </a:t>
            </a:r>
            <a:r>
              <a:rPr lang="en-US" sz="2800" dirty="0" err="1" smtClean="0">
                <a:solidFill>
                  <a:srgbClr val="000000"/>
                </a:solidFill>
                <a:effectLst/>
                <a:latin typeface="+mn-lt"/>
              </a:rPr>
              <a:t>Rajib</a:t>
            </a:r>
            <a:r>
              <a:rPr lang="en-US" sz="2800" dirty="0" smtClean="0">
                <a:solidFill>
                  <a:srgbClr val="000000"/>
                </a:solidFill>
                <a:effectLst/>
                <a:latin typeface="+mn-lt"/>
              </a:rPr>
              <a:t> for goods sold </a:t>
            </a:r>
          </a:p>
          <a:p>
            <a:r>
              <a:rPr lang="en-US" sz="2800" dirty="0" smtClean="0">
                <a:solidFill>
                  <a:srgbClr val="000000"/>
                </a:solidFill>
                <a:effectLst/>
                <a:latin typeface="+mn-lt"/>
              </a:rPr>
              <a:t>				Bank Account 			Debit </a:t>
            </a:r>
          </a:p>
          <a:p>
            <a:r>
              <a:rPr lang="en-US" sz="2800" dirty="0" smtClean="0">
                <a:solidFill>
                  <a:srgbClr val="000000"/>
                </a:solidFill>
                <a:effectLst/>
                <a:latin typeface="+mn-lt"/>
              </a:rPr>
              <a:t> 					Debtors (</a:t>
            </a:r>
            <a:r>
              <a:rPr lang="en-US" sz="2800" dirty="0" err="1" smtClean="0">
                <a:solidFill>
                  <a:srgbClr val="000000"/>
                </a:solidFill>
                <a:effectLst/>
                <a:latin typeface="+mn-lt"/>
              </a:rPr>
              <a:t>Rajib</a:t>
            </a:r>
            <a:r>
              <a:rPr lang="en-US" sz="2800" dirty="0" smtClean="0">
                <a:solidFill>
                  <a:srgbClr val="000000"/>
                </a:solidFill>
                <a:effectLst/>
                <a:latin typeface="+mn-lt"/>
              </a:rPr>
              <a:t>) Account 	Credit</a:t>
            </a:r>
          </a:p>
          <a:p>
            <a:r>
              <a:rPr lang="en-US" sz="2800" dirty="0" smtClean="0">
                <a:solidFill>
                  <a:srgbClr val="000000"/>
                </a:solidFill>
                <a:effectLst/>
                <a:latin typeface="+mn-lt"/>
              </a:rPr>
              <a:t>	</a:t>
            </a:r>
            <a:r>
              <a:rPr lang="en-US" sz="2800" dirty="0" err="1" smtClean="0">
                <a:solidFill>
                  <a:srgbClr val="000000"/>
                </a:solidFill>
                <a:effectLst/>
                <a:latin typeface="+mn-lt"/>
              </a:rPr>
              <a:t>Cheque</a:t>
            </a:r>
            <a:r>
              <a:rPr lang="en-US" sz="2800" dirty="0" smtClean="0">
                <a:solidFill>
                  <a:srgbClr val="000000"/>
                </a:solidFill>
                <a:effectLst/>
                <a:latin typeface="+mn-lt"/>
              </a:rPr>
              <a:t> received from debtors, deposited into bank immediately </a:t>
            </a:r>
          </a:p>
          <a:p>
            <a:r>
              <a:rPr lang="en-US" sz="2800" dirty="0" smtClean="0">
                <a:solidFill>
                  <a:srgbClr val="000000"/>
                </a:solidFill>
                <a:effectLst/>
                <a:latin typeface="+mn-lt"/>
              </a:rPr>
              <a:t>				Bank Account 		Debit</a:t>
            </a:r>
          </a:p>
          <a:p>
            <a:r>
              <a:rPr lang="en-US" sz="2800" dirty="0" smtClean="0">
                <a:solidFill>
                  <a:srgbClr val="000000"/>
                </a:solidFill>
                <a:effectLst/>
                <a:latin typeface="+mn-lt"/>
              </a:rPr>
              <a:t> 					Debtors Account 	Credit</a:t>
            </a:r>
          </a:p>
          <a:p>
            <a:r>
              <a:rPr lang="en-US" sz="2800" dirty="0" smtClean="0">
                <a:solidFill>
                  <a:srgbClr val="000000"/>
                </a:solidFill>
                <a:effectLst/>
                <a:latin typeface="+mn-lt"/>
              </a:rPr>
              <a:t>(m) Any service gets from owner or provides to owner Capital account credit and Drawings account debit respectively.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Salary of the employee paid by the owner personally </a:t>
            </a:r>
          </a:p>
          <a:p>
            <a:r>
              <a:rPr lang="en-US" sz="2800" dirty="0" smtClean="0">
                <a:solidFill>
                  <a:srgbClr val="000000"/>
                </a:solidFill>
                <a:effectLst/>
                <a:latin typeface="+mn-lt"/>
              </a:rPr>
              <a:t>				Salary Account  		Debit </a:t>
            </a:r>
          </a:p>
          <a:p>
            <a:r>
              <a:rPr lang="en-US" sz="2800" dirty="0" smtClean="0">
                <a:solidFill>
                  <a:srgbClr val="000000"/>
                </a:solidFill>
                <a:effectLst/>
                <a:latin typeface="+mn-lt"/>
              </a:rPr>
              <a:t> 					Capital Account 		Credit </a:t>
            </a:r>
          </a:p>
          <a:p>
            <a:r>
              <a:rPr lang="en-US" sz="2800" dirty="0" smtClean="0">
                <a:solidFill>
                  <a:srgbClr val="000000"/>
                </a:solidFill>
                <a:effectLst/>
                <a:latin typeface="+mn-lt"/>
              </a:rPr>
              <a:t>	Owner’s shopping expense paid from Business </a:t>
            </a:r>
          </a:p>
          <a:p>
            <a:r>
              <a:rPr lang="en-US" sz="2800" dirty="0" smtClean="0">
                <a:solidFill>
                  <a:srgbClr val="000000"/>
                </a:solidFill>
                <a:effectLst/>
                <a:latin typeface="+mn-lt"/>
              </a:rPr>
              <a:t>				Drawings Account 		Debit</a:t>
            </a:r>
          </a:p>
          <a:p>
            <a:r>
              <a:rPr lang="en-US" sz="2800" dirty="0" smtClean="0">
                <a:solidFill>
                  <a:srgbClr val="000000"/>
                </a:solidFill>
                <a:effectLst/>
                <a:latin typeface="+mn-lt"/>
              </a:rPr>
              <a:t> 					Cash Account 		Credit</a:t>
            </a:r>
          </a:p>
          <a:p>
            <a:r>
              <a:rPr lang="en-US" sz="2800" dirty="0" smtClean="0">
                <a:solidFill>
                  <a:srgbClr val="000000"/>
                </a:solidFill>
                <a:effectLst/>
                <a:latin typeface="+mn-lt"/>
              </a:rPr>
              <a:t>(n) Discount allowed and received at settlement of receivable and payable respectively debtors to creditors account will be affected. </a:t>
            </a:r>
          </a:p>
          <a:p>
            <a:r>
              <a:rPr lang="en-US" sz="2800" dirty="0" smtClean="0">
                <a:solidFill>
                  <a:srgbClr val="000000"/>
                </a:solidFill>
                <a:effectLst/>
                <a:latin typeface="+mn-lt"/>
              </a:rPr>
              <a:t>	</a:t>
            </a:r>
            <a:r>
              <a:rPr lang="en-US" sz="2800" b="1" dirty="0" smtClean="0">
                <a:solidFill>
                  <a:srgbClr val="000000"/>
                </a:solidFill>
                <a:effectLst/>
                <a:latin typeface="+mn-lt"/>
              </a:rPr>
              <a:t>Transaction 			Journal Entry </a:t>
            </a:r>
          </a:p>
          <a:p>
            <a:r>
              <a:rPr lang="en-US" sz="2800" dirty="0" smtClean="0">
                <a:solidFill>
                  <a:srgbClr val="000000"/>
                </a:solidFill>
                <a:effectLst/>
                <a:latin typeface="+mn-lt"/>
              </a:rPr>
              <a:t>	Discount Received</a:t>
            </a:r>
          </a:p>
          <a:p>
            <a:r>
              <a:rPr lang="en-US" sz="2800" dirty="0">
                <a:solidFill>
                  <a:srgbClr val="000000"/>
                </a:solidFill>
                <a:latin typeface="+mn-lt"/>
              </a:rPr>
              <a:t>	</a:t>
            </a:r>
            <a:r>
              <a:rPr lang="en-US" sz="2800" dirty="0" smtClean="0">
                <a:solidFill>
                  <a:srgbClr val="000000"/>
                </a:solidFill>
                <a:latin typeface="+mn-lt"/>
              </a:rPr>
              <a:t>			</a:t>
            </a:r>
            <a:r>
              <a:rPr lang="en-US" sz="2800" dirty="0" smtClean="0">
                <a:solidFill>
                  <a:srgbClr val="000000"/>
                </a:solidFill>
                <a:effectLst/>
                <a:latin typeface="+mn-lt"/>
              </a:rPr>
              <a:t>Creditors Account 				Debit </a:t>
            </a:r>
          </a:p>
          <a:p>
            <a:r>
              <a:rPr lang="en-US" sz="2800" dirty="0" smtClean="0">
                <a:solidFill>
                  <a:srgbClr val="000000"/>
                </a:solidFill>
                <a:effectLst/>
                <a:latin typeface="+mn-lt"/>
              </a:rPr>
              <a:t> 					Discount received Account 		Credit</a:t>
            </a:r>
          </a:p>
        </p:txBody>
      </p:sp>
    </p:spTree>
    <p:extLst>
      <p:ext uri="{BB962C8B-B14F-4D97-AF65-F5344CB8AC3E}">
        <p14:creationId xmlns:p14="http://schemas.microsoft.com/office/powerpoint/2010/main" val="2206958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8710077"/>
          </a:xfrm>
          <a:prstGeom prst="rect">
            <a:avLst/>
          </a:prstGeom>
        </p:spPr>
        <p:txBody>
          <a:bodyPr wrap="square">
            <a:spAutoFit/>
          </a:bodyPr>
          <a:lstStyle/>
          <a:p>
            <a:pPr marL="457200" indent="-457200">
              <a:buFont typeface="Wingdings" pitchFamily="2" charset="2"/>
              <a:buChar char="q"/>
            </a:pPr>
            <a:r>
              <a:rPr lang="en-US" sz="4000" b="1" dirty="0" smtClean="0">
                <a:latin typeface="+mn-lt"/>
              </a:rPr>
              <a:t>Example-1</a:t>
            </a:r>
          </a:p>
          <a:p>
            <a:r>
              <a:rPr lang="en-US" sz="4000" dirty="0" smtClean="0">
                <a:latin typeface="+mn-lt"/>
              </a:rPr>
              <a:t>Mr. </a:t>
            </a:r>
            <a:r>
              <a:rPr lang="en-US" sz="4000" dirty="0" err="1" smtClean="0">
                <a:latin typeface="+mn-lt"/>
              </a:rPr>
              <a:t>Nila</a:t>
            </a:r>
            <a:r>
              <a:rPr lang="en-US" sz="4000" dirty="0" smtClean="0">
                <a:latin typeface="+mn-lt"/>
              </a:rPr>
              <a:t> </a:t>
            </a:r>
            <a:r>
              <a:rPr lang="en-US" sz="4000" dirty="0" err="1" smtClean="0">
                <a:latin typeface="+mn-lt"/>
              </a:rPr>
              <a:t>Chowdhury</a:t>
            </a:r>
            <a:r>
              <a:rPr lang="en-US" sz="4000" dirty="0" smtClean="0">
                <a:latin typeface="+mn-lt"/>
              </a:rPr>
              <a:t> is a businessman. During the month of March 2025, the following transactions took place. </a:t>
            </a:r>
          </a:p>
          <a:p>
            <a:r>
              <a:rPr lang="en-US" sz="4000" dirty="0" smtClean="0">
                <a:latin typeface="+mn-lt"/>
              </a:rPr>
              <a:t>March 1 Purchased goods Tk. 9000 </a:t>
            </a:r>
          </a:p>
          <a:p>
            <a:r>
              <a:rPr lang="en-US" sz="4000" dirty="0" smtClean="0">
                <a:latin typeface="+mn-lt"/>
              </a:rPr>
              <a:t>,, 	2 Purchased furniture Tk. 12,000 </a:t>
            </a:r>
          </a:p>
          <a:p>
            <a:r>
              <a:rPr lang="en-US" sz="4000" dirty="0" smtClean="0">
                <a:latin typeface="+mn-lt"/>
              </a:rPr>
              <a:t>,, 	3 Sold goods to </a:t>
            </a:r>
            <a:r>
              <a:rPr lang="en-US" sz="4000" dirty="0" err="1" smtClean="0">
                <a:latin typeface="+mn-lt"/>
              </a:rPr>
              <a:t>Bahar</a:t>
            </a:r>
            <a:r>
              <a:rPr lang="en-US" sz="4000" dirty="0" smtClean="0">
                <a:latin typeface="+mn-lt"/>
              </a:rPr>
              <a:t> for cash Tk. 15000. </a:t>
            </a:r>
          </a:p>
          <a:p>
            <a:r>
              <a:rPr lang="en-US" sz="4000" dirty="0" smtClean="0">
                <a:latin typeface="+mn-lt"/>
              </a:rPr>
              <a:t>,, 	7 Deposited in the Bank Tk. 8000 </a:t>
            </a:r>
          </a:p>
          <a:p>
            <a:r>
              <a:rPr lang="en-US" sz="4000" dirty="0" smtClean="0">
                <a:latin typeface="+mn-lt"/>
              </a:rPr>
              <a:t>,, 	9 Purchased goods on credit Tk. 5000. </a:t>
            </a:r>
          </a:p>
          <a:p>
            <a:r>
              <a:rPr lang="en-US" sz="4000" dirty="0" smtClean="0">
                <a:latin typeface="+mn-lt"/>
              </a:rPr>
              <a:t>,, 	12 Withdrawn by the owner for personal requirement Tk. 2000 </a:t>
            </a:r>
          </a:p>
          <a:p>
            <a:r>
              <a:rPr lang="en-US" sz="4000" dirty="0" smtClean="0">
                <a:latin typeface="+mn-lt"/>
              </a:rPr>
              <a:t>,, 	15 Sold goods Tk. 14000. </a:t>
            </a:r>
          </a:p>
          <a:p>
            <a:r>
              <a:rPr lang="en-US" sz="4000" dirty="0" smtClean="0">
                <a:latin typeface="+mn-lt"/>
              </a:rPr>
              <a:t>,, 	18 Purchased stationary Tk. 1000 </a:t>
            </a:r>
          </a:p>
          <a:p>
            <a:r>
              <a:rPr lang="en-US" sz="4000" dirty="0" smtClean="0">
                <a:latin typeface="+mn-lt"/>
              </a:rPr>
              <a:t>,, 	30 Salaries paid to the employees Tk. 7000.</a:t>
            </a:r>
          </a:p>
          <a:p>
            <a:endParaRPr lang="en-US" sz="4000" dirty="0">
              <a:solidFill>
                <a:srgbClr val="000000"/>
              </a:solidFill>
              <a:effectLst/>
              <a:latin typeface="+mn-lt"/>
            </a:endParaRPr>
          </a:p>
          <a:p>
            <a:r>
              <a:rPr lang="en-US" sz="4000" dirty="0" smtClean="0">
                <a:solidFill>
                  <a:srgbClr val="000000"/>
                </a:solidFill>
                <a:latin typeface="+mn-lt"/>
              </a:rPr>
              <a:t>Requirements: Prepare a Journal of these Transactions.</a:t>
            </a:r>
            <a:endParaRPr lang="en-US" sz="4000" dirty="0" smtClean="0">
              <a:solidFill>
                <a:srgbClr val="000000"/>
              </a:solidFill>
              <a:effectLst/>
              <a:latin typeface="+mn-lt"/>
            </a:endParaRPr>
          </a:p>
        </p:txBody>
      </p:sp>
    </p:spTree>
    <p:extLst>
      <p:ext uri="{BB962C8B-B14F-4D97-AF65-F5344CB8AC3E}">
        <p14:creationId xmlns:p14="http://schemas.microsoft.com/office/powerpoint/2010/main" val="1719118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9017853"/>
          </a:xfrm>
          <a:prstGeom prst="rect">
            <a:avLst/>
          </a:prstGeom>
        </p:spPr>
        <p:txBody>
          <a:bodyPr wrap="square">
            <a:spAutoFit/>
          </a:bodyPr>
          <a:lstStyle/>
          <a:p>
            <a:pPr marL="457200" indent="-457200">
              <a:buFont typeface="Wingdings" pitchFamily="2" charset="2"/>
              <a:buChar char="q"/>
            </a:pPr>
            <a:r>
              <a:rPr lang="en-US" sz="4000" b="1" dirty="0" smtClean="0">
                <a:latin typeface="+mn-lt"/>
              </a:rPr>
              <a:t>Example-2</a:t>
            </a:r>
          </a:p>
          <a:p>
            <a:r>
              <a:rPr lang="en-US" sz="3600" dirty="0" smtClean="0">
                <a:latin typeface="+mn-lt"/>
              </a:rPr>
              <a:t>On 1st July 2025 Mr. </a:t>
            </a:r>
            <a:r>
              <a:rPr lang="en-US" sz="3600" dirty="0" err="1" smtClean="0">
                <a:latin typeface="+mn-lt"/>
              </a:rPr>
              <a:t>Showkat</a:t>
            </a:r>
            <a:r>
              <a:rPr lang="en-US" sz="3600" dirty="0" smtClean="0">
                <a:latin typeface="+mn-lt"/>
              </a:rPr>
              <a:t> started a business with cash of Tk. 50,000 and goods of Tk. 20,000 as capital. His transactions for the month were- </a:t>
            </a:r>
          </a:p>
          <a:p>
            <a:r>
              <a:rPr lang="en-US" sz="3600" dirty="0" smtClean="0">
                <a:latin typeface="+mn-lt"/>
              </a:rPr>
              <a:t>2025 </a:t>
            </a:r>
          </a:p>
          <a:p>
            <a:r>
              <a:rPr lang="en-US" sz="3600" dirty="0" smtClean="0">
                <a:latin typeface="+mn-lt"/>
              </a:rPr>
              <a:t>July 2 Opened a bank account with </a:t>
            </a:r>
            <a:r>
              <a:rPr lang="en-US" sz="3600" dirty="0" err="1" smtClean="0">
                <a:latin typeface="+mn-lt"/>
              </a:rPr>
              <a:t>Janata</a:t>
            </a:r>
            <a:r>
              <a:rPr lang="en-US" sz="3600" dirty="0" smtClean="0">
                <a:latin typeface="+mn-lt"/>
              </a:rPr>
              <a:t> Bank by depositing Tk.20, 000. </a:t>
            </a:r>
          </a:p>
          <a:p>
            <a:r>
              <a:rPr lang="en-US" sz="3600" dirty="0" smtClean="0">
                <a:latin typeface="+mn-lt"/>
              </a:rPr>
              <a:t>,, 	7 Purchased computer for business Tk.22, 000. </a:t>
            </a:r>
          </a:p>
          <a:p>
            <a:r>
              <a:rPr lang="en-US" sz="3600" dirty="0" smtClean="0">
                <a:latin typeface="+mn-lt"/>
              </a:rPr>
              <a:t>,,	 9 Sold goods to Rumi and received </a:t>
            </a:r>
            <a:r>
              <a:rPr lang="en-US" sz="3600" dirty="0" err="1" smtClean="0">
                <a:latin typeface="+mn-lt"/>
              </a:rPr>
              <a:t>cheque</a:t>
            </a:r>
            <a:r>
              <a:rPr lang="en-US" sz="3600" dirty="0" smtClean="0">
                <a:latin typeface="+mn-lt"/>
              </a:rPr>
              <a:t> 10,000. </a:t>
            </a:r>
          </a:p>
          <a:p>
            <a:r>
              <a:rPr lang="en-US" sz="3600" dirty="0" smtClean="0">
                <a:latin typeface="+mn-lt"/>
              </a:rPr>
              <a:t>,, 	10 Purchased goods from Babul Tk.15,000. </a:t>
            </a:r>
          </a:p>
          <a:p>
            <a:r>
              <a:rPr lang="en-US" sz="3600" dirty="0" smtClean="0">
                <a:latin typeface="+mn-lt"/>
              </a:rPr>
              <a:t>,, 	12 Office rent paid in advance Tk. 4,000. </a:t>
            </a:r>
          </a:p>
          <a:p>
            <a:r>
              <a:rPr lang="en-US" sz="3600" dirty="0" smtClean="0">
                <a:latin typeface="+mn-lt"/>
              </a:rPr>
              <a:t>,, 	15 Purchased goods returned to Babul Tk. 1,000. </a:t>
            </a:r>
          </a:p>
          <a:p>
            <a:pPr lvl="1"/>
            <a:r>
              <a:rPr lang="en-US" sz="3600" dirty="0" smtClean="0">
                <a:latin typeface="+mn-lt"/>
              </a:rPr>
              <a:t>,,	20 Advertisement expenses paid for business Tk. 3,000. </a:t>
            </a:r>
          </a:p>
          <a:p>
            <a:r>
              <a:rPr lang="en-US" sz="3600" dirty="0" smtClean="0">
                <a:latin typeface="+mn-lt"/>
              </a:rPr>
              <a:t>,, 	23 Issued </a:t>
            </a:r>
            <a:r>
              <a:rPr lang="en-US" sz="3600" dirty="0" err="1" smtClean="0">
                <a:latin typeface="+mn-lt"/>
              </a:rPr>
              <a:t>cheque</a:t>
            </a:r>
            <a:r>
              <a:rPr lang="en-US" sz="3600" dirty="0" smtClean="0">
                <a:latin typeface="+mn-lt"/>
              </a:rPr>
              <a:t> to Babul Tk. 5,000. </a:t>
            </a:r>
          </a:p>
          <a:p>
            <a:r>
              <a:rPr lang="en-US" sz="3600" dirty="0" smtClean="0">
                <a:latin typeface="+mn-lt"/>
              </a:rPr>
              <a:t>,, 	25 Mr. </a:t>
            </a:r>
            <a:r>
              <a:rPr lang="en-US" sz="3600" dirty="0" err="1" smtClean="0">
                <a:latin typeface="+mn-lt"/>
              </a:rPr>
              <a:t>Showkat’s</a:t>
            </a:r>
            <a:r>
              <a:rPr lang="en-US" sz="3600" dirty="0" smtClean="0">
                <a:latin typeface="+mn-lt"/>
              </a:rPr>
              <a:t> personal expenses paid from the business Tk. 2,000. </a:t>
            </a:r>
          </a:p>
          <a:p>
            <a:r>
              <a:rPr lang="en-US" sz="3600" dirty="0" smtClean="0">
                <a:latin typeface="+mn-lt"/>
              </a:rPr>
              <a:t>,, 	30 Salary of </a:t>
            </a:r>
            <a:r>
              <a:rPr lang="en-US" sz="3600" dirty="0" err="1" smtClean="0">
                <a:latin typeface="+mn-lt"/>
              </a:rPr>
              <a:t>Raihan</a:t>
            </a:r>
            <a:r>
              <a:rPr lang="en-US" sz="3600" dirty="0" smtClean="0">
                <a:latin typeface="+mn-lt"/>
              </a:rPr>
              <a:t> is unpaid Tk.3,500</a:t>
            </a:r>
          </a:p>
          <a:p>
            <a:endParaRPr lang="en-US" sz="3600" dirty="0">
              <a:solidFill>
                <a:srgbClr val="000000"/>
              </a:solidFill>
              <a:effectLst/>
              <a:latin typeface="+mn-lt"/>
            </a:endParaRPr>
          </a:p>
          <a:p>
            <a:r>
              <a:rPr lang="en-US" sz="3600" dirty="0" smtClean="0">
                <a:solidFill>
                  <a:srgbClr val="000000"/>
                </a:solidFill>
                <a:latin typeface="+mn-lt"/>
              </a:rPr>
              <a:t>Requirements: Prepare Journal Entries of these transaction at </a:t>
            </a:r>
            <a:r>
              <a:rPr lang="en-US" sz="3600" dirty="0" err="1" smtClean="0">
                <a:solidFill>
                  <a:srgbClr val="000000"/>
                </a:solidFill>
                <a:latin typeface="+mn-lt"/>
              </a:rPr>
              <a:t>july</a:t>
            </a:r>
            <a:r>
              <a:rPr lang="en-US" sz="3600" dirty="0" smtClean="0">
                <a:solidFill>
                  <a:srgbClr val="000000"/>
                </a:solidFill>
                <a:latin typeface="+mn-lt"/>
              </a:rPr>
              <a:t> 31, 2025.</a:t>
            </a:r>
            <a:endParaRPr lang="en-US" sz="3600" dirty="0" smtClean="0">
              <a:solidFill>
                <a:srgbClr val="000000"/>
              </a:solidFill>
              <a:effectLst/>
              <a:latin typeface="+mn-lt"/>
            </a:endParaRPr>
          </a:p>
        </p:txBody>
      </p:sp>
    </p:spTree>
    <p:extLst>
      <p:ext uri="{BB962C8B-B14F-4D97-AF65-F5344CB8AC3E}">
        <p14:creationId xmlns:p14="http://schemas.microsoft.com/office/powerpoint/2010/main" val="1574374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0"/>
            <a:ext cx="10896600" cy="1028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4785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9571851"/>
          </a:xfrm>
          <a:prstGeom prst="rect">
            <a:avLst/>
          </a:prstGeom>
        </p:spPr>
        <p:txBody>
          <a:bodyPr wrap="square">
            <a:spAutoFit/>
          </a:bodyPr>
          <a:lstStyle/>
          <a:p>
            <a:pPr marL="457200" indent="-457200">
              <a:buFont typeface="Wingdings" pitchFamily="2" charset="2"/>
              <a:buChar char="q"/>
            </a:pPr>
            <a:r>
              <a:rPr lang="en-US" sz="4000" b="1" dirty="0" smtClean="0">
                <a:latin typeface="+mn-lt"/>
              </a:rPr>
              <a:t>Example-3</a:t>
            </a:r>
          </a:p>
          <a:p>
            <a:r>
              <a:rPr lang="en-US" sz="3600" dirty="0" smtClean="0">
                <a:latin typeface="+mn-lt"/>
              </a:rPr>
              <a:t>Journal of Service Providing Organization :</a:t>
            </a:r>
          </a:p>
          <a:p>
            <a:r>
              <a:rPr lang="en-US" sz="3600" dirty="0" smtClean="0">
                <a:latin typeface="+mn-lt"/>
              </a:rPr>
              <a:t>On 1 March 2025 Mr. </a:t>
            </a:r>
            <a:r>
              <a:rPr lang="en-US" sz="3600" dirty="0" err="1" smtClean="0">
                <a:latin typeface="+mn-lt"/>
              </a:rPr>
              <a:t>Pijush</a:t>
            </a:r>
            <a:r>
              <a:rPr lang="en-US" sz="3600" dirty="0" smtClean="0">
                <a:latin typeface="+mn-lt"/>
              </a:rPr>
              <a:t> Kumar started a theatre business at Baily Road. He invested tk.5,00,000. Transactions on March of his business was </a:t>
            </a:r>
          </a:p>
          <a:p>
            <a:r>
              <a:rPr lang="en-US" sz="3600" dirty="0" smtClean="0">
                <a:latin typeface="+mn-lt"/>
              </a:rPr>
              <a:t>March 2		3 months’ rent of the theater paid in advance Tk. 90,000. </a:t>
            </a:r>
          </a:p>
          <a:p>
            <a:r>
              <a:rPr lang="en-US" sz="3600" dirty="0" smtClean="0">
                <a:latin typeface="+mn-lt"/>
              </a:rPr>
              <a:t> ,, 4 			publicity expense for the theater Tk. 15,000. </a:t>
            </a:r>
          </a:p>
          <a:p>
            <a:r>
              <a:rPr lang="en-US" sz="3600" dirty="0" smtClean="0">
                <a:latin typeface="+mn-lt"/>
              </a:rPr>
              <a:t> ,, 6 			Purchased chair and table for the theater Tk. 30,000. </a:t>
            </a:r>
          </a:p>
          <a:p>
            <a:r>
              <a:rPr lang="en-US" sz="3600" dirty="0" smtClean="0">
                <a:latin typeface="+mn-lt"/>
              </a:rPr>
              <a:t> ,, 7 			Cost of making &amp; decorating stage tk.50,000</a:t>
            </a:r>
          </a:p>
          <a:p>
            <a:r>
              <a:rPr lang="en-US" sz="3600" dirty="0" smtClean="0">
                <a:solidFill>
                  <a:srgbClr val="000000"/>
                </a:solidFill>
                <a:latin typeface="+mn-lt"/>
              </a:rPr>
              <a:t> “</a:t>
            </a:r>
            <a:r>
              <a:rPr lang="en-US" sz="3600" dirty="0" smtClean="0">
                <a:solidFill>
                  <a:srgbClr val="000000"/>
                </a:solidFill>
                <a:effectLst/>
                <a:latin typeface="+mn-lt"/>
              </a:rPr>
              <a:t> 12 		Entertainment expense for artist &amp; technician tk.2,000 </a:t>
            </a:r>
          </a:p>
          <a:p>
            <a:r>
              <a:rPr lang="en-US" sz="3600" dirty="0" smtClean="0">
                <a:solidFill>
                  <a:srgbClr val="000000"/>
                </a:solidFill>
                <a:effectLst/>
                <a:latin typeface="+mn-lt"/>
              </a:rPr>
              <a:t>,, 15 			Sale of ticket for showing drama tk.80,000 </a:t>
            </a:r>
          </a:p>
          <a:p>
            <a:r>
              <a:rPr lang="en-US" sz="3600" dirty="0" smtClean="0">
                <a:solidFill>
                  <a:srgbClr val="000000"/>
                </a:solidFill>
                <a:effectLst/>
                <a:latin typeface="+mn-lt"/>
              </a:rPr>
              <a:t>,, 18 			Honorarium paid to artist tk.25,000 </a:t>
            </a:r>
          </a:p>
          <a:p>
            <a:r>
              <a:rPr lang="en-US" sz="3600" dirty="0" smtClean="0">
                <a:solidFill>
                  <a:srgbClr val="000000"/>
                </a:solidFill>
                <a:effectLst/>
                <a:latin typeface="+mn-lt"/>
              </a:rPr>
              <a:t>,, 25 			Electricity bill due Tk. 3,000. </a:t>
            </a:r>
          </a:p>
          <a:p>
            <a:r>
              <a:rPr lang="en-US" sz="3600" dirty="0" smtClean="0">
                <a:solidFill>
                  <a:srgbClr val="000000"/>
                </a:solidFill>
                <a:effectLst/>
                <a:latin typeface="+mn-lt"/>
              </a:rPr>
              <a:t>,, 28 			Salaries paid to the theater employees Tk. 12,000.</a:t>
            </a:r>
          </a:p>
          <a:p>
            <a:endParaRPr lang="en-US" sz="3600" dirty="0" smtClean="0">
              <a:solidFill>
                <a:srgbClr val="000000"/>
              </a:solidFill>
              <a:latin typeface="+mn-lt"/>
            </a:endParaRPr>
          </a:p>
          <a:p>
            <a:r>
              <a:rPr lang="en-US" sz="3600" dirty="0" smtClean="0">
                <a:solidFill>
                  <a:srgbClr val="000000"/>
                </a:solidFill>
                <a:latin typeface="+mn-lt"/>
              </a:rPr>
              <a:t>Requirements: Prepare Journal Entries of these transaction at March 31, 2025.</a:t>
            </a:r>
          </a:p>
          <a:p>
            <a:endParaRPr lang="en-US" sz="3600" dirty="0">
              <a:solidFill>
                <a:srgbClr val="000000"/>
              </a:solidFill>
              <a:latin typeface="+mn-lt"/>
            </a:endParaRPr>
          </a:p>
          <a:p>
            <a:endParaRPr lang="en-US" sz="3600" dirty="0" smtClean="0">
              <a:solidFill>
                <a:srgbClr val="000000"/>
              </a:solidFill>
              <a:effectLst/>
              <a:latin typeface="+mn-lt"/>
            </a:endParaRPr>
          </a:p>
        </p:txBody>
      </p:sp>
    </p:spTree>
    <p:extLst>
      <p:ext uri="{BB962C8B-B14F-4D97-AF65-F5344CB8AC3E}">
        <p14:creationId xmlns:p14="http://schemas.microsoft.com/office/powerpoint/2010/main" val="2559559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0"/>
            <a:ext cx="108204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30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10125849"/>
          </a:xfrm>
          <a:prstGeom prst="rect">
            <a:avLst/>
          </a:prstGeom>
        </p:spPr>
        <p:txBody>
          <a:bodyPr wrap="square">
            <a:spAutoFit/>
          </a:bodyPr>
          <a:lstStyle/>
          <a:p>
            <a:pPr marL="457200" indent="-457200">
              <a:buFont typeface="Wingdings" pitchFamily="2" charset="2"/>
              <a:buChar char="q"/>
            </a:pPr>
            <a:r>
              <a:rPr lang="en-US" sz="4000" b="1" dirty="0" smtClean="0">
                <a:latin typeface="+mn-lt"/>
              </a:rPr>
              <a:t>Example-4</a:t>
            </a:r>
          </a:p>
          <a:p>
            <a:r>
              <a:rPr lang="en-US" sz="3600" dirty="0" smtClean="0">
                <a:latin typeface="+mn-lt"/>
              </a:rPr>
              <a:t>Activity: </a:t>
            </a:r>
          </a:p>
          <a:p>
            <a:r>
              <a:rPr lang="en-US" sz="3600" dirty="0" err="1" smtClean="0">
                <a:latin typeface="+mn-lt"/>
              </a:rPr>
              <a:t>Shachin</a:t>
            </a:r>
            <a:r>
              <a:rPr lang="en-US" sz="3600" dirty="0" smtClean="0">
                <a:latin typeface="+mn-lt"/>
              </a:rPr>
              <a:t> </a:t>
            </a:r>
            <a:r>
              <a:rPr lang="en-US" sz="3600" dirty="0" err="1" smtClean="0">
                <a:latin typeface="+mn-lt"/>
              </a:rPr>
              <a:t>Kormoker</a:t>
            </a:r>
            <a:r>
              <a:rPr lang="en-US" sz="3600" dirty="0" smtClean="0">
                <a:latin typeface="+mn-lt"/>
              </a:rPr>
              <a:t> is a businessman. During the month of April 2011 following transactions took place in his business. </a:t>
            </a:r>
          </a:p>
          <a:p>
            <a:r>
              <a:rPr lang="en-US" sz="3600" dirty="0" smtClean="0">
                <a:latin typeface="+mn-lt"/>
              </a:rPr>
              <a:t>April 1 Received a </a:t>
            </a:r>
            <a:r>
              <a:rPr lang="en-US" sz="3600" dirty="0" err="1" smtClean="0">
                <a:latin typeface="+mn-lt"/>
              </a:rPr>
              <a:t>cheque</a:t>
            </a:r>
            <a:r>
              <a:rPr lang="en-US" sz="3600" dirty="0" smtClean="0">
                <a:latin typeface="+mn-lt"/>
              </a:rPr>
              <a:t> from debtor and deposited it in the Bank then </a:t>
            </a:r>
          </a:p>
          <a:p>
            <a:r>
              <a:rPr lang="en-US" sz="3600" dirty="0" smtClean="0">
                <a:latin typeface="+mn-lt"/>
              </a:rPr>
              <a:t>,, 3 Took loan from </a:t>
            </a:r>
            <a:r>
              <a:rPr lang="en-US" sz="3600" dirty="0" err="1" smtClean="0">
                <a:latin typeface="+mn-lt"/>
              </a:rPr>
              <a:t>Maruf</a:t>
            </a:r>
            <a:r>
              <a:rPr lang="en-US" sz="3600" dirty="0" smtClean="0">
                <a:latin typeface="+mn-lt"/>
              </a:rPr>
              <a:t> Tk. 20000. </a:t>
            </a:r>
          </a:p>
          <a:p>
            <a:r>
              <a:rPr lang="en-US" sz="3600" dirty="0" smtClean="0">
                <a:latin typeface="+mn-lt"/>
              </a:rPr>
              <a:t>,, 5 Purchase Return Tk. 500. </a:t>
            </a:r>
          </a:p>
          <a:p>
            <a:r>
              <a:rPr lang="en-US" sz="3600" dirty="0" smtClean="0">
                <a:latin typeface="+mn-lt"/>
              </a:rPr>
              <a:t>,, 8 Sold old furniture Tk. 2000 </a:t>
            </a:r>
          </a:p>
          <a:p>
            <a:r>
              <a:rPr lang="en-US" sz="3600" dirty="0" smtClean="0">
                <a:latin typeface="+mn-lt"/>
              </a:rPr>
              <a:t>,, 10 Bad debts writing off Tk. 1000 </a:t>
            </a:r>
          </a:p>
          <a:p>
            <a:r>
              <a:rPr lang="en-US" sz="3600" dirty="0" smtClean="0">
                <a:latin typeface="+mn-lt"/>
              </a:rPr>
              <a:t>,, 12 Bank paid notes payable Tk. 3000. </a:t>
            </a:r>
          </a:p>
          <a:p>
            <a:r>
              <a:rPr lang="en-US" sz="3600" dirty="0" smtClean="0">
                <a:latin typeface="+mn-lt"/>
              </a:rPr>
              <a:t>,, 15 Purchased chair and table Tk. 7000. </a:t>
            </a:r>
          </a:p>
          <a:p>
            <a:r>
              <a:rPr lang="en-US" sz="3600" dirty="0" smtClean="0">
                <a:latin typeface="+mn-lt"/>
              </a:rPr>
              <a:t>,, 18 Interest on investment Tk. 1000 </a:t>
            </a:r>
          </a:p>
          <a:p>
            <a:r>
              <a:rPr lang="en-US" sz="3600" dirty="0" smtClean="0">
                <a:latin typeface="+mn-lt"/>
              </a:rPr>
              <a:t>,, 20 Commission receivable Tk. 600. </a:t>
            </a:r>
          </a:p>
          <a:p>
            <a:r>
              <a:rPr lang="en-US" sz="3600" dirty="0" smtClean="0">
                <a:latin typeface="+mn-lt"/>
              </a:rPr>
              <a:t>,, 22 Withdrawn from Bank Tk. 4000 </a:t>
            </a:r>
          </a:p>
          <a:p>
            <a:r>
              <a:rPr lang="en-US" sz="3600" dirty="0" smtClean="0">
                <a:latin typeface="+mn-lt"/>
              </a:rPr>
              <a:t>,, 25 Paid creditor by </a:t>
            </a:r>
            <a:r>
              <a:rPr lang="en-US" sz="3600" dirty="0" err="1" smtClean="0">
                <a:latin typeface="+mn-lt"/>
              </a:rPr>
              <a:t>cheque</a:t>
            </a:r>
            <a:r>
              <a:rPr lang="en-US" sz="3600" dirty="0" smtClean="0">
                <a:latin typeface="+mn-lt"/>
              </a:rPr>
              <a:t> Tk. 6500 and received discount Tk. 500. </a:t>
            </a:r>
          </a:p>
          <a:p>
            <a:r>
              <a:rPr lang="en-US" sz="3600" dirty="0" smtClean="0">
                <a:latin typeface="+mn-lt"/>
              </a:rPr>
              <a:t> ,, 30 Charged depreciation of furniture Tk. 800 </a:t>
            </a:r>
          </a:p>
          <a:p>
            <a:r>
              <a:rPr lang="en-US" sz="3600" dirty="0" smtClean="0">
                <a:latin typeface="+mn-lt"/>
              </a:rPr>
              <a:t>Record the above transactions in the General Journal Book.</a:t>
            </a:r>
            <a:endParaRPr lang="en-US" sz="3600" dirty="0">
              <a:solidFill>
                <a:srgbClr val="000000"/>
              </a:solidFill>
              <a:latin typeface="+mn-lt"/>
            </a:endParaRPr>
          </a:p>
          <a:p>
            <a:endParaRPr lang="en-US" sz="3600" dirty="0" smtClean="0">
              <a:solidFill>
                <a:srgbClr val="000000"/>
              </a:solidFill>
              <a:effectLst/>
              <a:latin typeface="+mn-lt"/>
            </a:endParaRPr>
          </a:p>
        </p:txBody>
      </p:sp>
    </p:spTree>
    <p:extLst>
      <p:ext uri="{BB962C8B-B14F-4D97-AF65-F5344CB8AC3E}">
        <p14:creationId xmlns:p14="http://schemas.microsoft.com/office/powerpoint/2010/main" val="495034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342900"/>
            <a:ext cx="17602200" cy="10125849"/>
          </a:xfrm>
          <a:prstGeom prst="rect">
            <a:avLst/>
          </a:prstGeom>
        </p:spPr>
        <p:txBody>
          <a:bodyPr wrap="square">
            <a:spAutoFit/>
          </a:bodyPr>
          <a:lstStyle/>
          <a:p>
            <a:pPr marL="457200" indent="-457200">
              <a:buFont typeface="Wingdings" pitchFamily="2" charset="2"/>
              <a:buChar char="q"/>
            </a:pPr>
            <a:r>
              <a:rPr lang="en-US" sz="4000" b="1" dirty="0" smtClean="0">
                <a:latin typeface="+mn-lt"/>
              </a:rPr>
              <a:t>Example-4</a:t>
            </a:r>
          </a:p>
          <a:p>
            <a:r>
              <a:rPr lang="en-US" sz="3600" dirty="0" smtClean="0">
                <a:latin typeface="+mn-lt"/>
              </a:rPr>
              <a:t>Activity: </a:t>
            </a:r>
          </a:p>
          <a:p>
            <a:r>
              <a:rPr lang="en-US" sz="3600" dirty="0" err="1" smtClean="0">
                <a:latin typeface="+mn-lt"/>
              </a:rPr>
              <a:t>Shachin</a:t>
            </a:r>
            <a:r>
              <a:rPr lang="en-US" sz="3600" dirty="0" smtClean="0">
                <a:latin typeface="+mn-lt"/>
              </a:rPr>
              <a:t> </a:t>
            </a:r>
            <a:r>
              <a:rPr lang="en-US" sz="3600" dirty="0" err="1" smtClean="0">
                <a:latin typeface="+mn-lt"/>
              </a:rPr>
              <a:t>Kormoker</a:t>
            </a:r>
            <a:r>
              <a:rPr lang="en-US" sz="3600" dirty="0" smtClean="0">
                <a:latin typeface="+mn-lt"/>
              </a:rPr>
              <a:t> is a businessman. During the month of April 2011 following transactions took place in his business. </a:t>
            </a:r>
          </a:p>
          <a:p>
            <a:r>
              <a:rPr lang="en-US" sz="3600" dirty="0" smtClean="0">
                <a:latin typeface="+mn-lt"/>
              </a:rPr>
              <a:t>April 1 Received a </a:t>
            </a:r>
            <a:r>
              <a:rPr lang="en-US" sz="3600" dirty="0" err="1" smtClean="0">
                <a:latin typeface="+mn-lt"/>
              </a:rPr>
              <a:t>cheque</a:t>
            </a:r>
            <a:r>
              <a:rPr lang="en-US" sz="3600" dirty="0" smtClean="0">
                <a:latin typeface="+mn-lt"/>
              </a:rPr>
              <a:t> from debtor and deposited it in the Bank then </a:t>
            </a:r>
          </a:p>
          <a:p>
            <a:r>
              <a:rPr lang="en-US" sz="3600" dirty="0" smtClean="0">
                <a:latin typeface="+mn-lt"/>
              </a:rPr>
              <a:t>,, 3 Took loan from </a:t>
            </a:r>
            <a:r>
              <a:rPr lang="en-US" sz="3600" dirty="0" err="1" smtClean="0">
                <a:latin typeface="+mn-lt"/>
              </a:rPr>
              <a:t>Maruf</a:t>
            </a:r>
            <a:r>
              <a:rPr lang="en-US" sz="3600" dirty="0" smtClean="0">
                <a:latin typeface="+mn-lt"/>
              </a:rPr>
              <a:t> Tk. 20000. </a:t>
            </a:r>
          </a:p>
          <a:p>
            <a:r>
              <a:rPr lang="en-US" sz="3600" dirty="0" smtClean="0">
                <a:latin typeface="+mn-lt"/>
              </a:rPr>
              <a:t>,, 5 Purchase Return Tk. 500. </a:t>
            </a:r>
          </a:p>
          <a:p>
            <a:r>
              <a:rPr lang="en-US" sz="3600" dirty="0" smtClean="0">
                <a:latin typeface="+mn-lt"/>
              </a:rPr>
              <a:t>,, 8 Sold old furniture Tk. 2000 </a:t>
            </a:r>
          </a:p>
          <a:p>
            <a:r>
              <a:rPr lang="en-US" sz="3600" dirty="0" smtClean="0">
                <a:latin typeface="+mn-lt"/>
              </a:rPr>
              <a:t>,, 10 Bad debts writing off Tk. 1000 </a:t>
            </a:r>
          </a:p>
          <a:p>
            <a:r>
              <a:rPr lang="en-US" sz="3600" dirty="0" smtClean="0">
                <a:latin typeface="+mn-lt"/>
              </a:rPr>
              <a:t>,, 12 Bank paid notes payable Tk. 3000. </a:t>
            </a:r>
          </a:p>
          <a:p>
            <a:r>
              <a:rPr lang="en-US" sz="3600" dirty="0" smtClean="0">
                <a:latin typeface="+mn-lt"/>
              </a:rPr>
              <a:t>,, 15 Purchased chair and table Tk. 7000. </a:t>
            </a:r>
          </a:p>
          <a:p>
            <a:r>
              <a:rPr lang="en-US" sz="3600" dirty="0" smtClean="0">
                <a:latin typeface="+mn-lt"/>
              </a:rPr>
              <a:t>,, 18 Interest on investment Tk. 1000 </a:t>
            </a:r>
          </a:p>
          <a:p>
            <a:r>
              <a:rPr lang="en-US" sz="3600" dirty="0" smtClean="0">
                <a:latin typeface="+mn-lt"/>
              </a:rPr>
              <a:t>,, 20 Commission receivable Tk. 600. </a:t>
            </a:r>
          </a:p>
          <a:p>
            <a:r>
              <a:rPr lang="en-US" sz="3600" dirty="0" smtClean="0">
                <a:latin typeface="+mn-lt"/>
              </a:rPr>
              <a:t>,, 22 Withdrawn from Bank Tk. 4000 </a:t>
            </a:r>
          </a:p>
          <a:p>
            <a:r>
              <a:rPr lang="en-US" sz="3600" dirty="0" smtClean="0">
                <a:latin typeface="+mn-lt"/>
              </a:rPr>
              <a:t>,, 25 Paid creditor by </a:t>
            </a:r>
            <a:r>
              <a:rPr lang="en-US" sz="3600" dirty="0" err="1" smtClean="0">
                <a:latin typeface="+mn-lt"/>
              </a:rPr>
              <a:t>cheque</a:t>
            </a:r>
            <a:r>
              <a:rPr lang="en-US" sz="3600" dirty="0" smtClean="0">
                <a:latin typeface="+mn-lt"/>
              </a:rPr>
              <a:t> Tk. 6500 and received discount Tk. 500. </a:t>
            </a:r>
          </a:p>
          <a:p>
            <a:r>
              <a:rPr lang="en-US" sz="3600" dirty="0" smtClean="0">
                <a:latin typeface="+mn-lt"/>
              </a:rPr>
              <a:t> ,, 30 Charged depreciation of furniture Tk. 800 </a:t>
            </a:r>
          </a:p>
          <a:p>
            <a:r>
              <a:rPr lang="en-US" sz="3600" dirty="0" smtClean="0">
                <a:latin typeface="+mn-lt"/>
              </a:rPr>
              <a:t>Record the above transactions in the General Journal Book.</a:t>
            </a:r>
            <a:endParaRPr lang="en-US" sz="3600" dirty="0">
              <a:solidFill>
                <a:srgbClr val="000000"/>
              </a:solidFill>
              <a:latin typeface="+mn-lt"/>
            </a:endParaRPr>
          </a:p>
          <a:p>
            <a:endParaRPr lang="en-US" sz="3600" dirty="0" smtClean="0">
              <a:solidFill>
                <a:srgbClr val="000000"/>
              </a:solidFill>
              <a:effectLst/>
              <a:latin typeface="+mn-lt"/>
            </a:endParaRPr>
          </a:p>
        </p:txBody>
      </p:sp>
    </p:spTree>
    <p:extLst>
      <p:ext uri="{BB962C8B-B14F-4D97-AF65-F5344CB8AC3E}">
        <p14:creationId xmlns:p14="http://schemas.microsoft.com/office/powerpoint/2010/main" val="2509700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057750"/>
            <a:ext cx="3505200" cy="2171700"/>
          </a:xfrm>
          <a:custGeom>
            <a:avLst/>
            <a:gdLst/>
            <a:ahLst/>
            <a:cxnLst/>
            <a:rect l="l" t="t" r="r" b="b"/>
            <a:pathLst>
              <a:path w="5113020" h="2171700">
                <a:moveTo>
                  <a:pt x="4344088" y="2171499"/>
                </a:moveTo>
                <a:lnTo>
                  <a:pt x="0" y="2171499"/>
                </a:lnTo>
                <a:lnTo>
                  <a:pt x="0" y="0"/>
                </a:lnTo>
                <a:lnTo>
                  <a:pt x="4344088" y="0"/>
                </a:lnTo>
                <a:lnTo>
                  <a:pt x="4383790" y="1412"/>
                </a:lnTo>
                <a:lnTo>
                  <a:pt x="4422972" y="5605"/>
                </a:lnTo>
                <a:lnTo>
                  <a:pt x="4461583" y="12510"/>
                </a:lnTo>
                <a:lnTo>
                  <a:pt x="4499577" y="22058"/>
                </a:lnTo>
                <a:lnTo>
                  <a:pt x="4536904" y="34182"/>
                </a:lnTo>
                <a:lnTo>
                  <a:pt x="4573516" y="48813"/>
                </a:lnTo>
                <a:lnTo>
                  <a:pt x="4609364" y="65883"/>
                </a:lnTo>
                <a:lnTo>
                  <a:pt x="4644400" y="85323"/>
                </a:lnTo>
                <a:lnTo>
                  <a:pt x="4678576" y="107066"/>
                </a:lnTo>
                <a:lnTo>
                  <a:pt x="4711843" y="131044"/>
                </a:lnTo>
                <a:lnTo>
                  <a:pt x="4744152" y="157187"/>
                </a:lnTo>
                <a:lnTo>
                  <a:pt x="4775455" y="185429"/>
                </a:lnTo>
                <a:lnTo>
                  <a:pt x="4805704" y="215700"/>
                </a:lnTo>
                <a:lnTo>
                  <a:pt x="4834850" y="247932"/>
                </a:lnTo>
                <a:lnTo>
                  <a:pt x="4862844" y="282058"/>
                </a:lnTo>
                <a:lnTo>
                  <a:pt x="4889639" y="318008"/>
                </a:lnTo>
                <a:lnTo>
                  <a:pt x="4915185" y="355716"/>
                </a:lnTo>
                <a:lnTo>
                  <a:pt x="4939434" y="395112"/>
                </a:lnTo>
                <a:lnTo>
                  <a:pt x="4962339" y="436128"/>
                </a:lnTo>
                <a:lnTo>
                  <a:pt x="4983849" y="478696"/>
                </a:lnTo>
                <a:lnTo>
                  <a:pt x="5003917" y="522748"/>
                </a:lnTo>
                <a:lnTo>
                  <a:pt x="5022494" y="568216"/>
                </a:lnTo>
                <a:lnTo>
                  <a:pt x="5039533" y="615032"/>
                </a:lnTo>
                <a:lnTo>
                  <a:pt x="5054983" y="663126"/>
                </a:lnTo>
                <a:lnTo>
                  <a:pt x="5068797" y="712432"/>
                </a:lnTo>
                <a:lnTo>
                  <a:pt x="5080927" y="762880"/>
                </a:lnTo>
                <a:lnTo>
                  <a:pt x="5091324" y="814403"/>
                </a:lnTo>
                <a:lnTo>
                  <a:pt x="5099939" y="866933"/>
                </a:lnTo>
                <a:lnTo>
                  <a:pt x="5106724" y="920400"/>
                </a:lnTo>
                <a:lnTo>
                  <a:pt x="5111630" y="974737"/>
                </a:lnTo>
                <a:lnTo>
                  <a:pt x="5112759" y="995634"/>
                </a:lnTo>
                <a:lnTo>
                  <a:pt x="5112759" y="1175864"/>
                </a:lnTo>
                <a:lnTo>
                  <a:pt x="5106724" y="1251098"/>
                </a:lnTo>
                <a:lnTo>
                  <a:pt x="5099939" y="1304565"/>
                </a:lnTo>
                <a:lnTo>
                  <a:pt x="5091324" y="1357095"/>
                </a:lnTo>
                <a:lnTo>
                  <a:pt x="5080927" y="1408618"/>
                </a:lnTo>
                <a:lnTo>
                  <a:pt x="5068797" y="1459066"/>
                </a:lnTo>
                <a:lnTo>
                  <a:pt x="5054983" y="1508372"/>
                </a:lnTo>
                <a:lnTo>
                  <a:pt x="5039533" y="1556466"/>
                </a:lnTo>
                <a:lnTo>
                  <a:pt x="5022494" y="1603282"/>
                </a:lnTo>
                <a:lnTo>
                  <a:pt x="5003917" y="1648750"/>
                </a:lnTo>
                <a:lnTo>
                  <a:pt x="4983849" y="1692802"/>
                </a:lnTo>
                <a:lnTo>
                  <a:pt x="4962339" y="1735370"/>
                </a:lnTo>
                <a:lnTo>
                  <a:pt x="4939434" y="1776386"/>
                </a:lnTo>
                <a:lnTo>
                  <a:pt x="4915185" y="1815782"/>
                </a:lnTo>
                <a:lnTo>
                  <a:pt x="4889639" y="1853490"/>
                </a:lnTo>
                <a:lnTo>
                  <a:pt x="4862844" y="1889440"/>
                </a:lnTo>
                <a:lnTo>
                  <a:pt x="4834850" y="1923566"/>
                </a:lnTo>
                <a:lnTo>
                  <a:pt x="4805704" y="1955798"/>
                </a:lnTo>
                <a:lnTo>
                  <a:pt x="4775455" y="1986069"/>
                </a:lnTo>
                <a:lnTo>
                  <a:pt x="4744152" y="2014311"/>
                </a:lnTo>
                <a:lnTo>
                  <a:pt x="4711843" y="2040454"/>
                </a:lnTo>
                <a:lnTo>
                  <a:pt x="4678576" y="2064432"/>
                </a:lnTo>
                <a:lnTo>
                  <a:pt x="4644400" y="2086175"/>
                </a:lnTo>
                <a:lnTo>
                  <a:pt x="4609364" y="2105615"/>
                </a:lnTo>
                <a:lnTo>
                  <a:pt x="4573516" y="2122685"/>
                </a:lnTo>
                <a:lnTo>
                  <a:pt x="4536904" y="2137316"/>
                </a:lnTo>
                <a:lnTo>
                  <a:pt x="4499577" y="2149440"/>
                </a:lnTo>
                <a:lnTo>
                  <a:pt x="4461583" y="2158988"/>
                </a:lnTo>
                <a:lnTo>
                  <a:pt x="4422972" y="2165893"/>
                </a:lnTo>
                <a:lnTo>
                  <a:pt x="4383790" y="2170086"/>
                </a:lnTo>
                <a:lnTo>
                  <a:pt x="4344088" y="2171499"/>
                </a:lnTo>
                <a:close/>
              </a:path>
            </a:pathLst>
          </a:custGeom>
          <a:solidFill>
            <a:srgbClr val="004AAC"/>
          </a:solidFill>
        </p:spPr>
        <p:txBody>
          <a:bodyPr wrap="square" lIns="0" tIns="0" rIns="0" bIns="0" rtlCol="0"/>
          <a:lstStyle/>
          <a:p>
            <a:endParaRPr/>
          </a:p>
        </p:txBody>
      </p:sp>
      <p:sp>
        <p:nvSpPr>
          <p:cNvPr id="3" name="object 3"/>
          <p:cNvSpPr/>
          <p:nvPr/>
        </p:nvSpPr>
        <p:spPr>
          <a:xfrm>
            <a:off x="14478000" y="4057750"/>
            <a:ext cx="3810056" cy="2171700"/>
          </a:xfrm>
          <a:custGeom>
            <a:avLst/>
            <a:gdLst/>
            <a:ahLst/>
            <a:cxnLst/>
            <a:rect l="l" t="t" r="r" b="b"/>
            <a:pathLst>
              <a:path w="5203825" h="2171700">
                <a:moveTo>
                  <a:pt x="5203769" y="2171498"/>
                </a:moveTo>
                <a:lnTo>
                  <a:pt x="771524" y="2171499"/>
                </a:lnTo>
                <a:lnTo>
                  <a:pt x="731822" y="2170086"/>
                </a:lnTo>
                <a:lnTo>
                  <a:pt x="692641" y="2165893"/>
                </a:lnTo>
                <a:lnTo>
                  <a:pt x="654029" y="2158988"/>
                </a:lnTo>
                <a:lnTo>
                  <a:pt x="616035" y="2149440"/>
                </a:lnTo>
                <a:lnTo>
                  <a:pt x="578709" y="2137316"/>
                </a:lnTo>
                <a:lnTo>
                  <a:pt x="542097" y="2122685"/>
                </a:lnTo>
                <a:lnTo>
                  <a:pt x="506249" y="2105615"/>
                </a:lnTo>
                <a:lnTo>
                  <a:pt x="471212" y="2086175"/>
                </a:lnTo>
                <a:lnTo>
                  <a:pt x="437037" y="2064432"/>
                </a:lnTo>
                <a:lnTo>
                  <a:pt x="403770" y="2040454"/>
                </a:lnTo>
                <a:lnTo>
                  <a:pt x="371461" y="2014311"/>
                </a:lnTo>
                <a:lnTo>
                  <a:pt x="340158" y="1986069"/>
                </a:lnTo>
                <a:lnTo>
                  <a:pt x="309909" y="1955798"/>
                </a:lnTo>
                <a:lnTo>
                  <a:pt x="280763" y="1923566"/>
                </a:lnTo>
                <a:lnTo>
                  <a:pt x="252769" y="1889440"/>
                </a:lnTo>
                <a:lnTo>
                  <a:pt x="225974" y="1853490"/>
                </a:lnTo>
                <a:lnTo>
                  <a:pt x="200428" y="1815782"/>
                </a:lnTo>
                <a:lnTo>
                  <a:pt x="176178" y="1776386"/>
                </a:lnTo>
                <a:lnTo>
                  <a:pt x="153274" y="1735370"/>
                </a:lnTo>
                <a:lnTo>
                  <a:pt x="131764" y="1692802"/>
                </a:lnTo>
                <a:lnTo>
                  <a:pt x="111696" y="1648750"/>
                </a:lnTo>
                <a:lnTo>
                  <a:pt x="93119" y="1603282"/>
                </a:lnTo>
                <a:lnTo>
                  <a:pt x="76080" y="1556466"/>
                </a:lnTo>
                <a:lnTo>
                  <a:pt x="60630" y="1508372"/>
                </a:lnTo>
                <a:lnTo>
                  <a:pt x="46815" y="1459066"/>
                </a:lnTo>
                <a:lnTo>
                  <a:pt x="34686" y="1408618"/>
                </a:lnTo>
                <a:lnTo>
                  <a:pt x="24289" y="1357095"/>
                </a:lnTo>
                <a:lnTo>
                  <a:pt x="15674" y="1304565"/>
                </a:lnTo>
                <a:lnTo>
                  <a:pt x="8889" y="1251098"/>
                </a:lnTo>
                <a:lnTo>
                  <a:pt x="3983" y="1196761"/>
                </a:lnTo>
                <a:lnTo>
                  <a:pt x="1003" y="1141622"/>
                </a:lnTo>
                <a:lnTo>
                  <a:pt x="0" y="1085749"/>
                </a:lnTo>
                <a:lnTo>
                  <a:pt x="1003" y="1029876"/>
                </a:lnTo>
                <a:lnTo>
                  <a:pt x="3983" y="974737"/>
                </a:lnTo>
                <a:lnTo>
                  <a:pt x="8889" y="920400"/>
                </a:lnTo>
                <a:lnTo>
                  <a:pt x="15674" y="866933"/>
                </a:lnTo>
                <a:lnTo>
                  <a:pt x="24289" y="814403"/>
                </a:lnTo>
                <a:lnTo>
                  <a:pt x="34686" y="762880"/>
                </a:lnTo>
                <a:lnTo>
                  <a:pt x="46815" y="712432"/>
                </a:lnTo>
                <a:lnTo>
                  <a:pt x="60630" y="663126"/>
                </a:lnTo>
                <a:lnTo>
                  <a:pt x="76080" y="615032"/>
                </a:lnTo>
                <a:lnTo>
                  <a:pt x="93119" y="568216"/>
                </a:lnTo>
                <a:lnTo>
                  <a:pt x="111696" y="522748"/>
                </a:lnTo>
                <a:lnTo>
                  <a:pt x="131764" y="478696"/>
                </a:lnTo>
                <a:lnTo>
                  <a:pt x="153274" y="436128"/>
                </a:lnTo>
                <a:lnTo>
                  <a:pt x="176178" y="395111"/>
                </a:lnTo>
                <a:lnTo>
                  <a:pt x="200428" y="355716"/>
                </a:lnTo>
                <a:lnTo>
                  <a:pt x="225974" y="318008"/>
                </a:lnTo>
                <a:lnTo>
                  <a:pt x="252769" y="282057"/>
                </a:lnTo>
                <a:lnTo>
                  <a:pt x="280763" y="247932"/>
                </a:lnTo>
                <a:lnTo>
                  <a:pt x="309909" y="215699"/>
                </a:lnTo>
                <a:lnTo>
                  <a:pt x="340158" y="185428"/>
                </a:lnTo>
                <a:lnTo>
                  <a:pt x="371461" y="157187"/>
                </a:lnTo>
                <a:lnTo>
                  <a:pt x="403770" y="131044"/>
                </a:lnTo>
                <a:lnTo>
                  <a:pt x="437037" y="107066"/>
                </a:lnTo>
                <a:lnTo>
                  <a:pt x="471212" y="85323"/>
                </a:lnTo>
                <a:lnTo>
                  <a:pt x="506249" y="65882"/>
                </a:lnTo>
                <a:lnTo>
                  <a:pt x="542097" y="48813"/>
                </a:lnTo>
                <a:lnTo>
                  <a:pt x="578709" y="34182"/>
                </a:lnTo>
                <a:lnTo>
                  <a:pt x="616035" y="22058"/>
                </a:lnTo>
                <a:lnTo>
                  <a:pt x="654029" y="12510"/>
                </a:lnTo>
                <a:lnTo>
                  <a:pt x="692641" y="5605"/>
                </a:lnTo>
                <a:lnTo>
                  <a:pt x="731822" y="1412"/>
                </a:lnTo>
                <a:lnTo>
                  <a:pt x="771524" y="0"/>
                </a:lnTo>
                <a:lnTo>
                  <a:pt x="5203769" y="0"/>
                </a:lnTo>
                <a:lnTo>
                  <a:pt x="5203769" y="2171498"/>
                </a:lnTo>
                <a:close/>
              </a:path>
            </a:pathLst>
          </a:custGeom>
          <a:solidFill>
            <a:srgbClr val="004AAC"/>
          </a:solidFill>
        </p:spPr>
        <p:txBody>
          <a:bodyPr wrap="square" lIns="0" tIns="0" rIns="0" bIns="0" rtlCol="0"/>
          <a:lstStyle/>
          <a:p>
            <a:endParaRPr/>
          </a:p>
        </p:txBody>
      </p:sp>
      <p:sp>
        <p:nvSpPr>
          <p:cNvPr id="6" name="object 6"/>
          <p:cNvSpPr txBox="1"/>
          <p:nvPr/>
        </p:nvSpPr>
        <p:spPr>
          <a:xfrm>
            <a:off x="2556510" y="4102225"/>
            <a:ext cx="12226291" cy="2082750"/>
          </a:xfrm>
          <a:prstGeom prst="rect">
            <a:avLst/>
          </a:prstGeom>
        </p:spPr>
        <p:txBody>
          <a:bodyPr vert="horz" wrap="square" lIns="0" tIns="12065" rIns="0" bIns="0" rtlCol="0">
            <a:spAutoFit/>
          </a:bodyPr>
          <a:lstStyle/>
          <a:p>
            <a:pPr marL="1838960" marR="1831339" algn="ctr">
              <a:lnSpc>
                <a:spcPct val="117200"/>
              </a:lnSpc>
              <a:spcBef>
                <a:spcPts val="95"/>
              </a:spcBef>
            </a:pPr>
            <a:r>
              <a:rPr lang="en-US" sz="11500" b="1" dirty="0" smtClean="0">
                <a:solidFill>
                  <a:schemeClr val="tx2"/>
                </a:solidFill>
                <a:latin typeface="Lucida Calligraphy" pitchFamily="66" charset="0"/>
                <a:cs typeface="Lucida Sans Unicode"/>
              </a:rPr>
              <a:t>Thank You</a:t>
            </a:r>
            <a:endParaRPr sz="11500" b="1" dirty="0">
              <a:solidFill>
                <a:schemeClr val="tx2"/>
              </a:solidFill>
              <a:latin typeface="Lucida Calligraphy" pitchFamily="66" charset="0"/>
              <a:cs typeface="Lucida Sans Unicode"/>
            </a:endParaRPr>
          </a:p>
        </p:txBody>
      </p:sp>
    </p:spTree>
    <p:extLst>
      <p:ext uri="{BB962C8B-B14F-4D97-AF65-F5344CB8AC3E}">
        <p14:creationId xmlns:p14="http://schemas.microsoft.com/office/powerpoint/2010/main" val="209251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3710</TotalTime>
  <Words>1313</Words>
  <Application>Microsoft Office PowerPoint</Application>
  <PresentationFormat>Custom</PresentationFormat>
  <Paragraphs>268</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ACN 0411-2201</dc:title>
  <cp:lastModifiedBy>User</cp:lastModifiedBy>
  <cp:revision>76</cp:revision>
  <dcterms:created xsi:type="dcterms:W3CDTF">2026-06-29T07:36:54Z</dcterms:created>
  <dcterms:modified xsi:type="dcterms:W3CDTF">2026-07-26T03:13:42Z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2026-06-29T00:00:00Z</vt:filetime>
  </property>
  <property fmtid="{D5CDD505-2E9C-101B-9397-08002B2CF9AE}" pid="4" name="LastSaved">
    <vt:filetime>2026-06-29T00:00:00Z</vt:filetime>
  </property>
  <property fmtid="{D5CDD505-2E9C-101B-9397-08002B2CF9AE}" pid="5" name="Producer">
    <vt:lpwstr>iLovePDF</vt:lpwstr>
  </property>
</Properties>
</file>