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504E6-760F-4B30-A253-4940D55BB27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B536-25C5-44C0-BB1C-0011AFFFE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F944D-B155-46F9-91BD-D015D81067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5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1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8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9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0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3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6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7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8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8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30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4DB61-4055-4B21-A20E-0822978857D9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EE4DF-2F3F-4930-8C50-44A75723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6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590221" y="0"/>
            <a:ext cx="255377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51206" tIns="25603" rIns="51206" bIns="25603"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" y="1769"/>
            <a:ext cx="6584967" cy="6856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638386" y="2020301"/>
            <a:ext cx="2457450" cy="2184726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 indent="174600">
              <a:lnSpc>
                <a:spcPct val="115599"/>
              </a:lnSpc>
              <a:spcBef>
                <a:spcPts val="53"/>
              </a:spcBef>
            </a:pPr>
            <a:r>
              <a:rPr lang="en-US" sz="2000" spc="-6" dirty="0">
                <a:solidFill>
                  <a:schemeClr val="bg1"/>
                </a:solidFill>
                <a:latin typeface="Roboto"/>
                <a:cs typeface="Roboto"/>
              </a:rPr>
              <a:t>Chapter One</a:t>
            </a:r>
            <a:r>
              <a:rPr lang="en-US" sz="3400" spc="-6" dirty="0">
                <a:solidFill>
                  <a:schemeClr val="bg1"/>
                </a:solidFill>
                <a:latin typeface="Roboto"/>
                <a:cs typeface="Roboto"/>
              </a:rPr>
              <a:t/>
            </a:r>
            <a:br>
              <a:rPr lang="en-US" sz="3400" spc="-6" dirty="0">
                <a:solidFill>
                  <a:schemeClr val="bg1"/>
                </a:solidFill>
                <a:latin typeface="Roboto"/>
                <a:cs typeface="Roboto"/>
              </a:rPr>
            </a:br>
            <a:r>
              <a:rPr lang="en-US" sz="3400" spc="-6" dirty="0">
                <a:solidFill>
                  <a:schemeClr val="bg1"/>
                </a:solidFill>
                <a:latin typeface="Roboto"/>
                <a:cs typeface="Roboto"/>
              </a:rPr>
              <a:t>Introduction to </a:t>
            </a:r>
            <a:br>
              <a:rPr lang="en-US" sz="3400" spc="-6" dirty="0">
                <a:solidFill>
                  <a:schemeClr val="bg1"/>
                </a:solidFill>
                <a:latin typeface="Roboto"/>
                <a:cs typeface="Roboto"/>
              </a:rPr>
            </a:br>
            <a:r>
              <a:rPr lang="en-US" sz="3400" spc="-6" dirty="0">
                <a:solidFill>
                  <a:schemeClr val="bg1"/>
                </a:solidFill>
                <a:latin typeface="Roboto"/>
                <a:cs typeface="Roboto"/>
              </a:rPr>
              <a:t>Accounting</a:t>
            </a:r>
            <a:endParaRPr sz="3400" spc="-11" dirty="0">
              <a:solidFill>
                <a:schemeClr val="bg1"/>
              </a:solidFill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1971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7686040" cy="10287000"/>
            </a:xfrm>
            <a:custGeom>
              <a:avLst/>
              <a:gdLst/>
              <a:ahLst/>
              <a:cxnLst/>
              <a:rect l="l" t="t" r="r" b="b"/>
              <a:pathLst>
                <a:path w="7686040" h="10287000">
                  <a:moveTo>
                    <a:pt x="7685692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685692" y="0"/>
                  </a:lnTo>
                  <a:lnTo>
                    <a:pt x="7685692" y="1028700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73677" y="8840054"/>
              <a:ext cx="897255" cy="1447165"/>
            </a:xfrm>
            <a:custGeom>
              <a:avLst/>
              <a:gdLst/>
              <a:ahLst/>
              <a:cxnLst/>
              <a:rect l="l" t="t" r="r" b="b"/>
              <a:pathLst>
                <a:path w="897254" h="1447165">
                  <a:moveTo>
                    <a:pt x="897166" y="1446945"/>
                  </a:moveTo>
                  <a:lnTo>
                    <a:pt x="0" y="1446945"/>
                  </a:lnTo>
                  <a:lnTo>
                    <a:pt x="0" y="448583"/>
                  </a:lnTo>
                  <a:lnTo>
                    <a:pt x="2632" y="399705"/>
                  </a:lnTo>
                  <a:lnTo>
                    <a:pt x="10346" y="352351"/>
                  </a:lnTo>
                  <a:lnTo>
                    <a:pt x="22869" y="306796"/>
                  </a:lnTo>
                  <a:lnTo>
                    <a:pt x="39926" y="263312"/>
                  </a:lnTo>
                  <a:lnTo>
                    <a:pt x="61244" y="222174"/>
                  </a:lnTo>
                  <a:lnTo>
                    <a:pt x="86550" y="183655"/>
                  </a:lnTo>
                  <a:lnTo>
                    <a:pt x="115570" y="148029"/>
                  </a:lnTo>
                  <a:lnTo>
                    <a:pt x="148029" y="115570"/>
                  </a:lnTo>
                  <a:lnTo>
                    <a:pt x="183655" y="86550"/>
                  </a:lnTo>
                  <a:lnTo>
                    <a:pt x="222174" y="61244"/>
                  </a:lnTo>
                  <a:lnTo>
                    <a:pt x="263312" y="39926"/>
                  </a:lnTo>
                  <a:lnTo>
                    <a:pt x="306796" y="22869"/>
                  </a:lnTo>
                  <a:lnTo>
                    <a:pt x="352351" y="10346"/>
                  </a:lnTo>
                  <a:lnTo>
                    <a:pt x="399705" y="2632"/>
                  </a:lnTo>
                  <a:lnTo>
                    <a:pt x="448583" y="0"/>
                  </a:lnTo>
                  <a:lnTo>
                    <a:pt x="497461" y="2632"/>
                  </a:lnTo>
                  <a:lnTo>
                    <a:pt x="544814" y="10346"/>
                  </a:lnTo>
                  <a:lnTo>
                    <a:pt x="590370" y="22869"/>
                  </a:lnTo>
                  <a:lnTo>
                    <a:pt x="633853" y="39926"/>
                  </a:lnTo>
                  <a:lnTo>
                    <a:pt x="674991" y="61244"/>
                  </a:lnTo>
                  <a:lnTo>
                    <a:pt x="713510" y="86550"/>
                  </a:lnTo>
                  <a:lnTo>
                    <a:pt x="749136" y="115570"/>
                  </a:lnTo>
                  <a:lnTo>
                    <a:pt x="781596" y="148029"/>
                  </a:lnTo>
                  <a:lnTo>
                    <a:pt x="810616" y="183655"/>
                  </a:lnTo>
                  <a:lnTo>
                    <a:pt x="835921" y="222174"/>
                  </a:lnTo>
                  <a:lnTo>
                    <a:pt x="857240" y="263312"/>
                  </a:lnTo>
                  <a:lnTo>
                    <a:pt x="874297" y="306796"/>
                  </a:lnTo>
                  <a:lnTo>
                    <a:pt x="886820" y="352351"/>
                  </a:lnTo>
                  <a:lnTo>
                    <a:pt x="894534" y="399705"/>
                  </a:lnTo>
                  <a:lnTo>
                    <a:pt x="897166" y="448583"/>
                  </a:lnTo>
                  <a:lnTo>
                    <a:pt x="897166" y="14469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6198" y="0"/>
              <a:ext cx="11551800" cy="102869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2248" y="190983"/>
            <a:ext cx="3057208" cy="407650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2600" spc="199" dirty="0">
                <a:solidFill>
                  <a:srgbClr val="FFFFFF"/>
                </a:solidFill>
              </a:rPr>
              <a:t>CHAPTER</a:t>
            </a:r>
            <a:r>
              <a:rPr sz="2600" spc="-62" dirty="0">
                <a:solidFill>
                  <a:srgbClr val="FFFFFF"/>
                </a:solidFill>
              </a:rPr>
              <a:t> </a:t>
            </a:r>
            <a:r>
              <a:rPr sz="2600" spc="216" dirty="0">
                <a:solidFill>
                  <a:srgbClr val="FFFFFF"/>
                </a:solidFill>
              </a:rPr>
              <a:t>CONTENT</a:t>
            </a:r>
            <a:endParaRPr sz="2600"/>
          </a:p>
        </p:txBody>
      </p:sp>
      <p:grpSp>
        <p:nvGrpSpPr>
          <p:cNvPr id="8" name="object 8"/>
          <p:cNvGrpSpPr/>
          <p:nvPr/>
        </p:nvGrpSpPr>
        <p:grpSpPr>
          <a:xfrm>
            <a:off x="320523" y="934101"/>
            <a:ext cx="66675" cy="4711700"/>
            <a:chOff x="641045" y="1401152"/>
            <a:chExt cx="133350" cy="70675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45" y="1401152"/>
              <a:ext cx="133350" cy="1333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45" y="1934552"/>
              <a:ext cx="133350" cy="133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045" y="3001352"/>
              <a:ext cx="133350" cy="1333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045" y="4068151"/>
              <a:ext cx="133350" cy="1333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045" y="5134951"/>
              <a:ext cx="133350" cy="1333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045" y="5668351"/>
              <a:ext cx="133350" cy="1333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045" y="6201752"/>
              <a:ext cx="133350" cy="133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045" y="6735151"/>
              <a:ext cx="133350" cy="1333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045" y="7268551"/>
              <a:ext cx="133350" cy="133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045" y="8335351"/>
              <a:ext cx="133350" cy="1333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77065" y="747988"/>
            <a:ext cx="2827655" cy="5487938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20828">
              <a:lnSpc>
                <a:spcPct val="116700"/>
              </a:lnSpc>
              <a:spcBef>
                <a:spcPts val="53"/>
              </a:spcBef>
            </a:pPr>
            <a:r>
              <a:rPr sz="17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Concept</a:t>
            </a:r>
            <a:r>
              <a:rPr sz="1700" spc="-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7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 Objectives</a:t>
            </a:r>
            <a:r>
              <a:rPr sz="1700" spc="-7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700" spc="-7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necessity</a:t>
            </a:r>
            <a:r>
              <a:rPr sz="1700" spc="-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</a:t>
            </a:r>
            <a:endParaRPr sz="1700">
              <a:latin typeface="Lucida Sans Unicode"/>
              <a:cs typeface="Lucida Sans Unicode"/>
            </a:endParaRPr>
          </a:p>
          <a:p>
            <a:pPr marL="7112" marR="168554">
              <a:lnSpc>
                <a:spcPts val="2352"/>
              </a:lnSpc>
              <a:spcBef>
                <a:spcPts val="134"/>
              </a:spcBef>
            </a:pP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7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origin</a:t>
            </a:r>
            <a:r>
              <a:rPr sz="1700" spc="-9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7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48" dirty="0">
                <a:solidFill>
                  <a:srgbClr val="FFFFFF"/>
                </a:solidFill>
                <a:latin typeface="Lucida Sans Unicode"/>
                <a:cs typeface="Lucida Sans Unicode"/>
              </a:rPr>
              <a:t>evaluation</a:t>
            </a:r>
            <a:r>
              <a:rPr sz="1700" spc="-9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</a:t>
            </a:r>
            <a:endParaRPr sz="1700">
              <a:latin typeface="Lucida Sans Unicode"/>
              <a:cs typeface="Lucida Sans Unicode"/>
            </a:endParaRPr>
          </a:p>
          <a:p>
            <a:pPr marL="7112" marR="1026973">
              <a:lnSpc>
                <a:spcPts val="2352"/>
              </a:lnSpc>
            </a:pP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Users</a:t>
            </a:r>
            <a:r>
              <a:rPr sz="1700" spc="-8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700" spc="-8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 </a:t>
            </a:r>
            <a:r>
              <a:rPr sz="17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Information</a:t>
            </a:r>
            <a:endParaRPr sz="1700">
              <a:latin typeface="Lucida Sans Unicode"/>
              <a:cs typeface="Lucida Sans Unicode"/>
            </a:endParaRPr>
          </a:p>
          <a:p>
            <a:pPr marL="7112" marR="166776">
              <a:lnSpc>
                <a:spcPts val="2352"/>
              </a:lnSpc>
            </a:pPr>
            <a:r>
              <a:rPr sz="17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Classification</a:t>
            </a:r>
            <a:r>
              <a:rPr sz="1700" spc="-8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700" spc="-8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Functions</a:t>
            </a:r>
            <a:r>
              <a:rPr sz="1700" spc="-3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700" spc="-2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 </a:t>
            </a:r>
            <a:r>
              <a:rPr sz="1700" spc="87" dirty="0">
                <a:solidFill>
                  <a:srgbClr val="FFFFFF"/>
                </a:solidFill>
                <a:latin typeface="Lucida Sans Unicode"/>
                <a:cs typeface="Lucida Sans Unicode"/>
              </a:rPr>
              <a:t>Scope</a:t>
            </a:r>
            <a:r>
              <a:rPr sz="17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7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</a:t>
            </a:r>
            <a:endParaRPr sz="1700">
              <a:latin typeface="Lucida Sans Unicode"/>
              <a:cs typeface="Lucida Sans Unicode"/>
            </a:endParaRPr>
          </a:p>
          <a:p>
            <a:pPr marL="7112" marR="2845">
              <a:lnSpc>
                <a:spcPts val="2352"/>
              </a:lnSpc>
            </a:pPr>
            <a:r>
              <a:rPr sz="17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Basis</a:t>
            </a:r>
            <a:r>
              <a:rPr sz="1700" spc="-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700" spc="-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 </a:t>
            </a:r>
            <a:r>
              <a:rPr sz="17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 </a:t>
            </a: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Assumptions</a:t>
            </a:r>
            <a:r>
              <a:rPr sz="17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87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17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Principles</a:t>
            </a:r>
            <a:endParaRPr sz="1700">
              <a:latin typeface="Lucida Sans Unicode"/>
              <a:cs typeface="Lucida Sans Unicode"/>
            </a:endParaRPr>
          </a:p>
          <a:p>
            <a:pPr marL="7112">
              <a:spcBef>
                <a:spcPts val="202"/>
              </a:spcBef>
            </a:pPr>
            <a:r>
              <a:rPr sz="1700" dirty="0">
                <a:solidFill>
                  <a:srgbClr val="FFFFFF"/>
                </a:solidFill>
                <a:latin typeface="Lucida Sans Unicode"/>
                <a:cs typeface="Lucida Sans Unicode"/>
              </a:rPr>
              <a:t>Book</a:t>
            </a:r>
            <a:r>
              <a:rPr sz="1700" spc="-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Keeping</a:t>
            </a:r>
            <a:r>
              <a:rPr sz="1700" spc="-7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vs</a:t>
            </a:r>
            <a:r>
              <a:rPr sz="1700" spc="-73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7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</a:t>
            </a:r>
            <a:endParaRPr sz="17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258720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0170682" y="0"/>
              <a:ext cx="8117840" cy="10273665"/>
            </a:xfrm>
            <a:custGeom>
              <a:avLst/>
              <a:gdLst/>
              <a:ahLst/>
              <a:cxnLst/>
              <a:rect l="l" t="t" r="r" b="b"/>
              <a:pathLst>
                <a:path w="8117840" h="10273665">
                  <a:moveTo>
                    <a:pt x="8117316" y="10273479"/>
                  </a:moveTo>
                  <a:lnTo>
                    <a:pt x="0" y="10273479"/>
                  </a:lnTo>
                  <a:lnTo>
                    <a:pt x="0" y="0"/>
                  </a:lnTo>
                  <a:lnTo>
                    <a:pt x="8117316" y="0"/>
                  </a:lnTo>
                  <a:lnTo>
                    <a:pt x="8117316" y="1027347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90615" y="713057"/>
              <a:ext cx="2261235" cy="2115820"/>
            </a:xfrm>
            <a:custGeom>
              <a:avLst/>
              <a:gdLst/>
              <a:ahLst/>
              <a:cxnLst/>
              <a:rect l="l" t="t" r="r" b="b"/>
              <a:pathLst>
                <a:path w="2261234" h="2115820">
                  <a:moveTo>
                    <a:pt x="1130563" y="2115388"/>
                  </a:moveTo>
                  <a:lnTo>
                    <a:pt x="1080204" y="2114357"/>
                  </a:lnTo>
                  <a:lnTo>
                    <a:pt x="1030408" y="2111294"/>
                  </a:lnTo>
                  <a:lnTo>
                    <a:pt x="981222" y="2106242"/>
                  </a:lnTo>
                  <a:lnTo>
                    <a:pt x="932693" y="2099243"/>
                  </a:lnTo>
                  <a:lnTo>
                    <a:pt x="884865" y="2090341"/>
                  </a:lnTo>
                  <a:lnTo>
                    <a:pt x="837785" y="2079578"/>
                  </a:lnTo>
                  <a:lnTo>
                    <a:pt x="791500" y="2066997"/>
                  </a:lnTo>
                  <a:lnTo>
                    <a:pt x="746054" y="2052642"/>
                  </a:lnTo>
                  <a:lnTo>
                    <a:pt x="701493" y="2036556"/>
                  </a:lnTo>
                  <a:lnTo>
                    <a:pt x="657865" y="2018781"/>
                  </a:lnTo>
                  <a:lnTo>
                    <a:pt x="615214" y="1999361"/>
                  </a:lnTo>
                  <a:lnTo>
                    <a:pt x="573587" y="1978338"/>
                  </a:lnTo>
                  <a:lnTo>
                    <a:pt x="533029" y="1955755"/>
                  </a:lnTo>
                  <a:lnTo>
                    <a:pt x="493587" y="1931656"/>
                  </a:lnTo>
                  <a:lnTo>
                    <a:pt x="455306" y="1906084"/>
                  </a:lnTo>
                  <a:lnTo>
                    <a:pt x="418233" y="1879081"/>
                  </a:lnTo>
                  <a:lnTo>
                    <a:pt x="382413" y="1850690"/>
                  </a:lnTo>
                  <a:lnTo>
                    <a:pt x="347893" y="1820955"/>
                  </a:lnTo>
                  <a:lnTo>
                    <a:pt x="314718" y="1789918"/>
                  </a:lnTo>
                  <a:lnTo>
                    <a:pt x="282934" y="1757623"/>
                  </a:lnTo>
                  <a:lnTo>
                    <a:pt x="252587" y="1724112"/>
                  </a:lnTo>
                  <a:lnTo>
                    <a:pt x="223723" y="1689428"/>
                  </a:lnTo>
                  <a:lnTo>
                    <a:pt x="196389" y="1653615"/>
                  </a:lnTo>
                  <a:lnTo>
                    <a:pt x="170630" y="1616715"/>
                  </a:lnTo>
                  <a:lnTo>
                    <a:pt x="146492" y="1578771"/>
                  </a:lnTo>
                  <a:lnTo>
                    <a:pt x="124020" y="1539827"/>
                  </a:lnTo>
                  <a:lnTo>
                    <a:pt x="103262" y="1499925"/>
                  </a:lnTo>
                  <a:lnTo>
                    <a:pt x="84262" y="1459109"/>
                  </a:lnTo>
                  <a:lnTo>
                    <a:pt x="67068" y="1417420"/>
                  </a:lnTo>
                  <a:lnTo>
                    <a:pt x="51724" y="1374903"/>
                  </a:lnTo>
                  <a:lnTo>
                    <a:pt x="38277" y="1331601"/>
                  </a:lnTo>
                  <a:lnTo>
                    <a:pt x="26772" y="1287556"/>
                  </a:lnTo>
                  <a:lnTo>
                    <a:pt x="17257" y="1242811"/>
                  </a:lnTo>
                  <a:lnTo>
                    <a:pt x="9776" y="1197409"/>
                  </a:lnTo>
                  <a:lnTo>
                    <a:pt x="4375" y="1151394"/>
                  </a:lnTo>
                  <a:lnTo>
                    <a:pt x="1101" y="1104808"/>
                  </a:lnTo>
                  <a:lnTo>
                    <a:pt x="0" y="1057694"/>
                  </a:lnTo>
                  <a:lnTo>
                    <a:pt x="1101" y="1010580"/>
                  </a:lnTo>
                  <a:lnTo>
                    <a:pt x="4375" y="963994"/>
                  </a:lnTo>
                  <a:lnTo>
                    <a:pt x="9776" y="917978"/>
                  </a:lnTo>
                  <a:lnTo>
                    <a:pt x="17257" y="872577"/>
                  </a:lnTo>
                  <a:lnTo>
                    <a:pt x="26772" y="827832"/>
                  </a:lnTo>
                  <a:lnTo>
                    <a:pt x="38277" y="783787"/>
                  </a:lnTo>
                  <a:lnTo>
                    <a:pt x="51724" y="740484"/>
                  </a:lnTo>
                  <a:lnTo>
                    <a:pt x="67068" y="697967"/>
                  </a:lnTo>
                  <a:lnTo>
                    <a:pt x="84262" y="656279"/>
                  </a:lnTo>
                  <a:lnTo>
                    <a:pt x="103262" y="615462"/>
                  </a:lnTo>
                  <a:lnTo>
                    <a:pt x="124020" y="575561"/>
                  </a:lnTo>
                  <a:lnTo>
                    <a:pt x="146492" y="536616"/>
                  </a:lnTo>
                  <a:lnTo>
                    <a:pt x="170630" y="498673"/>
                  </a:lnTo>
                  <a:lnTo>
                    <a:pt x="196389" y="461773"/>
                  </a:lnTo>
                  <a:lnTo>
                    <a:pt x="223723" y="425960"/>
                  </a:lnTo>
                  <a:lnTo>
                    <a:pt x="252587" y="391276"/>
                  </a:lnTo>
                  <a:lnTo>
                    <a:pt x="282934" y="357765"/>
                  </a:lnTo>
                  <a:lnTo>
                    <a:pt x="314718" y="325469"/>
                  </a:lnTo>
                  <a:lnTo>
                    <a:pt x="347893" y="294433"/>
                  </a:lnTo>
                  <a:lnTo>
                    <a:pt x="382413" y="264697"/>
                  </a:lnTo>
                  <a:lnTo>
                    <a:pt x="418233" y="236307"/>
                  </a:lnTo>
                  <a:lnTo>
                    <a:pt x="455306" y="209303"/>
                  </a:lnTo>
                  <a:lnTo>
                    <a:pt x="493587" y="183731"/>
                  </a:lnTo>
                  <a:lnTo>
                    <a:pt x="533029" y="159632"/>
                  </a:lnTo>
                  <a:lnTo>
                    <a:pt x="573587" y="137049"/>
                  </a:lnTo>
                  <a:lnTo>
                    <a:pt x="615214" y="116027"/>
                  </a:lnTo>
                  <a:lnTo>
                    <a:pt x="657865" y="96606"/>
                  </a:lnTo>
                  <a:lnTo>
                    <a:pt x="701493" y="78831"/>
                  </a:lnTo>
                  <a:lnTo>
                    <a:pt x="746054" y="62745"/>
                  </a:lnTo>
                  <a:lnTo>
                    <a:pt x="791500" y="48390"/>
                  </a:lnTo>
                  <a:lnTo>
                    <a:pt x="837785" y="35810"/>
                  </a:lnTo>
                  <a:lnTo>
                    <a:pt x="884865" y="25047"/>
                  </a:lnTo>
                  <a:lnTo>
                    <a:pt x="932693" y="16144"/>
                  </a:lnTo>
                  <a:lnTo>
                    <a:pt x="981222" y="9146"/>
                  </a:lnTo>
                  <a:lnTo>
                    <a:pt x="1030408" y="4093"/>
                  </a:lnTo>
                  <a:lnTo>
                    <a:pt x="1080204" y="1030"/>
                  </a:lnTo>
                  <a:lnTo>
                    <a:pt x="1130563" y="0"/>
                  </a:lnTo>
                  <a:lnTo>
                    <a:pt x="1180923" y="1030"/>
                  </a:lnTo>
                  <a:lnTo>
                    <a:pt x="1230719" y="4093"/>
                  </a:lnTo>
                  <a:lnTo>
                    <a:pt x="1279904" y="9146"/>
                  </a:lnTo>
                  <a:lnTo>
                    <a:pt x="1328434" y="16144"/>
                  </a:lnTo>
                  <a:lnTo>
                    <a:pt x="1376262" y="25047"/>
                  </a:lnTo>
                  <a:lnTo>
                    <a:pt x="1423341" y="35810"/>
                  </a:lnTo>
                  <a:lnTo>
                    <a:pt x="1469627" y="48390"/>
                  </a:lnTo>
                  <a:lnTo>
                    <a:pt x="1515073" y="62745"/>
                  </a:lnTo>
                  <a:lnTo>
                    <a:pt x="1559634" y="78831"/>
                  </a:lnTo>
                  <a:lnTo>
                    <a:pt x="1603262" y="96606"/>
                  </a:lnTo>
                  <a:lnTo>
                    <a:pt x="1645913" y="116027"/>
                  </a:lnTo>
                  <a:lnTo>
                    <a:pt x="1687540" y="137049"/>
                  </a:lnTo>
                  <a:lnTo>
                    <a:pt x="1728098" y="159632"/>
                  </a:lnTo>
                  <a:lnTo>
                    <a:pt x="1767540" y="183731"/>
                  </a:lnTo>
                  <a:lnTo>
                    <a:pt x="1805821" y="209303"/>
                  </a:lnTo>
                  <a:lnTo>
                    <a:pt x="1842894" y="236307"/>
                  </a:lnTo>
                  <a:lnTo>
                    <a:pt x="1878714" y="264697"/>
                  </a:lnTo>
                  <a:lnTo>
                    <a:pt x="1913234" y="294433"/>
                  </a:lnTo>
                  <a:lnTo>
                    <a:pt x="1946410" y="325469"/>
                  </a:lnTo>
                  <a:lnTo>
                    <a:pt x="1978193" y="357765"/>
                  </a:lnTo>
                  <a:lnTo>
                    <a:pt x="2008540" y="391276"/>
                  </a:lnTo>
                  <a:lnTo>
                    <a:pt x="2037404" y="425960"/>
                  </a:lnTo>
                  <a:lnTo>
                    <a:pt x="2064738" y="461773"/>
                  </a:lnTo>
                  <a:lnTo>
                    <a:pt x="2090497" y="498673"/>
                  </a:lnTo>
                  <a:lnTo>
                    <a:pt x="2114636" y="536616"/>
                  </a:lnTo>
                  <a:lnTo>
                    <a:pt x="2137107" y="575561"/>
                  </a:lnTo>
                  <a:lnTo>
                    <a:pt x="2157865" y="615462"/>
                  </a:lnTo>
                  <a:lnTo>
                    <a:pt x="2176865" y="656279"/>
                  </a:lnTo>
                  <a:lnTo>
                    <a:pt x="2194059" y="697967"/>
                  </a:lnTo>
                  <a:lnTo>
                    <a:pt x="2209403" y="740484"/>
                  </a:lnTo>
                  <a:lnTo>
                    <a:pt x="2222850" y="783787"/>
                  </a:lnTo>
                  <a:lnTo>
                    <a:pt x="2234355" y="827832"/>
                  </a:lnTo>
                  <a:lnTo>
                    <a:pt x="2243870" y="872577"/>
                  </a:lnTo>
                  <a:lnTo>
                    <a:pt x="2251352" y="917978"/>
                  </a:lnTo>
                  <a:lnTo>
                    <a:pt x="2256752" y="963994"/>
                  </a:lnTo>
                  <a:lnTo>
                    <a:pt x="2260026" y="1010580"/>
                  </a:lnTo>
                  <a:lnTo>
                    <a:pt x="2261128" y="1057694"/>
                  </a:lnTo>
                  <a:lnTo>
                    <a:pt x="2260026" y="1104808"/>
                  </a:lnTo>
                  <a:lnTo>
                    <a:pt x="2256752" y="1151394"/>
                  </a:lnTo>
                  <a:lnTo>
                    <a:pt x="2251352" y="1197409"/>
                  </a:lnTo>
                  <a:lnTo>
                    <a:pt x="2243870" y="1242811"/>
                  </a:lnTo>
                  <a:lnTo>
                    <a:pt x="2234355" y="1287556"/>
                  </a:lnTo>
                  <a:lnTo>
                    <a:pt x="2222850" y="1331601"/>
                  </a:lnTo>
                  <a:lnTo>
                    <a:pt x="2209403" y="1374903"/>
                  </a:lnTo>
                  <a:lnTo>
                    <a:pt x="2194059" y="1417420"/>
                  </a:lnTo>
                  <a:lnTo>
                    <a:pt x="2176865" y="1459109"/>
                  </a:lnTo>
                  <a:lnTo>
                    <a:pt x="2157865" y="1499925"/>
                  </a:lnTo>
                  <a:lnTo>
                    <a:pt x="2137107" y="1539827"/>
                  </a:lnTo>
                  <a:lnTo>
                    <a:pt x="2114636" y="1578771"/>
                  </a:lnTo>
                  <a:lnTo>
                    <a:pt x="2090497" y="1616715"/>
                  </a:lnTo>
                  <a:lnTo>
                    <a:pt x="2064738" y="1653615"/>
                  </a:lnTo>
                  <a:lnTo>
                    <a:pt x="2037404" y="1689428"/>
                  </a:lnTo>
                  <a:lnTo>
                    <a:pt x="2008540" y="1724112"/>
                  </a:lnTo>
                  <a:lnTo>
                    <a:pt x="1978193" y="1757623"/>
                  </a:lnTo>
                  <a:lnTo>
                    <a:pt x="1946410" y="1789918"/>
                  </a:lnTo>
                  <a:lnTo>
                    <a:pt x="1913234" y="1820955"/>
                  </a:lnTo>
                  <a:lnTo>
                    <a:pt x="1878714" y="1850690"/>
                  </a:lnTo>
                  <a:lnTo>
                    <a:pt x="1842894" y="1879081"/>
                  </a:lnTo>
                  <a:lnTo>
                    <a:pt x="1805821" y="1906084"/>
                  </a:lnTo>
                  <a:lnTo>
                    <a:pt x="1767540" y="1931656"/>
                  </a:lnTo>
                  <a:lnTo>
                    <a:pt x="1728098" y="1955755"/>
                  </a:lnTo>
                  <a:lnTo>
                    <a:pt x="1687540" y="1978338"/>
                  </a:lnTo>
                  <a:lnTo>
                    <a:pt x="1645913" y="1999361"/>
                  </a:lnTo>
                  <a:lnTo>
                    <a:pt x="1603262" y="2018781"/>
                  </a:lnTo>
                  <a:lnTo>
                    <a:pt x="1559634" y="2036556"/>
                  </a:lnTo>
                  <a:lnTo>
                    <a:pt x="1515073" y="2052642"/>
                  </a:lnTo>
                  <a:lnTo>
                    <a:pt x="1469627" y="2066997"/>
                  </a:lnTo>
                  <a:lnTo>
                    <a:pt x="1423341" y="2079578"/>
                  </a:lnTo>
                  <a:lnTo>
                    <a:pt x="1376262" y="2090341"/>
                  </a:lnTo>
                  <a:lnTo>
                    <a:pt x="1328434" y="2099243"/>
                  </a:lnTo>
                  <a:lnTo>
                    <a:pt x="1279904" y="2106242"/>
                  </a:lnTo>
                  <a:lnTo>
                    <a:pt x="1230719" y="2111294"/>
                  </a:lnTo>
                  <a:lnTo>
                    <a:pt x="1180923" y="2114357"/>
                  </a:lnTo>
                  <a:lnTo>
                    <a:pt x="1130563" y="2115388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sz="half" idx="4294967295"/>
          </p:nvPr>
        </p:nvSpPr>
        <p:spPr>
          <a:xfrm>
            <a:off x="5708339" y="1156711"/>
            <a:ext cx="3442017" cy="6108775"/>
          </a:xfrm>
          <a:prstGeom prst="rect">
            <a:avLst/>
          </a:prstGeom>
        </p:spPr>
        <p:txBody>
          <a:bodyPr vert="horz" wrap="square" lIns="0" tIns="6401" rIns="0" bIns="0" rtlCol="0">
            <a:spAutoFit/>
          </a:bodyPr>
          <a:lstStyle/>
          <a:p>
            <a:pPr marL="7112" marR="179934">
              <a:lnSpc>
                <a:spcPct val="116199"/>
              </a:lnSpc>
              <a:spcBef>
                <a:spcPts val="50"/>
              </a:spcBef>
            </a:pPr>
            <a:r>
              <a:rPr spc="34" dirty="0"/>
              <a:t>‘Accounting</a:t>
            </a:r>
            <a:r>
              <a:rPr spc="-142" dirty="0"/>
              <a:t> </a:t>
            </a:r>
            <a:r>
              <a:rPr dirty="0"/>
              <a:t>is</a:t>
            </a:r>
            <a:r>
              <a:rPr spc="-142" dirty="0"/>
              <a:t> </a:t>
            </a:r>
            <a:r>
              <a:rPr spc="157" dirty="0"/>
              <a:t>an </a:t>
            </a:r>
            <a:r>
              <a:rPr spc="31" dirty="0"/>
              <a:t>information</a:t>
            </a:r>
            <a:r>
              <a:rPr spc="-112" dirty="0"/>
              <a:t> </a:t>
            </a:r>
            <a:r>
              <a:rPr spc="90" dirty="0"/>
              <a:t>system</a:t>
            </a:r>
            <a:r>
              <a:rPr spc="-112" dirty="0"/>
              <a:t> </a:t>
            </a:r>
            <a:r>
              <a:rPr spc="64" dirty="0"/>
              <a:t>that </a:t>
            </a:r>
            <a:r>
              <a:rPr spc="-14" dirty="0"/>
              <a:t>identifies,</a:t>
            </a:r>
            <a:r>
              <a:rPr spc="-73" dirty="0"/>
              <a:t> </a:t>
            </a:r>
            <a:r>
              <a:rPr dirty="0"/>
              <a:t>records,</a:t>
            </a:r>
            <a:r>
              <a:rPr spc="-73" dirty="0"/>
              <a:t> </a:t>
            </a:r>
            <a:r>
              <a:rPr spc="137" dirty="0"/>
              <a:t>and </a:t>
            </a:r>
            <a:r>
              <a:rPr spc="120" dirty="0"/>
              <a:t>communicates</a:t>
            </a:r>
            <a:r>
              <a:rPr spc="-109" dirty="0"/>
              <a:t> </a:t>
            </a:r>
            <a:r>
              <a:rPr spc="45" dirty="0"/>
              <a:t>the </a:t>
            </a:r>
            <a:r>
              <a:rPr spc="112" dirty="0"/>
              <a:t>economic</a:t>
            </a:r>
            <a:r>
              <a:rPr spc="-120" dirty="0"/>
              <a:t> </a:t>
            </a:r>
            <a:r>
              <a:rPr spc="78" dirty="0"/>
              <a:t>events</a:t>
            </a:r>
            <a:r>
              <a:rPr spc="-118" dirty="0"/>
              <a:t> </a:t>
            </a:r>
            <a:r>
              <a:rPr dirty="0"/>
              <a:t>of</a:t>
            </a:r>
            <a:r>
              <a:rPr spc="-118" dirty="0"/>
              <a:t> </a:t>
            </a:r>
            <a:r>
              <a:rPr spc="157" dirty="0"/>
              <a:t>an </a:t>
            </a:r>
            <a:r>
              <a:rPr spc="25" dirty="0"/>
              <a:t>organization</a:t>
            </a:r>
            <a:r>
              <a:rPr spc="-90" dirty="0"/>
              <a:t> </a:t>
            </a:r>
            <a:r>
              <a:rPr spc="-14" dirty="0"/>
              <a:t>to </a:t>
            </a:r>
            <a:r>
              <a:rPr spc="42" dirty="0"/>
              <a:t>interested</a:t>
            </a:r>
            <a:r>
              <a:rPr spc="-104" dirty="0"/>
              <a:t> </a:t>
            </a:r>
            <a:r>
              <a:rPr spc="-6" dirty="0"/>
              <a:t>users.’</a:t>
            </a:r>
          </a:p>
          <a:p>
            <a:pPr marL="1790446">
              <a:spcBef>
                <a:spcPts val="406"/>
              </a:spcBef>
            </a:pPr>
            <a:r>
              <a:rPr sz="1100" spc="48" dirty="0"/>
              <a:t>Weygandt,</a:t>
            </a:r>
            <a:r>
              <a:rPr sz="1100" spc="-48" dirty="0"/>
              <a:t> </a:t>
            </a:r>
            <a:r>
              <a:rPr sz="1100" dirty="0"/>
              <a:t>Kieso</a:t>
            </a:r>
            <a:r>
              <a:rPr sz="1100" spc="-42" dirty="0"/>
              <a:t> </a:t>
            </a:r>
            <a:r>
              <a:rPr sz="1100" spc="76" dirty="0"/>
              <a:t>and</a:t>
            </a:r>
            <a:r>
              <a:rPr sz="1100" spc="-39" dirty="0"/>
              <a:t> </a:t>
            </a:r>
            <a:r>
              <a:rPr sz="1100" spc="22" dirty="0"/>
              <a:t>Kimmel</a:t>
            </a:r>
            <a:endParaRPr sz="1100"/>
          </a:p>
        </p:txBody>
      </p:sp>
      <p:grpSp>
        <p:nvGrpSpPr>
          <p:cNvPr id="6" name="object 6"/>
          <p:cNvGrpSpPr/>
          <p:nvPr/>
        </p:nvGrpSpPr>
        <p:grpSpPr>
          <a:xfrm>
            <a:off x="0" y="1337563"/>
            <a:ext cx="5575935" cy="4575387"/>
            <a:chOff x="0" y="2006344"/>
            <a:chExt cx="11151870" cy="6863080"/>
          </a:xfrm>
        </p:grpSpPr>
        <p:sp>
          <p:nvSpPr>
            <p:cNvPr id="7" name="object 7"/>
            <p:cNvSpPr/>
            <p:nvPr/>
          </p:nvSpPr>
          <p:spPr>
            <a:xfrm>
              <a:off x="8890609" y="3699598"/>
              <a:ext cx="2261235" cy="5169535"/>
            </a:xfrm>
            <a:custGeom>
              <a:avLst/>
              <a:gdLst/>
              <a:ahLst/>
              <a:cxnLst/>
              <a:rect l="l" t="t" r="r" b="b"/>
              <a:pathLst>
                <a:path w="2261234" h="5169534">
                  <a:moveTo>
                    <a:pt x="2261120" y="1130528"/>
                  </a:moveTo>
                  <a:lnTo>
                    <a:pt x="2260130" y="1082751"/>
                  </a:lnTo>
                  <a:lnTo>
                    <a:pt x="2257183" y="1035456"/>
                  </a:lnTo>
                  <a:lnTo>
                    <a:pt x="2252319" y="988720"/>
                  </a:lnTo>
                  <a:lnTo>
                    <a:pt x="2245576" y="942568"/>
                  </a:lnTo>
                  <a:lnTo>
                    <a:pt x="2236990" y="897039"/>
                  </a:lnTo>
                  <a:lnTo>
                    <a:pt x="2226602" y="852170"/>
                  </a:lnTo>
                  <a:lnTo>
                    <a:pt x="2214448" y="807999"/>
                  </a:lnTo>
                  <a:lnTo>
                    <a:pt x="2200579" y="764578"/>
                  </a:lnTo>
                  <a:lnTo>
                    <a:pt x="2185022" y="721931"/>
                  </a:lnTo>
                  <a:lnTo>
                    <a:pt x="2167826" y="680097"/>
                  </a:lnTo>
                  <a:lnTo>
                    <a:pt x="2149030" y="639127"/>
                  </a:lnTo>
                  <a:lnTo>
                    <a:pt x="2128659" y="599059"/>
                  </a:lnTo>
                  <a:lnTo>
                    <a:pt x="2106777" y="559930"/>
                  </a:lnTo>
                  <a:lnTo>
                    <a:pt x="2083396" y="521779"/>
                  </a:lnTo>
                  <a:lnTo>
                    <a:pt x="2058568" y="484632"/>
                  </a:lnTo>
                  <a:lnTo>
                    <a:pt x="2032330" y="448551"/>
                  </a:lnTo>
                  <a:lnTo>
                    <a:pt x="2004733" y="413562"/>
                  </a:lnTo>
                  <a:lnTo>
                    <a:pt x="1975802" y="379704"/>
                  </a:lnTo>
                  <a:lnTo>
                    <a:pt x="1945576" y="347014"/>
                  </a:lnTo>
                  <a:lnTo>
                    <a:pt x="1914105" y="315544"/>
                  </a:lnTo>
                  <a:lnTo>
                    <a:pt x="1881416" y="285318"/>
                  </a:lnTo>
                  <a:lnTo>
                    <a:pt x="1847557" y="256387"/>
                  </a:lnTo>
                  <a:lnTo>
                    <a:pt x="1812569" y="228790"/>
                  </a:lnTo>
                  <a:lnTo>
                    <a:pt x="1776476" y="202552"/>
                  </a:lnTo>
                  <a:lnTo>
                    <a:pt x="1739341" y="177723"/>
                  </a:lnTo>
                  <a:lnTo>
                    <a:pt x="1701177" y="154343"/>
                  </a:lnTo>
                  <a:lnTo>
                    <a:pt x="1662049" y="132461"/>
                  </a:lnTo>
                  <a:lnTo>
                    <a:pt x="1621980" y="112090"/>
                  </a:lnTo>
                  <a:lnTo>
                    <a:pt x="1581010" y="93294"/>
                  </a:lnTo>
                  <a:lnTo>
                    <a:pt x="1539176" y="76098"/>
                  </a:lnTo>
                  <a:lnTo>
                    <a:pt x="1496529" y="60540"/>
                  </a:lnTo>
                  <a:lnTo>
                    <a:pt x="1453108" y="46672"/>
                  </a:lnTo>
                  <a:lnTo>
                    <a:pt x="1408938" y="34518"/>
                  </a:lnTo>
                  <a:lnTo>
                    <a:pt x="1364068" y="24142"/>
                  </a:lnTo>
                  <a:lnTo>
                    <a:pt x="1318539" y="15557"/>
                  </a:lnTo>
                  <a:lnTo>
                    <a:pt x="1272374" y="8801"/>
                  </a:lnTo>
                  <a:lnTo>
                    <a:pt x="1225638" y="3937"/>
                  </a:lnTo>
                  <a:lnTo>
                    <a:pt x="1178356" y="990"/>
                  </a:lnTo>
                  <a:lnTo>
                    <a:pt x="1130566" y="0"/>
                  </a:lnTo>
                  <a:lnTo>
                    <a:pt x="1082776" y="990"/>
                  </a:lnTo>
                  <a:lnTo>
                    <a:pt x="1035481" y="3937"/>
                  </a:lnTo>
                  <a:lnTo>
                    <a:pt x="988745" y="8801"/>
                  </a:lnTo>
                  <a:lnTo>
                    <a:pt x="942594" y="15557"/>
                  </a:lnTo>
                  <a:lnTo>
                    <a:pt x="897064" y="24142"/>
                  </a:lnTo>
                  <a:lnTo>
                    <a:pt x="852182" y="34518"/>
                  </a:lnTo>
                  <a:lnTo>
                    <a:pt x="808024" y="46672"/>
                  </a:lnTo>
                  <a:lnTo>
                    <a:pt x="764590" y="60540"/>
                  </a:lnTo>
                  <a:lnTo>
                    <a:pt x="721944" y="76098"/>
                  </a:lnTo>
                  <a:lnTo>
                    <a:pt x="680123" y="93294"/>
                  </a:lnTo>
                  <a:lnTo>
                    <a:pt x="639152" y="112090"/>
                  </a:lnTo>
                  <a:lnTo>
                    <a:pt x="599084" y="132461"/>
                  </a:lnTo>
                  <a:lnTo>
                    <a:pt x="559943" y="154343"/>
                  </a:lnTo>
                  <a:lnTo>
                    <a:pt x="521792" y="177723"/>
                  </a:lnTo>
                  <a:lnTo>
                    <a:pt x="484644" y="202552"/>
                  </a:lnTo>
                  <a:lnTo>
                    <a:pt x="448564" y="228790"/>
                  </a:lnTo>
                  <a:lnTo>
                    <a:pt x="413575" y="256387"/>
                  </a:lnTo>
                  <a:lnTo>
                    <a:pt x="379704" y="285318"/>
                  </a:lnTo>
                  <a:lnTo>
                    <a:pt x="347027" y="315544"/>
                  </a:lnTo>
                  <a:lnTo>
                    <a:pt x="315556" y="347014"/>
                  </a:lnTo>
                  <a:lnTo>
                    <a:pt x="285330" y="379704"/>
                  </a:lnTo>
                  <a:lnTo>
                    <a:pt x="256400" y="413562"/>
                  </a:lnTo>
                  <a:lnTo>
                    <a:pt x="228790" y="448551"/>
                  </a:lnTo>
                  <a:lnTo>
                    <a:pt x="202565" y="484632"/>
                  </a:lnTo>
                  <a:lnTo>
                    <a:pt x="177736" y="521779"/>
                  </a:lnTo>
                  <a:lnTo>
                    <a:pt x="154355" y="559930"/>
                  </a:lnTo>
                  <a:lnTo>
                    <a:pt x="132461" y="599059"/>
                  </a:lnTo>
                  <a:lnTo>
                    <a:pt x="112102" y="639127"/>
                  </a:lnTo>
                  <a:lnTo>
                    <a:pt x="93294" y="680097"/>
                  </a:lnTo>
                  <a:lnTo>
                    <a:pt x="76098" y="721931"/>
                  </a:lnTo>
                  <a:lnTo>
                    <a:pt x="60540" y="764578"/>
                  </a:lnTo>
                  <a:lnTo>
                    <a:pt x="46672" y="807999"/>
                  </a:lnTo>
                  <a:lnTo>
                    <a:pt x="34531" y="852170"/>
                  </a:lnTo>
                  <a:lnTo>
                    <a:pt x="24142" y="897039"/>
                  </a:lnTo>
                  <a:lnTo>
                    <a:pt x="15557" y="942568"/>
                  </a:lnTo>
                  <a:lnTo>
                    <a:pt x="8813" y="988720"/>
                  </a:lnTo>
                  <a:lnTo>
                    <a:pt x="3937" y="1035456"/>
                  </a:lnTo>
                  <a:lnTo>
                    <a:pt x="990" y="1082751"/>
                  </a:lnTo>
                  <a:lnTo>
                    <a:pt x="0" y="1130528"/>
                  </a:lnTo>
                  <a:lnTo>
                    <a:pt x="990" y="1178318"/>
                  </a:lnTo>
                  <a:lnTo>
                    <a:pt x="3937" y="1225613"/>
                  </a:lnTo>
                  <a:lnTo>
                    <a:pt x="8813" y="1272349"/>
                  </a:lnTo>
                  <a:lnTo>
                    <a:pt x="15557" y="1318501"/>
                  </a:lnTo>
                  <a:lnTo>
                    <a:pt x="24142" y="1364030"/>
                  </a:lnTo>
                  <a:lnTo>
                    <a:pt x="34531" y="1408899"/>
                  </a:lnTo>
                  <a:lnTo>
                    <a:pt x="46672" y="1453070"/>
                  </a:lnTo>
                  <a:lnTo>
                    <a:pt x="60540" y="1496491"/>
                  </a:lnTo>
                  <a:lnTo>
                    <a:pt x="76098" y="1539138"/>
                  </a:lnTo>
                  <a:lnTo>
                    <a:pt x="93294" y="1580972"/>
                  </a:lnTo>
                  <a:lnTo>
                    <a:pt x="112102" y="1621942"/>
                  </a:lnTo>
                  <a:lnTo>
                    <a:pt x="132461" y="1662010"/>
                  </a:lnTo>
                  <a:lnTo>
                    <a:pt x="154355" y="1701139"/>
                  </a:lnTo>
                  <a:lnTo>
                    <a:pt x="177736" y="1739290"/>
                  </a:lnTo>
                  <a:lnTo>
                    <a:pt x="202565" y="1776437"/>
                  </a:lnTo>
                  <a:lnTo>
                    <a:pt x="228790" y="1812518"/>
                  </a:lnTo>
                  <a:lnTo>
                    <a:pt x="256400" y="1847507"/>
                  </a:lnTo>
                  <a:lnTo>
                    <a:pt x="285330" y="1881365"/>
                  </a:lnTo>
                  <a:lnTo>
                    <a:pt x="315556" y="1914055"/>
                  </a:lnTo>
                  <a:lnTo>
                    <a:pt x="347027" y="1945525"/>
                  </a:lnTo>
                  <a:lnTo>
                    <a:pt x="379704" y="1975751"/>
                  </a:lnTo>
                  <a:lnTo>
                    <a:pt x="413575" y="2004682"/>
                  </a:lnTo>
                  <a:lnTo>
                    <a:pt x="448564" y="2032279"/>
                  </a:lnTo>
                  <a:lnTo>
                    <a:pt x="484644" y="2058517"/>
                  </a:lnTo>
                  <a:lnTo>
                    <a:pt x="521792" y="2083346"/>
                  </a:lnTo>
                  <a:lnTo>
                    <a:pt x="559943" y="2106714"/>
                  </a:lnTo>
                  <a:lnTo>
                    <a:pt x="599084" y="2128609"/>
                  </a:lnTo>
                  <a:lnTo>
                    <a:pt x="639152" y="2148979"/>
                  </a:lnTo>
                  <a:lnTo>
                    <a:pt x="680123" y="2167775"/>
                  </a:lnTo>
                  <a:lnTo>
                    <a:pt x="721944" y="2184971"/>
                  </a:lnTo>
                  <a:lnTo>
                    <a:pt x="764590" y="2200529"/>
                  </a:lnTo>
                  <a:lnTo>
                    <a:pt x="808024" y="2214397"/>
                  </a:lnTo>
                  <a:lnTo>
                    <a:pt x="852182" y="2226538"/>
                  </a:lnTo>
                  <a:lnTo>
                    <a:pt x="897064" y="2236927"/>
                  </a:lnTo>
                  <a:lnTo>
                    <a:pt x="942594" y="2245512"/>
                  </a:lnTo>
                  <a:lnTo>
                    <a:pt x="988745" y="2252268"/>
                  </a:lnTo>
                  <a:lnTo>
                    <a:pt x="1035481" y="2257133"/>
                  </a:lnTo>
                  <a:lnTo>
                    <a:pt x="1082776" y="2260079"/>
                  </a:lnTo>
                  <a:lnTo>
                    <a:pt x="1130566" y="2261070"/>
                  </a:lnTo>
                  <a:lnTo>
                    <a:pt x="1178356" y="2260079"/>
                  </a:lnTo>
                  <a:lnTo>
                    <a:pt x="1225638" y="2257133"/>
                  </a:lnTo>
                  <a:lnTo>
                    <a:pt x="1272374" y="2252268"/>
                  </a:lnTo>
                  <a:lnTo>
                    <a:pt x="1318539" y="2245512"/>
                  </a:lnTo>
                  <a:lnTo>
                    <a:pt x="1364068" y="2236927"/>
                  </a:lnTo>
                  <a:lnTo>
                    <a:pt x="1408938" y="2226538"/>
                  </a:lnTo>
                  <a:lnTo>
                    <a:pt x="1453108" y="2214397"/>
                  </a:lnTo>
                  <a:lnTo>
                    <a:pt x="1496529" y="2200529"/>
                  </a:lnTo>
                  <a:lnTo>
                    <a:pt x="1539176" y="2184971"/>
                  </a:lnTo>
                  <a:lnTo>
                    <a:pt x="1581010" y="2167775"/>
                  </a:lnTo>
                  <a:lnTo>
                    <a:pt x="1621980" y="2148979"/>
                  </a:lnTo>
                  <a:lnTo>
                    <a:pt x="1662049" y="2128609"/>
                  </a:lnTo>
                  <a:lnTo>
                    <a:pt x="1701177" y="2106714"/>
                  </a:lnTo>
                  <a:lnTo>
                    <a:pt x="1739341" y="2083346"/>
                  </a:lnTo>
                  <a:lnTo>
                    <a:pt x="1776476" y="2058517"/>
                  </a:lnTo>
                  <a:lnTo>
                    <a:pt x="1812569" y="2032279"/>
                  </a:lnTo>
                  <a:lnTo>
                    <a:pt x="1847557" y="2004682"/>
                  </a:lnTo>
                  <a:lnTo>
                    <a:pt x="1881416" y="1975751"/>
                  </a:lnTo>
                  <a:lnTo>
                    <a:pt x="1914105" y="1945525"/>
                  </a:lnTo>
                  <a:lnTo>
                    <a:pt x="1945576" y="1914055"/>
                  </a:lnTo>
                  <a:lnTo>
                    <a:pt x="1975802" y="1881365"/>
                  </a:lnTo>
                  <a:lnTo>
                    <a:pt x="2004733" y="1847507"/>
                  </a:lnTo>
                  <a:lnTo>
                    <a:pt x="2032330" y="1812518"/>
                  </a:lnTo>
                  <a:lnTo>
                    <a:pt x="2058568" y="1776437"/>
                  </a:lnTo>
                  <a:lnTo>
                    <a:pt x="2083396" y="1739290"/>
                  </a:lnTo>
                  <a:lnTo>
                    <a:pt x="2106777" y="1701139"/>
                  </a:lnTo>
                  <a:lnTo>
                    <a:pt x="2128659" y="1662010"/>
                  </a:lnTo>
                  <a:lnTo>
                    <a:pt x="2149030" y="1621942"/>
                  </a:lnTo>
                  <a:lnTo>
                    <a:pt x="2167826" y="1580972"/>
                  </a:lnTo>
                  <a:lnTo>
                    <a:pt x="2185022" y="1539138"/>
                  </a:lnTo>
                  <a:lnTo>
                    <a:pt x="2200579" y="1496491"/>
                  </a:lnTo>
                  <a:lnTo>
                    <a:pt x="2214448" y="1453070"/>
                  </a:lnTo>
                  <a:lnTo>
                    <a:pt x="2226602" y="1408899"/>
                  </a:lnTo>
                  <a:lnTo>
                    <a:pt x="2236990" y="1364030"/>
                  </a:lnTo>
                  <a:lnTo>
                    <a:pt x="2245576" y="1318501"/>
                  </a:lnTo>
                  <a:lnTo>
                    <a:pt x="2252319" y="1272349"/>
                  </a:lnTo>
                  <a:lnTo>
                    <a:pt x="2257183" y="1225613"/>
                  </a:lnTo>
                  <a:lnTo>
                    <a:pt x="2260130" y="1178318"/>
                  </a:lnTo>
                  <a:lnTo>
                    <a:pt x="2261120" y="1130528"/>
                  </a:lnTo>
                  <a:close/>
                </a:path>
                <a:path w="2261234" h="5169534">
                  <a:moveTo>
                    <a:pt x="2261133" y="4140809"/>
                  </a:moveTo>
                  <a:lnTo>
                    <a:pt x="2260003" y="4092397"/>
                  </a:lnTo>
                  <a:lnTo>
                    <a:pt x="2256650" y="4044569"/>
                  </a:lnTo>
                  <a:lnTo>
                    <a:pt x="2251138" y="3997350"/>
                  </a:lnTo>
                  <a:lnTo>
                    <a:pt x="2243505" y="3950817"/>
                  </a:lnTo>
                  <a:lnTo>
                    <a:pt x="2233790" y="3905008"/>
                  </a:lnTo>
                  <a:lnTo>
                    <a:pt x="2222068" y="3859961"/>
                  </a:lnTo>
                  <a:lnTo>
                    <a:pt x="2208365" y="3815753"/>
                  </a:lnTo>
                  <a:lnTo>
                    <a:pt x="2192744" y="3772408"/>
                  </a:lnTo>
                  <a:lnTo>
                    <a:pt x="2175256" y="3729990"/>
                  </a:lnTo>
                  <a:lnTo>
                    <a:pt x="2155939" y="3688537"/>
                  </a:lnTo>
                  <a:lnTo>
                    <a:pt x="2134844" y="3648113"/>
                  </a:lnTo>
                  <a:lnTo>
                    <a:pt x="2112035" y="3608755"/>
                  </a:lnTo>
                  <a:lnTo>
                    <a:pt x="2087549" y="3570516"/>
                  </a:lnTo>
                  <a:lnTo>
                    <a:pt x="2061438" y="3533444"/>
                  </a:lnTo>
                  <a:lnTo>
                    <a:pt x="2033765" y="3497592"/>
                  </a:lnTo>
                  <a:lnTo>
                    <a:pt x="2004555" y="3462998"/>
                  </a:lnTo>
                  <a:lnTo>
                    <a:pt x="1973872" y="3429736"/>
                  </a:lnTo>
                  <a:lnTo>
                    <a:pt x="1941779" y="3397834"/>
                  </a:lnTo>
                  <a:lnTo>
                    <a:pt x="1908289" y="3367341"/>
                  </a:lnTo>
                  <a:lnTo>
                    <a:pt x="1873491" y="3338322"/>
                  </a:lnTo>
                  <a:lnTo>
                    <a:pt x="1837410" y="3310813"/>
                  </a:lnTo>
                  <a:lnTo>
                    <a:pt x="1800098" y="3284867"/>
                  </a:lnTo>
                  <a:lnTo>
                    <a:pt x="1761617" y="3260547"/>
                  </a:lnTo>
                  <a:lnTo>
                    <a:pt x="1722018" y="3237877"/>
                  </a:lnTo>
                  <a:lnTo>
                    <a:pt x="1681327" y="3216922"/>
                  </a:lnTo>
                  <a:lnTo>
                    <a:pt x="1639620" y="3197720"/>
                  </a:lnTo>
                  <a:lnTo>
                    <a:pt x="1596923" y="3180346"/>
                  </a:lnTo>
                  <a:lnTo>
                    <a:pt x="1553311" y="3164814"/>
                  </a:lnTo>
                  <a:lnTo>
                    <a:pt x="1508810" y="3151200"/>
                  </a:lnTo>
                  <a:lnTo>
                    <a:pt x="1463484" y="3139554"/>
                  </a:lnTo>
                  <a:lnTo>
                    <a:pt x="1417383" y="3129902"/>
                  </a:lnTo>
                  <a:lnTo>
                    <a:pt x="1370558" y="3122320"/>
                  </a:lnTo>
                  <a:lnTo>
                    <a:pt x="1323047" y="3116834"/>
                  </a:lnTo>
                  <a:lnTo>
                    <a:pt x="1274902" y="3113506"/>
                  </a:lnTo>
                  <a:lnTo>
                    <a:pt x="1226185" y="3112389"/>
                  </a:lnTo>
                  <a:lnTo>
                    <a:pt x="1177467" y="3113506"/>
                  </a:lnTo>
                  <a:lnTo>
                    <a:pt x="1129322" y="3116834"/>
                  </a:lnTo>
                  <a:lnTo>
                    <a:pt x="1081811" y="3122320"/>
                  </a:lnTo>
                  <a:lnTo>
                    <a:pt x="1034986" y="3129902"/>
                  </a:lnTo>
                  <a:lnTo>
                    <a:pt x="988885" y="3139554"/>
                  </a:lnTo>
                  <a:lnTo>
                    <a:pt x="943559" y="3151200"/>
                  </a:lnTo>
                  <a:lnTo>
                    <a:pt x="899058" y="3164814"/>
                  </a:lnTo>
                  <a:lnTo>
                    <a:pt x="855446" y="3180346"/>
                  </a:lnTo>
                  <a:lnTo>
                    <a:pt x="812761" y="3197720"/>
                  </a:lnTo>
                  <a:lnTo>
                    <a:pt x="771042" y="3216922"/>
                  </a:lnTo>
                  <a:lnTo>
                    <a:pt x="730364" y="3237877"/>
                  </a:lnTo>
                  <a:lnTo>
                    <a:pt x="690753" y="3260547"/>
                  </a:lnTo>
                  <a:lnTo>
                    <a:pt x="652272" y="3284867"/>
                  </a:lnTo>
                  <a:lnTo>
                    <a:pt x="614959" y="3310813"/>
                  </a:lnTo>
                  <a:lnTo>
                    <a:pt x="578878" y="3338322"/>
                  </a:lnTo>
                  <a:lnTo>
                    <a:pt x="544080" y="3367341"/>
                  </a:lnTo>
                  <a:lnTo>
                    <a:pt x="510603" y="3397834"/>
                  </a:lnTo>
                  <a:lnTo>
                    <a:pt x="478497" y="3429736"/>
                  </a:lnTo>
                  <a:lnTo>
                    <a:pt x="447814" y="3462998"/>
                  </a:lnTo>
                  <a:lnTo>
                    <a:pt x="418604" y="3497592"/>
                  </a:lnTo>
                  <a:lnTo>
                    <a:pt x="390931" y="3533444"/>
                  </a:lnTo>
                  <a:lnTo>
                    <a:pt x="364820" y="3570516"/>
                  </a:lnTo>
                  <a:lnTo>
                    <a:pt x="340334" y="3608755"/>
                  </a:lnTo>
                  <a:lnTo>
                    <a:pt x="317525" y="3648113"/>
                  </a:lnTo>
                  <a:lnTo>
                    <a:pt x="296430" y="3688537"/>
                  </a:lnTo>
                  <a:lnTo>
                    <a:pt x="277126" y="3729990"/>
                  </a:lnTo>
                  <a:lnTo>
                    <a:pt x="259626" y="3772408"/>
                  </a:lnTo>
                  <a:lnTo>
                    <a:pt x="244005" y="3815753"/>
                  </a:lnTo>
                  <a:lnTo>
                    <a:pt x="230301" y="3859961"/>
                  </a:lnTo>
                  <a:lnTo>
                    <a:pt x="218579" y="3905008"/>
                  </a:lnTo>
                  <a:lnTo>
                    <a:pt x="208864" y="3950817"/>
                  </a:lnTo>
                  <a:lnTo>
                    <a:pt x="201231" y="3997350"/>
                  </a:lnTo>
                  <a:lnTo>
                    <a:pt x="195719" y="4044569"/>
                  </a:lnTo>
                  <a:lnTo>
                    <a:pt x="192366" y="4092397"/>
                  </a:lnTo>
                  <a:lnTo>
                    <a:pt x="191249" y="4140809"/>
                  </a:lnTo>
                  <a:lnTo>
                    <a:pt x="192366" y="4189222"/>
                  </a:lnTo>
                  <a:lnTo>
                    <a:pt x="195719" y="4237063"/>
                  </a:lnTo>
                  <a:lnTo>
                    <a:pt x="201231" y="4284269"/>
                  </a:lnTo>
                  <a:lnTo>
                    <a:pt x="208864" y="4330814"/>
                  </a:lnTo>
                  <a:lnTo>
                    <a:pt x="218579" y="4376623"/>
                  </a:lnTo>
                  <a:lnTo>
                    <a:pt x="230301" y="4421657"/>
                  </a:lnTo>
                  <a:lnTo>
                    <a:pt x="244005" y="4465879"/>
                  </a:lnTo>
                  <a:lnTo>
                    <a:pt x="259626" y="4509224"/>
                  </a:lnTo>
                  <a:lnTo>
                    <a:pt x="277126" y="4551642"/>
                  </a:lnTo>
                  <a:lnTo>
                    <a:pt x="296430" y="4593094"/>
                  </a:lnTo>
                  <a:lnTo>
                    <a:pt x="317525" y="4633519"/>
                  </a:lnTo>
                  <a:lnTo>
                    <a:pt x="340334" y="4672876"/>
                  </a:lnTo>
                  <a:lnTo>
                    <a:pt x="364820" y="4711116"/>
                  </a:lnTo>
                  <a:lnTo>
                    <a:pt x="390931" y="4748187"/>
                  </a:lnTo>
                  <a:lnTo>
                    <a:pt x="418604" y="4784039"/>
                  </a:lnTo>
                  <a:lnTo>
                    <a:pt x="447814" y="4818621"/>
                  </a:lnTo>
                  <a:lnTo>
                    <a:pt x="478497" y="4851895"/>
                  </a:lnTo>
                  <a:lnTo>
                    <a:pt x="510603" y="4883797"/>
                  </a:lnTo>
                  <a:lnTo>
                    <a:pt x="544080" y="4914277"/>
                  </a:lnTo>
                  <a:lnTo>
                    <a:pt x="578878" y="4943310"/>
                  </a:lnTo>
                  <a:lnTo>
                    <a:pt x="614959" y="4970818"/>
                  </a:lnTo>
                  <a:lnTo>
                    <a:pt x="652272" y="4996751"/>
                  </a:lnTo>
                  <a:lnTo>
                    <a:pt x="690753" y="5021084"/>
                  </a:lnTo>
                  <a:lnTo>
                    <a:pt x="730364" y="5043754"/>
                  </a:lnTo>
                  <a:lnTo>
                    <a:pt x="771042" y="5064709"/>
                  </a:lnTo>
                  <a:lnTo>
                    <a:pt x="812761" y="5083899"/>
                  </a:lnTo>
                  <a:lnTo>
                    <a:pt x="855446" y="5101285"/>
                  </a:lnTo>
                  <a:lnTo>
                    <a:pt x="899058" y="5116804"/>
                  </a:lnTo>
                  <a:lnTo>
                    <a:pt x="943559" y="5130419"/>
                  </a:lnTo>
                  <a:lnTo>
                    <a:pt x="988885" y="5142077"/>
                  </a:lnTo>
                  <a:lnTo>
                    <a:pt x="1034986" y="5151717"/>
                  </a:lnTo>
                  <a:lnTo>
                    <a:pt x="1081811" y="5159311"/>
                  </a:lnTo>
                  <a:lnTo>
                    <a:pt x="1129322" y="5164798"/>
                  </a:lnTo>
                  <a:lnTo>
                    <a:pt x="1177467" y="5168112"/>
                  </a:lnTo>
                  <a:lnTo>
                    <a:pt x="1226185" y="5169243"/>
                  </a:lnTo>
                  <a:lnTo>
                    <a:pt x="1274902" y="5168112"/>
                  </a:lnTo>
                  <a:lnTo>
                    <a:pt x="1323047" y="5164798"/>
                  </a:lnTo>
                  <a:lnTo>
                    <a:pt x="1370558" y="5159311"/>
                  </a:lnTo>
                  <a:lnTo>
                    <a:pt x="1417383" y="5151717"/>
                  </a:lnTo>
                  <a:lnTo>
                    <a:pt x="1463484" y="5142077"/>
                  </a:lnTo>
                  <a:lnTo>
                    <a:pt x="1508810" y="5130419"/>
                  </a:lnTo>
                  <a:lnTo>
                    <a:pt x="1553311" y="5116804"/>
                  </a:lnTo>
                  <a:lnTo>
                    <a:pt x="1596923" y="5101285"/>
                  </a:lnTo>
                  <a:lnTo>
                    <a:pt x="1639620" y="5083899"/>
                  </a:lnTo>
                  <a:lnTo>
                    <a:pt x="1681327" y="5064709"/>
                  </a:lnTo>
                  <a:lnTo>
                    <a:pt x="1722018" y="5043754"/>
                  </a:lnTo>
                  <a:lnTo>
                    <a:pt x="1761617" y="5021084"/>
                  </a:lnTo>
                  <a:lnTo>
                    <a:pt x="1800098" y="4996751"/>
                  </a:lnTo>
                  <a:lnTo>
                    <a:pt x="1837410" y="4970818"/>
                  </a:lnTo>
                  <a:lnTo>
                    <a:pt x="1873491" y="4943310"/>
                  </a:lnTo>
                  <a:lnTo>
                    <a:pt x="1908289" y="4914277"/>
                  </a:lnTo>
                  <a:lnTo>
                    <a:pt x="1941779" y="4883797"/>
                  </a:lnTo>
                  <a:lnTo>
                    <a:pt x="1973872" y="4851895"/>
                  </a:lnTo>
                  <a:lnTo>
                    <a:pt x="2004555" y="4818621"/>
                  </a:lnTo>
                  <a:lnTo>
                    <a:pt x="2033765" y="4784039"/>
                  </a:lnTo>
                  <a:lnTo>
                    <a:pt x="2061438" y="4748187"/>
                  </a:lnTo>
                  <a:lnTo>
                    <a:pt x="2087549" y="4711116"/>
                  </a:lnTo>
                  <a:lnTo>
                    <a:pt x="2112035" y="4672876"/>
                  </a:lnTo>
                  <a:lnTo>
                    <a:pt x="2134844" y="4633519"/>
                  </a:lnTo>
                  <a:lnTo>
                    <a:pt x="2155939" y="4593094"/>
                  </a:lnTo>
                  <a:lnTo>
                    <a:pt x="2175256" y="4551642"/>
                  </a:lnTo>
                  <a:lnTo>
                    <a:pt x="2192744" y="4509224"/>
                  </a:lnTo>
                  <a:lnTo>
                    <a:pt x="2208365" y="4465879"/>
                  </a:lnTo>
                  <a:lnTo>
                    <a:pt x="2222068" y="4421657"/>
                  </a:lnTo>
                  <a:lnTo>
                    <a:pt x="2233790" y="4376623"/>
                  </a:lnTo>
                  <a:lnTo>
                    <a:pt x="2243505" y="4330814"/>
                  </a:lnTo>
                  <a:lnTo>
                    <a:pt x="2251138" y="4284269"/>
                  </a:lnTo>
                  <a:lnTo>
                    <a:pt x="2256650" y="4237063"/>
                  </a:lnTo>
                  <a:lnTo>
                    <a:pt x="2260003" y="4189222"/>
                  </a:lnTo>
                  <a:lnTo>
                    <a:pt x="2261133" y="4140809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2006344"/>
              <a:ext cx="631825" cy="6464300"/>
            </a:xfrm>
            <a:custGeom>
              <a:avLst/>
              <a:gdLst/>
              <a:ahLst/>
              <a:cxnLst/>
              <a:rect l="l" t="t" r="r" b="b"/>
              <a:pathLst>
                <a:path w="631825" h="6464300">
                  <a:moveTo>
                    <a:pt x="195190" y="6464048"/>
                  </a:moveTo>
                  <a:lnTo>
                    <a:pt x="0" y="6464048"/>
                  </a:lnTo>
                  <a:lnTo>
                    <a:pt x="0" y="0"/>
                  </a:lnTo>
                  <a:lnTo>
                    <a:pt x="145616" y="0"/>
                  </a:lnTo>
                  <a:lnTo>
                    <a:pt x="193629" y="2377"/>
                  </a:lnTo>
                  <a:lnTo>
                    <a:pt x="240828" y="9420"/>
                  </a:lnTo>
                  <a:lnTo>
                    <a:pt x="286896" y="20997"/>
                  </a:lnTo>
                  <a:lnTo>
                    <a:pt x="331514" y="36977"/>
                  </a:lnTo>
                  <a:lnTo>
                    <a:pt x="374363" y="57227"/>
                  </a:lnTo>
                  <a:lnTo>
                    <a:pt x="415124" y="81615"/>
                  </a:lnTo>
                  <a:lnTo>
                    <a:pt x="453480" y="110010"/>
                  </a:lnTo>
                  <a:lnTo>
                    <a:pt x="489111" y="142280"/>
                  </a:lnTo>
                  <a:lnTo>
                    <a:pt x="521380" y="177911"/>
                  </a:lnTo>
                  <a:lnTo>
                    <a:pt x="549775" y="216266"/>
                  </a:lnTo>
                  <a:lnTo>
                    <a:pt x="574163" y="257028"/>
                  </a:lnTo>
                  <a:lnTo>
                    <a:pt x="594413" y="299877"/>
                  </a:lnTo>
                  <a:lnTo>
                    <a:pt x="610393" y="344494"/>
                  </a:lnTo>
                  <a:lnTo>
                    <a:pt x="621971" y="390562"/>
                  </a:lnTo>
                  <a:lnTo>
                    <a:pt x="629014" y="437762"/>
                  </a:lnTo>
                  <a:lnTo>
                    <a:pt x="631391" y="485775"/>
                  </a:lnTo>
                  <a:lnTo>
                    <a:pt x="631391" y="5980883"/>
                  </a:lnTo>
                  <a:lnTo>
                    <a:pt x="629014" y="6028896"/>
                  </a:lnTo>
                  <a:lnTo>
                    <a:pt x="621971" y="6076096"/>
                  </a:lnTo>
                  <a:lnTo>
                    <a:pt x="610393" y="6122163"/>
                  </a:lnTo>
                  <a:lnTo>
                    <a:pt x="594413" y="6166781"/>
                  </a:lnTo>
                  <a:lnTo>
                    <a:pt x="574163" y="6209630"/>
                  </a:lnTo>
                  <a:lnTo>
                    <a:pt x="549775" y="6250391"/>
                  </a:lnTo>
                  <a:lnTo>
                    <a:pt x="521380" y="6288747"/>
                  </a:lnTo>
                  <a:lnTo>
                    <a:pt x="489111" y="6324378"/>
                  </a:lnTo>
                  <a:lnTo>
                    <a:pt x="453480" y="6356647"/>
                  </a:lnTo>
                  <a:lnTo>
                    <a:pt x="415124" y="6385042"/>
                  </a:lnTo>
                  <a:lnTo>
                    <a:pt x="374363" y="6409431"/>
                  </a:lnTo>
                  <a:lnTo>
                    <a:pt x="331514" y="6429681"/>
                  </a:lnTo>
                  <a:lnTo>
                    <a:pt x="286896" y="6445661"/>
                  </a:lnTo>
                  <a:lnTo>
                    <a:pt x="240828" y="6457238"/>
                  </a:lnTo>
                  <a:lnTo>
                    <a:pt x="195190" y="6464048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841130" y="855890"/>
            <a:ext cx="219075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pc="-801" dirty="0">
                <a:solidFill>
                  <a:srgbClr val="000000"/>
                </a:solidFill>
              </a:rPr>
              <a:t>1</a:t>
            </a:r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16370" y="2843477"/>
            <a:ext cx="388620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692" dirty="0">
                <a:latin typeface="Trebuchet MS"/>
                <a:cs typeface="Trebuchet MS"/>
              </a:rPr>
              <a:t>2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8231" y="4876971"/>
            <a:ext cx="344805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305" dirty="0">
                <a:latin typeface="Trebuchet MS"/>
                <a:cs typeface="Trebuchet MS"/>
              </a:rPr>
              <a:t>3</a:t>
            </a:r>
            <a:endParaRPr sz="4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6070" y="1460343"/>
            <a:ext cx="61913" cy="4527550"/>
            <a:chOff x="1532139" y="2190514"/>
            <a:chExt cx="123825" cy="67913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139" y="2190514"/>
              <a:ext cx="123825" cy="123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139" y="2666764"/>
              <a:ext cx="123825" cy="123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139" y="3143014"/>
              <a:ext cx="123825" cy="1238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2139" y="4095514"/>
              <a:ext cx="123825" cy="1238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139" y="5048014"/>
              <a:ext cx="123825" cy="1238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139" y="5524264"/>
              <a:ext cx="123825" cy="123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2139" y="6476764"/>
              <a:ext cx="123825" cy="1238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2139" y="7429264"/>
              <a:ext cx="123825" cy="1238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2139" y="8858013"/>
              <a:ext cx="123825" cy="1238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21607" y="403395"/>
            <a:ext cx="4048442" cy="5595378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105258">
              <a:lnSpc>
                <a:spcPct val="114599"/>
              </a:lnSpc>
              <a:spcBef>
                <a:spcPts val="56"/>
              </a:spcBef>
            </a:pPr>
            <a:r>
              <a:rPr sz="1700" dirty="0">
                <a:latin typeface="Lucida Sans Unicode"/>
                <a:cs typeface="Lucida Sans Unicode"/>
              </a:rPr>
              <a:t>At</a:t>
            </a:r>
            <a:r>
              <a:rPr sz="1700" spc="229" dirty="0">
                <a:latin typeface="Lucida Sans Unicode"/>
                <a:cs typeface="Lucida Sans Unicode"/>
              </a:rPr>
              <a:t> </a:t>
            </a:r>
            <a:r>
              <a:rPr sz="1700" spc="36" dirty="0">
                <a:latin typeface="Lucida Sans Unicode"/>
                <a:cs typeface="Lucida Sans Unicode"/>
              </a:rPr>
              <a:t>the</a:t>
            </a:r>
            <a:r>
              <a:rPr sz="1700" spc="229" dirty="0">
                <a:latin typeface="Lucida Sans Unicode"/>
                <a:cs typeface="Lucida Sans Unicode"/>
              </a:rPr>
              <a:t> </a:t>
            </a:r>
            <a:r>
              <a:rPr sz="1700" spc="67" dirty="0">
                <a:latin typeface="Lucida Sans Unicode"/>
                <a:cs typeface="Lucida Sans Unicode"/>
              </a:rPr>
              <a:t>end</a:t>
            </a:r>
            <a:r>
              <a:rPr sz="1700" spc="229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Lucida Sans Unicode"/>
                <a:cs typeface="Lucida Sans Unicode"/>
              </a:rPr>
              <a:t>of</a:t>
            </a:r>
            <a:r>
              <a:rPr sz="1700" spc="229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Lucida Sans Unicode"/>
                <a:cs typeface="Lucida Sans Unicode"/>
              </a:rPr>
              <a:t>this</a:t>
            </a:r>
            <a:r>
              <a:rPr sz="1700" spc="232" dirty="0">
                <a:latin typeface="Lucida Sans Unicode"/>
                <a:cs typeface="Lucida Sans Unicode"/>
              </a:rPr>
              <a:t> </a:t>
            </a:r>
            <a:r>
              <a:rPr sz="1700" spc="31" dirty="0">
                <a:latin typeface="Lucida Sans Unicode"/>
                <a:cs typeface="Lucida Sans Unicode"/>
              </a:rPr>
              <a:t>chapter,</a:t>
            </a:r>
            <a:r>
              <a:rPr sz="1700" spc="229" dirty="0">
                <a:latin typeface="Lucida Sans Unicode"/>
                <a:cs typeface="Lucida Sans Unicode"/>
              </a:rPr>
              <a:t> </a:t>
            </a:r>
            <a:r>
              <a:rPr sz="1700" spc="34" dirty="0">
                <a:latin typeface="Lucida Sans Unicode"/>
                <a:cs typeface="Lucida Sans Unicode"/>
              </a:rPr>
              <a:t>Students</a:t>
            </a:r>
            <a:r>
              <a:rPr sz="1700" spc="229" dirty="0">
                <a:latin typeface="Lucida Sans Unicode"/>
                <a:cs typeface="Lucida Sans Unicode"/>
              </a:rPr>
              <a:t> </a:t>
            </a:r>
            <a:r>
              <a:rPr sz="1700" spc="-11" dirty="0">
                <a:latin typeface="Lucida Sans Unicode"/>
                <a:cs typeface="Lucida Sans Unicode"/>
              </a:rPr>
              <a:t>will </a:t>
            </a:r>
            <a:r>
              <a:rPr sz="1700" spc="87" dirty="0">
                <a:latin typeface="Lucida Sans Unicode"/>
                <a:cs typeface="Lucida Sans Unicode"/>
              </a:rPr>
              <a:t>be</a:t>
            </a:r>
            <a:r>
              <a:rPr sz="1700" spc="-84" dirty="0">
                <a:latin typeface="Lucida Sans Unicode"/>
                <a:cs typeface="Lucida Sans Unicode"/>
              </a:rPr>
              <a:t> </a:t>
            </a:r>
            <a:r>
              <a:rPr sz="1700" spc="73" dirty="0">
                <a:latin typeface="Lucida Sans Unicode"/>
                <a:cs typeface="Lucida Sans Unicode"/>
              </a:rPr>
              <a:t>able</a:t>
            </a:r>
            <a:r>
              <a:rPr sz="1700" spc="-84" dirty="0">
                <a:latin typeface="Lucida Sans Unicode"/>
                <a:cs typeface="Lucida Sans Unicode"/>
              </a:rPr>
              <a:t> </a:t>
            </a:r>
            <a:r>
              <a:rPr sz="1700" spc="-14" dirty="0">
                <a:latin typeface="Lucida Sans Unicode"/>
                <a:cs typeface="Lucida Sans Unicode"/>
              </a:rPr>
              <a:t>to,</a:t>
            </a:r>
            <a:endParaRPr sz="1700">
              <a:latin typeface="Lucida Sans Unicode"/>
              <a:cs typeface="Lucida Sans Unicode"/>
            </a:endParaRPr>
          </a:p>
          <a:p>
            <a:pPr marL="333197" marR="191313">
              <a:lnSpc>
                <a:spcPct val="115700"/>
              </a:lnSpc>
              <a:spcBef>
                <a:spcPts val="1316"/>
              </a:spcBef>
            </a:pPr>
            <a:r>
              <a:rPr sz="1500" spc="59" dirty="0">
                <a:latin typeface="Lucida Sans Unicode"/>
                <a:cs typeface="Lucida Sans Unicode"/>
              </a:rPr>
              <a:t>Generate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67" dirty="0">
                <a:latin typeface="Lucida Sans Unicode"/>
                <a:cs typeface="Lucida Sans Unicode"/>
              </a:rPr>
              <a:t>idea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53" dirty="0">
                <a:latin typeface="Lucida Sans Unicode"/>
                <a:cs typeface="Lucida Sans Unicode"/>
              </a:rPr>
              <a:t>about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48" dirty="0">
                <a:latin typeface="Lucida Sans Unicode"/>
                <a:cs typeface="Lucida Sans Unicode"/>
              </a:rPr>
              <a:t>accounting</a:t>
            </a:r>
            <a:r>
              <a:rPr sz="1500" spc="378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Describe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28" dirty="0">
                <a:latin typeface="Lucida Sans Unicode"/>
                <a:cs typeface="Lucida Sans Unicode"/>
              </a:rPr>
              <a:t>objectives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48" dirty="0">
                <a:latin typeface="Lucida Sans Unicode"/>
                <a:cs typeface="Lucida Sans Unicode"/>
              </a:rPr>
              <a:t>accounting </a:t>
            </a:r>
            <a:r>
              <a:rPr sz="1500" dirty="0">
                <a:latin typeface="Lucida Sans Unicode"/>
                <a:cs typeface="Lucida Sans Unicode"/>
              </a:rPr>
              <a:t>Describe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36" dirty="0">
                <a:latin typeface="Lucida Sans Unicode"/>
                <a:cs typeface="Lucida Sans Unicode"/>
              </a:rPr>
              <a:t>necessity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50" dirty="0">
                <a:latin typeface="Lucida Sans Unicode"/>
                <a:cs typeface="Lucida Sans Unicode"/>
              </a:rPr>
              <a:t>Importance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-14" dirty="0">
                <a:latin typeface="Lucida Sans Unicode"/>
                <a:cs typeface="Lucida Sans Unicode"/>
              </a:rPr>
              <a:t>of </a:t>
            </a:r>
            <a:r>
              <a:rPr sz="1500" spc="25" dirty="0">
                <a:latin typeface="Lucida Sans Unicode"/>
                <a:cs typeface="Lucida Sans Unicode"/>
              </a:rPr>
              <a:t>Accounting</a:t>
            </a:r>
            <a:endParaRPr sz="1500">
              <a:latin typeface="Lucida Sans Unicode"/>
              <a:cs typeface="Lucida Sans Unicode"/>
            </a:endParaRPr>
          </a:p>
          <a:p>
            <a:pPr marL="333197" marR="671728">
              <a:lnSpc>
                <a:spcPct val="115700"/>
              </a:lnSpc>
            </a:pPr>
            <a:r>
              <a:rPr sz="1500" spc="34" dirty="0">
                <a:latin typeface="Lucida Sans Unicode"/>
                <a:cs typeface="Lucida Sans Unicode"/>
              </a:rPr>
              <a:t>Narrate</a:t>
            </a:r>
            <a:r>
              <a:rPr sz="1500" spc="-76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history</a:t>
            </a:r>
            <a:r>
              <a:rPr sz="1500" spc="-76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76" dirty="0">
                <a:latin typeface="Lucida Sans Unicode"/>
                <a:cs typeface="Lucida Sans Unicode"/>
              </a:rPr>
              <a:t> </a:t>
            </a:r>
            <a:r>
              <a:rPr sz="1500" spc="42" dirty="0">
                <a:latin typeface="Lucida Sans Unicode"/>
                <a:cs typeface="Lucida Sans Unicode"/>
              </a:rPr>
              <a:t>evaluation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-14" dirty="0">
                <a:latin typeface="Lucida Sans Unicode"/>
                <a:cs typeface="Lucida Sans Unicode"/>
              </a:rPr>
              <a:t>of </a:t>
            </a:r>
            <a:r>
              <a:rPr sz="1500" spc="48" dirty="0">
                <a:latin typeface="Lucida Sans Unicode"/>
                <a:cs typeface="Lucida Sans Unicode"/>
              </a:rPr>
              <a:t>accounting</a:t>
            </a:r>
            <a:endParaRPr sz="1500">
              <a:latin typeface="Lucida Sans Unicode"/>
              <a:cs typeface="Lucida Sans Unicode"/>
            </a:endParaRPr>
          </a:p>
          <a:p>
            <a:pPr marL="333197" marR="2845">
              <a:lnSpc>
                <a:spcPct val="115700"/>
              </a:lnSpc>
            </a:pPr>
            <a:r>
              <a:rPr sz="1500" dirty="0">
                <a:latin typeface="Lucida Sans Unicode"/>
                <a:cs typeface="Lucida Sans Unicode"/>
              </a:rPr>
              <a:t>Identify</a:t>
            </a:r>
            <a:r>
              <a:rPr sz="1500" spc="-59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59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users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59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Information </a:t>
            </a:r>
            <a:r>
              <a:rPr sz="1500" spc="-14" dirty="0">
                <a:latin typeface="Lucida Sans Unicode"/>
                <a:cs typeface="Lucida Sans Unicode"/>
              </a:rPr>
              <a:t>Explain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Functions</a:t>
            </a:r>
            <a:r>
              <a:rPr sz="1500" spc="-53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spc="76" dirty="0">
                <a:latin typeface="Lucida Sans Unicode"/>
                <a:cs typeface="Lucida Sans Unicode"/>
              </a:rPr>
              <a:t>Scope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spc="-14" dirty="0">
                <a:latin typeface="Lucida Sans Unicode"/>
                <a:cs typeface="Lucida Sans Unicode"/>
              </a:rPr>
              <a:t>of </a:t>
            </a:r>
            <a:r>
              <a:rPr sz="1500" spc="25" dirty="0">
                <a:latin typeface="Lucida Sans Unicode"/>
                <a:cs typeface="Lucida Sans Unicode"/>
              </a:rPr>
              <a:t>Accounting</a:t>
            </a:r>
            <a:endParaRPr sz="1500">
              <a:latin typeface="Lucida Sans Unicode"/>
              <a:cs typeface="Lucida Sans Unicode"/>
            </a:endParaRPr>
          </a:p>
          <a:p>
            <a:pPr marL="333197" marR="467258">
              <a:lnSpc>
                <a:spcPct val="115700"/>
              </a:lnSpc>
            </a:pPr>
            <a:r>
              <a:rPr sz="1500" spc="34" dirty="0">
                <a:latin typeface="Lucida Sans Unicode"/>
                <a:cs typeface="Lucida Sans Unicode"/>
              </a:rPr>
              <a:t>Narrate</a:t>
            </a:r>
            <a:r>
              <a:rPr sz="1500" spc="-17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17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17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Assumptions</a:t>
            </a:r>
            <a:r>
              <a:rPr sz="1500" spc="-17" dirty="0">
                <a:latin typeface="Lucida Sans Unicode"/>
                <a:cs typeface="Lucida Sans Unicode"/>
              </a:rPr>
              <a:t> </a:t>
            </a:r>
            <a:r>
              <a:rPr sz="1500" spc="17" dirty="0">
                <a:latin typeface="Lucida Sans Unicode"/>
                <a:cs typeface="Lucida Sans Unicode"/>
              </a:rPr>
              <a:t>&amp; </a:t>
            </a:r>
            <a:r>
              <a:rPr sz="1500" spc="-6" dirty="0">
                <a:latin typeface="Lucida Sans Unicode"/>
                <a:cs typeface="Lucida Sans Unicode"/>
              </a:rPr>
              <a:t>Principles</a:t>
            </a:r>
            <a:endParaRPr sz="1500">
              <a:latin typeface="Lucida Sans Unicode"/>
              <a:cs typeface="Lucida Sans Unicode"/>
            </a:endParaRPr>
          </a:p>
          <a:p>
            <a:pPr marL="333197" marR="251765">
              <a:lnSpc>
                <a:spcPct val="115700"/>
              </a:lnSpc>
              <a:spcBef>
                <a:spcPts val="3"/>
              </a:spcBef>
            </a:pPr>
            <a:r>
              <a:rPr sz="1500" spc="34" dirty="0">
                <a:latin typeface="Lucida Sans Unicode"/>
                <a:cs typeface="Lucida Sans Unicode"/>
              </a:rPr>
              <a:t>Demonstrate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classify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11" dirty="0">
                <a:latin typeface="Lucida Sans Unicode"/>
                <a:cs typeface="Lucida Sans Unicode"/>
              </a:rPr>
              <a:t> </a:t>
            </a:r>
            <a:r>
              <a:rPr sz="1500" spc="-210" dirty="0">
                <a:latin typeface="Lucida Sans Unicode"/>
                <a:cs typeface="Lucida Sans Unicode"/>
              </a:rPr>
              <a:t>, </a:t>
            </a:r>
            <a:r>
              <a:rPr sz="1500" dirty="0">
                <a:latin typeface="Lucida Sans Unicode"/>
                <a:cs typeface="Lucida Sans Unicode"/>
              </a:rPr>
              <a:t>differentiate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spc="56" dirty="0">
                <a:latin typeface="Lucida Sans Unicode"/>
                <a:cs typeface="Lucida Sans Unicode"/>
              </a:rPr>
              <a:t>between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book</a:t>
            </a:r>
            <a:r>
              <a:rPr sz="1500" spc="-11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keeping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spc="36" dirty="0">
                <a:latin typeface="Lucida Sans Unicode"/>
                <a:cs typeface="Lucida Sans Unicode"/>
              </a:rPr>
              <a:t>vs</a:t>
            </a:r>
            <a:r>
              <a:rPr sz="1500" spc="-14" dirty="0">
                <a:latin typeface="Lucida Sans Unicode"/>
                <a:cs typeface="Lucida Sans Unicode"/>
              </a:rPr>
              <a:t> </a:t>
            </a:r>
            <a:r>
              <a:rPr sz="1500" spc="-182" dirty="0">
                <a:latin typeface="Lucida Sans Unicode"/>
                <a:cs typeface="Lucida Sans Unicode"/>
              </a:rPr>
              <a:t>,</a:t>
            </a:r>
            <a:r>
              <a:rPr sz="1500" spc="-11" dirty="0">
                <a:latin typeface="Lucida Sans Unicode"/>
                <a:cs typeface="Lucida Sans Unicode"/>
              </a:rPr>
              <a:t> </a:t>
            </a:r>
            <a:r>
              <a:rPr sz="1500" spc="22" dirty="0">
                <a:latin typeface="Lucida Sans Unicode"/>
                <a:cs typeface="Lucida Sans Unicode"/>
              </a:rPr>
              <a:t>&amp; </a:t>
            </a:r>
            <a:r>
              <a:rPr sz="1500" spc="39" dirty="0">
                <a:latin typeface="Lucida Sans Unicode"/>
                <a:cs typeface="Lucida Sans Unicode"/>
              </a:rPr>
              <a:t>basis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90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Accounting.</a:t>
            </a:r>
            <a:endParaRPr sz="1500">
              <a:latin typeface="Lucida Sans Unicode"/>
              <a:cs typeface="Lucida Sans Unicode"/>
            </a:endParaRPr>
          </a:p>
          <a:p>
            <a:pPr marL="333197" marR="175666">
              <a:lnSpc>
                <a:spcPct val="115700"/>
              </a:lnSpc>
            </a:pPr>
            <a:r>
              <a:rPr sz="1500" spc="70" dirty="0">
                <a:latin typeface="Lucida Sans Unicode"/>
                <a:cs typeface="Lucida Sans Unicode"/>
              </a:rPr>
              <a:t>Be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interested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in</a:t>
            </a:r>
            <a:r>
              <a:rPr sz="1500" spc="-22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keeping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spc="64" dirty="0">
                <a:latin typeface="Lucida Sans Unicode"/>
                <a:cs typeface="Lucida Sans Unicode"/>
              </a:rPr>
              <a:t>accounts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in</a:t>
            </a:r>
            <a:r>
              <a:rPr sz="1500" spc="-22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daily, </a:t>
            </a:r>
            <a:r>
              <a:rPr sz="1500" dirty="0">
                <a:latin typeface="Lucida Sans Unicode"/>
                <a:cs typeface="Lucida Sans Unicode"/>
              </a:rPr>
              <a:t>personal,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spc="28" dirty="0">
                <a:latin typeface="Lucida Sans Unicode"/>
                <a:cs typeface="Lucida Sans Unicode"/>
              </a:rPr>
              <a:t>family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spc="95" dirty="0">
                <a:latin typeface="Lucida Sans Unicode"/>
                <a:cs typeface="Lucida Sans Unicode"/>
              </a:rPr>
              <a:t>as</a:t>
            </a:r>
            <a:r>
              <a:rPr sz="1500" spc="-59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well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spc="95" dirty="0">
                <a:latin typeface="Lucida Sans Unicode"/>
                <a:cs typeface="Lucida Sans Unicode"/>
              </a:rPr>
              <a:t>as</a:t>
            </a:r>
            <a:r>
              <a:rPr sz="1500" spc="-59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in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institutional activities</a:t>
            </a:r>
            <a:endParaRPr sz="15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37099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5229"/>
            <a:ext cx="9144000" cy="6858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170682" y="0"/>
              <a:ext cx="8117840" cy="10273665"/>
            </a:xfrm>
            <a:custGeom>
              <a:avLst/>
              <a:gdLst/>
              <a:ahLst/>
              <a:cxnLst/>
              <a:rect l="l" t="t" r="r" b="b"/>
              <a:pathLst>
                <a:path w="8117840" h="10273665">
                  <a:moveTo>
                    <a:pt x="8117316" y="10273479"/>
                  </a:moveTo>
                  <a:lnTo>
                    <a:pt x="0" y="10273479"/>
                  </a:lnTo>
                  <a:lnTo>
                    <a:pt x="0" y="0"/>
                  </a:lnTo>
                  <a:lnTo>
                    <a:pt x="8117316" y="0"/>
                  </a:lnTo>
                  <a:lnTo>
                    <a:pt x="8117316" y="10273479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90615" y="713057"/>
              <a:ext cx="2261235" cy="2115820"/>
            </a:xfrm>
            <a:custGeom>
              <a:avLst/>
              <a:gdLst/>
              <a:ahLst/>
              <a:cxnLst/>
              <a:rect l="l" t="t" r="r" b="b"/>
              <a:pathLst>
                <a:path w="2261234" h="2115820">
                  <a:moveTo>
                    <a:pt x="1130563" y="2115388"/>
                  </a:moveTo>
                  <a:lnTo>
                    <a:pt x="1080204" y="2114357"/>
                  </a:lnTo>
                  <a:lnTo>
                    <a:pt x="1030408" y="2111294"/>
                  </a:lnTo>
                  <a:lnTo>
                    <a:pt x="981222" y="2106242"/>
                  </a:lnTo>
                  <a:lnTo>
                    <a:pt x="932693" y="2099243"/>
                  </a:lnTo>
                  <a:lnTo>
                    <a:pt x="884865" y="2090341"/>
                  </a:lnTo>
                  <a:lnTo>
                    <a:pt x="837785" y="2079578"/>
                  </a:lnTo>
                  <a:lnTo>
                    <a:pt x="791500" y="2066997"/>
                  </a:lnTo>
                  <a:lnTo>
                    <a:pt x="746054" y="2052642"/>
                  </a:lnTo>
                  <a:lnTo>
                    <a:pt x="701493" y="2036556"/>
                  </a:lnTo>
                  <a:lnTo>
                    <a:pt x="657865" y="2018781"/>
                  </a:lnTo>
                  <a:lnTo>
                    <a:pt x="615214" y="1999361"/>
                  </a:lnTo>
                  <a:lnTo>
                    <a:pt x="573587" y="1978338"/>
                  </a:lnTo>
                  <a:lnTo>
                    <a:pt x="533029" y="1955755"/>
                  </a:lnTo>
                  <a:lnTo>
                    <a:pt x="493587" y="1931656"/>
                  </a:lnTo>
                  <a:lnTo>
                    <a:pt x="455306" y="1906084"/>
                  </a:lnTo>
                  <a:lnTo>
                    <a:pt x="418233" y="1879081"/>
                  </a:lnTo>
                  <a:lnTo>
                    <a:pt x="382413" y="1850690"/>
                  </a:lnTo>
                  <a:lnTo>
                    <a:pt x="347893" y="1820955"/>
                  </a:lnTo>
                  <a:lnTo>
                    <a:pt x="314718" y="1789918"/>
                  </a:lnTo>
                  <a:lnTo>
                    <a:pt x="282934" y="1757623"/>
                  </a:lnTo>
                  <a:lnTo>
                    <a:pt x="252587" y="1724112"/>
                  </a:lnTo>
                  <a:lnTo>
                    <a:pt x="223723" y="1689428"/>
                  </a:lnTo>
                  <a:lnTo>
                    <a:pt x="196389" y="1653615"/>
                  </a:lnTo>
                  <a:lnTo>
                    <a:pt x="170630" y="1616715"/>
                  </a:lnTo>
                  <a:lnTo>
                    <a:pt x="146492" y="1578771"/>
                  </a:lnTo>
                  <a:lnTo>
                    <a:pt x="124020" y="1539827"/>
                  </a:lnTo>
                  <a:lnTo>
                    <a:pt x="103262" y="1499925"/>
                  </a:lnTo>
                  <a:lnTo>
                    <a:pt x="84262" y="1459109"/>
                  </a:lnTo>
                  <a:lnTo>
                    <a:pt x="67068" y="1417420"/>
                  </a:lnTo>
                  <a:lnTo>
                    <a:pt x="51724" y="1374903"/>
                  </a:lnTo>
                  <a:lnTo>
                    <a:pt x="38277" y="1331601"/>
                  </a:lnTo>
                  <a:lnTo>
                    <a:pt x="26772" y="1287556"/>
                  </a:lnTo>
                  <a:lnTo>
                    <a:pt x="17257" y="1242811"/>
                  </a:lnTo>
                  <a:lnTo>
                    <a:pt x="9776" y="1197409"/>
                  </a:lnTo>
                  <a:lnTo>
                    <a:pt x="4375" y="1151394"/>
                  </a:lnTo>
                  <a:lnTo>
                    <a:pt x="1101" y="1104808"/>
                  </a:lnTo>
                  <a:lnTo>
                    <a:pt x="0" y="1057694"/>
                  </a:lnTo>
                  <a:lnTo>
                    <a:pt x="1101" y="1010580"/>
                  </a:lnTo>
                  <a:lnTo>
                    <a:pt x="4375" y="963994"/>
                  </a:lnTo>
                  <a:lnTo>
                    <a:pt x="9776" y="917978"/>
                  </a:lnTo>
                  <a:lnTo>
                    <a:pt x="17257" y="872577"/>
                  </a:lnTo>
                  <a:lnTo>
                    <a:pt x="26772" y="827832"/>
                  </a:lnTo>
                  <a:lnTo>
                    <a:pt x="38277" y="783787"/>
                  </a:lnTo>
                  <a:lnTo>
                    <a:pt x="51724" y="740484"/>
                  </a:lnTo>
                  <a:lnTo>
                    <a:pt x="67068" y="697967"/>
                  </a:lnTo>
                  <a:lnTo>
                    <a:pt x="84262" y="656279"/>
                  </a:lnTo>
                  <a:lnTo>
                    <a:pt x="103262" y="615462"/>
                  </a:lnTo>
                  <a:lnTo>
                    <a:pt x="124020" y="575561"/>
                  </a:lnTo>
                  <a:lnTo>
                    <a:pt x="146492" y="536616"/>
                  </a:lnTo>
                  <a:lnTo>
                    <a:pt x="170630" y="498673"/>
                  </a:lnTo>
                  <a:lnTo>
                    <a:pt x="196389" y="461773"/>
                  </a:lnTo>
                  <a:lnTo>
                    <a:pt x="223723" y="425960"/>
                  </a:lnTo>
                  <a:lnTo>
                    <a:pt x="252587" y="391276"/>
                  </a:lnTo>
                  <a:lnTo>
                    <a:pt x="282934" y="357765"/>
                  </a:lnTo>
                  <a:lnTo>
                    <a:pt x="314718" y="325469"/>
                  </a:lnTo>
                  <a:lnTo>
                    <a:pt x="347893" y="294433"/>
                  </a:lnTo>
                  <a:lnTo>
                    <a:pt x="382413" y="264697"/>
                  </a:lnTo>
                  <a:lnTo>
                    <a:pt x="418233" y="236307"/>
                  </a:lnTo>
                  <a:lnTo>
                    <a:pt x="455306" y="209303"/>
                  </a:lnTo>
                  <a:lnTo>
                    <a:pt x="493587" y="183731"/>
                  </a:lnTo>
                  <a:lnTo>
                    <a:pt x="533029" y="159632"/>
                  </a:lnTo>
                  <a:lnTo>
                    <a:pt x="573587" y="137049"/>
                  </a:lnTo>
                  <a:lnTo>
                    <a:pt x="615214" y="116027"/>
                  </a:lnTo>
                  <a:lnTo>
                    <a:pt x="657865" y="96606"/>
                  </a:lnTo>
                  <a:lnTo>
                    <a:pt x="701493" y="78831"/>
                  </a:lnTo>
                  <a:lnTo>
                    <a:pt x="746054" y="62745"/>
                  </a:lnTo>
                  <a:lnTo>
                    <a:pt x="791500" y="48390"/>
                  </a:lnTo>
                  <a:lnTo>
                    <a:pt x="837785" y="35810"/>
                  </a:lnTo>
                  <a:lnTo>
                    <a:pt x="884865" y="25047"/>
                  </a:lnTo>
                  <a:lnTo>
                    <a:pt x="932693" y="16144"/>
                  </a:lnTo>
                  <a:lnTo>
                    <a:pt x="981222" y="9146"/>
                  </a:lnTo>
                  <a:lnTo>
                    <a:pt x="1030408" y="4093"/>
                  </a:lnTo>
                  <a:lnTo>
                    <a:pt x="1080204" y="1030"/>
                  </a:lnTo>
                  <a:lnTo>
                    <a:pt x="1130563" y="0"/>
                  </a:lnTo>
                  <a:lnTo>
                    <a:pt x="1180923" y="1030"/>
                  </a:lnTo>
                  <a:lnTo>
                    <a:pt x="1230719" y="4093"/>
                  </a:lnTo>
                  <a:lnTo>
                    <a:pt x="1279904" y="9146"/>
                  </a:lnTo>
                  <a:lnTo>
                    <a:pt x="1328434" y="16144"/>
                  </a:lnTo>
                  <a:lnTo>
                    <a:pt x="1376262" y="25047"/>
                  </a:lnTo>
                  <a:lnTo>
                    <a:pt x="1423341" y="35810"/>
                  </a:lnTo>
                  <a:lnTo>
                    <a:pt x="1469627" y="48390"/>
                  </a:lnTo>
                  <a:lnTo>
                    <a:pt x="1515073" y="62745"/>
                  </a:lnTo>
                  <a:lnTo>
                    <a:pt x="1559634" y="78831"/>
                  </a:lnTo>
                  <a:lnTo>
                    <a:pt x="1603262" y="96606"/>
                  </a:lnTo>
                  <a:lnTo>
                    <a:pt x="1645913" y="116027"/>
                  </a:lnTo>
                  <a:lnTo>
                    <a:pt x="1687540" y="137049"/>
                  </a:lnTo>
                  <a:lnTo>
                    <a:pt x="1728098" y="159632"/>
                  </a:lnTo>
                  <a:lnTo>
                    <a:pt x="1767540" y="183731"/>
                  </a:lnTo>
                  <a:lnTo>
                    <a:pt x="1805821" y="209303"/>
                  </a:lnTo>
                  <a:lnTo>
                    <a:pt x="1842894" y="236307"/>
                  </a:lnTo>
                  <a:lnTo>
                    <a:pt x="1878714" y="264697"/>
                  </a:lnTo>
                  <a:lnTo>
                    <a:pt x="1913234" y="294433"/>
                  </a:lnTo>
                  <a:lnTo>
                    <a:pt x="1946410" y="325469"/>
                  </a:lnTo>
                  <a:lnTo>
                    <a:pt x="1978193" y="357765"/>
                  </a:lnTo>
                  <a:lnTo>
                    <a:pt x="2008540" y="391276"/>
                  </a:lnTo>
                  <a:lnTo>
                    <a:pt x="2037404" y="425960"/>
                  </a:lnTo>
                  <a:lnTo>
                    <a:pt x="2064738" y="461773"/>
                  </a:lnTo>
                  <a:lnTo>
                    <a:pt x="2090497" y="498673"/>
                  </a:lnTo>
                  <a:lnTo>
                    <a:pt x="2114636" y="536616"/>
                  </a:lnTo>
                  <a:lnTo>
                    <a:pt x="2137107" y="575561"/>
                  </a:lnTo>
                  <a:lnTo>
                    <a:pt x="2157865" y="615462"/>
                  </a:lnTo>
                  <a:lnTo>
                    <a:pt x="2176865" y="656279"/>
                  </a:lnTo>
                  <a:lnTo>
                    <a:pt x="2194059" y="697967"/>
                  </a:lnTo>
                  <a:lnTo>
                    <a:pt x="2209403" y="740484"/>
                  </a:lnTo>
                  <a:lnTo>
                    <a:pt x="2222850" y="783787"/>
                  </a:lnTo>
                  <a:lnTo>
                    <a:pt x="2234355" y="827832"/>
                  </a:lnTo>
                  <a:lnTo>
                    <a:pt x="2243870" y="872577"/>
                  </a:lnTo>
                  <a:lnTo>
                    <a:pt x="2251352" y="917978"/>
                  </a:lnTo>
                  <a:lnTo>
                    <a:pt x="2256752" y="963994"/>
                  </a:lnTo>
                  <a:lnTo>
                    <a:pt x="2260026" y="1010580"/>
                  </a:lnTo>
                  <a:lnTo>
                    <a:pt x="2261128" y="1057694"/>
                  </a:lnTo>
                  <a:lnTo>
                    <a:pt x="2260026" y="1104808"/>
                  </a:lnTo>
                  <a:lnTo>
                    <a:pt x="2256752" y="1151394"/>
                  </a:lnTo>
                  <a:lnTo>
                    <a:pt x="2251352" y="1197409"/>
                  </a:lnTo>
                  <a:lnTo>
                    <a:pt x="2243870" y="1242811"/>
                  </a:lnTo>
                  <a:lnTo>
                    <a:pt x="2234355" y="1287556"/>
                  </a:lnTo>
                  <a:lnTo>
                    <a:pt x="2222850" y="1331601"/>
                  </a:lnTo>
                  <a:lnTo>
                    <a:pt x="2209403" y="1374903"/>
                  </a:lnTo>
                  <a:lnTo>
                    <a:pt x="2194059" y="1417420"/>
                  </a:lnTo>
                  <a:lnTo>
                    <a:pt x="2176865" y="1459109"/>
                  </a:lnTo>
                  <a:lnTo>
                    <a:pt x="2157865" y="1499925"/>
                  </a:lnTo>
                  <a:lnTo>
                    <a:pt x="2137107" y="1539827"/>
                  </a:lnTo>
                  <a:lnTo>
                    <a:pt x="2114636" y="1578771"/>
                  </a:lnTo>
                  <a:lnTo>
                    <a:pt x="2090497" y="1616715"/>
                  </a:lnTo>
                  <a:lnTo>
                    <a:pt x="2064738" y="1653615"/>
                  </a:lnTo>
                  <a:lnTo>
                    <a:pt x="2037404" y="1689428"/>
                  </a:lnTo>
                  <a:lnTo>
                    <a:pt x="2008540" y="1724112"/>
                  </a:lnTo>
                  <a:lnTo>
                    <a:pt x="1978193" y="1757623"/>
                  </a:lnTo>
                  <a:lnTo>
                    <a:pt x="1946410" y="1789918"/>
                  </a:lnTo>
                  <a:lnTo>
                    <a:pt x="1913234" y="1820955"/>
                  </a:lnTo>
                  <a:lnTo>
                    <a:pt x="1878714" y="1850690"/>
                  </a:lnTo>
                  <a:lnTo>
                    <a:pt x="1842894" y="1879081"/>
                  </a:lnTo>
                  <a:lnTo>
                    <a:pt x="1805821" y="1906084"/>
                  </a:lnTo>
                  <a:lnTo>
                    <a:pt x="1767540" y="1931656"/>
                  </a:lnTo>
                  <a:lnTo>
                    <a:pt x="1728098" y="1955755"/>
                  </a:lnTo>
                  <a:lnTo>
                    <a:pt x="1687540" y="1978338"/>
                  </a:lnTo>
                  <a:lnTo>
                    <a:pt x="1645913" y="1999361"/>
                  </a:lnTo>
                  <a:lnTo>
                    <a:pt x="1603262" y="2018781"/>
                  </a:lnTo>
                  <a:lnTo>
                    <a:pt x="1559634" y="2036556"/>
                  </a:lnTo>
                  <a:lnTo>
                    <a:pt x="1515073" y="2052642"/>
                  </a:lnTo>
                  <a:lnTo>
                    <a:pt x="1469627" y="2066997"/>
                  </a:lnTo>
                  <a:lnTo>
                    <a:pt x="1423341" y="2079578"/>
                  </a:lnTo>
                  <a:lnTo>
                    <a:pt x="1376262" y="2090341"/>
                  </a:lnTo>
                  <a:lnTo>
                    <a:pt x="1328434" y="2099243"/>
                  </a:lnTo>
                  <a:lnTo>
                    <a:pt x="1279904" y="2106242"/>
                  </a:lnTo>
                  <a:lnTo>
                    <a:pt x="1230719" y="2111294"/>
                  </a:lnTo>
                  <a:lnTo>
                    <a:pt x="1180923" y="2114357"/>
                  </a:lnTo>
                  <a:lnTo>
                    <a:pt x="1130563" y="2115388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08339" y="1156711"/>
            <a:ext cx="3442017" cy="3787987"/>
          </a:xfrm>
          <a:prstGeom prst="rect">
            <a:avLst/>
          </a:prstGeom>
        </p:spPr>
        <p:txBody>
          <a:bodyPr vert="horz" wrap="square" lIns="0" tIns="6401" rIns="0" bIns="0" rtlCol="0">
            <a:spAutoFit/>
          </a:bodyPr>
          <a:lstStyle/>
          <a:p>
            <a:pPr marL="7112" marR="179934">
              <a:lnSpc>
                <a:spcPct val="116199"/>
              </a:lnSpc>
              <a:spcBef>
                <a:spcPts val="50"/>
              </a:spcBef>
            </a:pPr>
            <a:r>
              <a:rPr sz="2400" spc="34" dirty="0">
                <a:solidFill>
                  <a:srgbClr val="2F3641"/>
                </a:solidFill>
                <a:latin typeface="Lucida Sans Unicode"/>
                <a:cs typeface="Lucida Sans Unicode"/>
              </a:rPr>
              <a:t>‘Accounting</a:t>
            </a:r>
            <a:r>
              <a:rPr sz="2400" spc="-142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F3641"/>
                </a:solidFill>
                <a:latin typeface="Lucida Sans Unicode"/>
                <a:cs typeface="Lucida Sans Unicode"/>
              </a:rPr>
              <a:t>is</a:t>
            </a:r>
            <a:r>
              <a:rPr sz="2400" spc="-142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157" dirty="0">
                <a:solidFill>
                  <a:srgbClr val="2F3641"/>
                </a:solidFill>
                <a:latin typeface="Lucida Sans Unicode"/>
                <a:cs typeface="Lucida Sans Unicode"/>
              </a:rPr>
              <a:t>an </a:t>
            </a:r>
            <a:r>
              <a:rPr sz="2400" spc="31" dirty="0">
                <a:solidFill>
                  <a:srgbClr val="2F3641"/>
                </a:solidFill>
                <a:latin typeface="Lucida Sans Unicode"/>
                <a:cs typeface="Lucida Sans Unicode"/>
              </a:rPr>
              <a:t>information</a:t>
            </a:r>
            <a:r>
              <a:rPr sz="2400" spc="-112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2F3641"/>
                </a:solidFill>
                <a:latin typeface="Lucida Sans Unicode"/>
                <a:cs typeface="Lucida Sans Unicode"/>
              </a:rPr>
              <a:t>system</a:t>
            </a:r>
            <a:r>
              <a:rPr sz="2400" spc="-112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64" dirty="0">
                <a:solidFill>
                  <a:srgbClr val="2F3641"/>
                </a:solidFill>
                <a:latin typeface="Lucida Sans Unicode"/>
                <a:cs typeface="Lucida Sans Unicode"/>
              </a:rPr>
              <a:t>that </a:t>
            </a:r>
            <a:r>
              <a:rPr sz="2400" spc="-14" dirty="0">
                <a:solidFill>
                  <a:srgbClr val="2F3641"/>
                </a:solidFill>
                <a:latin typeface="Lucida Sans Unicode"/>
                <a:cs typeface="Lucida Sans Unicode"/>
              </a:rPr>
              <a:t>identifies,</a:t>
            </a:r>
            <a:r>
              <a:rPr sz="2400" spc="-73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F3641"/>
                </a:solidFill>
                <a:latin typeface="Lucida Sans Unicode"/>
                <a:cs typeface="Lucida Sans Unicode"/>
              </a:rPr>
              <a:t>records,</a:t>
            </a:r>
            <a:r>
              <a:rPr sz="2400" spc="-73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137" dirty="0">
                <a:solidFill>
                  <a:srgbClr val="2F3641"/>
                </a:solidFill>
                <a:latin typeface="Lucida Sans Unicode"/>
                <a:cs typeface="Lucida Sans Unicode"/>
              </a:rPr>
              <a:t>and </a:t>
            </a:r>
            <a:r>
              <a:rPr sz="2400" spc="120" dirty="0">
                <a:solidFill>
                  <a:srgbClr val="2F3641"/>
                </a:solidFill>
                <a:latin typeface="Lucida Sans Unicode"/>
                <a:cs typeface="Lucida Sans Unicode"/>
              </a:rPr>
              <a:t>communicates</a:t>
            </a:r>
            <a:r>
              <a:rPr sz="2400" spc="-109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the </a:t>
            </a:r>
            <a:r>
              <a:rPr sz="2400" spc="112" dirty="0">
                <a:solidFill>
                  <a:srgbClr val="2F3641"/>
                </a:solidFill>
                <a:latin typeface="Lucida Sans Unicode"/>
                <a:cs typeface="Lucida Sans Unicode"/>
              </a:rPr>
              <a:t>economic</a:t>
            </a:r>
            <a:r>
              <a:rPr sz="2400" spc="-1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78" dirty="0">
                <a:solidFill>
                  <a:srgbClr val="2F3641"/>
                </a:solidFill>
                <a:latin typeface="Lucida Sans Unicode"/>
                <a:cs typeface="Lucida Sans Unicode"/>
              </a:rPr>
              <a:t>events</a:t>
            </a:r>
            <a:r>
              <a:rPr sz="2400" spc="-118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F3641"/>
                </a:solidFill>
                <a:latin typeface="Lucida Sans Unicode"/>
                <a:cs typeface="Lucida Sans Unicode"/>
              </a:rPr>
              <a:t>of</a:t>
            </a:r>
            <a:r>
              <a:rPr sz="2400" spc="-118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157" dirty="0">
                <a:solidFill>
                  <a:srgbClr val="2F3641"/>
                </a:solidFill>
                <a:latin typeface="Lucida Sans Unicode"/>
                <a:cs typeface="Lucida Sans Unicode"/>
              </a:rPr>
              <a:t>an </a:t>
            </a:r>
            <a:r>
              <a:rPr sz="2400" spc="25" dirty="0">
                <a:solidFill>
                  <a:srgbClr val="2F3641"/>
                </a:solidFill>
                <a:latin typeface="Lucida Sans Unicode"/>
                <a:cs typeface="Lucida Sans Unicode"/>
              </a:rPr>
              <a:t>organization</a:t>
            </a:r>
            <a:r>
              <a:rPr sz="2400" spc="-9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-14" dirty="0">
                <a:solidFill>
                  <a:srgbClr val="2F3641"/>
                </a:solidFill>
                <a:latin typeface="Lucida Sans Unicode"/>
                <a:cs typeface="Lucida Sans Unicode"/>
              </a:rPr>
              <a:t>to </a:t>
            </a:r>
            <a:r>
              <a:rPr sz="2400" spc="42" dirty="0">
                <a:solidFill>
                  <a:srgbClr val="2F3641"/>
                </a:solidFill>
                <a:latin typeface="Lucida Sans Unicode"/>
                <a:cs typeface="Lucida Sans Unicode"/>
              </a:rPr>
              <a:t>interested</a:t>
            </a:r>
            <a:r>
              <a:rPr sz="2400" spc="-1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400" spc="-6" dirty="0">
                <a:solidFill>
                  <a:srgbClr val="2F3641"/>
                </a:solidFill>
                <a:latin typeface="Lucida Sans Unicode"/>
                <a:cs typeface="Lucida Sans Unicode"/>
              </a:rPr>
              <a:t>users.’</a:t>
            </a:r>
            <a:endParaRPr sz="2400">
              <a:latin typeface="Lucida Sans Unicode"/>
              <a:cs typeface="Lucida Sans Unicode"/>
            </a:endParaRPr>
          </a:p>
          <a:p>
            <a:pPr marL="1790446">
              <a:spcBef>
                <a:spcPts val="406"/>
              </a:spcBef>
            </a:pPr>
            <a:r>
              <a:rPr sz="1100" spc="48" dirty="0">
                <a:solidFill>
                  <a:srgbClr val="2F3641"/>
                </a:solidFill>
                <a:latin typeface="Lucida Sans Unicode"/>
                <a:cs typeface="Lucida Sans Unicode"/>
              </a:rPr>
              <a:t>Weygandt,</a:t>
            </a:r>
            <a:r>
              <a:rPr sz="1100" spc="-48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F3641"/>
                </a:solidFill>
                <a:latin typeface="Lucida Sans Unicode"/>
                <a:cs typeface="Lucida Sans Unicode"/>
              </a:rPr>
              <a:t>Kieso</a:t>
            </a:r>
            <a:r>
              <a:rPr sz="1100" spc="-42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100" spc="76" dirty="0">
                <a:solidFill>
                  <a:srgbClr val="2F3641"/>
                </a:solidFill>
                <a:latin typeface="Lucida Sans Unicode"/>
                <a:cs typeface="Lucida Sans Unicode"/>
              </a:rPr>
              <a:t>and</a:t>
            </a:r>
            <a:r>
              <a:rPr sz="1100" spc="-39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100" spc="22" dirty="0">
                <a:solidFill>
                  <a:srgbClr val="2F3641"/>
                </a:solidFill>
                <a:latin typeface="Lucida Sans Unicode"/>
                <a:cs typeface="Lucida Sans Unicode"/>
              </a:rPr>
              <a:t>Kimmel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337563"/>
            <a:ext cx="5575935" cy="4575387"/>
            <a:chOff x="0" y="2006344"/>
            <a:chExt cx="11151870" cy="6863080"/>
          </a:xfrm>
        </p:grpSpPr>
        <p:sp>
          <p:nvSpPr>
            <p:cNvPr id="8" name="object 8"/>
            <p:cNvSpPr/>
            <p:nvPr/>
          </p:nvSpPr>
          <p:spPr>
            <a:xfrm>
              <a:off x="8890609" y="3699598"/>
              <a:ext cx="2261235" cy="5169535"/>
            </a:xfrm>
            <a:custGeom>
              <a:avLst/>
              <a:gdLst/>
              <a:ahLst/>
              <a:cxnLst/>
              <a:rect l="l" t="t" r="r" b="b"/>
              <a:pathLst>
                <a:path w="2261234" h="5169534">
                  <a:moveTo>
                    <a:pt x="2261120" y="1130528"/>
                  </a:moveTo>
                  <a:lnTo>
                    <a:pt x="2260130" y="1082751"/>
                  </a:lnTo>
                  <a:lnTo>
                    <a:pt x="2257183" y="1035456"/>
                  </a:lnTo>
                  <a:lnTo>
                    <a:pt x="2252319" y="988720"/>
                  </a:lnTo>
                  <a:lnTo>
                    <a:pt x="2245576" y="942568"/>
                  </a:lnTo>
                  <a:lnTo>
                    <a:pt x="2236990" y="897039"/>
                  </a:lnTo>
                  <a:lnTo>
                    <a:pt x="2226602" y="852170"/>
                  </a:lnTo>
                  <a:lnTo>
                    <a:pt x="2214448" y="807999"/>
                  </a:lnTo>
                  <a:lnTo>
                    <a:pt x="2200579" y="764578"/>
                  </a:lnTo>
                  <a:lnTo>
                    <a:pt x="2185022" y="721931"/>
                  </a:lnTo>
                  <a:lnTo>
                    <a:pt x="2167826" y="680097"/>
                  </a:lnTo>
                  <a:lnTo>
                    <a:pt x="2149030" y="639127"/>
                  </a:lnTo>
                  <a:lnTo>
                    <a:pt x="2128659" y="599059"/>
                  </a:lnTo>
                  <a:lnTo>
                    <a:pt x="2106777" y="559930"/>
                  </a:lnTo>
                  <a:lnTo>
                    <a:pt x="2083396" y="521779"/>
                  </a:lnTo>
                  <a:lnTo>
                    <a:pt x="2058568" y="484632"/>
                  </a:lnTo>
                  <a:lnTo>
                    <a:pt x="2032330" y="448551"/>
                  </a:lnTo>
                  <a:lnTo>
                    <a:pt x="2004733" y="413562"/>
                  </a:lnTo>
                  <a:lnTo>
                    <a:pt x="1975802" y="379704"/>
                  </a:lnTo>
                  <a:lnTo>
                    <a:pt x="1945576" y="347014"/>
                  </a:lnTo>
                  <a:lnTo>
                    <a:pt x="1914105" y="315544"/>
                  </a:lnTo>
                  <a:lnTo>
                    <a:pt x="1881416" y="285318"/>
                  </a:lnTo>
                  <a:lnTo>
                    <a:pt x="1847557" y="256387"/>
                  </a:lnTo>
                  <a:lnTo>
                    <a:pt x="1812569" y="228790"/>
                  </a:lnTo>
                  <a:lnTo>
                    <a:pt x="1776476" y="202552"/>
                  </a:lnTo>
                  <a:lnTo>
                    <a:pt x="1739341" y="177723"/>
                  </a:lnTo>
                  <a:lnTo>
                    <a:pt x="1701177" y="154343"/>
                  </a:lnTo>
                  <a:lnTo>
                    <a:pt x="1662049" y="132461"/>
                  </a:lnTo>
                  <a:lnTo>
                    <a:pt x="1621980" y="112090"/>
                  </a:lnTo>
                  <a:lnTo>
                    <a:pt x="1581010" y="93294"/>
                  </a:lnTo>
                  <a:lnTo>
                    <a:pt x="1539176" y="76098"/>
                  </a:lnTo>
                  <a:lnTo>
                    <a:pt x="1496529" y="60540"/>
                  </a:lnTo>
                  <a:lnTo>
                    <a:pt x="1453108" y="46672"/>
                  </a:lnTo>
                  <a:lnTo>
                    <a:pt x="1408938" y="34518"/>
                  </a:lnTo>
                  <a:lnTo>
                    <a:pt x="1364068" y="24142"/>
                  </a:lnTo>
                  <a:lnTo>
                    <a:pt x="1318539" y="15557"/>
                  </a:lnTo>
                  <a:lnTo>
                    <a:pt x="1272374" y="8801"/>
                  </a:lnTo>
                  <a:lnTo>
                    <a:pt x="1225638" y="3937"/>
                  </a:lnTo>
                  <a:lnTo>
                    <a:pt x="1178356" y="990"/>
                  </a:lnTo>
                  <a:lnTo>
                    <a:pt x="1130566" y="0"/>
                  </a:lnTo>
                  <a:lnTo>
                    <a:pt x="1082776" y="990"/>
                  </a:lnTo>
                  <a:lnTo>
                    <a:pt x="1035481" y="3937"/>
                  </a:lnTo>
                  <a:lnTo>
                    <a:pt x="988745" y="8801"/>
                  </a:lnTo>
                  <a:lnTo>
                    <a:pt x="942594" y="15557"/>
                  </a:lnTo>
                  <a:lnTo>
                    <a:pt x="897064" y="24142"/>
                  </a:lnTo>
                  <a:lnTo>
                    <a:pt x="852182" y="34518"/>
                  </a:lnTo>
                  <a:lnTo>
                    <a:pt x="808024" y="46672"/>
                  </a:lnTo>
                  <a:lnTo>
                    <a:pt x="764590" y="60540"/>
                  </a:lnTo>
                  <a:lnTo>
                    <a:pt x="721944" y="76098"/>
                  </a:lnTo>
                  <a:lnTo>
                    <a:pt x="680123" y="93294"/>
                  </a:lnTo>
                  <a:lnTo>
                    <a:pt x="639152" y="112090"/>
                  </a:lnTo>
                  <a:lnTo>
                    <a:pt x="599084" y="132461"/>
                  </a:lnTo>
                  <a:lnTo>
                    <a:pt x="559943" y="154343"/>
                  </a:lnTo>
                  <a:lnTo>
                    <a:pt x="521792" y="177723"/>
                  </a:lnTo>
                  <a:lnTo>
                    <a:pt x="484644" y="202552"/>
                  </a:lnTo>
                  <a:lnTo>
                    <a:pt x="448564" y="228790"/>
                  </a:lnTo>
                  <a:lnTo>
                    <a:pt x="413575" y="256387"/>
                  </a:lnTo>
                  <a:lnTo>
                    <a:pt x="379704" y="285318"/>
                  </a:lnTo>
                  <a:lnTo>
                    <a:pt x="347027" y="315544"/>
                  </a:lnTo>
                  <a:lnTo>
                    <a:pt x="315556" y="347014"/>
                  </a:lnTo>
                  <a:lnTo>
                    <a:pt x="285330" y="379704"/>
                  </a:lnTo>
                  <a:lnTo>
                    <a:pt x="256400" y="413562"/>
                  </a:lnTo>
                  <a:lnTo>
                    <a:pt x="228790" y="448551"/>
                  </a:lnTo>
                  <a:lnTo>
                    <a:pt x="202565" y="484632"/>
                  </a:lnTo>
                  <a:lnTo>
                    <a:pt x="177736" y="521779"/>
                  </a:lnTo>
                  <a:lnTo>
                    <a:pt x="154355" y="559930"/>
                  </a:lnTo>
                  <a:lnTo>
                    <a:pt x="132461" y="599059"/>
                  </a:lnTo>
                  <a:lnTo>
                    <a:pt x="112102" y="639127"/>
                  </a:lnTo>
                  <a:lnTo>
                    <a:pt x="93294" y="680097"/>
                  </a:lnTo>
                  <a:lnTo>
                    <a:pt x="76098" y="721931"/>
                  </a:lnTo>
                  <a:lnTo>
                    <a:pt x="60540" y="764578"/>
                  </a:lnTo>
                  <a:lnTo>
                    <a:pt x="46672" y="807999"/>
                  </a:lnTo>
                  <a:lnTo>
                    <a:pt x="34531" y="852170"/>
                  </a:lnTo>
                  <a:lnTo>
                    <a:pt x="24142" y="897039"/>
                  </a:lnTo>
                  <a:lnTo>
                    <a:pt x="15557" y="942568"/>
                  </a:lnTo>
                  <a:lnTo>
                    <a:pt x="8813" y="988720"/>
                  </a:lnTo>
                  <a:lnTo>
                    <a:pt x="3937" y="1035456"/>
                  </a:lnTo>
                  <a:lnTo>
                    <a:pt x="990" y="1082751"/>
                  </a:lnTo>
                  <a:lnTo>
                    <a:pt x="0" y="1130528"/>
                  </a:lnTo>
                  <a:lnTo>
                    <a:pt x="990" y="1178318"/>
                  </a:lnTo>
                  <a:lnTo>
                    <a:pt x="3937" y="1225613"/>
                  </a:lnTo>
                  <a:lnTo>
                    <a:pt x="8813" y="1272349"/>
                  </a:lnTo>
                  <a:lnTo>
                    <a:pt x="15557" y="1318501"/>
                  </a:lnTo>
                  <a:lnTo>
                    <a:pt x="24142" y="1364030"/>
                  </a:lnTo>
                  <a:lnTo>
                    <a:pt x="34531" y="1408899"/>
                  </a:lnTo>
                  <a:lnTo>
                    <a:pt x="46672" y="1453070"/>
                  </a:lnTo>
                  <a:lnTo>
                    <a:pt x="60540" y="1496491"/>
                  </a:lnTo>
                  <a:lnTo>
                    <a:pt x="76098" y="1539138"/>
                  </a:lnTo>
                  <a:lnTo>
                    <a:pt x="93294" y="1580972"/>
                  </a:lnTo>
                  <a:lnTo>
                    <a:pt x="112102" y="1621942"/>
                  </a:lnTo>
                  <a:lnTo>
                    <a:pt x="132461" y="1662010"/>
                  </a:lnTo>
                  <a:lnTo>
                    <a:pt x="154355" y="1701139"/>
                  </a:lnTo>
                  <a:lnTo>
                    <a:pt x="177736" y="1739290"/>
                  </a:lnTo>
                  <a:lnTo>
                    <a:pt x="202565" y="1776437"/>
                  </a:lnTo>
                  <a:lnTo>
                    <a:pt x="228790" y="1812518"/>
                  </a:lnTo>
                  <a:lnTo>
                    <a:pt x="256400" y="1847507"/>
                  </a:lnTo>
                  <a:lnTo>
                    <a:pt x="285330" y="1881365"/>
                  </a:lnTo>
                  <a:lnTo>
                    <a:pt x="315556" y="1914055"/>
                  </a:lnTo>
                  <a:lnTo>
                    <a:pt x="347027" y="1945525"/>
                  </a:lnTo>
                  <a:lnTo>
                    <a:pt x="379704" y="1975751"/>
                  </a:lnTo>
                  <a:lnTo>
                    <a:pt x="413575" y="2004682"/>
                  </a:lnTo>
                  <a:lnTo>
                    <a:pt x="448564" y="2032279"/>
                  </a:lnTo>
                  <a:lnTo>
                    <a:pt x="484644" y="2058517"/>
                  </a:lnTo>
                  <a:lnTo>
                    <a:pt x="521792" y="2083346"/>
                  </a:lnTo>
                  <a:lnTo>
                    <a:pt x="559943" y="2106714"/>
                  </a:lnTo>
                  <a:lnTo>
                    <a:pt x="599084" y="2128609"/>
                  </a:lnTo>
                  <a:lnTo>
                    <a:pt x="639152" y="2148979"/>
                  </a:lnTo>
                  <a:lnTo>
                    <a:pt x="680123" y="2167775"/>
                  </a:lnTo>
                  <a:lnTo>
                    <a:pt x="721944" y="2184971"/>
                  </a:lnTo>
                  <a:lnTo>
                    <a:pt x="764590" y="2200529"/>
                  </a:lnTo>
                  <a:lnTo>
                    <a:pt x="808024" y="2214397"/>
                  </a:lnTo>
                  <a:lnTo>
                    <a:pt x="852182" y="2226538"/>
                  </a:lnTo>
                  <a:lnTo>
                    <a:pt x="897064" y="2236927"/>
                  </a:lnTo>
                  <a:lnTo>
                    <a:pt x="942594" y="2245512"/>
                  </a:lnTo>
                  <a:lnTo>
                    <a:pt x="988745" y="2252268"/>
                  </a:lnTo>
                  <a:lnTo>
                    <a:pt x="1035481" y="2257133"/>
                  </a:lnTo>
                  <a:lnTo>
                    <a:pt x="1082776" y="2260079"/>
                  </a:lnTo>
                  <a:lnTo>
                    <a:pt x="1130566" y="2261070"/>
                  </a:lnTo>
                  <a:lnTo>
                    <a:pt x="1178356" y="2260079"/>
                  </a:lnTo>
                  <a:lnTo>
                    <a:pt x="1225638" y="2257133"/>
                  </a:lnTo>
                  <a:lnTo>
                    <a:pt x="1272374" y="2252268"/>
                  </a:lnTo>
                  <a:lnTo>
                    <a:pt x="1318539" y="2245512"/>
                  </a:lnTo>
                  <a:lnTo>
                    <a:pt x="1364068" y="2236927"/>
                  </a:lnTo>
                  <a:lnTo>
                    <a:pt x="1408938" y="2226538"/>
                  </a:lnTo>
                  <a:lnTo>
                    <a:pt x="1453108" y="2214397"/>
                  </a:lnTo>
                  <a:lnTo>
                    <a:pt x="1496529" y="2200529"/>
                  </a:lnTo>
                  <a:lnTo>
                    <a:pt x="1539176" y="2184971"/>
                  </a:lnTo>
                  <a:lnTo>
                    <a:pt x="1581010" y="2167775"/>
                  </a:lnTo>
                  <a:lnTo>
                    <a:pt x="1621980" y="2148979"/>
                  </a:lnTo>
                  <a:lnTo>
                    <a:pt x="1662049" y="2128609"/>
                  </a:lnTo>
                  <a:lnTo>
                    <a:pt x="1701177" y="2106714"/>
                  </a:lnTo>
                  <a:lnTo>
                    <a:pt x="1739341" y="2083346"/>
                  </a:lnTo>
                  <a:lnTo>
                    <a:pt x="1776476" y="2058517"/>
                  </a:lnTo>
                  <a:lnTo>
                    <a:pt x="1812569" y="2032279"/>
                  </a:lnTo>
                  <a:lnTo>
                    <a:pt x="1847557" y="2004682"/>
                  </a:lnTo>
                  <a:lnTo>
                    <a:pt x="1881416" y="1975751"/>
                  </a:lnTo>
                  <a:lnTo>
                    <a:pt x="1914105" y="1945525"/>
                  </a:lnTo>
                  <a:lnTo>
                    <a:pt x="1945576" y="1914055"/>
                  </a:lnTo>
                  <a:lnTo>
                    <a:pt x="1975802" y="1881365"/>
                  </a:lnTo>
                  <a:lnTo>
                    <a:pt x="2004733" y="1847507"/>
                  </a:lnTo>
                  <a:lnTo>
                    <a:pt x="2032330" y="1812518"/>
                  </a:lnTo>
                  <a:lnTo>
                    <a:pt x="2058568" y="1776437"/>
                  </a:lnTo>
                  <a:lnTo>
                    <a:pt x="2083396" y="1739290"/>
                  </a:lnTo>
                  <a:lnTo>
                    <a:pt x="2106777" y="1701139"/>
                  </a:lnTo>
                  <a:lnTo>
                    <a:pt x="2128659" y="1662010"/>
                  </a:lnTo>
                  <a:lnTo>
                    <a:pt x="2149030" y="1621942"/>
                  </a:lnTo>
                  <a:lnTo>
                    <a:pt x="2167826" y="1580972"/>
                  </a:lnTo>
                  <a:lnTo>
                    <a:pt x="2185022" y="1539138"/>
                  </a:lnTo>
                  <a:lnTo>
                    <a:pt x="2200579" y="1496491"/>
                  </a:lnTo>
                  <a:lnTo>
                    <a:pt x="2214448" y="1453070"/>
                  </a:lnTo>
                  <a:lnTo>
                    <a:pt x="2226602" y="1408899"/>
                  </a:lnTo>
                  <a:lnTo>
                    <a:pt x="2236990" y="1364030"/>
                  </a:lnTo>
                  <a:lnTo>
                    <a:pt x="2245576" y="1318501"/>
                  </a:lnTo>
                  <a:lnTo>
                    <a:pt x="2252319" y="1272349"/>
                  </a:lnTo>
                  <a:lnTo>
                    <a:pt x="2257183" y="1225613"/>
                  </a:lnTo>
                  <a:lnTo>
                    <a:pt x="2260130" y="1178318"/>
                  </a:lnTo>
                  <a:lnTo>
                    <a:pt x="2261120" y="1130528"/>
                  </a:lnTo>
                  <a:close/>
                </a:path>
                <a:path w="2261234" h="5169534">
                  <a:moveTo>
                    <a:pt x="2261133" y="4140809"/>
                  </a:moveTo>
                  <a:lnTo>
                    <a:pt x="2260003" y="4092397"/>
                  </a:lnTo>
                  <a:lnTo>
                    <a:pt x="2256650" y="4044569"/>
                  </a:lnTo>
                  <a:lnTo>
                    <a:pt x="2251138" y="3997350"/>
                  </a:lnTo>
                  <a:lnTo>
                    <a:pt x="2243505" y="3950817"/>
                  </a:lnTo>
                  <a:lnTo>
                    <a:pt x="2233790" y="3905008"/>
                  </a:lnTo>
                  <a:lnTo>
                    <a:pt x="2222068" y="3859961"/>
                  </a:lnTo>
                  <a:lnTo>
                    <a:pt x="2208365" y="3815753"/>
                  </a:lnTo>
                  <a:lnTo>
                    <a:pt x="2192744" y="3772408"/>
                  </a:lnTo>
                  <a:lnTo>
                    <a:pt x="2175256" y="3729990"/>
                  </a:lnTo>
                  <a:lnTo>
                    <a:pt x="2155939" y="3688537"/>
                  </a:lnTo>
                  <a:lnTo>
                    <a:pt x="2134844" y="3648113"/>
                  </a:lnTo>
                  <a:lnTo>
                    <a:pt x="2112035" y="3608755"/>
                  </a:lnTo>
                  <a:lnTo>
                    <a:pt x="2087549" y="3570516"/>
                  </a:lnTo>
                  <a:lnTo>
                    <a:pt x="2061438" y="3533444"/>
                  </a:lnTo>
                  <a:lnTo>
                    <a:pt x="2033765" y="3497592"/>
                  </a:lnTo>
                  <a:lnTo>
                    <a:pt x="2004555" y="3462998"/>
                  </a:lnTo>
                  <a:lnTo>
                    <a:pt x="1973872" y="3429736"/>
                  </a:lnTo>
                  <a:lnTo>
                    <a:pt x="1941779" y="3397834"/>
                  </a:lnTo>
                  <a:lnTo>
                    <a:pt x="1908289" y="3367341"/>
                  </a:lnTo>
                  <a:lnTo>
                    <a:pt x="1873491" y="3338322"/>
                  </a:lnTo>
                  <a:lnTo>
                    <a:pt x="1837410" y="3310813"/>
                  </a:lnTo>
                  <a:lnTo>
                    <a:pt x="1800098" y="3284867"/>
                  </a:lnTo>
                  <a:lnTo>
                    <a:pt x="1761617" y="3260547"/>
                  </a:lnTo>
                  <a:lnTo>
                    <a:pt x="1722018" y="3237877"/>
                  </a:lnTo>
                  <a:lnTo>
                    <a:pt x="1681327" y="3216922"/>
                  </a:lnTo>
                  <a:lnTo>
                    <a:pt x="1639620" y="3197720"/>
                  </a:lnTo>
                  <a:lnTo>
                    <a:pt x="1596923" y="3180346"/>
                  </a:lnTo>
                  <a:lnTo>
                    <a:pt x="1553311" y="3164814"/>
                  </a:lnTo>
                  <a:lnTo>
                    <a:pt x="1508810" y="3151200"/>
                  </a:lnTo>
                  <a:lnTo>
                    <a:pt x="1463484" y="3139554"/>
                  </a:lnTo>
                  <a:lnTo>
                    <a:pt x="1417383" y="3129902"/>
                  </a:lnTo>
                  <a:lnTo>
                    <a:pt x="1370558" y="3122320"/>
                  </a:lnTo>
                  <a:lnTo>
                    <a:pt x="1323047" y="3116834"/>
                  </a:lnTo>
                  <a:lnTo>
                    <a:pt x="1274902" y="3113506"/>
                  </a:lnTo>
                  <a:lnTo>
                    <a:pt x="1226185" y="3112389"/>
                  </a:lnTo>
                  <a:lnTo>
                    <a:pt x="1177467" y="3113506"/>
                  </a:lnTo>
                  <a:lnTo>
                    <a:pt x="1129322" y="3116834"/>
                  </a:lnTo>
                  <a:lnTo>
                    <a:pt x="1081811" y="3122320"/>
                  </a:lnTo>
                  <a:lnTo>
                    <a:pt x="1034986" y="3129902"/>
                  </a:lnTo>
                  <a:lnTo>
                    <a:pt x="988885" y="3139554"/>
                  </a:lnTo>
                  <a:lnTo>
                    <a:pt x="943559" y="3151200"/>
                  </a:lnTo>
                  <a:lnTo>
                    <a:pt x="899058" y="3164814"/>
                  </a:lnTo>
                  <a:lnTo>
                    <a:pt x="855446" y="3180346"/>
                  </a:lnTo>
                  <a:lnTo>
                    <a:pt x="812761" y="3197720"/>
                  </a:lnTo>
                  <a:lnTo>
                    <a:pt x="771042" y="3216922"/>
                  </a:lnTo>
                  <a:lnTo>
                    <a:pt x="730364" y="3237877"/>
                  </a:lnTo>
                  <a:lnTo>
                    <a:pt x="690753" y="3260547"/>
                  </a:lnTo>
                  <a:lnTo>
                    <a:pt x="652272" y="3284867"/>
                  </a:lnTo>
                  <a:lnTo>
                    <a:pt x="614959" y="3310813"/>
                  </a:lnTo>
                  <a:lnTo>
                    <a:pt x="578878" y="3338322"/>
                  </a:lnTo>
                  <a:lnTo>
                    <a:pt x="544080" y="3367341"/>
                  </a:lnTo>
                  <a:lnTo>
                    <a:pt x="510603" y="3397834"/>
                  </a:lnTo>
                  <a:lnTo>
                    <a:pt x="478497" y="3429736"/>
                  </a:lnTo>
                  <a:lnTo>
                    <a:pt x="447814" y="3462998"/>
                  </a:lnTo>
                  <a:lnTo>
                    <a:pt x="418604" y="3497592"/>
                  </a:lnTo>
                  <a:lnTo>
                    <a:pt x="390931" y="3533444"/>
                  </a:lnTo>
                  <a:lnTo>
                    <a:pt x="364820" y="3570516"/>
                  </a:lnTo>
                  <a:lnTo>
                    <a:pt x="340334" y="3608755"/>
                  </a:lnTo>
                  <a:lnTo>
                    <a:pt x="317525" y="3648113"/>
                  </a:lnTo>
                  <a:lnTo>
                    <a:pt x="296430" y="3688537"/>
                  </a:lnTo>
                  <a:lnTo>
                    <a:pt x="277126" y="3729990"/>
                  </a:lnTo>
                  <a:lnTo>
                    <a:pt x="259626" y="3772408"/>
                  </a:lnTo>
                  <a:lnTo>
                    <a:pt x="244005" y="3815753"/>
                  </a:lnTo>
                  <a:lnTo>
                    <a:pt x="230301" y="3859961"/>
                  </a:lnTo>
                  <a:lnTo>
                    <a:pt x="218579" y="3905008"/>
                  </a:lnTo>
                  <a:lnTo>
                    <a:pt x="208864" y="3950817"/>
                  </a:lnTo>
                  <a:lnTo>
                    <a:pt x="201231" y="3997350"/>
                  </a:lnTo>
                  <a:lnTo>
                    <a:pt x="195719" y="4044569"/>
                  </a:lnTo>
                  <a:lnTo>
                    <a:pt x="192366" y="4092397"/>
                  </a:lnTo>
                  <a:lnTo>
                    <a:pt x="191249" y="4140809"/>
                  </a:lnTo>
                  <a:lnTo>
                    <a:pt x="192366" y="4189222"/>
                  </a:lnTo>
                  <a:lnTo>
                    <a:pt x="195719" y="4237063"/>
                  </a:lnTo>
                  <a:lnTo>
                    <a:pt x="201231" y="4284269"/>
                  </a:lnTo>
                  <a:lnTo>
                    <a:pt x="208864" y="4330814"/>
                  </a:lnTo>
                  <a:lnTo>
                    <a:pt x="218579" y="4376623"/>
                  </a:lnTo>
                  <a:lnTo>
                    <a:pt x="230301" y="4421657"/>
                  </a:lnTo>
                  <a:lnTo>
                    <a:pt x="244005" y="4465879"/>
                  </a:lnTo>
                  <a:lnTo>
                    <a:pt x="259626" y="4509224"/>
                  </a:lnTo>
                  <a:lnTo>
                    <a:pt x="277126" y="4551642"/>
                  </a:lnTo>
                  <a:lnTo>
                    <a:pt x="296430" y="4593094"/>
                  </a:lnTo>
                  <a:lnTo>
                    <a:pt x="317525" y="4633519"/>
                  </a:lnTo>
                  <a:lnTo>
                    <a:pt x="340334" y="4672876"/>
                  </a:lnTo>
                  <a:lnTo>
                    <a:pt x="364820" y="4711116"/>
                  </a:lnTo>
                  <a:lnTo>
                    <a:pt x="390931" y="4748187"/>
                  </a:lnTo>
                  <a:lnTo>
                    <a:pt x="418604" y="4784039"/>
                  </a:lnTo>
                  <a:lnTo>
                    <a:pt x="447814" y="4818621"/>
                  </a:lnTo>
                  <a:lnTo>
                    <a:pt x="478497" y="4851895"/>
                  </a:lnTo>
                  <a:lnTo>
                    <a:pt x="510603" y="4883797"/>
                  </a:lnTo>
                  <a:lnTo>
                    <a:pt x="544080" y="4914277"/>
                  </a:lnTo>
                  <a:lnTo>
                    <a:pt x="578878" y="4943310"/>
                  </a:lnTo>
                  <a:lnTo>
                    <a:pt x="614959" y="4970818"/>
                  </a:lnTo>
                  <a:lnTo>
                    <a:pt x="652272" y="4996751"/>
                  </a:lnTo>
                  <a:lnTo>
                    <a:pt x="690753" y="5021084"/>
                  </a:lnTo>
                  <a:lnTo>
                    <a:pt x="730364" y="5043754"/>
                  </a:lnTo>
                  <a:lnTo>
                    <a:pt x="771042" y="5064709"/>
                  </a:lnTo>
                  <a:lnTo>
                    <a:pt x="812761" y="5083899"/>
                  </a:lnTo>
                  <a:lnTo>
                    <a:pt x="855446" y="5101285"/>
                  </a:lnTo>
                  <a:lnTo>
                    <a:pt x="899058" y="5116804"/>
                  </a:lnTo>
                  <a:lnTo>
                    <a:pt x="943559" y="5130419"/>
                  </a:lnTo>
                  <a:lnTo>
                    <a:pt x="988885" y="5142077"/>
                  </a:lnTo>
                  <a:lnTo>
                    <a:pt x="1034986" y="5151717"/>
                  </a:lnTo>
                  <a:lnTo>
                    <a:pt x="1081811" y="5159311"/>
                  </a:lnTo>
                  <a:lnTo>
                    <a:pt x="1129322" y="5164798"/>
                  </a:lnTo>
                  <a:lnTo>
                    <a:pt x="1177467" y="5168112"/>
                  </a:lnTo>
                  <a:lnTo>
                    <a:pt x="1226185" y="5169243"/>
                  </a:lnTo>
                  <a:lnTo>
                    <a:pt x="1274902" y="5168112"/>
                  </a:lnTo>
                  <a:lnTo>
                    <a:pt x="1323047" y="5164798"/>
                  </a:lnTo>
                  <a:lnTo>
                    <a:pt x="1370558" y="5159311"/>
                  </a:lnTo>
                  <a:lnTo>
                    <a:pt x="1417383" y="5151717"/>
                  </a:lnTo>
                  <a:lnTo>
                    <a:pt x="1463484" y="5142077"/>
                  </a:lnTo>
                  <a:lnTo>
                    <a:pt x="1508810" y="5130419"/>
                  </a:lnTo>
                  <a:lnTo>
                    <a:pt x="1553311" y="5116804"/>
                  </a:lnTo>
                  <a:lnTo>
                    <a:pt x="1596923" y="5101285"/>
                  </a:lnTo>
                  <a:lnTo>
                    <a:pt x="1639620" y="5083899"/>
                  </a:lnTo>
                  <a:lnTo>
                    <a:pt x="1681327" y="5064709"/>
                  </a:lnTo>
                  <a:lnTo>
                    <a:pt x="1722018" y="5043754"/>
                  </a:lnTo>
                  <a:lnTo>
                    <a:pt x="1761617" y="5021084"/>
                  </a:lnTo>
                  <a:lnTo>
                    <a:pt x="1800098" y="4996751"/>
                  </a:lnTo>
                  <a:lnTo>
                    <a:pt x="1837410" y="4970818"/>
                  </a:lnTo>
                  <a:lnTo>
                    <a:pt x="1873491" y="4943310"/>
                  </a:lnTo>
                  <a:lnTo>
                    <a:pt x="1908289" y="4914277"/>
                  </a:lnTo>
                  <a:lnTo>
                    <a:pt x="1941779" y="4883797"/>
                  </a:lnTo>
                  <a:lnTo>
                    <a:pt x="1973872" y="4851895"/>
                  </a:lnTo>
                  <a:lnTo>
                    <a:pt x="2004555" y="4818621"/>
                  </a:lnTo>
                  <a:lnTo>
                    <a:pt x="2033765" y="4784039"/>
                  </a:lnTo>
                  <a:lnTo>
                    <a:pt x="2061438" y="4748187"/>
                  </a:lnTo>
                  <a:lnTo>
                    <a:pt x="2087549" y="4711116"/>
                  </a:lnTo>
                  <a:lnTo>
                    <a:pt x="2112035" y="4672876"/>
                  </a:lnTo>
                  <a:lnTo>
                    <a:pt x="2134844" y="4633519"/>
                  </a:lnTo>
                  <a:lnTo>
                    <a:pt x="2155939" y="4593094"/>
                  </a:lnTo>
                  <a:lnTo>
                    <a:pt x="2175256" y="4551642"/>
                  </a:lnTo>
                  <a:lnTo>
                    <a:pt x="2192744" y="4509224"/>
                  </a:lnTo>
                  <a:lnTo>
                    <a:pt x="2208365" y="4465879"/>
                  </a:lnTo>
                  <a:lnTo>
                    <a:pt x="2222068" y="4421657"/>
                  </a:lnTo>
                  <a:lnTo>
                    <a:pt x="2233790" y="4376623"/>
                  </a:lnTo>
                  <a:lnTo>
                    <a:pt x="2243505" y="4330814"/>
                  </a:lnTo>
                  <a:lnTo>
                    <a:pt x="2251138" y="4284269"/>
                  </a:lnTo>
                  <a:lnTo>
                    <a:pt x="2256650" y="4237063"/>
                  </a:lnTo>
                  <a:lnTo>
                    <a:pt x="2260003" y="4189222"/>
                  </a:lnTo>
                  <a:lnTo>
                    <a:pt x="2261133" y="4140809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2006344"/>
              <a:ext cx="631825" cy="6464300"/>
            </a:xfrm>
            <a:custGeom>
              <a:avLst/>
              <a:gdLst/>
              <a:ahLst/>
              <a:cxnLst/>
              <a:rect l="l" t="t" r="r" b="b"/>
              <a:pathLst>
                <a:path w="631825" h="6464300">
                  <a:moveTo>
                    <a:pt x="195190" y="6464048"/>
                  </a:moveTo>
                  <a:lnTo>
                    <a:pt x="0" y="6464048"/>
                  </a:lnTo>
                  <a:lnTo>
                    <a:pt x="0" y="0"/>
                  </a:lnTo>
                  <a:lnTo>
                    <a:pt x="145616" y="0"/>
                  </a:lnTo>
                  <a:lnTo>
                    <a:pt x="193629" y="2377"/>
                  </a:lnTo>
                  <a:lnTo>
                    <a:pt x="240828" y="9420"/>
                  </a:lnTo>
                  <a:lnTo>
                    <a:pt x="286896" y="20997"/>
                  </a:lnTo>
                  <a:lnTo>
                    <a:pt x="331514" y="36977"/>
                  </a:lnTo>
                  <a:lnTo>
                    <a:pt x="374363" y="57227"/>
                  </a:lnTo>
                  <a:lnTo>
                    <a:pt x="415124" y="81615"/>
                  </a:lnTo>
                  <a:lnTo>
                    <a:pt x="453480" y="110010"/>
                  </a:lnTo>
                  <a:lnTo>
                    <a:pt x="489111" y="142280"/>
                  </a:lnTo>
                  <a:lnTo>
                    <a:pt x="521380" y="177911"/>
                  </a:lnTo>
                  <a:lnTo>
                    <a:pt x="549775" y="216266"/>
                  </a:lnTo>
                  <a:lnTo>
                    <a:pt x="574163" y="257028"/>
                  </a:lnTo>
                  <a:lnTo>
                    <a:pt x="594413" y="299877"/>
                  </a:lnTo>
                  <a:lnTo>
                    <a:pt x="610393" y="344494"/>
                  </a:lnTo>
                  <a:lnTo>
                    <a:pt x="621971" y="390562"/>
                  </a:lnTo>
                  <a:lnTo>
                    <a:pt x="629014" y="437762"/>
                  </a:lnTo>
                  <a:lnTo>
                    <a:pt x="631391" y="485775"/>
                  </a:lnTo>
                  <a:lnTo>
                    <a:pt x="631391" y="5980883"/>
                  </a:lnTo>
                  <a:lnTo>
                    <a:pt x="629014" y="6028896"/>
                  </a:lnTo>
                  <a:lnTo>
                    <a:pt x="621971" y="6076096"/>
                  </a:lnTo>
                  <a:lnTo>
                    <a:pt x="610393" y="6122163"/>
                  </a:lnTo>
                  <a:lnTo>
                    <a:pt x="594413" y="6166781"/>
                  </a:lnTo>
                  <a:lnTo>
                    <a:pt x="574163" y="6209630"/>
                  </a:lnTo>
                  <a:lnTo>
                    <a:pt x="549775" y="6250391"/>
                  </a:lnTo>
                  <a:lnTo>
                    <a:pt x="521380" y="6288747"/>
                  </a:lnTo>
                  <a:lnTo>
                    <a:pt x="489111" y="6324378"/>
                  </a:lnTo>
                  <a:lnTo>
                    <a:pt x="453480" y="6356647"/>
                  </a:lnTo>
                  <a:lnTo>
                    <a:pt x="415124" y="6385042"/>
                  </a:lnTo>
                  <a:lnTo>
                    <a:pt x="374363" y="6409431"/>
                  </a:lnTo>
                  <a:lnTo>
                    <a:pt x="331514" y="6429681"/>
                  </a:lnTo>
                  <a:lnTo>
                    <a:pt x="286896" y="6445661"/>
                  </a:lnTo>
                  <a:lnTo>
                    <a:pt x="240828" y="6457238"/>
                  </a:lnTo>
                  <a:lnTo>
                    <a:pt x="195190" y="6464048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841130" y="855890"/>
            <a:ext cx="219075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pc="-801" dirty="0">
                <a:solidFill>
                  <a:srgbClr val="000000"/>
                </a:solidFill>
              </a:rPr>
              <a:t>1</a:t>
            </a:r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16370" y="2843477"/>
            <a:ext cx="388620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692" dirty="0">
                <a:latin typeface="Trebuchet MS"/>
                <a:cs typeface="Trebuchet MS"/>
              </a:rPr>
              <a:t>2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083" y="313297"/>
            <a:ext cx="4072890" cy="240732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2000" spc="81" dirty="0">
                <a:latin typeface="Lucida Sans Unicode"/>
                <a:cs typeface="Lucida Sans Unicode"/>
              </a:rPr>
              <a:t>Concept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6" dirty="0">
                <a:latin typeface="Lucida Sans Unicode"/>
                <a:cs typeface="Lucida Sans Unicode"/>
              </a:rPr>
              <a:t>Accounting,</a:t>
            </a:r>
            <a:endParaRPr sz="2000" dirty="0">
              <a:latin typeface="Lucida Sans Unicode"/>
              <a:cs typeface="Lucida Sans Unicode"/>
            </a:endParaRPr>
          </a:p>
          <a:p>
            <a:pPr marL="7112" marR="2845">
              <a:lnSpc>
                <a:spcPct val="115700"/>
              </a:lnSpc>
              <a:spcBef>
                <a:spcPts val="1697"/>
              </a:spcBef>
            </a:pP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84" dirty="0">
                <a:latin typeface="Lucida Sans Unicode"/>
                <a:cs typeface="Lucida Sans Unicode"/>
              </a:rPr>
              <a:t> </a:t>
            </a:r>
            <a:r>
              <a:rPr sz="1500" spc="-11" dirty="0">
                <a:latin typeface="Lucida Sans Unicode"/>
                <a:cs typeface="Lucida Sans Unicode"/>
              </a:rPr>
              <a:t>is</a:t>
            </a:r>
            <a:r>
              <a:rPr sz="1500" spc="-81" dirty="0">
                <a:latin typeface="Lucida Sans Unicode"/>
                <a:cs typeface="Lucida Sans Unicode"/>
              </a:rPr>
              <a:t> </a:t>
            </a:r>
            <a:r>
              <a:rPr sz="1500" spc="56" dirty="0">
                <a:latin typeface="Lucida Sans Unicode"/>
                <a:cs typeface="Lucida Sans Unicode"/>
              </a:rPr>
              <a:t>called</a:t>
            </a:r>
            <a:r>
              <a:rPr sz="1500" spc="-81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81" dirty="0">
                <a:latin typeface="Lucida Sans Unicode"/>
                <a:cs typeface="Lucida Sans Unicode"/>
              </a:rPr>
              <a:t> </a:t>
            </a:r>
            <a:r>
              <a:rPr sz="1500" spc="48" dirty="0">
                <a:latin typeface="Lucida Sans Unicode"/>
                <a:cs typeface="Lucida Sans Unicode"/>
              </a:rPr>
              <a:t>‘language</a:t>
            </a:r>
            <a:r>
              <a:rPr sz="1500" spc="-81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81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business.’ </a:t>
            </a: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53" dirty="0">
                <a:latin typeface="Lucida Sans Unicode"/>
                <a:cs typeface="Lucida Sans Unicode"/>
              </a:rPr>
              <a:t> </a:t>
            </a:r>
            <a:r>
              <a:rPr sz="1500" spc="-11" dirty="0">
                <a:latin typeface="Lucida Sans Unicode"/>
                <a:cs typeface="Lucida Sans Unicode"/>
              </a:rPr>
              <a:t>is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spc="42" dirty="0">
                <a:latin typeface="Lucida Sans Unicode"/>
                <a:cs typeface="Lucida Sans Unicode"/>
              </a:rPr>
              <a:t>that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spc="28" dirty="0">
                <a:latin typeface="Lucida Sans Unicode"/>
                <a:cs typeface="Lucida Sans Unicode"/>
              </a:rPr>
              <a:t>knowledge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spc="36" dirty="0">
                <a:latin typeface="Lucida Sans Unicode"/>
                <a:cs typeface="Lucida Sans Unicode"/>
              </a:rPr>
              <a:t>which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helps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us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spc="-14" dirty="0">
                <a:latin typeface="Lucida Sans Unicode"/>
                <a:cs typeface="Lucida Sans Unicode"/>
              </a:rPr>
              <a:t>to </a:t>
            </a:r>
            <a:r>
              <a:rPr sz="1500" dirty="0">
                <a:latin typeface="Lucida Sans Unicode"/>
                <a:cs typeface="Lucida Sans Unicode"/>
              </a:rPr>
              <a:t>record,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classify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spc="28" dirty="0">
                <a:latin typeface="Lucida Sans Unicode"/>
                <a:cs typeface="Lucida Sans Unicode"/>
              </a:rPr>
              <a:t>summarize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spc="25" dirty="0">
                <a:latin typeface="Lucida Sans Unicode"/>
                <a:cs typeface="Lucida Sans Unicode"/>
              </a:rPr>
              <a:t>financial </a:t>
            </a:r>
            <a:r>
              <a:rPr sz="1500" spc="34" dirty="0">
                <a:latin typeface="Lucida Sans Unicode"/>
                <a:cs typeface="Lucida Sans Unicode"/>
              </a:rPr>
              <a:t>transactions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42" dirty="0">
                <a:latin typeface="Lucida Sans Unicode"/>
                <a:cs typeface="Lucida Sans Unicode"/>
              </a:rPr>
              <a:t>that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-11" dirty="0">
                <a:latin typeface="Lucida Sans Unicode"/>
                <a:cs typeface="Lucida Sans Unicode"/>
              </a:rPr>
              <a:t>is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36" dirty="0">
                <a:latin typeface="Lucida Sans Unicode"/>
                <a:cs typeface="Lucida Sans Unicode"/>
              </a:rPr>
              <a:t>eventually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helpful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4" dirty="0">
                <a:latin typeface="Lucida Sans Unicode"/>
                <a:cs typeface="Lucida Sans Unicode"/>
              </a:rPr>
              <a:t>to </a:t>
            </a:r>
            <a:r>
              <a:rPr sz="1500" spc="39" dirty="0">
                <a:latin typeface="Lucida Sans Unicode"/>
                <a:cs typeface="Lucida Sans Unicode"/>
              </a:rPr>
              <a:t>determine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overall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financial</a:t>
            </a:r>
            <a:r>
              <a:rPr sz="1500" spc="-2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condition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154" dirty="0">
                <a:latin typeface="Lucida Sans Unicode"/>
                <a:cs typeface="Lucida Sans Unicode"/>
              </a:rPr>
              <a:t>a </a:t>
            </a:r>
            <a:r>
              <a:rPr sz="1500" dirty="0">
                <a:latin typeface="Lucida Sans Unicode"/>
                <a:cs typeface="Lucida Sans Unicode"/>
              </a:rPr>
              <a:t>person</a:t>
            </a:r>
            <a:r>
              <a:rPr sz="1500" spc="-34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or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104" dirty="0">
                <a:latin typeface="Lucida Sans Unicode"/>
                <a:cs typeface="Lucida Sans Unicode"/>
              </a:rPr>
              <a:t>an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institution.</a:t>
            </a:r>
            <a:endParaRPr sz="15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083" y="3238276"/>
            <a:ext cx="4334828" cy="1346010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>
              <a:lnSpc>
                <a:spcPct val="115700"/>
              </a:lnSpc>
              <a:spcBef>
                <a:spcPts val="56"/>
              </a:spcBef>
            </a:pP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78" dirty="0">
                <a:latin typeface="Lucida Sans Unicode"/>
                <a:cs typeface="Lucida Sans Unicode"/>
              </a:rPr>
              <a:t> </a:t>
            </a:r>
            <a:r>
              <a:rPr sz="1500" spc="-11" dirty="0">
                <a:latin typeface="Lucida Sans Unicode"/>
                <a:cs typeface="Lucida Sans Unicode"/>
              </a:rPr>
              <a:t>is</a:t>
            </a:r>
            <a:r>
              <a:rPr sz="1500" spc="-78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78" dirty="0">
                <a:latin typeface="Lucida Sans Unicode"/>
                <a:cs typeface="Lucida Sans Unicode"/>
              </a:rPr>
              <a:t> </a:t>
            </a:r>
            <a:r>
              <a:rPr sz="1500" spc="50" dirty="0">
                <a:latin typeface="Lucida Sans Unicode"/>
                <a:cs typeface="Lucida Sans Unicode"/>
              </a:rPr>
              <a:t>systematic</a:t>
            </a:r>
            <a:r>
              <a:rPr sz="1500" spc="-78" dirty="0">
                <a:latin typeface="Lucida Sans Unicode"/>
                <a:cs typeface="Lucida Sans Unicode"/>
              </a:rPr>
              <a:t> </a:t>
            </a:r>
            <a:r>
              <a:rPr sz="1500" spc="39" dirty="0">
                <a:latin typeface="Lucida Sans Unicode"/>
                <a:cs typeface="Lucida Sans Unicode"/>
              </a:rPr>
              <a:t>process</a:t>
            </a:r>
            <a:r>
              <a:rPr sz="1500" spc="-76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of</a:t>
            </a:r>
            <a:r>
              <a:rPr sz="1500" spc="-78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recording, </a:t>
            </a:r>
            <a:r>
              <a:rPr sz="1500" dirty="0">
                <a:latin typeface="Lucida Sans Unicode"/>
                <a:cs typeface="Lucida Sans Unicode"/>
              </a:rPr>
              <a:t>summarizing,</a:t>
            </a:r>
            <a:r>
              <a:rPr sz="1500" spc="-39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analyzing,</a:t>
            </a:r>
            <a:r>
              <a:rPr sz="1500" spc="-39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39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reporting</a:t>
            </a:r>
            <a:r>
              <a:rPr sz="1500" spc="-39" dirty="0">
                <a:latin typeface="Lucida Sans Unicode"/>
                <a:cs typeface="Lucida Sans Unicode"/>
              </a:rPr>
              <a:t> </a:t>
            </a:r>
            <a:r>
              <a:rPr sz="1500" spc="25" dirty="0">
                <a:latin typeface="Lucida Sans Unicode"/>
                <a:cs typeface="Lucida Sans Unicode"/>
              </a:rPr>
              <a:t>financial </a:t>
            </a:r>
            <a:r>
              <a:rPr sz="1500" dirty="0">
                <a:latin typeface="Lucida Sans Unicode"/>
                <a:cs typeface="Lucida Sans Unicode"/>
              </a:rPr>
              <a:t>transactions.</a:t>
            </a:r>
            <a:r>
              <a:rPr sz="1500" spc="8" dirty="0">
                <a:latin typeface="Lucida Sans Unicode"/>
                <a:cs typeface="Lucida Sans Unicode"/>
              </a:rPr>
              <a:t> </a:t>
            </a:r>
            <a:r>
              <a:rPr sz="1500" spc="-45" dirty="0">
                <a:latin typeface="Lucida Sans Unicode"/>
                <a:cs typeface="Lucida Sans Unicode"/>
              </a:rPr>
              <a:t>It</a:t>
            </a:r>
            <a:r>
              <a:rPr sz="1500" spc="11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tracks</a:t>
            </a:r>
            <a:r>
              <a:rPr sz="1500" spc="8" dirty="0">
                <a:latin typeface="Lucida Sans Unicode"/>
                <a:cs typeface="Lucida Sans Unicode"/>
              </a:rPr>
              <a:t> </a:t>
            </a:r>
            <a:r>
              <a:rPr sz="1500" spc="182" dirty="0">
                <a:latin typeface="Lucida Sans Unicode"/>
                <a:cs typeface="Lucida Sans Unicode"/>
              </a:rPr>
              <a:t>a</a:t>
            </a:r>
            <a:r>
              <a:rPr sz="1500" spc="11" dirty="0">
                <a:latin typeface="Lucida Sans Unicode"/>
                <a:cs typeface="Lucida Sans Unicode"/>
              </a:rPr>
              <a:t> </a:t>
            </a:r>
            <a:r>
              <a:rPr sz="1500" spc="59" dirty="0">
                <a:latin typeface="Lucida Sans Unicode"/>
                <a:cs typeface="Lucida Sans Unicode"/>
              </a:rPr>
              <a:t>company's</a:t>
            </a:r>
            <a:r>
              <a:rPr sz="1500" spc="8" dirty="0">
                <a:latin typeface="Lucida Sans Unicode"/>
                <a:cs typeface="Lucida Sans Unicode"/>
              </a:rPr>
              <a:t> </a:t>
            </a:r>
            <a:r>
              <a:rPr sz="1500" spc="56" dirty="0">
                <a:latin typeface="Lucida Sans Unicode"/>
                <a:cs typeface="Lucida Sans Unicode"/>
              </a:rPr>
              <a:t>economic </a:t>
            </a:r>
            <a:r>
              <a:rPr sz="1500" dirty="0">
                <a:latin typeface="Lucida Sans Unicode"/>
                <a:cs typeface="Lucida Sans Unicode"/>
              </a:rPr>
              <a:t>health,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ensuring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-17" dirty="0">
                <a:latin typeface="Lucida Sans Unicode"/>
                <a:cs typeface="Lucida Sans Unicode"/>
              </a:rPr>
              <a:t>profitability,</a:t>
            </a:r>
            <a:r>
              <a:rPr sz="1500" spc="-28" dirty="0">
                <a:latin typeface="Lucida Sans Unicode"/>
                <a:cs typeface="Lucida Sans Unicode"/>
              </a:rPr>
              <a:t> </a:t>
            </a:r>
            <a:r>
              <a:rPr sz="1500" spc="42" dirty="0">
                <a:latin typeface="Lucida Sans Unicode"/>
                <a:cs typeface="Lucida Sans Unicode"/>
              </a:rPr>
              <a:t>legal</a:t>
            </a:r>
            <a:r>
              <a:rPr sz="1500" spc="-31" dirty="0">
                <a:latin typeface="Lucida Sans Unicode"/>
                <a:cs typeface="Lucida Sans Unicode"/>
              </a:rPr>
              <a:t> </a:t>
            </a:r>
            <a:r>
              <a:rPr sz="1500" spc="36" dirty="0">
                <a:latin typeface="Lucida Sans Unicode"/>
                <a:cs typeface="Lucida Sans Unicode"/>
              </a:rPr>
              <a:t>compliance,</a:t>
            </a:r>
            <a:endParaRPr sz="15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083" y="4545236"/>
            <a:ext cx="2724150" cy="4688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84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informed</a:t>
            </a:r>
            <a:r>
              <a:rPr sz="1500" spc="9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decision-</a:t>
            </a:r>
            <a:r>
              <a:rPr sz="1500" spc="-6" dirty="0">
                <a:latin typeface="Lucida Sans Unicode"/>
                <a:cs typeface="Lucida Sans Unicode"/>
              </a:rPr>
              <a:t>making.</a:t>
            </a:r>
            <a:endParaRPr sz="1500" dirty="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383" y="4724083"/>
            <a:ext cx="4802188" cy="1146314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21336">
              <a:spcBef>
                <a:spcPts val="59"/>
              </a:spcBef>
              <a:tabLst>
                <a:tab pos="4985156" algn="l"/>
              </a:tabLst>
            </a:pPr>
            <a:r>
              <a:rPr sz="1500" spc="31" dirty="0">
                <a:latin typeface="Lucida Sans Unicode"/>
                <a:cs typeface="Lucida Sans Unicode"/>
              </a:rPr>
              <a:t>Accounting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34" dirty="0">
                <a:latin typeface="Lucida Sans Unicode"/>
                <a:cs typeface="Lucida Sans Unicode"/>
              </a:rPr>
              <a:t>serves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95" dirty="0">
                <a:latin typeface="Lucida Sans Unicode"/>
                <a:cs typeface="Lucida Sans Unicode"/>
              </a:rPr>
              <a:t>as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the</a:t>
            </a:r>
            <a:r>
              <a:rPr sz="1500" spc="-67" dirty="0">
                <a:latin typeface="Lucida Sans Unicode"/>
                <a:cs typeface="Lucida Sans Unicode"/>
              </a:rPr>
              <a:t> </a:t>
            </a:r>
            <a:r>
              <a:rPr sz="1500" spc="59" dirty="0">
                <a:latin typeface="Lucida Sans Unicode"/>
                <a:cs typeface="Lucida Sans Unicode"/>
              </a:rPr>
              <a:t>backbone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8" dirty="0">
                <a:latin typeface="Lucida Sans Unicode"/>
                <a:cs typeface="Lucida Sans Unicode"/>
              </a:rPr>
              <a:t>for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73" dirty="0">
                <a:latin typeface="Lucida Sans Unicode"/>
                <a:cs typeface="Lucida Sans Unicode"/>
              </a:rPr>
              <a:t>managing</a:t>
            </a:r>
            <a:r>
              <a:rPr sz="1500" dirty="0">
                <a:latin typeface="Lucida Sans Unicode"/>
                <a:cs typeface="Lucida Sans Unicode"/>
              </a:rPr>
              <a:t>	</a:t>
            </a:r>
            <a:r>
              <a:rPr sz="6600" b="1" spc="458" baseline="13092" dirty="0">
                <a:latin typeface="Trebuchet MS"/>
                <a:cs typeface="Trebuchet MS"/>
              </a:rPr>
              <a:t>3</a:t>
            </a:r>
            <a:endParaRPr sz="6600" baseline="13092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083" y="5428039"/>
            <a:ext cx="4082098" cy="1078244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>
              <a:lnSpc>
                <a:spcPct val="115700"/>
              </a:lnSpc>
              <a:spcBef>
                <a:spcPts val="56"/>
              </a:spcBef>
            </a:pPr>
            <a:r>
              <a:rPr sz="1500" dirty="0">
                <a:latin typeface="Lucida Sans Unicode"/>
                <a:cs typeface="Lucida Sans Unicode"/>
              </a:rPr>
              <a:t>money,</a:t>
            </a:r>
            <a:r>
              <a:rPr sz="1500" spc="-36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strategizing</a:t>
            </a:r>
            <a:r>
              <a:rPr sz="1500" spc="-36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growth,</a:t>
            </a:r>
            <a:r>
              <a:rPr sz="1500" spc="-34" dirty="0">
                <a:latin typeface="Lucida Sans Unicode"/>
                <a:cs typeface="Lucida Sans Unicode"/>
              </a:rPr>
              <a:t>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36" dirty="0">
                <a:latin typeface="Lucida Sans Unicode"/>
                <a:cs typeface="Lucida Sans Unicode"/>
              </a:rPr>
              <a:t> </a:t>
            </a:r>
            <a:r>
              <a:rPr sz="1500" spc="31" dirty="0">
                <a:latin typeface="Lucida Sans Unicode"/>
                <a:cs typeface="Lucida Sans Unicode"/>
              </a:rPr>
              <a:t>maintaining </a:t>
            </a:r>
            <a:r>
              <a:rPr sz="1500" spc="50" dirty="0">
                <a:latin typeface="Lucida Sans Unicode"/>
                <a:cs typeface="Lucida Sans Unicode"/>
              </a:rPr>
              <a:t>transparency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with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external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spc="28" dirty="0">
                <a:latin typeface="Lucida Sans Unicode"/>
                <a:cs typeface="Lucida Sans Unicode"/>
              </a:rPr>
              <a:t>parties</a:t>
            </a:r>
            <a:r>
              <a:rPr sz="1500" spc="-62" dirty="0">
                <a:latin typeface="Lucida Sans Unicode"/>
                <a:cs typeface="Lucida Sans Unicode"/>
              </a:rPr>
              <a:t> </a:t>
            </a:r>
            <a:r>
              <a:rPr sz="1500" spc="-36" dirty="0">
                <a:latin typeface="Lucida Sans Unicode"/>
                <a:cs typeface="Lucida Sans Unicode"/>
              </a:rPr>
              <a:t>like</a:t>
            </a:r>
            <a:r>
              <a:rPr sz="1500" spc="-59" dirty="0">
                <a:latin typeface="Lucida Sans Unicode"/>
                <a:cs typeface="Lucida Sans Unicode"/>
              </a:rPr>
              <a:t> </a:t>
            </a:r>
            <a:r>
              <a:rPr sz="1500" spc="-6" dirty="0">
                <a:latin typeface="Lucida Sans Unicode"/>
                <a:cs typeface="Lucida Sans Unicode"/>
              </a:rPr>
              <a:t>investors </a:t>
            </a:r>
            <a:r>
              <a:rPr sz="1500" spc="90" dirty="0">
                <a:latin typeface="Lucida Sans Unicode"/>
                <a:cs typeface="Lucida Sans Unicode"/>
              </a:rPr>
              <a:t>and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45" dirty="0">
                <a:latin typeface="Lucida Sans Unicode"/>
                <a:cs typeface="Lucida Sans Unicode"/>
              </a:rPr>
              <a:t>government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34" dirty="0">
                <a:latin typeface="Lucida Sans Unicode"/>
                <a:cs typeface="Lucida Sans Unicode"/>
              </a:rPr>
              <a:t>agencies.</a:t>
            </a:r>
            <a:endParaRPr sz="15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53085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964777"/>
          </a:xfrm>
          <a:custGeom>
            <a:avLst/>
            <a:gdLst/>
            <a:ahLst/>
            <a:cxnLst/>
            <a:rect l="l" t="t" r="r" b="b"/>
            <a:pathLst>
              <a:path w="18288000" h="1447165">
                <a:moveTo>
                  <a:pt x="18057333" y="1447047"/>
                </a:moveTo>
                <a:lnTo>
                  <a:pt x="226532" y="1447047"/>
                </a:lnTo>
                <a:lnTo>
                  <a:pt x="178519" y="1444670"/>
                </a:lnTo>
                <a:lnTo>
                  <a:pt x="131319" y="1437627"/>
                </a:lnTo>
                <a:lnTo>
                  <a:pt x="85251" y="1426049"/>
                </a:lnTo>
                <a:lnTo>
                  <a:pt x="40634" y="1410069"/>
                </a:lnTo>
                <a:lnTo>
                  <a:pt x="0" y="1390866"/>
                </a:lnTo>
                <a:lnTo>
                  <a:pt x="0" y="56180"/>
                </a:lnTo>
                <a:lnTo>
                  <a:pt x="40634" y="36977"/>
                </a:lnTo>
                <a:lnTo>
                  <a:pt x="85251" y="20997"/>
                </a:lnTo>
                <a:lnTo>
                  <a:pt x="131319" y="9420"/>
                </a:lnTo>
                <a:lnTo>
                  <a:pt x="178519" y="2377"/>
                </a:lnTo>
                <a:lnTo>
                  <a:pt x="226532" y="0"/>
                </a:lnTo>
                <a:lnTo>
                  <a:pt x="18057333" y="0"/>
                </a:lnTo>
                <a:lnTo>
                  <a:pt x="18105346" y="2377"/>
                </a:lnTo>
                <a:lnTo>
                  <a:pt x="18152545" y="9420"/>
                </a:lnTo>
                <a:lnTo>
                  <a:pt x="18198613" y="20997"/>
                </a:lnTo>
                <a:lnTo>
                  <a:pt x="18243231" y="36977"/>
                </a:lnTo>
                <a:lnTo>
                  <a:pt x="18286080" y="57227"/>
                </a:lnTo>
                <a:lnTo>
                  <a:pt x="18288000" y="58376"/>
                </a:lnTo>
                <a:lnTo>
                  <a:pt x="18288000" y="1388670"/>
                </a:lnTo>
                <a:lnTo>
                  <a:pt x="18243231" y="1410069"/>
                </a:lnTo>
                <a:lnTo>
                  <a:pt x="18198613" y="1426049"/>
                </a:lnTo>
                <a:lnTo>
                  <a:pt x="18152545" y="1437627"/>
                </a:lnTo>
                <a:lnTo>
                  <a:pt x="18105346" y="1444670"/>
                </a:lnTo>
                <a:lnTo>
                  <a:pt x="18057333" y="144704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7200" y="379377"/>
            <a:ext cx="8229600" cy="933522"/>
          </a:xfrm>
          <a:prstGeom prst="rect">
            <a:avLst/>
          </a:prstGeom>
        </p:spPr>
        <p:txBody>
          <a:bodyPr vert="horz" wrap="square" lIns="0" tIns="101534" rIns="0" bIns="0" rtlCol="0">
            <a:spAutoFit/>
          </a:bodyPr>
          <a:lstStyle/>
          <a:p>
            <a:pPr marL="1460094">
              <a:spcBef>
                <a:spcPts val="56"/>
              </a:spcBef>
            </a:pPr>
            <a:r>
              <a:rPr sz="2700" spc="302" dirty="0">
                <a:solidFill>
                  <a:srgbClr val="FFFFFF"/>
                </a:solidFill>
                <a:latin typeface="Arial MT"/>
                <a:cs typeface="Arial MT"/>
              </a:rPr>
              <a:t>Objectives</a:t>
            </a:r>
            <a:r>
              <a:rPr sz="2700" spc="14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291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2700" spc="14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322" dirty="0">
                <a:solidFill>
                  <a:srgbClr val="FFFFFF"/>
                </a:solidFill>
                <a:latin typeface="Arial MT"/>
                <a:cs typeface="Arial MT"/>
              </a:rPr>
              <a:t>Necessity</a:t>
            </a:r>
            <a:r>
              <a:rPr sz="2700" spc="15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28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700" spc="14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325" dirty="0">
                <a:solidFill>
                  <a:srgbClr val="FFFFFF"/>
                </a:solidFill>
                <a:latin typeface="Arial MT"/>
                <a:cs typeface="Arial MT"/>
              </a:rPr>
              <a:t>Accounting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6892" y="186153"/>
            <a:ext cx="425768" cy="591820"/>
          </a:xfrm>
          <a:custGeom>
            <a:avLst/>
            <a:gdLst/>
            <a:ahLst/>
            <a:cxnLst/>
            <a:rect l="l" t="t" r="r" b="b"/>
            <a:pathLst>
              <a:path w="851535" h="887730">
                <a:moveTo>
                  <a:pt x="474436" y="278311"/>
                </a:moveTo>
                <a:lnTo>
                  <a:pt x="376712" y="278311"/>
                </a:lnTo>
                <a:lnTo>
                  <a:pt x="425574" y="0"/>
                </a:lnTo>
                <a:lnTo>
                  <a:pt x="474436" y="278311"/>
                </a:lnTo>
                <a:close/>
              </a:path>
              <a:path w="851535" h="887730">
                <a:moveTo>
                  <a:pt x="557975" y="335315"/>
                </a:moveTo>
                <a:lnTo>
                  <a:pt x="293173" y="335315"/>
                </a:lnTo>
                <a:lnTo>
                  <a:pt x="193872" y="72092"/>
                </a:lnTo>
                <a:lnTo>
                  <a:pt x="376712" y="278311"/>
                </a:lnTo>
                <a:lnTo>
                  <a:pt x="579480" y="278311"/>
                </a:lnTo>
                <a:lnTo>
                  <a:pt x="557975" y="335315"/>
                </a:lnTo>
                <a:close/>
              </a:path>
              <a:path w="851535" h="887730">
                <a:moveTo>
                  <a:pt x="579480" y="278311"/>
                </a:moveTo>
                <a:lnTo>
                  <a:pt x="474436" y="278311"/>
                </a:lnTo>
                <a:lnTo>
                  <a:pt x="657276" y="72092"/>
                </a:lnTo>
                <a:lnTo>
                  <a:pt x="579480" y="278311"/>
                </a:lnTo>
                <a:close/>
              </a:path>
              <a:path w="851535" h="887730">
                <a:moveTo>
                  <a:pt x="100877" y="756136"/>
                </a:moveTo>
                <a:lnTo>
                  <a:pt x="266378" y="534827"/>
                </a:lnTo>
                <a:lnTo>
                  <a:pt x="0" y="523091"/>
                </a:lnTo>
                <a:lnTo>
                  <a:pt x="252192" y="430880"/>
                </a:lnTo>
                <a:lnTo>
                  <a:pt x="34676" y="266575"/>
                </a:lnTo>
                <a:lnTo>
                  <a:pt x="293173" y="335315"/>
                </a:lnTo>
                <a:lnTo>
                  <a:pt x="725471" y="335315"/>
                </a:lnTo>
                <a:lnTo>
                  <a:pt x="598956" y="430880"/>
                </a:lnTo>
                <a:lnTo>
                  <a:pt x="851148" y="523091"/>
                </a:lnTo>
                <a:lnTo>
                  <a:pt x="584770" y="534827"/>
                </a:lnTo>
                <a:lnTo>
                  <a:pt x="643699" y="613627"/>
                </a:lnTo>
                <a:lnTo>
                  <a:pt x="331002" y="613627"/>
                </a:lnTo>
                <a:lnTo>
                  <a:pt x="100877" y="756136"/>
                </a:lnTo>
                <a:close/>
              </a:path>
              <a:path w="851535" h="887730">
                <a:moveTo>
                  <a:pt x="725471" y="335315"/>
                </a:moveTo>
                <a:lnTo>
                  <a:pt x="557975" y="335315"/>
                </a:lnTo>
                <a:lnTo>
                  <a:pt x="816472" y="266575"/>
                </a:lnTo>
                <a:lnTo>
                  <a:pt x="725471" y="335315"/>
                </a:lnTo>
                <a:close/>
              </a:path>
              <a:path w="851535" h="887730">
                <a:moveTo>
                  <a:pt x="308759" y="887721"/>
                </a:moveTo>
                <a:lnTo>
                  <a:pt x="305105" y="887721"/>
                </a:lnTo>
                <a:lnTo>
                  <a:pt x="331002" y="613627"/>
                </a:lnTo>
                <a:lnTo>
                  <a:pt x="520146" y="613627"/>
                </a:lnTo>
                <a:lnTo>
                  <a:pt x="522998" y="643805"/>
                </a:lnTo>
                <a:lnTo>
                  <a:pt x="425574" y="643805"/>
                </a:lnTo>
                <a:lnTo>
                  <a:pt x="308759" y="887721"/>
                </a:lnTo>
                <a:close/>
              </a:path>
              <a:path w="851535" h="887730">
                <a:moveTo>
                  <a:pt x="750272" y="756136"/>
                </a:moveTo>
                <a:lnTo>
                  <a:pt x="520146" y="613627"/>
                </a:lnTo>
                <a:lnTo>
                  <a:pt x="643699" y="613627"/>
                </a:lnTo>
                <a:lnTo>
                  <a:pt x="750272" y="756136"/>
                </a:lnTo>
                <a:close/>
              </a:path>
              <a:path w="851535" h="887730">
                <a:moveTo>
                  <a:pt x="546044" y="887721"/>
                </a:moveTo>
                <a:lnTo>
                  <a:pt x="542390" y="887721"/>
                </a:lnTo>
                <a:lnTo>
                  <a:pt x="425574" y="643805"/>
                </a:lnTo>
                <a:lnTo>
                  <a:pt x="522998" y="643805"/>
                </a:lnTo>
                <a:lnTo>
                  <a:pt x="546044" y="8877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1844751"/>
            <a:ext cx="71438" cy="952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9325399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578100" indent="84988">
              <a:lnSpc>
                <a:spcPct val="117300"/>
              </a:lnSpc>
              <a:spcBef>
                <a:spcPts val="53"/>
              </a:spcBef>
            </a:pPr>
            <a:r>
              <a:rPr spc="45" dirty="0"/>
              <a:t>Maintain</a:t>
            </a:r>
            <a:r>
              <a:rPr spc="-87" dirty="0"/>
              <a:t> </a:t>
            </a:r>
            <a:r>
              <a:rPr spc="48" dirty="0"/>
              <a:t>the</a:t>
            </a:r>
            <a:r>
              <a:rPr spc="-84" dirty="0"/>
              <a:t> </a:t>
            </a:r>
            <a:r>
              <a:rPr spc="81" dirty="0"/>
              <a:t>permanent</a:t>
            </a:r>
            <a:r>
              <a:rPr spc="-84" dirty="0"/>
              <a:t> </a:t>
            </a:r>
            <a:r>
              <a:rPr spc="50" dirty="0"/>
              <a:t>record</a:t>
            </a:r>
            <a:r>
              <a:rPr spc="-87" dirty="0"/>
              <a:t> </a:t>
            </a:r>
            <a:r>
              <a:rPr dirty="0"/>
              <a:t>of</a:t>
            </a:r>
            <a:r>
              <a:rPr spc="-84" dirty="0"/>
              <a:t> </a:t>
            </a:r>
            <a:r>
              <a:rPr spc="31" dirty="0"/>
              <a:t>business</a:t>
            </a:r>
            <a:r>
              <a:rPr spc="-84" dirty="0"/>
              <a:t> </a:t>
            </a:r>
            <a:r>
              <a:rPr spc="25" dirty="0"/>
              <a:t>transactions. </a:t>
            </a:r>
            <a:r>
              <a:rPr spc="42" dirty="0"/>
              <a:t>Ascertain</a:t>
            </a:r>
            <a:r>
              <a:rPr spc="-95" dirty="0"/>
              <a:t> </a:t>
            </a:r>
            <a:r>
              <a:rPr spc="48" dirty="0"/>
              <a:t>the</a:t>
            </a:r>
            <a:r>
              <a:rPr spc="-95" dirty="0"/>
              <a:t> </a:t>
            </a:r>
            <a:r>
              <a:rPr spc="48" dirty="0"/>
              <a:t>net</a:t>
            </a:r>
            <a:r>
              <a:rPr spc="-95" dirty="0"/>
              <a:t> </a:t>
            </a:r>
            <a:r>
              <a:rPr spc="-11" dirty="0"/>
              <a:t>profit</a:t>
            </a:r>
            <a:r>
              <a:rPr spc="-95" dirty="0"/>
              <a:t> </a:t>
            </a:r>
            <a:r>
              <a:rPr dirty="0"/>
              <a:t>or</a:t>
            </a:r>
            <a:r>
              <a:rPr spc="-95" dirty="0"/>
              <a:t> </a:t>
            </a:r>
            <a:r>
              <a:rPr dirty="0"/>
              <a:t>loss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48" dirty="0"/>
              <a:t>the</a:t>
            </a:r>
            <a:r>
              <a:rPr spc="-95" dirty="0"/>
              <a:t> </a:t>
            </a:r>
            <a:r>
              <a:rPr spc="28" dirty="0"/>
              <a:t>enterprise</a:t>
            </a:r>
            <a:r>
              <a:rPr spc="-92" dirty="0"/>
              <a:t> </a:t>
            </a:r>
            <a:r>
              <a:rPr spc="-22" dirty="0"/>
              <a:t>for</a:t>
            </a:r>
            <a:r>
              <a:rPr spc="-95" dirty="0"/>
              <a:t> </a:t>
            </a:r>
            <a:r>
              <a:rPr spc="34" dirty="0"/>
              <a:t>the </a:t>
            </a:r>
            <a:r>
              <a:rPr spc="73" dirty="0"/>
              <a:t>accounting</a:t>
            </a:r>
            <a:r>
              <a:rPr spc="-67" dirty="0"/>
              <a:t> </a:t>
            </a:r>
            <a:r>
              <a:rPr spc="-6" dirty="0"/>
              <a:t>period.</a:t>
            </a:r>
          </a:p>
          <a:p>
            <a:pPr marL="92100" marR="2845">
              <a:lnSpc>
                <a:spcPct val="117300"/>
              </a:lnSpc>
            </a:pPr>
            <a:r>
              <a:rPr spc="36" dirty="0"/>
              <a:t>Determine</a:t>
            </a:r>
            <a:r>
              <a:rPr spc="-84" dirty="0"/>
              <a:t> </a:t>
            </a:r>
            <a:r>
              <a:rPr spc="48" dirty="0"/>
              <a:t>the</a:t>
            </a:r>
            <a:r>
              <a:rPr spc="-84" dirty="0"/>
              <a:t> </a:t>
            </a:r>
            <a:r>
              <a:rPr spc="76" dirty="0"/>
              <a:t>value</a:t>
            </a:r>
            <a:r>
              <a:rPr spc="-84" dirty="0"/>
              <a:t> </a:t>
            </a:r>
            <a:r>
              <a:rPr dirty="0"/>
              <a:t>of</a:t>
            </a:r>
            <a:r>
              <a:rPr spc="-84" dirty="0"/>
              <a:t> </a:t>
            </a:r>
            <a:r>
              <a:rPr spc="31" dirty="0"/>
              <a:t>business</a:t>
            </a:r>
            <a:r>
              <a:rPr spc="-81" dirty="0"/>
              <a:t> </a:t>
            </a:r>
            <a:r>
              <a:rPr spc="62" dirty="0"/>
              <a:t>assets</a:t>
            </a:r>
            <a:r>
              <a:rPr spc="-84" dirty="0"/>
              <a:t> </a:t>
            </a:r>
            <a:r>
              <a:rPr spc="120" dirty="0"/>
              <a:t>and</a:t>
            </a:r>
            <a:r>
              <a:rPr spc="-84" dirty="0"/>
              <a:t> </a:t>
            </a:r>
            <a:r>
              <a:rPr dirty="0"/>
              <a:t>liabilities</a:t>
            </a:r>
            <a:r>
              <a:rPr spc="-84" dirty="0"/>
              <a:t> </a:t>
            </a:r>
            <a:r>
              <a:rPr dirty="0"/>
              <a:t>of</a:t>
            </a:r>
            <a:r>
              <a:rPr spc="-81" dirty="0"/>
              <a:t> </a:t>
            </a:r>
            <a:r>
              <a:rPr spc="48" dirty="0"/>
              <a:t>the</a:t>
            </a:r>
            <a:r>
              <a:rPr spc="-84" dirty="0"/>
              <a:t> </a:t>
            </a:r>
            <a:r>
              <a:rPr dirty="0"/>
              <a:t>enterprise.</a:t>
            </a:r>
            <a:r>
              <a:rPr spc="-84" dirty="0"/>
              <a:t> </a:t>
            </a:r>
            <a:r>
              <a:rPr spc="-6" dirty="0"/>
              <a:t>Disclose </a:t>
            </a:r>
            <a:r>
              <a:rPr spc="48" dirty="0"/>
              <a:t>the</a:t>
            </a:r>
            <a:r>
              <a:rPr spc="-84" dirty="0"/>
              <a:t> </a:t>
            </a:r>
            <a:r>
              <a:rPr spc="42" dirty="0"/>
              <a:t>financial</a:t>
            </a:r>
            <a:r>
              <a:rPr spc="-84" dirty="0"/>
              <a:t> </a:t>
            </a:r>
            <a:r>
              <a:rPr dirty="0"/>
              <a:t>position</a:t>
            </a:r>
            <a:r>
              <a:rPr spc="-84" dirty="0"/>
              <a:t> </a:t>
            </a:r>
            <a:r>
              <a:rPr dirty="0"/>
              <a:t>of</a:t>
            </a:r>
            <a:r>
              <a:rPr spc="-84" dirty="0"/>
              <a:t> </a:t>
            </a:r>
            <a:r>
              <a:rPr spc="48" dirty="0"/>
              <a:t>the</a:t>
            </a:r>
            <a:r>
              <a:rPr spc="-84" dirty="0"/>
              <a:t> </a:t>
            </a:r>
            <a:r>
              <a:rPr spc="28" dirty="0"/>
              <a:t>enterprise</a:t>
            </a:r>
            <a:r>
              <a:rPr spc="-84" dirty="0"/>
              <a:t> </a:t>
            </a:r>
            <a:r>
              <a:rPr dirty="0"/>
              <a:t>in</a:t>
            </a:r>
            <a:r>
              <a:rPr spc="-84" dirty="0"/>
              <a:t> </a:t>
            </a:r>
            <a:r>
              <a:rPr spc="48" dirty="0"/>
              <a:t>the</a:t>
            </a:r>
            <a:r>
              <a:rPr spc="-84" dirty="0"/>
              <a:t> </a:t>
            </a:r>
            <a:r>
              <a:rPr spc="112" dirty="0"/>
              <a:t>Balance</a:t>
            </a:r>
            <a:r>
              <a:rPr spc="-84" dirty="0"/>
              <a:t> </a:t>
            </a:r>
            <a:r>
              <a:rPr spc="70" dirty="0"/>
              <a:t>Sheet</a:t>
            </a:r>
            <a:r>
              <a:rPr spc="-84" dirty="0"/>
              <a:t> </a:t>
            </a:r>
            <a:r>
              <a:rPr spc="34" dirty="0"/>
              <a:t>date.</a:t>
            </a:r>
          </a:p>
          <a:p>
            <a:pPr marL="92100">
              <a:spcBef>
                <a:spcPts val="378"/>
              </a:spcBef>
            </a:pPr>
            <a:r>
              <a:rPr spc="48" dirty="0"/>
              <a:t>Cost</a:t>
            </a:r>
            <a:r>
              <a:rPr spc="-87" dirty="0"/>
              <a:t> </a:t>
            </a:r>
            <a:r>
              <a:rPr spc="-6" dirty="0"/>
              <a:t>control</a:t>
            </a:r>
          </a:p>
          <a:p>
            <a:pPr marL="92100" marR="1598066">
              <a:lnSpc>
                <a:spcPct val="117300"/>
              </a:lnSpc>
            </a:pPr>
            <a:r>
              <a:rPr spc="53" dirty="0"/>
              <a:t>Give</a:t>
            </a:r>
            <a:r>
              <a:rPr spc="-45" dirty="0"/>
              <a:t> </a:t>
            </a:r>
            <a:r>
              <a:rPr spc="78" dirty="0"/>
              <a:t>necessary</a:t>
            </a:r>
            <a:r>
              <a:rPr spc="-42" dirty="0"/>
              <a:t> </a:t>
            </a:r>
            <a:r>
              <a:rPr dirty="0"/>
              <a:t>information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42" dirty="0"/>
              <a:t> </a:t>
            </a:r>
            <a:r>
              <a:rPr spc="123" dirty="0"/>
              <a:t>management</a:t>
            </a:r>
            <a:r>
              <a:rPr spc="-45" dirty="0"/>
              <a:t> </a:t>
            </a:r>
            <a:r>
              <a:rPr spc="-22" dirty="0"/>
              <a:t>for</a:t>
            </a:r>
            <a:r>
              <a:rPr spc="-42" dirty="0"/>
              <a:t> </a:t>
            </a:r>
            <a:r>
              <a:rPr spc="39" dirty="0"/>
              <a:t>decision</a:t>
            </a:r>
            <a:r>
              <a:rPr spc="-42" dirty="0"/>
              <a:t> </a:t>
            </a:r>
            <a:r>
              <a:rPr spc="-6" dirty="0"/>
              <a:t>making. </a:t>
            </a:r>
            <a:r>
              <a:rPr dirty="0"/>
              <a:t>Delivery</a:t>
            </a:r>
            <a:r>
              <a:rPr spc="-11" dirty="0"/>
              <a:t> </a:t>
            </a:r>
            <a:r>
              <a:rPr dirty="0"/>
              <a:t>information</a:t>
            </a:r>
            <a:r>
              <a:rPr spc="-8" dirty="0"/>
              <a:t> </a:t>
            </a:r>
            <a:r>
              <a:rPr dirty="0"/>
              <a:t>to</a:t>
            </a:r>
            <a:r>
              <a:rPr spc="-11" dirty="0"/>
              <a:t> </a:t>
            </a:r>
            <a:r>
              <a:rPr spc="36" dirty="0"/>
              <a:t>various</a:t>
            </a:r>
            <a:r>
              <a:rPr spc="-8" dirty="0"/>
              <a:t> </a:t>
            </a:r>
            <a:r>
              <a:rPr dirty="0"/>
              <a:t>users</a:t>
            </a:r>
            <a:r>
              <a:rPr spc="-11" dirty="0"/>
              <a:t> </a:t>
            </a:r>
            <a:r>
              <a:rPr dirty="0"/>
              <a:t>in</a:t>
            </a:r>
            <a:r>
              <a:rPr spc="-8" dirty="0"/>
              <a:t> </a:t>
            </a:r>
            <a:r>
              <a:rPr dirty="0"/>
              <a:t>useful</a:t>
            </a:r>
            <a:r>
              <a:rPr spc="-11" dirty="0"/>
              <a:t> </a:t>
            </a:r>
            <a:r>
              <a:rPr spc="-6" dirty="0"/>
              <a:t>format.</a:t>
            </a:r>
          </a:p>
          <a:p>
            <a:pPr marL="92100">
              <a:spcBef>
                <a:spcPts val="378"/>
              </a:spcBef>
            </a:pPr>
            <a:r>
              <a:rPr dirty="0"/>
              <a:t>Help</a:t>
            </a:r>
            <a:r>
              <a:rPr spc="-62" dirty="0"/>
              <a:t> </a:t>
            </a:r>
            <a:r>
              <a:rPr dirty="0"/>
              <a:t>to</a:t>
            </a:r>
            <a:r>
              <a:rPr spc="-62" dirty="0"/>
              <a:t> </a:t>
            </a:r>
            <a:r>
              <a:rPr spc="101" dirty="0"/>
              <a:t>make</a:t>
            </a:r>
            <a:r>
              <a:rPr spc="-62" dirty="0"/>
              <a:t> </a:t>
            </a:r>
            <a:r>
              <a:rPr spc="229" dirty="0"/>
              <a:t>a</a:t>
            </a:r>
            <a:r>
              <a:rPr spc="-59" dirty="0"/>
              <a:t> </a:t>
            </a:r>
            <a:r>
              <a:rPr dirty="0"/>
              <a:t>future</a:t>
            </a:r>
            <a:r>
              <a:rPr spc="-62" dirty="0"/>
              <a:t> </a:t>
            </a:r>
            <a:r>
              <a:rPr spc="59" dirty="0"/>
              <a:t>plan</a:t>
            </a:r>
          </a:p>
          <a:p>
            <a:pPr marL="92100">
              <a:spcBef>
                <a:spcPts val="378"/>
              </a:spcBef>
            </a:pPr>
            <a:r>
              <a:rPr spc="36" dirty="0"/>
              <a:t>Determine</a:t>
            </a:r>
            <a:r>
              <a:rPr spc="-78" dirty="0"/>
              <a:t> </a:t>
            </a:r>
            <a:r>
              <a:rPr spc="78" dirty="0"/>
              <a:t>income</a:t>
            </a:r>
            <a:r>
              <a:rPr spc="-78" dirty="0"/>
              <a:t> </a:t>
            </a:r>
            <a:r>
              <a:rPr spc="-64" dirty="0"/>
              <a:t>tax,</a:t>
            </a:r>
            <a:r>
              <a:rPr spc="-78" dirty="0"/>
              <a:t> </a:t>
            </a:r>
            <a:r>
              <a:rPr spc="59" dirty="0"/>
              <a:t>sales</a:t>
            </a:r>
            <a:r>
              <a:rPr spc="-78" dirty="0"/>
              <a:t> </a:t>
            </a:r>
            <a:r>
              <a:rPr spc="-64" dirty="0"/>
              <a:t>tax,</a:t>
            </a:r>
            <a:r>
              <a:rPr spc="-78" dirty="0"/>
              <a:t> </a:t>
            </a:r>
            <a:r>
              <a:rPr spc="-48" dirty="0"/>
              <a:t>VAT</a:t>
            </a:r>
            <a:r>
              <a:rPr spc="-78" dirty="0"/>
              <a:t> </a:t>
            </a:r>
            <a:r>
              <a:rPr spc="-11" dirty="0"/>
              <a:t>etc.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2232101"/>
            <a:ext cx="71438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3006801"/>
            <a:ext cx="71438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3781500"/>
            <a:ext cx="71438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4168850"/>
            <a:ext cx="71438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4556200"/>
            <a:ext cx="71438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4943550"/>
            <a:ext cx="71438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08" y="5330900"/>
            <a:ext cx="71438" cy="9524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0" y="1228347"/>
            <a:ext cx="281940" cy="5214620"/>
          </a:xfrm>
          <a:custGeom>
            <a:avLst/>
            <a:gdLst/>
            <a:ahLst/>
            <a:cxnLst/>
            <a:rect l="l" t="t" r="r" b="b"/>
            <a:pathLst>
              <a:path w="563880" h="7821930">
                <a:moveTo>
                  <a:pt x="325466" y="7821386"/>
                </a:moveTo>
                <a:lnTo>
                  <a:pt x="0" y="7821386"/>
                </a:lnTo>
                <a:lnTo>
                  <a:pt x="0" y="0"/>
                </a:lnTo>
                <a:lnTo>
                  <a:pt x="325466" y="0"/>
                </a:lnTo>
                <a:lnTo>
                  <a:pt x="372139" y="4617"/>
                </a:lnTo>
                <a:lnTo>
                  <a:pt x="416592" y="18126"/>
                </a:lnTo>
                <a:lnTo>
                  <a:pt x="457578" y="40007"/>
                </a:lnTo>
                <a:lnTo>
                  <a:pt x="493846" y="69745"/>
                </a:lnTo>
                <a:lnTo>
                  <a:pt x="523583" y="106013"/>
                </a:lnTo>
                <a:lnTo>
                  <a:pt x="545465" y="146998"/>
                </a:lnTo>
                <a:lnTo>
                  <a:pt x="558973" y="191452"/>
                </a:lnTo>
                <a:lnTo>
                  <a:pt x="563591" y="238124"/>
                </a:lnTo>
                <a:lnTo>
                  <a:pt x="563591" y="7583261"/>
                </a:lnTo>
                <a:lnTo>
                  <a:pt x="558973" y="7629934"/>
                </a:lnTo>
                <a:lnTo>
                  <a:pt x="545465" y="7674387"/>
                </a:lnTo>
                <a:lnTo>
                  <a:pt x="523583" y="7715373"/>
                </a:lnTo>
                <a:lnTo>
                  <a:pt x="493846" y="7751640"/>
                </a:lnTo>
                <a:lnTo>
                  <a:pt x="457578" y="7781378"/>
                </a:lnTo>
                <a:lnTo>
                  <a:pt x="416592" y="7803260"/>
                </a:lnTo>
                <a:lnTo>
                  <a:pt x="372139" y="7816768"/>
                </a:lnTo>
                <a:lnTo>
                  <a:pt x="325466" y="782138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021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00947"/>
          </a:xfrm>
          <a:custGeom>
            <a:avLst/>
            <a:gdLst/>
            <a:ahLst/>
            <a:cxnLst/>
            <a:rect l="l" t="t" r="r" b="b"/>
            <a:pathLst>
              <a:path w="18288000" h="1201420">
                <a:moveTo>
                  <a:pt x="18057332" y="1200813"/>
                </a:moveTo>
                <a:lnTo>
                  <a:pt x="226532" y="1200813"/>
                </a:lnTo>
                <a:lnTo>
                  <a:pt x="178519" y="1198436"/>
                </a:lnTo>
                <a:lnTo>
                  <a:pt x="131319" y="1191393"/>
                </a:lnTo>
                <a:lnTo>
                  <a:pt x="85251" y="1179815"/>
                </a:lnTo>
                <a:lnTo>
                  <a:pt x="40634" y="1163835"/>
                </a:lnTo>
                <a:lnTo>
                  <a:pt x="0" y="1144632"/>
                </a:lnTo>
                <a:lnTo>
                  <a:pt x="0" y="56180"/>
                </a:lnTo>
                <a:lnTo>
                  <a:pt x="40634" y="36977"/>
                </a:lnTo>
                <a:lnTo>
                  <a:pt x="85251" y="20997"/>
                </a:lnTo>
                <a:lnTo>
                  <a:pt x="131319" y="9420"/>
                </a:lnTo>
                <a:lnTo>
                  <a:pt x="178519" y="2377"/>
                </a:lnTo>
                <a:lnTo>
                  <a:pt x="226532" y="0"/>
                </a:lnTo>
                <a:lnTo>
                  <a:pt x="18057332" y="0"/>
                </a:lnTo>
                <a:lnTo>
                  <a:pt x="18105345" y="2377"/>
                </a:lnTo>
                <a:lnTo>
                  <a:pt x="18152545" y="9420"/>
                </a:lnTo>
                <a:lnTo>
                  <a:pt x="18198613" y="20997"/>
                </a:lnTo>
                <a:lnTo>
                  <a:pt x="18243231" y="36977"/>
                </a:lnTo>
                <a:lnTo>
                  <a:pt x="18286080" y="57227"/>
                </a:lnTo>
                <a:lnTo>
                  <a:pt x="18288000" y="1142436"/>
                </a:lnTo>
                <a:lnTo>
                  <a:pt x="18286080" y="1143585"/>
                </a:lnTo>
                <a:lnTo>
                  <a:pt x="18243231" y="1163835"/>
                </a:lnTo>
                <a:lnTo>
                  <a:pt x="18198613" y="1179815"/>
                </a:lnTo>
                <a:lnTo>
                  <a:pt x="18152545" y="1191393"/>
                </a:lnTo>
                <a:lnTo>
                  <a:pt x="18105345" y="1198436"/>
                </a:lnTo>
                <a:lnTo>
                  <a:pt x="18057332" y="1200813"/>
                </a:lnTo>
                <a:close/>
              </a:path>
            </a:pathLst>
          </a:custGeom>
          <a:solidFill>
            <a:srgbClr val="CB6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7200" y="411693"/>
            <a:ext cx="8229600" cy="868889"/>
          </a:xfrm>
          <a:prstGeom prst="rect">
            <a:avLst/>
          </a:prstGeom>
        </p:spPr>
        <p:txBody>
          <a:bodyPr vert="horz" wrap="square" lIns="0" tIns="37526" rIns="0" bIns="0" rtlCol="0">
            <a:spAutoFit/>
          </a:bodyPr>
          <a:lstStyle/>
          <a:p>
            <a:pPr marL="1649273">
              <a:spcBef>
                <a:spcPts val="56"/>
              </a:spcBef>
            </a:pPr>
            <a:r>
              <a:rPr sz="2700" spc="260" dirty="0">
                <a:solidFill>
                  <a:srgbClr val="FFFFFF"/>
                </a:solidFill>
                <a:latin typeface="Arial MT"/>
                <a:cs typeface="Arial MT"/>
              </a:rPr>
              <a:t>Origin</a:t>
            </a:r>
            <a:r>
              <a:rPr sz="2700" spc="1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28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700" spc="1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285" dirty="0">
                <a:solidFill>
                  <a:srgbClr val="FFFFFF"/>
                </a:solidFill>
                <a:latin typeface="Arial MT"/>
                <a:cs typeface="Arial MT"/>
              </a:rPr>
              <a:t>Evaluation</a:t>
            </a:r>
            <a:r>
              <a:rPr sz="2700" spc="15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28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700" spc="1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325" dirty="0">
                <a:solidFill>
                  <a:srgbClr val="FFFFFF"/>
                </a:solidFill>
                <a:latin typeface="Arial MT"/>
                <a:cs typeface="Arial MT"/>
              </a:rPr>
              <a:t>Accounting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9532" y="104075"/>
            <a:ext cx="535305" cy="592667"/>
          </a:xfrm>
          <a:custGeom>
            <a:avLst/>
            <a:gdLst/>
            <a:ahLst/>
            <a:cxnLst/>
            <a:rect l="l" t="t" r="r" b="b"/>
            <a:pathLst>
              <a:path w="1070610" h="889000">
                <a:moveTo>
                  <a:pt x="596439" y="278311"/>
                </a:moveTo>
                <a:lnTo>
                  <a:pt x="473584" y="278311"/>
                </a:lnTo>
                <a:lnTo>
                  <a:pt x="535011" y="0"/>
                </a:lnTo>
                <a:lnTo>
                  <a:pt x="596439" y="278311"/>
                </a:lnTo>
                <a:close/>
              </a:path>
              <a:path w="1070610" h="889000">
                <a:moveTo>
                  <a:pt x="701460" y="335315"/>
                </a:moveTo>
                <a:lnTo>
                  <a:pt x="368563" y="335315"/>
                </a:lnTo>
                <a:lnTo>
                  <a:pt x="243727" y="72092"/>
                </a:lnTo>
                <a:lnTo>
                  <a:pt x="473584" y="278311"/>
                </a:lnTo>
                <a:lnTo>
                  <a:pt x="728494" y="278311"/>
                </a:lnTo>
                <a:lnTo>
                  <a:pt x="701460" y="335315"/>
                </a:lnTo>
                <a:close/>
              </a:path>
              <a:path w="1070610" h="889000">
                <a:moveTo>
                  <a:pt x="728494" y="278311"/>
                </a:moveTo>
                <a:lnTo>
                  <a:pt x="596439" y="278311"/>
                </a:lnTo>
                <a:lnTo>
                  <a:pt x="826296" y="72092"/>
                </a:lnTo>
                <a:lnTo>
                  <a:pt x="728494" y="278311"/>
                </a:lnTo>
                <a:close/>
              </a:path>
              <a:path w="1070610" h="889000">
                <a:moveTo>
                  <a:pt x="126817" y="756136"/>
                </a:moveTo>
                <a:lnTo>
                  <a:pt x="334877" y="534828"/>
                </a:lnTo>
                <a:lnTo>
                  <a:pt x="0" y="523092"/>
                </a:lnTo>
                <a:lnTo>
                  <a:pt x="317044" y="430880"/>
                </a:lnTo>
                <a:lnTo>
                  <a:pt x="43593" y="266575"/>
                </a:lnTo>
                <a:lnTo>
                  <a:pt x="368563" y="335315"/>
                </a:lnTo>
                <a:lnTo>
                  <a:pt x="912027" y="335315"/>
                </a:lnTo>
                <a:lnTo>
                  <a:pt x="752979" y="430880"/>
                </a:lnTo>
                <a:lnTo>
                  <a:pt x="1069079" y="522817"/>
                </a:lnTo>
                <a:lnTo>
                  <a:pt x="1069079" y="523092"/>
                </a:lnTo>
                <a:lnTo>
                  <a:pt x="1070023" y="523092"/>
                </a:lnTo>
                <a:lnTo>
                  <a:pt x="735145" y="534828"/>
                </a:lnTo>
                <a:lnTo>
                  <a:pt x="809227" y="613627"/>
                </a:lnTo>
                <a:lnTo>
                  <a:pt x="416120" y="613627"/>
                </a:lnTo>
                <a:lnTo>
                  <a:pt x="126817" y="756136"/>
                </a:lnTo>
                <a:close/>
              </a:path>
              <a:path w="1070610" h="889000">
                <a:moveTo>
                  <a:pt x="912027" y="335315"/>
                </a:moveTo>
                <a:lnTo>
                  <a:pt x="701460" y="335315"/>
                </a:lnTo>
                <a:lnTo>
                  <a:pt x="1026430" y="266575"/>
                </a:lnTo>
                <a:lnTo>
                  <a:pt x="912027" y="335315"/>
                </a:lnTo>
                <a:close/>
              </a:path>
              <a:path w="1070610" h="889000">
                <a:moveTo>
                  <a:pt x="387636" y="888585"/>
                </a:moveTo>
                <a:lnTo>
                  <a:pt x="383460" y="888585"/>
                </a:lnTo>
                <a:lnTo>
                  <a:pt x="416120" y="613627"/>
                </a:lnTo>
                <a:lnTo>
                  <a:pt x="653903" y="613627"/>
                </a:lnTo>
                <a:lnTo>
                  <a:pt x="657487" y="643805"/>
                </a:lnTo>
                <a:lnTo>
                  <a:pt x="535011" y="643805"/>
                </a:lnTo>
                <a:lnTo>
                  <a:pt x="387636" y="888585"/>
                </a:lnTo>
                <a:close/>
              </a:path>
              <a:path w="1070610" h="889000">
                <a:moveTo>
                  <a:pt x="943206" y="756136"/>
                </a:moveTo>
                <a:lnTo>
                  <a:pt x="653903" y="613627"/>
                </a:lnTo>
                <a:lnTo>
                  <a:pt x="809227" y="613627"/>
                </a:lnTo>
                <a:lnTo>
                  <a:pt x="943206" y="756136"/>
                </a:lnTo>
                <a:close/>
              </a:path>
              <a:path w="1070610" h="889000">
                <a:moveTo>
                  <a:pt x="686562" y="888585"/>
                </a:moveTo>
                <a:lnTo>
                  <a:pt x="682386" y="888585"/>
                </a:lnTo>
                <a:lnTo>
                  <a:pt x="535011" y="643805"/>
                </a:lnTo>
                <a:lnTo>
                  <a:pt x="657487" y="643805"/>
                </a:lnTo>
                <a:lnTo>
                  <a:pt x="686562" y="888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1783" y="885501"/>
            <a:ext cx="8392160" cy="5108065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166065">
              <a:lnSpc>
                <a:spcPct val="114900"/>
              </a:lnSpc>
              <a:spcBef>
                <a:spcPts val="56"/>
              </a:spcBef>
            </a:pPr>
            <a:r>
              <a:rPr dirty="0">
                <a:latin typeface="Lucida Sans Unicode"/>
                <a:cs typeface="Lucida Sans Unicode"/>
              </a:rPr>
              <a:t>The</a:t>
            </a:r>
            <a:r>
              <a:rPr spc="-92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origin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of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accounting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104" dirty="0">
                <a:latin typeface="Lucida Sans Unicode"/>
                <a:cs typeface="Lucida Sans Unicode"/>
              </a:rPr>
              <a:t>began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in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146" dirty="0">
                <a:latin typeface="Lucida Sans Unicode"/>
                <a:cs typeface="Lucida Sans Unicode"/>
              </a:rPr>
              <a:t>15th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century.</a:t>
            </a:r>
            <a:r>
              <a:rPr spc="-92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An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28" dirty="0">
                <a:latin typeface="Lucida Sans Unicode"/>
                <a:cs typeface="Lucida Sans Unicode"/>
              </a:rPr>
              <a:t>Italian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14" dirty="0">
                <a:latin typeface="Lucida Sans Unicode"/>
                <a:cs typeface="Lucida Sans Unicode"/>
              </a:rPr>
              <a:t>monk,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56" dirty="0">
                <a:latin typeface="Lucida Sans Unicode"/>
                <a:cs typeface="Lucida Sans Unicode"/>
              </a:rPr>
              <a:t>Luca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Pacioli, </a:t>
            </a:r>
            <a:r>
              <a:rPr spc="-11" dirty="0">
                <a:latin typeface="Lucida Sans Unicode"/>
                <a:cs typeface="Lucida Sans Unicode"/>
              </a:rPr>
              <a:t>is</a:t>
            </a:r>
            <a:r>
              <a:rPr spc="-104" dirty="0">
                <a:latin typeface="Lucida Sans Unicode"/>
                <a:cs typeface="Lucida Sans Unicode"/>
              </a:rPr>
              <a:t> </a:t>
            </a:r>
            <a:r>
              <a:rPr spc="67" dirty="0">
                <a:latin typeface="Lucida Sans Unicode"/>
                <a:cs typeface="Lucida Sans Unicode"/>
              </a:rPr>
              <a:t>regarded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118" dirty="0">
                <a:latin typeface="Lucida Sans Unicode"/>
                <a:cs typeface="Lucida Sans Unicode"/>
              </a:rPr>
              <a:t>as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31" dirty="0">
                <a:latin typeface="Lucida Sans Unicode"/>
                <a:cs typeface="Lucida Sans Unicode"/>
              </a:rPr>
              <a:t>father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of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accounting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for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his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involvement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in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101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origin</a:t>
            </a:r>
            <a:r>
              <a:rPr spc="-104" dirty="0">
                <a:latin typeface="Lucida Sans Unicode"/>
                <a:cs typeface="Lucida Sans Unicode"/>
              </a:rPr>
              <a:t> </a:t>
            </a:r>
            <a:r>
              <a:rPr spc="-14" dirty="0">
                <a:latin typeface="Lucida Sans Unicode"/>
                <a:cs typeface="Lucida Sans Unicode"/>
              </a:rPr>
              <a:t>of </a:t>
            </a:r>
            <a:r>
              <a:rPr spc="42" dirty="0">
                <a:latin typeface="Lucida Sans Unicode"/>
                <a:cs typeface="Lucida Sans Unicode"/>
              </a:rPr>
              <a:t>accounting.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He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67" dirty="0">
                <a:latin typeface="Lucida Sans Unicode"/>
                <a:cs typeface="Lucida Sans Unicode"/>
              </a:rPr>
              <a:t>recreated</a:t>
            </a:r>
            <a:r>
              <a:rPr spc="-73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101" dirty="0">
                <a:latin typeface="Lucida Sans Unicode"/>
                <a:cs typeface="Lucida Sans Unicode"/>
              </a:rPr>
              <a:t>common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accounting</a:t>
            </a:r>
            <a:r>
              <a:rPr spc="-73" dirty="0">
                <a:latin typeface="Lucida Sans Unicode"/>
                <a:cs typeface="Lucida Sans Unicode"/>
              </a:rPr>
              <a:t> </a:t>
            </a:r>
            <a:r>
              <a:rPr spc="56" dirty="0">
                <a:latin typeface="Lucida Sans Unicode"/>
                <a:cs typeface="Lucida Sans Unicode"/>
              </a:rPr>
              <a:t>system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109" dirty="0">
                <a:latin typeface="Lucida Sans Unicode"/>
                <a:cs typeface="Lucida Sans Unicode"/>
              </a:rPr>
              <a:t>and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developed</a:t>
            </a:r>
            <a:r>
              <a:rPr spc="-73" dirty="0">
                <a:latin typeface="Lucida Sans Unicode"/>
                <a:cs typeface="Lucida Sans Unicode"/>
              </a:rPr>
              <a:t> </a:t>
            </a:r>
            <a:r>
              <a:rPr spc="25" dirty="0">
                <a:latin typeface="Lucida Sans Unicode"/>
                <a:cs typeface="Lucida Sans Unicode"/>
              </a:rPr>
              <a:t>the </a:t>
            </a:r>
            <a:r>
              <a:rPr dirty="0">
                <a:latin typeface="Lucida Sans Unicode"/>
                <a:cs typeface="Lucida Sans Unicode"/>
              </a:rPr>
              <a:t>structure</a:t>
            </a:r>
            <a:r>
              <a:rPr spc="-42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for</a:t>
            </a:r>
            <a:r>
              <a:rPr spc="-39" dirty="0">
                <a:latin typeface="Lucida Sans Unicode"/>
                <a:cs typeface="Lucida Sans Unicode"/>
              </a:rPr>
              <a:t> </a:t>
            </a:r>
            <a:r>
              <a:rPr spc="59" dirty="0">
                <a:latin typeface="Lucida Sans Unicode"/>
                <a:cs typeface="Lucida Sans Unicode"/>
              </a:rPr>
              <a:t>modern</a:t>
            </a:r>
            <a:r>
              <a:rPr spc="-39" dirty="0">
                <a:latin typeface="Lucida Sans Unicode"/>
                <a:cs typeface="Lucida Sans Unicode"/>
              </a:rPr>
              <a:t> </a:t>
            </a:r>
            <a:r>
              <a:rPr spc="36" dirty="0">
                <a:latin typeface="Lucida Sans Unicode"/>
                <a:cs typeface="Lucida Sans Unicode"/>
              </a:rPr>
              <a:t>accounting.</a:t>
            </a:r>
            <a:endParaRPr>
              <a:latin typeface="Lucida Sans Unicode"/>
              <a:cs typeface="Lucida Sans Unicode"/>
            </a:endParaRPr>
          </a:p>
          <a:p>
            <a:pPr marL="7112" marR="2845">
              <a:lnSpc>
                <a:spcPct val="114900"/>
              </a:lnSpc>
              <a:spcBef>
                <a:spcPts val="2509"/>
              </a:spcBef>
            </a:pPr>
            <a:r>
              <a:rPr spc="31" dirty="0">
                <a:latin typeface="Lucida Sans Unicode"/>
                <a:cs typeface="Lucida Sans Unicode"/>
              </a:rPr>
              <a:t>Pacioli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invented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28" dirty="0">
                <a:latin typeface="Lucida Sans Unicode"/>
                <a:cs typeface="Lucida Sans Unicode"/>
              </a:rPr>
              <a:t>double-</a:t>
            </a:r>
            <a:r>
              <a:rPr dirty="0">
                <a:latin typeface="Lucida Sans Unicode"/>
                <a:cs typeface="Lucida Sans Unicode"/>
              </a:rPr>
              <a:t>entry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accounting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system,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109" dirty="0">
                <a:latin typeface="Lucida Sans Unicode"/>
                <a:cs typeface="Lucida Sans Unicode"/>
              </a:rPr>
              <a:t>and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in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-168" dirty="0">
                <a:latin typeface="Lucida Sans Unicode"/>
                <a:cs typeface="Lucida Sans Unicode"/>
              </a:rPr>
              <a:t>1494,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70" dirty="0">
                <a:latin typeface="Lucida Sans Unicode"/>
                <a:cs typeface="Lucida Sans Unicode"/>
              </a:rPr>
              <a:t>he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28" dirty="0">
                <a:latin typeface="Lucida Sans Unicode"/>
                <a:cs typeface="Lucida Sans Unicode"/>
              </a:rPr>
              <a:t>published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193" dirty="0">
                <a:latin typeface="Lucida Sans Unicode"/>
                <a:cs typeface="Lucida Sans Unicode"/>
              </a:rPr>
              <a:t>a </a:t>
            </a:r>
            <a:r>
              <a:rPr spc="-17" dirty="0">
                <a:latin typeface="Lucida Sans Unicode"/>
                <a:cs typeface="Lucida Sans Unicode"/>
              </a:rPr>
              <a:t>textbook</a:t>
            </a:r>
            <a:r>
              <a:rPr spc="-59" dirty="0">
                <a:latin typeface="Lucida Sans Unicode"/>
                <a:cs typeface="Lucida Sans Unicode"/>
              </a:rPr>
              <a:t> </a:t>
            </a:r>
            <a:r>
              <a:rPr spc="67" dirty="0">
                <a:latin typeface="Lucida Sans Unicode"/>
                <a:cs typeface="Lucida Sans Unicode"/>
              </a:rPr>
              <a:t>about</a:t>
            </a:r>
            <a:r>
              <a:rPr spc="-56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its</a:t>
            </a:r>
            <a:r>
              <a:rPr spc="-59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benefits</a:t>
            </a:r>
            <a:r>
              <a:rPr spc="-56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titled</a:t>
            </a:r>
            <a:r>
              <a:rPr spc="-59" dirty="0">
                <a:latin typeface="Lucida Sans Unicode"/>
                <a:cs typeface="Lucida Sans Unicode"/>
              </a:rPr>
              <a:t> </a:t>
            </a:r>
            <a:r>
              <a:rPr spc="134" dirty="0">
                <a:latin typeface="Lucida Sans Unicode"/>
                <a:cs typeface="Lucida Sans Unicode"/>
              </a:rPr>
              <a:t>Summa</a:t>
            </a:r>
            <a:r>
              <a:rPr spc="-56" dirty="0">
                <a:latin typeface="Lucida Sans Unicode"/>
                <a:cs typeface="Lucida Sans Unicode"/>
              </a:rPr>
              <a:t> </a:t>
            </a:r>
            <a:r>
              <a:rPr spc="92" dirty="0">
                <a:latin typeface="Lucida Sans Unicode"/>
                <a:cs typeface="Lucida Sans Unicode"/>
              </a:rPr>
              <a:t>de</a:t>
            </a:r>
            <a:r>
              <a:rPr spc="-59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Arithmetica,</a:t>
            </a:r>
            <a:r>
              <a:rPr spc="-56" dirty="0">
                <a:latin typeface="Lucida Sans Unicode"/>
                <a:cs typeface="Lucida Sans Unicode"/>
              </a:rPr>
              <a:t> </a:t>
            </a:r>
            <a:r>
              <a:rPr spc="34" dirty="0">
                <a:latin typeface="Lucida Sans Unicode"/>
                <a:cs typeface="Lucida Sans Unicode"/>
              </a:rPr>
              <a:t>Geometria,</a:t>
            </a:r>
            <a:r>
              <a:rPr spc="-59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Proportioni </a:t>
            </a:r>
            <a:r>
              <a:rPr spc="42" dirty="0">
                <a:latin typeface="Lucida Sans Unicode"/>
                <a:cs typeface="Lucida Sans Unicode"/>
              </a:rPr>
              <a:t>et</a:t>
            </a:r>
            <a:r>
              <a:rPr spc="-87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Proportionalita.</a:t>
            </a:r>
            <a:endParaRPr>
              <a:latin typeface="Lucida Sans Unicode"/>
              <a:cs typeface="Lucida Sans Unicode"/>
            </a:endParaRPr>
          </a:p>
          <a:p>
            <a:pPr marL="7112" marR="19202">
              <a:lnSpc>
                <a:spcPct val="114900"/>
              </a:lnSpc>
              <a:spcBef>
                <a:spcPts val="2512"/>
              </a:spcBef>
            </a:pPr>
            <a:r>
              <a:rPr dirty="0">
                <a:latin typeface="Lucida Sans Unicode"/>
                <a:cs typeface="Lucida Sans Unicode"/>
              </a:rPr>
              <a:t>The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28" dirty="0">
                <a:latin typeface="Lucida Sans Unicode"/>
                <a:cs typeface="Lucida Sans Unicode"/>
              </a:rPr>
              <a:t>double-</a:t>
            </a:r>
            <a:r>
              <a:rPr dirty="0">
                <a:latin typeface="Lucida Sans Unicode"/>
                <a:cs typeface="Lucida Sans Unicode"/>
              </a:rPr>
              <a:t>entry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accounting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56" dirty="0">
                <a:latin typeface="Lucida Sans Unicode"/>
                <a:cs typeface="Lucida Sans Unicode"/>
              </a:rPr>
              <a:t>system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consisted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of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221" dirty="0">
                <a:latin typeface="Lucida Sans Unicode"/>
                <a:cs typeface="Lucida Sans Unicode"/>
              </a:rPr>
              <a:t>a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104" dirty="0">
                <a:latin typeface="Lucida Sans Unicode"/>
                <a:cs typeface="Lucida Sans Unicode"/>
              </a:rPr>
              <a:t>balance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48" dirty="0">
                <a:latin typeface="Lucida Sans Unicode"/>
                <a:cs typeface="Lucida Sans Unicode"/>
              </a:rPr>
              <a:t>sheet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with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76" dirty="0">
                <a:latin typeface="Lucida Sans Unicode"/>
                <a:cs typeface="Lucida Sans Unicode"/>
              </a:rPr>
              <a:t>separate </a:t>
            </a:r>
            <a:r>
              <a:rPr spc="28" dirty="0">
                <a:latin typeface="Lucida Sans Unicode"/>
                <a:cs typeface="Lucida Sans Unicode"/>
              </a:rPr>
              <a:t>debits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109" dirty="0">
                <a:latin typeface="Lucida Sans Unicode"/>
                <a:cs typeface="Lucida Sans Unicode"/>
              </a:rPr>
              <a:t>and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credits.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The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50" dirty="0">
                <a:latin typeface="Lucida Sans Unicode"/>
                <a:cs typeface="Lucida Sans Unicode"/>
              </a:rPr>
              <a:t>equation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for</a:t>
            </a:r>
            <a:r>
              <a:rPr spc="-76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28" dirty="0">
                <a:latin typeface="Lucida Sans Unicode"/>
                <a:cs typeface="Lucida Sans Unicode"/>
              </a:rPr>
              <a:t>double-</a:t>
            </a:r>
            <a:r>
              <a:rPr dirty="0">
                <a:latin typeface="Lucida Sans Unicode"/>
                <a:cs typeface="Lucida Sans Unicode"/>
              </a:rPr>
              <a:t>entry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64" dirty="0">
                <a:latin typeface="Lucida Sans Unicode"/>
                <a:cs typeface="Lucida Sans Unicode"/>
              </a:rPr>
              <a:t>accounting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50" dirty="0">
                <a:latin typeface="Lucida Sans Unicode"/>
                <a:cs typeface="Lucida Sans Unicode"/>
              </a:rPr>
              <a:t>equation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-14" dirty="0">
                <a:latin typeface="Lucida Sans Unicode"/>
                <a:cs typeface="Lucida Sans Unicode"/>
              </a:rPr>
              <a:t>is </a:t>
            </a:r>
            <a:r>
              <a:rPr dirty="0">
                <a:latin typeface="Lucida Sans Unicode"/>
                <a:cs typeface="Lucida Sans Unicode"/>
              </a:rPr>
              <a:t>Assets</a:t>
            </a:r>
            <a:r>
              <a:rPr spc="-70" dirty="0">
                <a:latin typeface="Lucida Sans Unicode"/>
                <a:cs typeface="Lucida Sans Unicode"/>
              </a:rPr>
              <a:t> </a:t>
            </a:r>
            <a:r>
              <a:rPr spc="-134" dirty="0">
                <a:latin typeface="Lucida Sans Unicode"/>
                <a:cs typeface="Lucida Sans Unicode"/>
              </a:rPr>
              <a:t>=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-17" dirty="0">
                <a:latin typeface="Lucida Sans Unicode"/>
                <a:cs typeface="Lucida Sans Unicode"/>
              </a:rPr>
              <a:t>Liabilities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-204" dirty="0">
                <a:latin typeface="Lucida Sans Unicode"/>
                <a:cs typeface="Lucida Sans Unicode"/>
              </a:rPr>
              <a:t>+</a:t>
            </a:r>
            <a:r>
              <a:rPr spc="-70" dirty="0">
                <a:latin typeface="Lucida Sans Unicode"/>
                <a:cs typeface="Lucida Sans Unicode"/>
              </a:rPr>
              <a:t> </a:t>
            </a:r>
            <a:r>
              <a:rPr spc="28" dirty="0">
                <a:latin typeface="Lucida Sans Unicode"/>
                <a:cs typeface="Lucida Sans Unicode"/>
              </a:rPr>
              <a:t>Shareholders'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Equity.</a:t>
            </a:r>
            <a:endParaRPr>
              <a:latin typeface="Lucida Sans Unicode"/>
              <a:cs typeface="Lucida Sans Unicode"/>
            </a:endParaRPr>
          </a:p>
          <a:p>
            <a:pPr marL="7112" marR="78232">
              <a:lnSpc>
                <a:spcPct val="114900"/>
              </a:lnSpc>
            </a:pPr>
            <a:r>
              <a:rPr spc="-48" dirty="0">
                <a:latin typeface="Lucida Sans Unicode"/>
                <a:cs typeface="Lucida Sans Unicode"/>
              </a:rPr>
              <a:t>This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spc="48" dirty="0">
                <a:latin typeface="Lucida Sans Unicode"/>
                <a:cs typeface="Lucida Sans Unicode"/>
              </a:rPr>
              <a:t>creation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spc="53" dirty="0">
                <a:latin typeface="Lucida Sans Unicode"/>
                <a:cs typeface="Lucida Sans Unicode"/>
              </a:rPr>
              <a:t>helped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spc="81" dirty="0">
                <a:latin typeface="Lucida Sans Unicode"/>
                <a:cs typeface="Lucida Sans Unicode"/>
              </a:rPr>
              <a:t>companies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spc="31" dirty="0">
                <a:latin typeface="Lucida Sans Unicode"/>
                <a:cs typeface="Lucida Sans Unicode"/>
              </a:rPr>
              <a:t>track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their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spc="45" dirty="0">
                <a:latin typeface="Lucida Sans Unicode"/>
                <a:cs typeface="Lucida Sans Unicode"/>
              </a:rPr>
              <a:t>transactions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spc="62" dirty="0">
                <a:latin typeface="Lucida Sans Unicode"/>
                <a:cs typeface="Lucida Sans Unicode"/>
              </a:rPr>
              <a:t>more</a:t>
            </a:r>
            <a:r>
              <a:rPr spc="-81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efficiently</a:t>
            </a:r>
            <a:r>
              <a:rPr spc="-78" dirty="0">
                <a:latin typeface="Lucida Sans Unicode"/>
                <a:cs typeface="Lucida Sans Unicode"/>
              </a:rPr>
              <a:t> </a:t>
            </a:r>
            <a:r>
              <a:rPr spc="95" dirty="0">
                <a:latin typeface="Lucida Sans Unicode"/>
                <a:cs typeface="Lucida Sans Unicode"/>
              </a:rPr>
              <a:t>and </a:t>
            </a:r>
            <a:r>
              <a:rPr spc="48" dirty="0">
                <a:latin typeface="Lucida Sans Unicode"/>
                <a:cs typeface="Lucida Sans Unicode"/>
              </a:rPr>
              <a:t>analyze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their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36" dirty="0">
                <a:latin typeface="Lucida Sans Unicode"/>
                <a:cs typeface="Lucida Sans Unicode"/>
              </a:rPr>
              <a:t>financial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48" dirty="0">
                <a:latin typeface="Lucida Sans Unicode"/>
                <a:cs typeface="Lucida Sans Unicode"/>
              </a:rPr>
              <a:t>health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with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62" dirty="0">
                <a:latin typeface="Lucida Sans Unicode"/>
                <a:cs typeface="Lucida Sans Unicode"/>
              </a:rPr>
              <a:t>more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84" dirty="0">
                <a:latin typeface="Lucida Sans Unicode"/>
                <a:cs typeface="Lucida Sans Unicode"/>
              </a:rPr>
              <a:t>accuracy.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11" dirty="0">
                <a:latin typeface="Lucida Sans Unicode"/>
                <a:cs typeface="Lucida Sans Unicode"/>
              </a:rPr>
              <a:t>During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this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period,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25" dirty="0">
                <a:latin typeface="Lucida Sans Unicode"/>
                <a:cs typeface="Lucida Sans Unicode"/>
              </a:rPr>
              <a:t>the </a:t>
            </a:r>
            <a:r>
              <a:rPr dirty="0">
                <a:latin typeface="Lucida Sans Unicode"/>
                <a:cs typeface="Lucida Sans Unicode"/>
              </a:rPr>
              <a:t>information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104" dirty="0">
                <a:latin typeface="Lucida Sans Unicode"/>
                <a:cs typeface="Lucida Sans Unicode"/>
              </a:rPr>
              <a:t>was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strictly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for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109" dirty="0">
                <a:latin typeface="Lucida Sans Unicode"/>
                <a:cs typeface="Lucida Sans Unicode"/>
              </a:rPr>
              <a:t>company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109" dirty="0">
                <a:latin typeface="Lucida Sans Unicode"/>
                <a:cs typeface="Lucida Sans Unicode"/>
              </a:rPr>
              <a:t>and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not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73" dirty="0">
                <a:latin typeface="Lucida Sans Unicode"/>
                <a:cs typeface="Lucida Sans Unicode"/>
              </a:rPr>
              <a:t>available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to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39" dirty="0">
                <a:latin typeface="Lucida Sans Unicode"/>
                <a:cs typeface="Lucida Sans Unicode"/>
              </a:rPr>
              <a:t>the</a:t>
            </a:r>
            <a:r>
              <a:rPr spc="-67" dirty="0">
                <a:latin typeface="Lucida Sans Unicode"/>
                <a:cs typeface="Lucida Sans Unicode"/>
              </a:rPr>
              <a:t> </a:t>
            </a:r>
            <a:r>
              <a:rPr spc="56" dirty="0">
                <a:latin typeface="Lucida Sans Unicode"/>
                <a:cs typeface="Lucida Sans Unicode"/>
              </a:rPr>
              <a:t>general</a:t>
            </a:r>
            <a:r>
              <a:rPr spc="-64" dirty="0">
                <a:latin typeface="Lucida Sans Unicode"/>
                <a:cs typeface="Lucida Sans Unicode"/>
              </a:rPr>
              <a:t> </a:t>
            </a:r>
            <a:r>
              <a:rPr spc="-6" dirty="0">
                <a:latin typeface="Lucida Sans Unicode"/>
                <a:cs typeface="Lucida Sans Unicode"/>
              </a:rPr>
              <a:t>public.</a:t>
            </a:r>
            <a:endParaRPr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114248"/>
            <a:ext cx="514350" cy="5335270"/>
          </a:xfrm>
          <a:custGeom>
            <a:avLst/>
            <a:gdLst/>
            <a:ahLst/>
            <a:cxnLst/>
            <a:rect l="l" t="t" r="r" b="b"/>
            <a:pathLst>
              <a:path w="1028700" h="8002905">
                <a:moveTo>
                  <a:pt x="0" y="8002402"/>
                </a:moveTo>
                <a:lnTo>
                  <a:pt x="0" y="0"/>
                </a:lnTo>
                <a:lnTo>
                  <a:pt x="17414" y="1808"/>
                </a:lnTo>
                <a:lnTo>
                  <a:pt x="72866" y="15226"/>
                </a:lnTo>
                <a:lnTo>
                  <a:pt x="109443" y="30407"/>
                </a:lnTo>
                <a:lnTo>
                  <a:pt x="145680" y="50475"/>
                </a:lnTo>
                <a:lnTo>
                  <a:pt x="181551" y="75342"/>
                </a:lnTo>
                <a:lnTo>
                  <a:pt x="217030" y="104921"/>
                </a:lnTo>
                <a:lnTo>
                  <a:pt x="252094" y="139124"/>
                </a:lnTo>
                <a:lnTo>
                  <a:pt x="286716" y="177864"/>
                </a:lnTo>
                <a:lnTo>
                  <a:pt x="320872" y="221054"/>
                </a:lnTo>
                <a:lnTo>
                  <a:pt x="354536" y="268605"/>
                </a:lnTo>
                <a:lnTo>
                  <a:pt x="387685" y="320430"/>
                </a:lnTo>
                <a:lnTo>
                  <a:pt x="420292" y="376443"/>
                </a:lnTo>
                <a:lnTo>
                  <a:pt x="452332" y="436554"/>
                </a:lnTo>
                <a:lnTo>
                  <a:pt x="483781" y="500678"/>
                </a:lnTo>
                <a:lnTo>
                  <a:pt x="514614" y="568726"/>
                </a:lnTo>
                <a:lnTo>
                  <a:pt x="529791" y="604195"/>
                </a:lnTo>
                <a:lnTo>
                  <a:pt x="544805" y="640612"/>
                </a:lnTo>
                <a:lnTo>
                  <a:pt x="559652" y="677966"/>
                </a:lnTo>
                <a:lnTo>
                  <a:pt x="574329" y="716247"/>
                </a:lnTo>
                <a:lnTo>
                  <a:pt x="588833" y="755443"/>
                </a:lnTo>
                <a:lnTo>
                  <a:pt x="603162" y="795543"/>
                </a:lnTo>
                <a:lnTo>
                  <a:pt x="617311" y="836538"/>
                </a:lnTo>
                <a:lnTo>
                  <a:pt x="631278" y="878415"/>
                </a:lnTo>
                <a:lnTo>
                  <a:pt x="645059" y="921164"/>
                </a:lnTo>
                <a:lnTo>
                  <a:pt x="658652" y="964774"/>
                </a:lnTo>
                <a:lnTo>
                  <a:pt x="672053" y="1009233"/>
                </a:lnTo>
                <a:lnTo>
                  <a:pt x="685260" y="1054532"/>
                </a:lnTo>
                <a:lnTo>
                  <a:pt x="698268" y="1100659"/>
                </a:lnTo>
                <a:lnTo>
                  <a:pt x="711075" y="1147602"/>
                </a:lnTo>
                <a:lnTo>
                  <a:pt x="723679" y="1195352"/>
                </a:lnTo>
                <a:lnTo>
                  <a:pt x="736074" y="1243898"/>
                </a:lnTo>
                <a:lnTo>
                  <a:pt x="748260" y="1293227"/>
                </a:lnTo>
                <a:lnTo>
                  <a:pt x="760231" y="1343330"/>
                </a:lnTo>
                <a:lnTo>
                  <a:pt x="771986" y="1394195"/>
                </a:lnTo>
                <a:lnTo>
                  <a:pt x="783521" y="1445812"/>
                </a:lnTo>
                <a:lnTo>
                  <a:pt x="794834" y="1498170"/>
                </a:lnTo>
                <a:lnTo>
                  <a:pt x="805920" y="1551257"/>
                </a:lnTo>
                <a:lnTo>
                  <a:pt x="816776" y="1605063"/>
                </a:lnTo>
                <a:lnTo>
                  <a:pt x="827401" y="1659576"/>
                </a:lnTo>
                <a:lnTo>
                  <a:pt x="837789" y="1714787"/>
                </a:lnTo>
                <a:lnTo>
                  <a:pt x="847940" y="1770683"/>
                </a:lnTo>
                <a:lnTo>
                  <a:pt x="857848" y="1827254"/>
                </a:lnTo>
                <a:lnTo>
                  <a:pt x="867511" y="1884489"/>
                </a:lnTo>
                <a:lnTo>
                  <a:pt x="876927" y="1942378"/>
                </a:lnTo>
                <a:lnTo>
                  <a:pt x="886091" y="2000908"/>
                </a:lnTo>
                <a:lnTo>
                  <a:pt x="895001" y="2060070"/>
                </a:lnTo>
                <a:lnTo>
                  <a:pt x="903654" y="2119852"/>
                </a:lnTo>
                <a:lnTo>
                  <a:pt x="912046" y="2180244"/>
                </a:lnTo>
                <a:lnTo>
                  <a:pt x="920174" y="2241234"/>
                </a:lnTo>
                <a:lnTo>
                  <a:pt x="928036" y="2302811"/>
                </a:lnTo>
                <a:lnTo>
                  <a:pt x="935627" y="2364965"/>
                </a:lnTo>
                <a:lnTo>
                  <a:pt x="942946" y="2427685"/>
                </a:lnTo>
                <a:lnTo>
                  <a:pt x="949988" y="2490959"/>
                </a:lnTo>
                <a:lnTo>
                  <a:pt x="956751" y="2554777"/>
                </a:lnTo>
                <a:lnTo>
                  <a:pt x="963231" y="2619128"/>
                </a:lnTo>
                <a:lnTo>
                  <a:pt x="969426" y="2684001"/>
                </a:lnTo>
                <a:lnTo>
                  <a:pt x="975332" y="2749384"/>
                </a:lnTo>
                <a:lnTo>
                  <a:pt x="980946" y="2815268"/>
                </a:lnTo>
                <a:lnTo>
                  <a:pt x="986265" y="2881641"/>
                </a:lnTo>
                <a:lnTo>
                  <a:pt x="991287" y="2948492"/>
                </a:lnTo>
                <a:lnTo>
                  <a:pt x="996006" y="3015810"/>
                </a:lnTo>
                <a:lnTo>
                  <a:pt x="1000422" y="3083585"/>
                </a:lnTo>
                <a:lnTo>
                  <a:pt x="1004530" y="3151805"/>
                </a:lnTo>
                <a:lnTo>
                  <a:pt x="1008327" y="3220459"/>
                </a:lnTo>
                <a:lnTo>
                  <a:pt x="1011811" y="3289537"/>
                </a:lnTo>
                <a:lnTo>
                  <a:pt x="1014977" y="3359027"/>
                </a:lnTo>
                <a:lnTo>
                  <a:pt x="1017824" y="3428919"/>
                </a:lnTo>
                <a:lnTo>
                  <a:pt x="1020347" y="3499202"/>
                </a:lnTo>
                <a:lnTo>
                  <a:pt x="1022544" y="3569864"/>
                </a:lnTo>
                <a:lnTo>
                  <a:pt x="1024412" y="3640895"/>
                </a:lnTo>
                <a:lnTo>
                  <a:pt x="1025947" y="3712284"/>
                </a:lnTo>
                <a:lnTo>
                  <a:pt x="1027147" y="3784020"/>
                </a:lnTo>
                <a:lnTo>
                  <a:pt x="1028007" y="3856093"/>
                </a:lnTo>
                <a:lnTo>
                  <a:pt x="1028526" y="3928490"/>
                </a:lnTo>
                <a:lnTo>
                  <a:pt x="1028699" y="4001201"/>
                </a:lnTo>
                <a:lnTo>
                  <a:pt x="1028526" y="4073912"/>
                </a:lnTo>
                <a:lnTo>
                  <a:pt x="1028007" y="4146309"/>
                </a:lnTo>
                <a:lnTo>
                  <a:pt x="1027147" y="4218381"/>
                </a:lnTo>
                <a:lnTo>
                  <a:pt x="1025947" y="4290118"/>
                </a:lnTo>
                <a:lnTo>
                  <a:pt x="1024412" y="4361507"/>
                </a:lnTo>
                <a:lnTo>
                  <a:pt x="1022544" y="4432538"/>
                </a:lnTo>
                <a:lnTo>
                  <a:pt x="1020347" y="4503200"/>
                </a:lnTo>
                <a:lnTo>
                  <a:pt x="1017824" y="4573483"/>
                </a:lnTo>
                <a:lnTo>
                  <a:pt x="1014977" y="4643375"/>
                </a:lnTo>
                <a:lnTo>
                  <a:pt x="1011811" y="4712865"/>
                </a:lnTo>
                <a:lnTo>
                  <a:pt x="1008327" y="4781943"/>
                </a:lnTo>
                <a:lnTo>
                  <a:pt x="1004530" y="4850597"/>
                </a:lnTo>
                <a:lnTo>
                  <a:pt x="1000422" y="4918817"/>
                </a:lnTo>
                <a:lnTo>
                  <a:pt x="996006" y="4986592"/>
                </a:lnTo>
                <a:lnTo>
                  <a:pt x="991287" y="5053910"/>
                </a:lnTo>
                <a:lnTo>
                  <a:pt x="986265" y="5120761"/>
                </a:lnTo>
                <a:lnTo>
                  <a:pt x="980946" y="5187134"/>
                </a:lnTo>
                <a:lnTo>
                  <a:pt x="975332" y="5253017"/>
                </a:lnTo>
                <a:lnTo>
                  <a:pt x="969426" y="5318401"/>
                </a:lnTo>
                <a:lnTo>
                  <a:pt x="963231" y="5383274"/>
                </a:lnTo>
                <a:lnTo>
                  <a:pt x="956751" y="5447625"/>
                </a:lnTo>
                <a:lnTo>
                  <a:pt x="949988" y="5511443"/>
                </a:lnTo>
                <a:lnTo>
                  <a:pt x="942946" y="5574717"/>
                </a:lnTo>
                <a:lnTo>
                  <a:pt x="935627" y="5637437"/>
                </a:lnTo>
                <a:lnTo>
                  <a:pt x="928036" y="5699591"/>
                </a:lnTo>
                <a:lnTo>
                  <a:pt x="920174" y="5761168"/>
                </a:lnTo>
                <a:lnTo>
                  <a:pt x="912046" y="5822158"/>
                </a:lnTo>
                <a:lnTo>
                  <a:pt x="903654" y="5882549"/>
                </a:lnTo>
                <a:lnTo>
                  <a:pt x="895001" y="5942332"/>
                </a:lnTo>
                <a:lnTo>
                  <a:pt x="886091" y="6001493"/>
                </a:lnTo>
                <a:lnTo>
                  <a:pt x="876927" y="6060024"/>
                </a:lnTo>
                <a:lnTo>
                  <a:pt x="867511" y="6117912"/>
                </a:lnTo>
                <a:lnTo>
                  <a:pt x="857848" y="6175148"/>
                </a:lnTo>
                <a:lnTo>
                  <a:pt x="847940" y="6231719"/>
                </a:lnTo>
                <a:lnTo>
                  <a:pt x="837789" y="6287615"/>
                </a:lnTo>
                <a:lnTo>
                  <a:pt x="827401" y="6342825"/>
                </a:lnTo>
                <a:lnTo>
                  <a:pt x="816776" y="6397339"/>
                </a:lnTo>
                <a:lnTo>
                  <a:pt x="805920" y="6451145"/>
                </a:lnTo>
                <a:lnTo>
                  <a:pt x="794834" y="6504232"/>
                </a:lnTo>
                <a:lnTo>
                  <a:pt x="783521" y="6556589"/>
                </a:lnTo>
                <a:lnTo>
                  <a:pt x="771986" y="6608206"/>
                </a:lnTo>
                <a:lnTo>
                  <a:pt x="760231" y="6659071"/>
                </a:lnTo>
                <a:lnTo>
                  <a:pt x="748260" y="6709174"/>
                </a:lnTo>
                <a:lnTo>
                  <a:pt x="736074" y="6758504"/>
                </a:lnTo>
                <a:lnTo>
                  <a:pt x="723679" y="6807049"/>
                </a:lnTo>
                <a:lnTo>
                  <a:pt x="711075" y="6854799"/>
                </a:lnTo>
                <a:lnTo>
                  <a:pt x="698268" y="6901743"/>
                </a:lnTo>
                <a:lnTo>
                  <a:pt x="685260" y="6947870"/>
                </a:lnTo>
                <a:lnTo>
                  <a:pt x="672053" y="6993168"/>
                </a:lnTo>
                <a:lnTo>
                  <a:pt x="658652" y="7037628"/>
                </a:lnTo>
                <a:lnTo>
                  <a:pt x="645059" y="7081238"/>
                </a:lnTo>
                <a:lnTo>
                  <a:pt x="631278" y="7123986"/>
                </a:lnTo>
                <a:lnTo>
                  <a:pt x="617311" y="7165864"/>
                </a:lnTo>
                <a:lnTo>
                  <a:pt x="603162" y="7206858"/>
                </a:lnTo>
                <a:lnTo>
                  <a:pt x="588833" y="7246959"/>
                </a:lnTo>
                <a:lnTo>
                  <a:pt x="574329" y="7286155"/>
                </a:lnTo>
                <a:lnTo>
                  <a:pt x="559652" y="7324435"/>
                </a:lnTo>
                <a:lnTo>
                  <a:pt x="544805" y="7361790"/>
                </a:lnTo>
                <a:lnTo>
                  <a:pt x="529791" y="7398206"/>
                </a:lnTo>
                <a:lnTo>
                  <a:pt x="514614" y="7433675"/>
                </a:lnTo>
                <a:lnTo>
                  <a:pt x="483781" y="7501723"/>
                </a:lnTo>
                <a:lnTo>
                  <a:pt x="452332" y="7565847"/>
                </a:lnTo>
                <a:lnTo>
                  <a:pt x="420292" y="7625959"/>
                </a:lnTo>
                <a:lnTo>
                  <a:pt x="387685" y="7681971"/>
                </a:lnTo>
                <a:lnTo>
                  <a:pt x="354536" y="7733797"/>
                </a:lnTo>
                <a:lnTo>
                  <a:pt x="320872" y="7781348"/>
                </a:lnTo>
                <a:lnTo>
                  <a:pt x="286716" y="7824537"/>
                </a:lnTo>
                <a:lnTo>
                  <a:pt x="252094" y="7863277"/>
                </a:lnTo>
                <a:lnTo>
                  <a:pt x="217030" y="7897480"/>
                </a:lnTo>
                <a:lnTo>
                  <a:pt x="181551" y="7927059"/>
                </a:lnTo>
                <a:lnTo>
                  <a:pt x="145680" y="7951926"/>
                </a:lnTo>
                <a:lnTo>
                  <a:pt x="109443" y="7971994"/>
                </a:lnTo>
                <a:lnTo>
                  <a:pt x="72866" y="7987175"/>
                </a:lnTo>
                <a:lnTo>
                  <a:pt x="35972" y="7997382"/>
                </a:lnTo>
                <a:lnTo>
                  <a:pt x="0" y="8002402"/>
                </a:lnTo>
                <a:close/>
              </a:path>
            </a:pathLst>
          </a:custGeom>
          <a:solidFill>
            <a:srgbClr val="CB6BE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2495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28347"/>
            <a:ext cx="281940" cy="5214620"/>
          </a:xfrm>
          <a:custGeom>
            <a:avLst/>
            <a:gdLst/>
            <a:ahLst/>
            <a:cxnLst/>
            <a:rect l="l" t="t" r="r" b="b"/>
            <a:pathLst>
              <a:path w="563880" h="7821930">
                <a:moveTo>
                  <a:pt x="325466" y="7821386"/>
                </a:moveTo>
                <a:lnTo>
                  <a:pt x="0" y="7821386"/>
                </a:lnTo>
                <a:lnTo>
                  <a:pt x="0" y="0"/>
                </a:lnTo>
                <a:lnTo>
                  <a:pt x="325466" y="0"/>
                </a:lnTo>
                <a:lnTo>
                  <a:pt x="372139" y="4617"/>
                </a:lnTo>
                <a:lnTo>
                  <a:pt x="416592" y="18126"/>
                </a:lnTo>
                <a:lnTo>
                  <a:pt x="457578" y="40007"/>
                </a:lnTo>
                <a:lnTo>
                  <a:pt x="493846" y="69745"/>
                </a:lnTo>
                <a:lnTo>
                  <a:pt x="523583" y="106013"/>
                </a:lnTo>
                <a:lnTo>
                  <a:pt x="545465" y="146998"/>
                </a:lnTo>
                <a:lnTo>
                  <a:pt x="558973" y="191452"/>
                </a:lnTo>
                <a:lnTo>
                  <a:pt x="563591" y="238124"/>
                </a:lnTo>
                <a:lnTo>
                  <a:pt x="563591" y="7583261"/>
                </a:lnTo>
                <a:lnTo>
                  <a:pt x="558973" y="7629934"/>
                </a:lnTo>
                <a:lnTo>
                  <a:pt x="545465" y="7674387"/>
                </a:lnTo>
                <a:lnTo>
                  <a:pt x="523583" y="7715373"/>
                </a:lnTo>
                <a:lnTo>
                  <a:pt x="493846" y="7751640"/>
                </a:lnTo>
                <a:lnTo>
                  <a:pt x="457578" y="7781378"/>
                </a:lnTo>
                <a:lnTo>
                  <a:pt x="416592" y="7803260"/>
                </a:lnTo>
                <a:lnTo>
                  <a:pt x="372139" y="7816768"/>
                </a:lnTo>
                <a:lnTo>
                  <a:pt x="325466" y="782138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1816" y="1092276"/>
            <a:ext cx="8322628" cy="5619750"/>
            <a:chOff x="823632" y="1638413"/>
            <a:chExt cx="16645255" cy="8429625"/>
          </a:xfrm>
        </p:grpSpPr>
        <p:sp>
          <p:nvSpPr>
            <p:cNvPr id="4" name="object 4"/>
            <p:cNvSpPr/>
            <p:nvPr/>
          </p:nvSpPr>
          <p:spPr>
            <a:xfrm>
              <a:off x="3831974" y="4309832"/>
              <a:ext cx="4762500" cy="4762500"/>
            </a:xfrm>
            <a:custGeom>
              <a:avLst/>
              <a:gdLst/>
              <a:ahLst/>
              <a:cxnLst/>
              <a:rect l="l" t="t" r="r" b="b"/>
              <a:pathLst>
                <a:path w="4762500" h="4762500">
                  <a:moveTo>
                    <a:pt x="4730750" y="4762500"/>
                  </a:moveTo>
                  <a:lnTo>
                    <a:pt x="31750" y="4762500"/>
                  </a:lnTo>
                  <a:lnTo>
                    <a:pt x="19288" y="4760039"/>
                  </a:lnTo>
                  <a:lnTo>
                    <a:pt x="9207" y="4753292"/>
                  </a:lnTo>
                  <a:lnTo>
                    <a:pt x="2460" y="4743211"/>
                  </a:lnTo>
                  <a:lnTo>
                    <a:pt x="0" y="4730750"/>
                  </a:lnTo>
                  <a:lnTo>
                    <a:pt x="0" y="31750"/>
                  </a:lnTo>
                  <a:lnTo>
                    <a:pt x="2460" y="19288"/>
                  </a:lnTo>
                  <a:lnTo>
                    <a:pt x="9207" y="9207"/>
                  </a:lnTo>
                  <a:lnTo>
                    <a:pt x="19288" y="2460"/>
                  </a:lnTo>
                  <a:lnTo>
                    <a:pt x="31750" y="0"/>
                  </a:lnTo>
                  <a:lnTo>
                    <a:pt x="4730750" y="0"/>
                  </a:lnTo>
                  <a:lnTo>
                    <a:pt x="4743211" y="2460"/>
                  </a:lnTo>
                  <a:lnTo>
                    <a:pt x="4753292" y="9207"/>
                  </a:lnTo>
                  <a:lnTo>
                    <a:pt x="4760039" y="19288"/>
                  </a:lnTo>
                  <a:lnTo>
                    <a:pt x="4762500" y="31750"/>
                  </a:lnTo>
                  <a:lnTo>
                    <a:pt x="4762500" y="63500"/>
                  </a:lnTo>
                  <a:lnTo>
                    <a:pt x="63500" y="63500"/>
                  </a:lnTo>
                  <a:lnTo>
                    <a:pt x="63500" y="4699000"/>
                  </a:lnTo>
                  <a:lnTo>
                    <a:pt x="4762500" y="4699000"/>
                  </a:lnTo>
                  <a:lnTo>
                    <a:pt x="4762500" y="4730750"/>
                  </a:lnTo>
                  <a:lnTo>
                    <a:pt x="4760039" y="4743211"/>
                  </a:lnTo>
                  <a:lnTo>
                    <a:pt x="4753292" y="4753292"/>
                  </a:lnTo>
                  <a:lnTo>
                    <a:pt x="4743211" y="4760039"/>
                  </a:lnTo>
                  <a:lnTo>
                    <a:pt x="4730750" y="4762500"/>
                  </a:lnTo>
                  <a:close/>
                </a:path>
                <a:path w="4762500" h="4762500">
                  <a:moveTo>
                    <a:pt x="4762500" y="4699000"/>
                  </a:moveTo>
                  <a:lnTo>
                    <a:pt x="4699000" y="4699000"/>
                  </a:lnTo>
                  <a:lnTo>
                    <a:pt x="4699000" y="63500"/>
                  </a:lnTo>
                  <a:lnTo>
                    <a:pt x="4762500" y="63500"/>
                  </a:lnTo>
                  <a:lnTo>
                    <a:pt x="4762500" y="4699000"/>
                  </a:lnTo>
                  <a:close/>
                </a:path>
              </a:pathLst>
            </a:custGeom>
            <a:solidFill>
              <a:srgbClr val="07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632" y="1638413"/>
              <a:ext cx="8324849" cy="8229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9" y="1638413"/>
              <a:ext cx="8324849" cy="84296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18790" y="2483611"/>
            <a:ext cx="1194435" cy="745845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2400" spc="288" dirty="0">
                <a:solidFill>
                  <a:srgbClr val="004AAC"/>
                </a:solidFill>
                <a:latin typeface="Arial MT"/>
                <a:cs typeface="Arial MT"/>
              </a:rPr>
              <a:t>Internal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57200" y="562874"/>
            <a:ext cx="8229600" cy="566528"/>
          </a:xfrm>
          <a:prstGeom prst="rect">
            <a:avLst/>
          </a:prstGeom>
        </p:spPr>
        <p:txBody>
          <a:bodyPr vert="horz" wrap="square" lIns="0" tIns="149569" rIns="0" bIns="0" rtlCol="0">
            <a:spAutoFit/>
          </a:bodyPr>
          <a:lstStyle/>
          <a:p>
            <a:pPr marL="1822450">
              <a:spcBef>
                <a:spcPts val="56"/>
              </a:spcBef>
            </a:pPr>
            <a:r>
              <a:rPr sz="2700" spc="302" dirty="0">
                <a:latin typeface="Arial MT"/>
                <a:cs typeface="Arial MT"/>
              </a:rPr>
              <a:t>Users</a:t>
            </a:r>
            <a:r>
              <a:rPr sz="2700" spc="148" dirty="0">
                <a:latin typeface="Arial MT"/>
                <a:cs typeface="Arial MT"/>
              </a:rPr>
              <a:t> </a:t>
            </a:r>
            <a:r>
              <a:rPr sz="2700" spc="285" dirty="0">
                <a:latin typeface="Arial MT"/>
                <a:cs typeface="Arial MT"/>
              </a:rPr>
              <a:t>of</a:t>
            </a:r>
            <a:r>
              <a:rPr sz="2700" spc="308" dirty="0">
                <a:latin typeface="Arial MT"/>
                <a:cs typeface="Arial MT"/>
              </a:rPr>
              <a:t> </a:t>
            </a:r>
            <a:r>
              <a:rPr sz="2700" spc="336" dirty="0">
                <a:latin typeface="Arial MT"/>
                <a:cs typeface="Arial MT"/>
              </a:rPr>
              <a:t>Accouting</a:t>
            </a:r>
            <a:r>
              <a:rPr sz="2700" spc="151" dirty="0">
                <a:latin typeface="Arial MT"/>
                <a:cs typeface="Arial MT"/>
              </a:rPr>
              <a:t> </a:t>
            </a:r>
            <a:r>
              <a:rPr sz="2700" spc="311" dirty="0">
                <a:latin typeface="Arial MT"/>
                <a:cs typeface="Arial MT"/>
              </a:rPr>
              <a:t>Information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49350" y="3107584"/>
            <a:ext cx="4364673" cy="2152650"/>
            <a:chOff x="4298699" y="4661375"/>
            <a:chExt cx="8729345" cy="32289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8699" y="5158443"/>
              <a:ext cx="133350" cy="133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8699" y="5815668"/>
              <a:ext cx="133350" cy="1333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94548" y="4661375"/>
              <a:ext cx="133349" cy="1333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4548" y="5280500"/>
              <a:ext cx="133349" cy="1333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4548" y="5899625"/>
              <a:ext cx="133349" cy="1333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4548" y="6518750"/>
              <a:ext cx="133349" cy="133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4548" y="7137875"/>
              <a:ext cx="133349" cy="1333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4548" y="7757000"/>
              <a:ext cx="133349" cy="1333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309017" y="3188345"/>
            <a:ext cx="1637983" cy="763055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>
              <a:lnSpc>
                <a:spcPct val="116599"/>
              </a:lnSpc>
              <a:spcBef>
                <a:spcPts val="53"/>
              </a:spcBef>
            </a:pPr>
            <a:r>
              <a:rPr sz="2100" spc="252" dirty="0">
                <a:solidFill>
                  <a:srgbClr val="004AAC"/>
                </a:solidFill>
                <a:latin typeface="Arial MT"/>
                <a:cs typeface="Arial MT"/>
              </a:rPr>
              <a:t>Managrment </a:t>
            </a:r>
            <a:r>
              <a:rPr sz="2100" spc="241" dirty="0">
                <a:solidFill>
                  <a:srgbClr val="004AAC"/>
                </a:solidFill>
                <a:latin typeface="Arial MT"/>
                <a:cs typeface="Arial MT"/>
              </a:rPr>
              <a:t>Owners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96908" y="2280008"/>
            <a:ext cx="2560955" cy="4389868"/>
          </a:xfrm>
          <a:prstGeom prst="rect">
            <a:avLst/>
          </a:prstGeom>
        </p:spPr>
        <p:txBody>
          <a:bodyPr vert="horz" wrap="square" lIns="0" tIns="105613" rIns="0" bIns="0" rtlCol="0">
            <a:spAutoFit/>
          </a:bodyPr>
          <a:lstStyle/>
          <a:p>
            <a:pPr marL="7112">
              <a:spcBef>
                <a:spcPts val="832"/>
              </a:spcBef>
            </a:pPr>
            <a:r>
              <a:rPr sz="2400" spc="285" dirty="0">
                <a:solidFill>
                  <a:srgbClr val="004AAC"/>
                </a:solidFill>
                <a:latin typeface="Arial MT"/>
                <a:cs typeface="Arial MT"/>
              </a:rPr>
              <a:t>External</a:t>
            </a:r>
            <a:endParaRPr sz="2400">
              <a:latin typeface="Arial MT"/>
              <a:cs typeface="Arial MT"/>
            </a:endParaRPr>
          </a:p>
          <a:p>
            <a:pPr marL="1023417" marR="2845">
              <a:lnSpc>
                <a:spcPct val="116100"/>
              </a:lnSpc>
              <a:spcBef>
                <a:spcPts val="252"/>
              </a:spcBef>
            </a:pPr>
            <a:r>
              <a:rPr sz="2000" spc="213" dirty="0">
                <a:solidFill>
                  <a:srgbClr val="004AAC"/>
                </a:solidFill>
                <a:latin typeface="Arial MT"/>
                <a:cs typeface="Arial MT"/>
              </a:rPr>
              <a:t>Creditors</a:t>
            </a:r>
            <a:r>
              <a:rPr sz="2000" spc="49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000" spc="213" dirty="0">
                <a:solidFill>
                  <a:srgbClr val="004AAC"/>
                </a:solidFill>
                <a:latin typeface="Arial MT"/>
                <a:cs typeface="Arial MT"/>
              </a:rPr>
              <a:t>Tax</a:t>
            </a:r>
            <a:r>
              <a:rPr sz="2000" spc="109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000" spc="224" dirty="0">
                <a:solidFill>
                  <a:srgbClr val="004AAC"/>
                </a:solidFill>
                <a:latin typeface="Arial MT"/>
                <a:cs typeface="Arial MT"/>
              </a:rPr>
              <a:t>Authority </a:t>
            </a:r>
            <a:r>
              <a:rPr sz="2000" spc="210" dirty="0">
                <a:solidFill>
                  <a:srgbClr val="004AAC"/>
                </a:solidFill>
                <a:latin typeface="Arial MT"/>
                <a:cs typeface="Arial MT"/>
              </a:rPr>
              <a:t>Investors </a:t>
            </a:r>
            <a:r>
              <a:rPr sz="2000" spc="165" dirty="0">
                <a:solidFill>
                  <a:srgbClr val="004AAC"/>
                </a:solidFill>
                <a:latin typeface="Arial MT"/>
                <a:cs typeface="Arial MT"/>
              </a:rPr>
              <a:t>Govt.</a:t>
            </a:r>
            <a:endParaRPr sz="2000">
              <a:latin typeface="Arial MT"/>
              <a:cs typeface="Arial MT"/>
            </a:endParaRPr>
          </a:p>
          <a:p>
            <a:pPr marL="1023417" marR="335686" algn="just">
              <a:lnSpc>
                <a:spcPts val="2727"/>
              </a:lnSpc>
              <a:spcBef>
                <a:spcPts val="64"/>
              </a:spcBef>
            </a:pPr>
            <a:r>
              <a:rPr sz="2000" spc="221" dirty="0">
                <a:solidFill>
                  <a:srgbClr val="004AAC"/>
                </a:solidFill>
                <a:latin typeface="Arial MT"/>
                <a:cs typeface="Arial MT"/>
              </a:rPr>
              <a:t>Customers </a:t>
            </a:r>
            <a:r>
              <a:rPr sz="2000" spc="210" dirty="0">
                <a:solidFill>
                  <a:srgbClr val="004AAC"/>
                </a:solidFill>
                <a:latin typeface="Arial MT"/>
                <a:cs typeface="Arial MT"/>
              </a:rPr>
              <a:t>Regulatory </a:t>
            </a:r>
            <a:r>
              <a:rPr sz="2000" spc="221" dirty="0">
                <a:solidFill>
                  <a:srgbClr val="004AAC"/>
                </a:solidFill>
                <a:latin typeface="Arial MT"/>
                <a:cs typeface="Arial MT"/>
              </a:rPr>
              <a:t>Authorities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1737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0170682" y="0"/>
              <a:ext cx="8117840" cy="10273665"/>
            </a:xfrm>
            <a:custGeom>
              <a:avLst/>
              <a:gdLst/>
              <a:ahLst/>
              <a:cxnLst/>
              <a:rect l="l" t="t" r="r" b="b"/>
              <a:pathLst>
                <a:path w="8117840" h="10273665">
                  <a:moveTo>
                    <a:pt x="8117316" y="10273479"/>
                  </a:moveTo>
                  <a:lnTo>
                    <a:pt x="0" y="10273479"/>
                  </a:lnTo>
                  <a:lnTo>
                    <a:pt x="0" y="0"/>
                  </a:lnTo>
                  <a:lnTo>
                    <a:pt x="8117316" y="0"/>
                  </a:lnTo>
                  <a:lnTo>
                    <a:pt x="8117316" y="10273479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201759" y="1004150"/>
              <a:ext cx="1735455" cy="7651750"/>
            </a:xfrm>
            <a:custGeom>
              <a:avLst/>
              <a:gdLst/>
              <a:ahLst/>
              <a:cxnLst/>
              <a:rect l="l" t="t" r="r" b="b"/>
              <a:pathLst>
                <a:path w="1735454" h="7651750">
                  <a:moveTo>
                    <a:pt x="1638833" y="3825976"/>
                  </a:moveTo>
                  <a:lnTo>
                    <a:pt x="1637436" y="3777831"/>
                  </a:lnTo>
                  <a:lnTo>
                    <a:pt x="1633321" y="3730421"/>
                  </a:lnTo>
                  <a:lnTo>
                    <a:pt x="1626539" y="3683812"/>
                  </a:lnTo>
                  <a:lnTo>
                    <a:pt x="1617192" y="3638105"/>
                  </a:lnTo>
                  <a:lnTo>
                    <a:pt x="1605330" y="3593350"/>
                  </a:lnTo>
                  <a:lnTo>
                    <a:pt x="1591056" y="3549637"/>
                  </a:lnTo>
                  <a:lnTo>
                    <a:pt x="1574431" y="3507041"/>
                  </a:lnTo>
                  <a:lnTo>
                    <a:pt x="1555546" y="3465626"/>
                  </a:lnTo>
                  <a:lnTo>
                    <a:pt x="1534464" y="3425494"/>
                  </a:lnTo>
                  <a:lnTo>
                    <a:pt x="1511261" y="3386709"/>
                  </a:lnTo>
                  <a:lnTo>
                    <a:pt x="1486014" y="3349345"/>
                  </a:lnTo>
                  <a:lnTo>
                    <a:pt x="1458810" y="3313493"/>
                  </a:lnTo>
                  <a:lnTo>
                    <a:pt x="1429727" y="3279203"/>
                  </a:lnTo>
                  <a:lnTo>
                    <a:pt x="1398828" y="3246577"/>
                  </a:lnTo>
                  <a:lnTo>
                    <a:pt x="1366202" y="3215678"/>
                  </a:lnTo>
                  <a:lnTo>
                    <a:pt x="1331912" y="3186595"/>
                  </a:lnTo>
                  <a:lnTo>
                    <a:pt x="1296060" y="3159391"/>
                  </a:lnTo>
                  <a:lnTo>
                    <a:pt x="1258697" y="3134156"/>
                  </a:lnTo>
                  <a:lnTo>
                    <a:pt x="1219911" y="3110954"/>
                  </a:lnTo>
                  <a:lnTo>
                    <a:pt x="1179779" y="3089872"/>
                  </a:lnTo>
                  <a:lnTo>
                    <a:pt x="1138364" y="3070974"/>
                  </a:lnTo>
                  <a:lnTo>
                    <a:pt x="1095768" y="3054350"/>
                  </a:lnTo>
                  <a:lnTo>
                    <a:pt x="1052055" y="3040075"/>
                  </a:lnTo>
                  <a:lnTo>
                    <a:pt x="1007300" y="3028226"/>
                  </a:lnTo>
                  <a:lnTo>
                    <a:pt x="961580" y="3018866"/>
                  </a:lnTo>
                  <a:lnTo>
                    <a:pt x="914971" y="3012097"/>
                  </a:lnTo>
                  <a:lnTo>
                    <a:pt x="867562" y="3007969"/>
                  </a:lnTo>
                  <a:lnTo>
                    <a:pt x="819416" y="3006585"/>
                  </a:lnTo>
                  <a:lnTo>
                    <a:pt x="771271" y="3007969"/>
                  </a:lnTo>
                  <a:lnTo>
                    <a:pt x="723849" y="3012097"/>
                  </a:lnTo>
                  <a:lnTo>
                    <a:pt x="677252" y="3018866"/>
                  </a:lnTo>
                  <a:lnTo>
                    <a:pt x="631532" y="3028226"/>
                  </a:lnTo>
                  <a:lnTo>
                    <a:pt x="586778" y="3040075"/>
                  </a:lnTo>
                  <a:lnTo>
                    <a:pt x="543052" y="3054350"/>
                  </a:lnTo>
                  <a:lnTo>
                    <a:pt x="500456" y="3070974"/>
                  </a:lnTo>
                  <a:lnTo>
                    <a:pt x="459054" y="3089872"/>
                  </a:lnTo>
                  <a:lnTo>
                    <a:pt x="418922" y="3110954"/>
                  </a:lnTo>
                  <a:lnTo>
                    <a:pt x="380136" y="3134156"/>
                  </a:lnTo>
                  <a:lnTo>
                    <a:pt x="342773" y="3159391"/>
                  </a:lnTo>
                  <a:lnTo>
                    <a:pt x="306908" y="3186595"/>
                  </a:lnTo>
                  <a:lnTo>
                    <a:pt x="272630" y="3215678"/>
                  </a:lnTo>
                  <a:lnTo>
                    <a:pt x="239991" y="3246577"/>
                  </a:lnTo>
                  <a:lnTo>
                    <a:pt x="209105" y="3279203"/>
                  </a:lnTo>
                  <a:lnTo>
                    <a:pt x="180009" y="3313493"/>
                  </a:lnTo>
                  <a:lnTo>
                    <a:pt x="152806" y="3349345"/>
                  </a:lnTo>
                  <a:lnTo>
                    <a:pt x="127571" y="3386709"/>
                  </a:lnTo>
                  <a:lnTo>
                    <a:pt x="104368" y="3425494"/>
                  </a:lnTo>
                  <a:lnTo>
                    <a:pt x="83286" y="3465626"/>
                  </a:lnTo>
                  <a:lnTo>
                    <a:pt x="64389" y="3507041"/>
                  </a:lnTo>
                  <a:lnTo>
                    <a:pt x="47764" y="3549637"/>
                  </a:lnTo>
                  <a:lnTo>
                    <a:pt x="33489" y="3593350"/>
                  </a:lnTo>
                  <a:lnTo>
                    <a:pt x="21640" y="3638105"/>
                  </a:lnTo>
                  <a:lnTo>
                    <a:pt x="12280" y="3683812"/>
                  </a:lnTo>
                  <a:lnTo>
                    <a:pt x="5511" y="3730421"/>
                  </a:lnTo>
                  <a:lnTo>
                    <a:pt x="1384" y="3777831"/>
                  </a:lnTo>
                  <a:lnTo>
                    <a:pt x="0" y="3825976"/>
                  </a:lnTo>
                  <a:lnTo>
                    <a:pt x="1384" y="3874122"/>
                  </a:lnTo>
                  <a:lnTo>
                    <a:pt x="5511" y="3921544"/>
                  </a:lnTo>
                  <a:lnTo>
                    <a:pt x="12280" y="3968140"/>
                  </a:lnTo>
                  <a:lnTo>
                    <a:pt x="21640" y="4013860"/>
                  </a:lnTo>
                  <a:lnTo>
                    <a:pt x="33489" y="4058615"/>
                  </a:lnTo>
                  <a:lnTo>
                    <a:pt x="47764" y="4102328"/>
                  </a:lnTo>
                  <a:lnTo>
                    <a:pt x="64389" y="4144924"/>
                  </a:lnTo>
                  <a:lnTo>
                    <a:pt x="83286" y="4186339"/>
                  </a:lnTo>
                  <a:lnTo>
                    <a:pt x="104368" y="4226471"/>
                  </a:lnTo>
                  <a:lnTo>
                    <a:pt x="127571" y="4265257"/>
                  </a:lnTo>
                  <a:lnTo>
                    <a:pt x="152806" y="4302607"/>
                  </a:lnTo>
                  <a:lnTo>
                    <a:pt x="180009" y="4338472"/>
                  </a:lnTo>
                  <a:lnTo>
                    <a:pt x="209105" y="4372762"/>
                  </a:lnTo>
                  <a:lnTo>
                    <a:pt x="239991" y="4405388"/>
                  </a:lnTo>
                  <a:lnTo>
                    <a:pt x="272630" y="4436275"/>
                  </a:lnTo>
                  <a:lnTo>
                    <a:pt x="306908" y="4465371"/>
                  </a:lnTo>
                  <a:lnTo>
                    <a:pt x="342773" y="4492574"/>
                  </a:lnTo>
                  <a:lnTo>
                    <a:pt x="380136" y="4517809"/>
                  </a:lnTo>
                  <a:lnTo>
                    <a:pt x="418922" y="4541012"/>
                  </a:lnTo>
                  <a:lnTo>
                    <a:pt x="459054" y="4562094"/>
                  </a:lnTo>
                  <a:lnTo>
                    <a:pt x="500456" y="4580991"/>
                  </a:lnTo>
                  <a:lnTo>
                    <a:pt x="543052" y="4597616"/>
                  </a:lnTo>
                  <a:lnTo>
                    <a:pt x="586778" y="4611890"/>
                  </a:lnTo>
                  <a:lnTo>
                    <a:pt x="631532" y="4623740"/>
                  </a:lnTo>
                  <a:lnTo>
                    <a:pt x="677252" y="4633087"/>
                  </a:lnTo>
                  <a:lnTo>
                    <a:pt x="723849" y="4639869"/>
                  </a:lnTo>
                  <a:lnTo>
                    <a:pt x="771271" y="4643983"/>
                  </a:lnTo>
                  <a:lnTo>
                    <a:pt x="819416" y="4645380"/>
                  </a:lnTo>
                  <a:lnTo>
                    <a:pt x="867562" y="4643983"/>
                  </a:lnTo>
                  <a:lnTo>
                    <a:pt x="914971" y="4639869"/>
                  </a:lnTo>
                  <a:lnTo>
                    <a:pt x="961580" y="4633087"/>
                  </a:lnTo>
                  <a:lnTo>
                    <a:pt x="1007300" y="4623740"/>
                  </a:lnTo>
                  <a:lnTo>
                    <a:pt x="1052055" y="4611890"/>
                  </a:lnTo>
                  <a:lnTo>
                    <a:pt x="1095768" y="4597616"/>
                  </a:lnTo>
                  <a:lnTo>
                    <a:pt x="1138364" y="4580991"/>
                  </a:lnTo>
                  <a:lnTo>
                    <a:pt x="1179779" y="4562094"/>
                  </a:lnTo>
                  <a:lnTo>
                    <a:pt x="1219911" y="4541012"/>
                  </a:lnTo>
                  <a:lnTo>
                    <a:pt x="1258697" y="4517809"/>
                  </a:lnTo>
                  <a:lnTo>
                    <a:pt x="1296060" y="4492574"/>
                  </a:lnTo>
                  <a:lnTo>
                    <a:pt x="1331912" y="4465371"/>
                  </a:lnTo>
                  <a:lnTo>
                    <a:pt x="1366202" y="4436275"/>
                  </a:lnTo>
                  <a:lnTo>
                    <a:pt x="1398828" y="4405388"/>
                  </a:lnTo>
                  <a:lnTo>
                    <a:pt x="1429727" y="4372762"/>
                  </a:lnTo>
                  <a:lnTo>
                    <a:pt x="1458810" y="4338472"/>
                  </a:lnTo>
                  <a:lnTo>
                    <a:pt x="1486014" y="4302607"/>
                  </a:lnTo>
                  <a:lnTo>
                    <a:pt x="1511261" y="4265257"/>
                  </a:lnTo>
                  <a:lnTo>
                    <a:pt x="1534464" y="4226471"/>
                  </a:lnTo>
                  <a:lnTo>
                    <a:pt x="1555546" y="4186339"/>
                  </a:lnTo>
                  <a:lnTo>
                    <a:pt x="1574431" y="4144924"/>
                  </a:lnTo>
                  <a:lnTo>
                    <a:pt x="1591056" y="4102328"/>
                  </a:lnTo>
                  <a:lnTo>
                    <a:pt x="1605330" y="4058615"/>
                  </a:lnTo>
                  <a:lnTo>
                    <a:pt x="1617192" y="4013860"/>
                  </a:lnTo>
                  <a:lnTo>
                    <a:pt x="1626539" y="3968140"/>
                  </a:lnTo>
                  <a:lnTo>
                    <a:pt x="1633321" y="3921544"/>
                  </a:lnTo>
                  <a:lnTo>
                    <a:pt x="1637436" y="3874122"/>
                  </a:lnTo>
                  <a:lnTo>
                    <a:pt x="1638833" y="3825976"/>
                  </a:lnTo>
                  <a:close/>
                </a:path>
                <a:path w="1735454" h="7651750">
                  <a:moveTo>
                    <a:pt x="1638833" y="766610"/>
                  </a:moveTo>
                  <a:lnTo>
                    <a:pt x="1637334" y="719912"/>
                  </a:lnTo>
                  <a:lnTo>
                    <a:pt x="1632902" y="673950"/>
                  </a:lnTo>
                  <a:lnTo>
                    <a:pt x="1625625" y="628815"/>
                  </a:lnTo>
                  <a:lnTo>
                    <a:pt x="1615592" y="584568"/>
                  </a:lnTo>
                  <a:lnTo>
                    <a:pt x="1602879" y="541312"/>
                  </a:lnTo>
                  <a:lnTo>
                    <a:pt x="1587563" y="499110"/>
                  </a:lnTo>
                  <a:lnTo>
                    <a:pt x="1569758" y="458063"/>
                  </a:lnTo>
                  <a:lnTo>
                    <a:pt x="1549527" y="418223"/>
                  </a:lnTo>
                  <a:lnTo>
                    <a:pt x="1526959" y="379691"/>
                  </a:lnTo>
                  <a:lnTo>
                    <a:pt x="1502143" y="342531"/>
                  </a:lnTo>
                  <a:lnTo>
                    <a:pt x="1475168" y="306844"/>
                  </a:lnTo>
                  <a:lnTo>
                    <a:pt x="1446110" y="272694"/>
                  </a:lnTo>
                  <a:lnTo>
                    <a:pt x="1415072" y="240169"/>
                  </a:lnTo>
                  <a:lnTo>
                    <a:pt x="1382128" y="209346"/>
                  </a:lnTo>
                  <a:lnTo>
                    <a:pt x="1347355" y="180301"/>
                  </a:lnTo>
                  <a:lnTo>
                    <a:pt x="1310855" y="153123"/>
                  </a:lnTo>
                  <a:lnTo>
                    <a:pt x="1272705" y="127876"/>
                  </a:lnTo>
                  <a:lnTo>
                    <a:pt x="1232992" y="104673"/>
                  </a:lnTo>
                  <a:lnTo>
                    <a:pt x="1191806" y="83553"/>
                  </a:lnTo>
                  <a:lnTo>
                    <a:pt x="1149223" y="64630"/>
                  </a:lnTo>
                  <a:lnTo>
                    <a:pt x="1105331" y="47967"/>
                  </a:lnTo>
                  <a:lnTo>
                    <a:pt x="1060234" y="33642"/>
                  </a:lnTo>
                  <a:lnTo>
                    <a:pt x="1013993" y="21742"/>
                  </a:lnTo>
                  <a:lnTo>
                    <a:pt x="966698" y="12357"/>
                  </a:lnTo>
                  <a:lnTo>
                    <a:pt x="918451" y="5549"/>
                  </a:lnTo>
                  <a:lnTo>
                    <a:pt x="869327" y="1397"/>
                  </a:lnTo>
                  <a:lnTo>
                    <a:pt x="819416" y="0"/>
                  </a:lnTo>
                  <a:lnTo>
                    <a:pt x="769493" y="1397"/>
                  </a:lnTo>
                  <a:lnTo>
                    <a:pt x="720369" y="5549"/>
                  </a:lnTo>
                  <a:lnTo>
                    <a:pt x="672122" y="12357"/>
                  </a:lnTo>
                  <a:lnTo>
                    <a:pt x="624840" y="21742"/>
                  </a:lnTo>
                  <a:lnTo>
                    <a:pt x="578599" y="33642"/>
                  </a:lnTo>
                  <a:lnTo>
                    <a:pt x="533488" y="47967"/>
                  </a:lnTo>
                  <a:lnTo>
                    <a:pt x="489610" y="64630"/>
                  </a:lnTo>
                  <a:lnTo>
                    <a:pt x="447027" y="83553"/>
                  </a:lnTo>
                  <a:lnTo>
                    <a:pt x="405841" y="104673"/>
                  </a:lnTo>
                  <a:lnTo>
                    <a:pt x="366128" y="127876"/>
                  </a:lnTo>
                  <a:lnTo>
                    <a:pt x="327977" y="153123"/>
                  </a:lnTo>
                  <a:lnTo>
                    <a:pt x="291477" y="180301"/>
                  </a:lnTo>
                  <a:lnTo>
                    <a:pt x="256705" y="209346"/>
                  </a:lnTo>
                  <a:lnTo>
                    <a:pt x="223761" y="240169"/>
                  </a:lnTo>
                  <a:lnTo>
                    <a:pt x="192709" y="272694"/>
                  </a:lnTo>
                  <a:lnTo>
                    <a:pt x="163664" y="306844"/>
                  </a:lnTo>
                  <a:lnTo>
                    <a:pt x="136677" y="342531"/>
                  </a:lnTo>
                  <a:lnTo>
                    <a:pt x="111874" y="379691"/>
                  </a:lnTo>
                  <a:lnTo>
                    <a:pt x="89306" y="418223"/>
                  </a:lnTo>
                  <a:lnTo>
                    <a:pt x="69075" y="458063"/>
                  </a:lnTo>
                  <a:lnTo>
                    <a:pt x="51257" y="499110"/>
                  </a:lnTo>
                  <a:lnTo>
                    <a:pt x="35953" y="541312"/>
                  </a:lnTo>
                  <a:lnTo>
                    <a:pt x="23241" y="584568"/>
                  </a:lnTo>
                  <a:lnTo>
                    <a:pt x="13195" y="628815"/>
                  </a:lnTo>
                  <a:lnTo>
                    <a:pt x="5918" y="673950"/>
                  </a:lnTo>
                  <a:lnTo>
                    <a:pt x="1485" y="719912"/>
                  </a:lnTo>
                  <a:lnTo>
                    <a:pt x="0" y="766610"/>
                  </a:lnTo>
                  <a:lnTo>
                    <a:pt x="1485" y="813308"/>
                  </a:lnTo>
                  <a:lnTo>
                    <a:pt x="5918" y="859269"/>
                  </a:lnTo>
                  <a:lnTo>
                    <a:pt x="13195" y="904405"/>
                  </a:lnTo>
                  <a:lnTo>
                    <a:pt x="23241" y="948639"/>
                  </a:lnTo>
                  <a:lnTo>
                    <a:pt x="35953" y="991908"/>
                  </a:lnTo>
                  <a:lnTo>
                    <a:pt x="51257" y="1034097"/>
                  </a:lnTo>
                  <a:lnTo>
                    <a:pt x="69075" y="1075156"/>
                  </a:lnTo>
                  <a:lnTo>
                    <a:pt x="89306" y="1114996"/>
                  </a:lnTo>
                  <a:lnTo>
                    <a:pt x="111874" y="1153528"/>
                  </a:lnTo>
                  <a:lnTo>
                    <a:pt x="136677" y="1190675"/>
                  </a:lnTo>
                  <a:lnTo>
                    <a:pt x="163664" y="1226375"/>
                  </a:lnTo>
                  <a:lnTo>
                    <a:pt x="192709" y="1260513"/>
                  </a:lnTo>
                  <a:lnTo>
                    <a:pt x="223761" y="1293050"/>
                  </a:lnTo>
                  <a:lnTo>
                    <a:pt x="256705" y="1323873"/>
                  </a:lnTo>
                  <a:lnTo>
                    <a:pt x="291477" y="1352918"/>
                  </a:lnTo>
                  <a:lnTo>
                    <a:pt x="327977" y="1380096"/>
                  </a:lnTo>
                  <a:lnTo>
                    <a:pt x="366128" y="1405331"/>
                  </a:lnTo>
                  <a:lnTo>
                    <a:pt x="405841" y="1428546"/>
                  </a:lnTo>
                  <a:lnTo>
                    <a:pt x="447027" y="1449654"/>
                  </a:lnTo>
                  <a:lnTo>
                    <a:pt x="489610" y="1468589"/>
                  </a:lnTo>
                  <a:lnTo>
                    <a:pt x="533488" y="1485252"/>
                  </a:lnTo>
                  <a:lnTo>
                    <a:pt x="578599" y="1499565"/>
                  </a:lnTo>
                  <a:lnTo>
                    <a:pt x="624840" y="1511465"/>
                  </a:lnTo>
                  <a:lnTo>
                    <a:pt x="672122" y="1520863"/>
                  </a:lnTo>
                  <a:lnTo>
                    <a:pt x="720369" y="1527670"/>
                  </a:lnTo>
                  <a:lnTo>
                    <a:pt x="769493" y="1531810"/>
                  </a:lnTo>
                  <a:lnTo>
                    <a:pt x="819416" y="1533207"/>
                  </a:lnTo>
                  <a:lnTo>
                    <a:pt x="869327" y="1531810"/>
                  </a:lnTo>
                  <a:lnTo>
                    <a:pt x="918451" y="1527670"/>
                  </a:lnTo>
                  <a:lnTo>
                    <a:pt x="966698" y="1520863"/>
                  </a:lnTo>
                  <a:lnTo>
                    <a:pt x="1013993" y="1511465"/>
                  </a:lnTo>
                  <a:lnTo>
                    <a:pt x="1060234" y="1499565"/>
                  </a:lnTo>
                  <a:lnTo>
                    <a:pt x="1105331" y="1485252"/>
                  </a:lnTo>
                  <a:lnTo>
                    <a:pt x="1149223" y="1468589"/>
                  </a:lnTo>
                  <a:lnTo>
                    <a:pt x="1191806" y="1449654"/>
                  </a:lnTo>
                  <a:lnTo>
                    <a:pt x="1232992" y="1428546"/>
                  </a:lnTo>
                  <a:lnTo>
                    <a:pt x="1272705" y="1405331"/>
                  </a:lnTo>
                  <a:lnTo>
                    <a:pt x="1310855" y="1380096"/>
                  </a:lnTo>
                  <a:lnTo>
                    <a:pt x="1347355" y="1352918"/>
                  </a:lnTo>
                  <a:lnTo>
                    <a:pt x="1382128" y="1323873"/>
                  </a:lnTo>
                  <a:lnTo>
                    <a:pt x="1415072" y="1293050"/>
                  </a:lnTo>
                  <a:lnTo>
                    <a:pt x="1446110" y="1260513"/>
                  </a:lnTo>
                  <a:lnTo>
                    <a:pt x="1475168" y="1226375"/>
                  </a:lnTo>
                  <a:lnTo>
                    <a:pt x="1502143" y="1190675"/>
                  </a:lnTo>
                  <a:lnTo>
                    <a:pt x="1526959" y="1153528"/>
                  </a:lnTo>
                  <a:lnTo>
                    <a:pt x="1549527" y="1114996"/>
                  </a:lnTo>
                  <a:lnTo>
                    <a:pt x="1569758" y="1075156"/>
                  </a:lnTo>
                  <a:lnTo>
                    <a:pt x="1587563" y="1034097"/>
                  </a:lnTo>
                  <a:lnTo>
                    <a:pt x="1602879" y="991908"/>
                  </a:lnTo>
                  <a:lnTo>
                    <a:pt x="1615592" y="948639"/>
                  </a:lnTo>
                  <a:lnTo>
                    <a:pt x="1625625" y="904405"/>
                  </a:lnTo>
                  <a:lnTo>
                    <a:pt x="1632902" y="859269"/>
                  </a:lnTo>
                  <a:lnTo>
                    <a:pt x="1637334" y="813308"/>
                  </a:lnTo>
                  <a:lnTo>
                    <a:pt x="1638833" y="766610"/>
                  </a:lnTo>
                  <a:close/>
                </a:path>
                <a:path w="1735454" h="7651750">
                  <a:moveTo>
                    <a:pt x="1735378" y="6858025"/>
                  </a:moveTo>
                  <a:lnTo>
                    <a:pt x="1733918" y="6809689"/>
                  </a:lnTo>
                  <a:lnTo>
                    <a:pt x="1729613" y="6762128"/>
                  </a:lnTo>
                  <a:lnTo>
                    <a:pt x="1722513" y="6715404"/>
                  </a:lnTo>
                  <a:lnTo>
                    <a:pt x="1712734" y="6669621"/>
                  </a:lnTo>
                  <a:lnTo>
                    <a:pt x="1700339" y="6624853"/>
                  </a:lnTo>
                  <a:lnTo>
                    <a:pt x="1685429" y="6581178"/>
                  </a:lnTo>
                  <a:lnTo>
                    <a:pt x="1668068" y="6538684"/>
                  </a:lnTo>
                  <a:lnTo>
                    <a:pt x="1648358" y="6497447"/>
                  </a:lnTo>
                  <a:lnTo>
                    <a:pt x="1626374" y="6457569"/>
                  </a:lnTo>
                  <a:lnTo>
                    <a:pt x="1602193" y="6419113"/>
                  </a:lnTo>
                  <a:lnTo>
                    <a:pt x="1575904" y="6382182"/>
                  </a:lnTo>
                  <a:lnTo>
                    <a:pt x="1547596" y="6346838"/>
                  </a:lnTo>
                  <a:lnTo>
                    <a:pt x="1517345" y="6313170"/>
                  </a:lnTo>
                  <a:lnTo>
                    <a:pt x="1485239" y="6281267"/>
                  </a:lnTo>
                  <a:lnTo>
                    <a:pt x="1451368" y="6251206"/>
                  </a:lnTo>
                  <a:lnTo>
                    <a:pt x="1415796" y="6223076"/>
                  </a:lnTo>
                  <a:lnTo>
                    <a:pt x="1378623" y="6196952"/>
                  </a:lnTo>
                  <a:lnTo>
                    <a:pt x="1339926" y="6172936"/>
                  </a:lnTo>
                  <a:lnTo>
                    <a:pt x="1299794" y="6151080"/>
                  </a:lnTo>
                  <a:lnTo>
                    <a:pt x="1258303" y="6131496"/>
                  </a:lnTo>
                  <a:lnTo>
                    <a:pt x="1215542" y="6114250"/>
                  </a:lnTo>
                  <a:lnTo>
                    <a:pt x="1171587" y="6099429"/>
                  </a:lnTo>
                  <a:lnTo>
                    <a:pt x="1126528" y="6087110"/>
                  </a:lnTo>
                  <a:lnTo>
                    <a:pt x="1080452" y="6077394"/>
                  </a:lnTo>
                  <a:lnTo>
                    <a:pt x="1033437" y="6070346"/>
                  </a:lnTo>
                  <a:lnTo>
                    <a:pt x="985570" y="6066053"/>
                  </a:lnTo>
                  <a:lnTo>
                    <a:pt x="936929" y="6064605"/>
                  </a:lnTo>
                  <a:lnTo>
                    <a:pt x="888301" y="6066053"/>
                  </a:lnTo>
                  <a:lnTo>
                    <a:pt x="840422" y="6070346"/>
                  </a:lnTo>
                  <a:lnTo>
                    <a:pt x="793407" y="6077394"/>
                  </a:lnTo>
                  <a:lnTo>
                    <a:pt x="747331" y="6087110"/>
                  </a:lnTo>
                  <a:lnTo>
                    <a:pt x="702284" y="6099429"/>
                  </a:lnTo>
                  <a:lnTo>
                    <a:pt x="658329" y="6114250"/>
                  </a:lnTo>
                  <a:lnTo>
                    <a:pt x="615569" y="6131496"/>
                  </a:lnTo>
                  <a:lnTo>
                    <a:pt x="574078" y="6151080"/>
                  </a:lnTo>
                  <a:lnTo>
                    <a:pt x="533946" y="6172936"/>
                  </a:lnTo>
                  <a:lnTo>
                    <a:pt x="495249" y="6196952"/>
                  </a:lnTo>
                  <a:lnTo>
                    <a:pt x="458076" y="6223076"/>
                  </a:lnTo>
                  <a:lnTo>
                    <a:pt x="422503" y="6251206"/>
                  </a:lnTo>
                  <a:lnTo>
                    <a:pt x="388632" y="6281267"/>
                  </a:lnTo>
                  <a:lnTo>
                    <a:pt x="356527" y="6313170"/>
                  </a:lnTo>
                  <a:lnTo>
                    <a:pt x="326275" y="6346838"/>
                  </a:lnTo>
                  <a:lnTo>
                    <a:pt x="297967" y="6382182"/>
                  </a:lnTo>
                  <a:lnTo>
                    <a:pt x="271678" y="6419113"/>
                  </a:lnTo>
                  <a:lnTo>
                    <a:pt x="247497" y="6457569"/>
                  </a:lnTo>
                  <a:lnTo>
                    <a:pt x="225513" y="6497447"/>
                  </a:lnTo>
                  <a:lnTo>
                    <a:pt x="205803" y="6538684"/>
                  </a:lnTo>
                  <a:lnTo>
                    <a:pt x="188442" y="6581178"/>
                  </a:lnTo>
                  <a:lnTo>
                    <a:pt x="173520" y="6624853"/>
                  </a:lnTo>
                  <a:lnTo>
                    <a:pt x="161137" y="6669621"/>
                  </a:lnTo>
                  <a:lnTo>
                    <a:pt x="151358" y="6715404"/>
                  </a:lnTo>
                  <a:lnTo>
                    <a:pt x="144259" y="6762128"/>
                  </a:lnTo>
                  <a:lnTo>
                    <a:pt x="139941" y="6809689"/>
                  </a:lnTo>
                  <a:lnTo>
                    <a:pt x="138493" y="6858025"/>
                  </a:lnTo>
                  <a:lnTo>
                    <a:pt x="139941" y="6906361"/>
                  </a:lnTo>
                  <a:lnTo>
                    <a:pt x="144259" y="6953923"/>
                  </a:lnTo>
                  <a:lnTo>
                    <a:pt x="151358" y="7000646"/>
                  </a:lnTo>
                  <a:lnTo>
                    <a:pt x="161137" y="7046430"/>
                  </a:lnTo>
                  <a:lnTo>
                    <a:pt x="173520" y="7091197"/>
                  </a:lnTo>
                  <a:lnTo>
                    <a:pt x="188442" y="7134873"/>
                  </a:lnTo>
                  <a:lnTo>
                    <a:pt x="205803" y="7177367"/>
                  </a:lnTo>
                  <a:lnTo>
                    <a:pt x="225513" y="7218591"/>
                  </a:lnTo>
                  <a:lnTo>
                    <a:pt x="247497" y="7258482"/>
                  </a:lnTo>
                  <a:lnTo>
                    <a:pt x="271678" y="7296925"/>
                  </a:lnTo>
                  <a:lnTo>
                    <a:pt x="297967" y="7333869"/>
                  </a:lnTo>
                  <a:lnTo>
                    <a:pt x="326275" y="7369213"/>
                  </a:lnTo>
                  <a:lnTo>
                    <a:pt x="356527" y="7402881"/>
                  </a:lnTo>
                  <a:lnTo>
                    <a:pt x="388632" y="7434783"/>
                  </a:lnTo>
                  <a:lnTo>
                    <a:pt x="422503" y="7464844"/>
                  </a:lnTo>
                  <a:lnTo>
                    <a:pt x="458076" y="7492974"/>
                  </a:lnTo>
                  <a:lnTo>
                    <a:pt x="495249" y="7519086"/>
                  </a:lnTo>
                  <a:lnTo>
                    <a:pt x="533946" y="7543114"/>
                  </a:lnTo>
                  <a:lnTo>
                    <a:pt x="574078" y="7564971"/>
                  </a:lnTo>
                  <a:lnTo>
                    <a:pt x="615569" y="7584554"/>
                  </a:lnTo>
                  <a:lnTo>
                    <a:pt x="658329" y="7601801"/>
                  </a:lnTo>
                  <a:lnTo>
                    <a:pt x="702284" y="7616622"/>
                  </a:lnTo>
                  <a:lnTo>
                    <a:pt x="747331" y="7628941"/>
                  </a:lnTo>
                  <a:lnTo>
                    <a:pt x="793407" y="7638656"/>
                  </a:lnTo>
                  <a:lnTo>
                    <a:pt x="840422" y="7645705"/>
                  </a:lnTo>
                  <a:lnTo>
                    <a:pt x="888301" y="7649997"/>
                  </a:lnTo>
                  <a:lnTo>
                    <a:pt x="936929" y="7651445"/>
                  </a:lnTo>
                  <a:lnTo>
                    <a:pt x="985570" y="7649997"/>
                  </a:lnTo>
                  <a:lnTo>
                    <a:pt x="1033437" y="7645705"/>
                  </a:lnTo>
                  <a:lnTo>
                    <a:pt x="1080452" y="7638656"/>
                  </a:lnTo>
                  <a:lnTo>
                    <a:pt x="1126528" y="7628941"/>
                  </a:lnTo>
                  <a:lnTo>
                    <a:pt x="1171587" y="7616622"/>
                  </a:lnTo>
                  <a:lnTo>
                    <a:pt x="1215542" y="7601801"/>
                  </a:lnTo>
                  <a:lnTo>
                    <a:pt x="1258303" y="7584554"/>
                  </a:lnTo>
                  <a:lnTo>
                    <a:pt x="1299794" y="7564971"/>
                  </a:lnTo>
                  <a:lnTo>
                    <a:pt x="1339926" y="7543114"/>
                  </a:lnTo>
                  <a:lnTo>
                    <a:pt x="1378623" y="7519086"/>
                  </a:lnTo>
                  <a:lnTo>
                    <a:pt x="1415796" y="7492974"/>
                  </a:lnTo>
                  <a:lnTo>
                    <a:pt x="1451368" y="7464844"/>
                  </a:lnTo>
                  <a:lnTo>
                    <a:pt x="1485239" y="7434783"/>
                  </a:lnTo>
                  <a:lnTo>
                    <a:pt x="1517345" y="7402881"/>
                  </a:lnTo>
                  <a:lnTo>
                    <a:pt x="1547596" y="7369213"/>
                  </a:lnTo>
                  <a:lnTo>
                    <a:pt x="1575904" y="7333869"/>
                  </a:lnTo>
                  <a:lnTo>
                    <a:pt x="1602193" y="7296925"/>
                  </a:lnTo>
                  <a:lnTo>
                    <a:pt x="1626374" y="7258482"/>
                  </a:lnTo>
                  <a:lnTo>
                    <a:pt x="1648358" y="7218591"/>
                  </a:lnTo>
                  <a:lnTo>
                    <a:pt x="1668068" y="7177367"/>
                  </a:lnTo>
                  <a:lnTo>
                    <a:pt x="1685429" y="7134873"/>
                  </a:lnTo>
                  <a:lnTo>
                    <a:pt x="1700339" y="7091197"/>
                  </a:lnTo>
                  <a:lnTo>
                    <a:pt x="1712734" y="7046430"/>
                  </a:lnTo>
                  <a:lnTo>
                    <a:pt x="1722513" y="7000646"/>
                  </a:lnTo>
                  <a:lnTo>
                    <a:pt x="1729613" y="6953923"/>
                  </a:lnTo>
                  <a:lnTo>
                    <a:pt x="1733918" y="6906361"/>
                  </a:lnTo>
                  <a:lnTo>
                    <a:pt x="1735378" y="6858025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96372"/>
              <a:ext cx="460375" cy="6463030"/>
            </a:xfrm>
            <a:custGeom>
              <a:avLst/>
              <a:gdLst/>
              <a:ahLst/>
              <a:cxnLst/>
              <a:rect l="l" t="t" r="r" b="b"/>
              <a:pathLst>
                <a:path w="460375" h="6463030">
                  <a:moveTo>
                    <a:pt x="23741" y="6462769"/>
                  </a:moveTo>
                  <a:lnTo>
                    <a:pt x="0" y="6462769"/>
                  </a:lnTo>
                  <a:lnTo>
                    <a:pt x="0" y="0"/>
                  </a:lnTo>
                  <a:lnTo>
                    <a:pt x="69378" y="8141"/>
                  </a:lnTo>
                  <a:lnTo>
                    <a:pt x="115446" y="19718"/>
                  </a:lnTo>
                  <a:lnTo>
                    <a:pt x="160064" y="35698"/>
                  </a:lnTo>
                  <a:lnTo>
                    <a:pt x="202913" y="55948"/>
                  </a:lnTo>
                  <a:lnTo>
                    <a:pt x="243674" y="80336"/>
                  </a:lnTo>
                  <a:lnTo>
                    <a:pt x="282030" y="108731"/>
                  </a:lnTo>
                  <a:lnTo>
                    <a:pt x="317661" y="141001"/>
                  </a:lnTo>
                  <a:lnTo>
                    <a:pt x="349930" y="176632"/>
                  </a:lnTo>
                  <a:lnTo>
                    <a:pt x="378325" y="214987"/>
                  </a:lnTo>
                  <a:lnTo>
                    <a:pt x="402713" y="255749"/>
                  </a:lnTo>
                  <a:lnTo>
                    <a:pt x="422963" y="298598"/>
                  </a:lnTo>
                  <a:lnTo>
                    <a:pt x="438943" y="343215"/>
                  </a:lnTo>
                  <a:lnTo>
                    <a:pt x="450521" y="389283"/>
                  </a:lnTo>
                  <a:lnTo>
                    <a:pt x="457564" y="436483"/>
                  </a:lnTo>
                  <a:lnTo>
                    <a:pt x="459941" y="484496"/>
                  </a:lnTo>
                  <a:lnTo>
                    <a:pt x="459941" y="5979604"/>
                  </a:lnTo>
                  <a:lnTo>
                    <a:pt x="457564" y="6027617"/>
                  </a:lnTo>
                  <a:lnTo>
                    <a:pt x="450521" y="6074817"/>
                  </a:lnTo>
                  <a:lnTo>
                    <a:pt x="438943" y="6120885"/>
                  </a:lnTo>
                  <a:lnTo>
                    <a:pt x="422963" y="6165502"/>
                  </a:lnTo>
                  <a:lnTo>
                    <a:pt x="402713" y="6208351"/>
                  </a:lnTo>
                  <a:lnTo>
                    <a:pt x="378325" y="6249112"/>
                  </a:lnTo>
                  <a:lnTo>
                    <a:pt x="349930" y="6287468"/>
                  </a:lnTo>
                  <a:lnTo>
                    <a:pt x="317661" y="6323099"/>
                  </a:lnTo>
                  <a:lnTo>
                    <a:pt x="282030" y="6355368"/>
                  </a:lnTo>
                  <a:lnTo>
                    <a:pt x="243674" y="6383763"/>
                  </a:lnTo>
                  <a:lnTo>
                    <a:pt x="202913" y="6408152"/>
                  </a:lnTo>
                  <a:lnTo>
                    <a:pt x="160064" y="6428402"/>
                  </a:lnTo>
                  <a:lnTo>
                    <a:pt x="115446" y="6444382"/>
                  </a:lnTo>
                  <a:lnTo>
                    <a:pt x="69378" y="6455959"/>
                  </a:lnTo>
                  <a:lnTo>
                    <a:pt x="23741" y="646276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391" y="778968"/>
              <a:ext cx="8448674" cy="2924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272" y="3766264"/>
              <a:ext cx="8515349" cy="30956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272" y="6861651"/>
              <a:ext cx="8420099" cy="32003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41130" y="790545"/>
            <a:ext cx="219075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-801" dirty="0">
                <a:latin typeface="Trebuchet MS"/>
                <a:cs typeface="Trebuchet MS"/>
              </a:rPr>
              <a:t>1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6370" y="2843477"/>
            <a:ext cx="388620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692" dirty="0">
                <a:latin typeface="Trebuchet MS"/>
                <a:cs typeface="Trebuchet MS"/>
              </a:rPr>
              <a:t>2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8231" y="4876971"/>
            <a:ext cx="344805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305" dirty="0">
                <a:latin typeface="Trebuchet MS"/>
                <a:cs typeface="Trebuchet MS"/>
              </a:rPr>
              <a:t>3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832109" y="-32808"/>
            <a:ext cx="3160713" cy="622735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2000" spc="31" dirty="0">
                <a:solidFill>
                  <a:srgbClr val="000000"/>
                </a:solidFill>
                <a:latin typeface="Lucida Sans Unicode"/>
                <a:cs typeface="Lucida Sans Unicode"/>
              </a:rPr>
              <a:t>Classification</a:t>
            </a:r>
            <a:r>
              <a:rPr sz="2000" spc="-112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00000"/>
                </a:solidFill>
                <a:latin typeface="Lucida Sans Unicode"/>
                <a:cs typeface="Lucida Sans Unicode"/>
              </a:rPr>
              <a:t>of</a:t>
            </a:r>
            <a:r>
              <a:rPr sz="2000" spc="-109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2000" spc="-6" dirty="0">
                <a:solidFill>
                  <a:srgbClr val="000000"/>
                </a:solidFill>
                <a:latin typeface="Lucida Sans Unicode"/>
                <a:cs typeface="Lucida Sans Unicode"/>
              </a:rPr>
              <a:t>Accounting,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000" y="785950"/>
            <a:ext cx="3856990" cy="407291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300" spc="25" dirty="0">
                <a:latin typeface="Lucida Sans Unicode"/>
                <a:cs typeface="Lucida Sans Unicode"/>
              </a:rPr>
              <a:t>Financial</a:t>
            </a:r>
            <a:r>
              <a:rPr sz="1300" spc="118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Accounting:</a:t>
            </a:r>
            <a:r>
              <a:rPr sz="1300" spc="120" dirty="0">
                <a:latin typeface="Lucida Sans Unicode"/>
                <a:cs typeface="Lucida Sans Unicode"/>
              </a:rPr>
              <a:t>  </a:t>
            </a:r>
            <a:r>
              <a:rPr sz="1300" spc="118" dirty="0">
                <a:latin typeface="Lucida Sans Unicode"/>
                <a:cs typeface="Lucida Sans Unicode"/>
              </a:rPr>
              <a:t>We  </a:t>
            </a:r>
            <a:r>
              <a:rPr sz="1300" spc="101" dirty="0">
                <a:latin typeface="Lucida Sans Unicode"/>
                <a:cs typeface="Lucida Sans Unicode"/>
              </a:rPr>
              <a:t>can</a:t>
            </a:r>
            <a:r>
              <a:rPr sz="1300" spc="120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define</a:t>
            </a:r>
            <a:r>
              <a:rPr sz="1300" spc="120" dirty="0">
                <a:latin typeface="Lucida Sans Unicode"/>
                <a:cs typeface="Lucida Sans Unicode"/>
              </a:rPr>
              <a:t>  </a:t>
            </a:r>
            <a:r>
              <a:rPr sz="1300" spc="20" dirty="0">
                <a:latin typeface="Lucida Sans Unicode"/>
                <a:cs typeface="Lucida Sans Unicode"/>
              </a:rPr>
              <a:t>financial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000" y="1029713"/>
            <a:ext cx="3856673" cy="927433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spc="48" dirty="0">
                <a:latin typeface="Lucida Sans Unicode"/>
                <a:cs typeface="Lucida Sans Unicode"/>
              </a:rPr>
              <a:t>accounting</a:t>
            </a:r>
            <a:r>
              <a:rPr sz="1300" spc="257" dirty="0">
                <a:latin typeface="Lucida Sans Unicode"/>
                <a:cs typeface="Lucida Sans Unicode"/>
              </a:rPr>
              <a:t>   </a:t>
            </a:r>
            <a:r>
              <a:rPr sz="1300" spc="87" dirty="0">
                <a:latin typeface="Lucida Sans Unicode"/>
                <a:cs typeface="Lucida Sans Unicode"/>
              </a:rPr>
              <a:t>as</a:t>
            </a:r>
            <a:r>
              <a:rPr sz="1300" spc="260" dirty="0">
                <a:latin typeface="Lucida Sans Unicode"/>
                <a:cs typeface="Lucida Sans Unicode"/>
              </a:rPr>
              <a:t>  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260" dirty="0">
                <a:latin typeface="Lucida Sans Unicode"/>
                <a:cs typeface="Lucida Sans Unicode"/>
              </a:rPr>
              <a:t>   </a:t>
            </a:r>
            <a:r>
              <a:rPr sz="1300" spc="34" dirty="0">
                <a:latin typeface="Lucida Sans Unicode"/>
                <a:cs typeface="Lucida Sans Unicode"/>
              </a:rPr>
              <a:t>process</a:t>
            </a:r>
            <a:r>
              <a:rPr sz="1300" spc="260" dirty="0">
                <a:latin typeface="Lucida Sans Unicode"/>
                <a:cs typeface="Lucida Sans Unicode"/>
              </a:rPr>
              <a:t> 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260" dirty="0">
                <a:latin typeface="Lucida Sans Unicode"/>
                <a:cs typeface="Lucida Sans Unicode"/>
              </a:rPr>
              <a:t>   </a:t>
            </a:r>
            <a:r>
              <a:rPr sz="1300" spc="-6" dirty="0">
                <a:latin typeface="Lucida Sans Unicode"/>
                <a:cs typeface="Lucida Sans Unicode"/>
              </a:rPr>
              <a:t>recording, </a:t>
            </a:r>
            <a:r>
              <a:rPr sz="1300" dirty="0">
                <a:latin typeface="Lucida Sans Unicode"/>
                <a:cs typeface="Lucida Sans Unicode"/>
              </a:rPr>
              <a:t>summarizing,</a:t>
            </a:r>
            <a:r>
              <a:rPr sz="1300" spc="294" dirty="0">
                <a:latin typeface="Lucida Sans Unicode"/>
                <a:cs typeface="Lucida Sans Unicode"/>
              </a:rPr>
              <a:t>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29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reporting</a:t>
            </a:r>
            <a:r>
              <a:rPr sz="1300" spc="29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various</a:t>
            </a:r>
            <a:r>
              <a:rPr sz="1300" spc="297" dirty="0">
                <a:latin typeface="Lucida Sans Unicode"/>
                <a:cs typeface="Lucida Sans Unicode"/>
              </a:rPr>
              <a:t> </a:t>
            </a:r>
            <a:r>
              <a:rPr sz="1300" spc="25" dirty="0">
                <a:latin typeface="Lucida Sans Unicode"/>
                <a:cs typeface="Lucida Sans Unicode"/>
              </a:rPr>
              <a:t>transactions </a:t>
            </a:r>
            <a:r>
              <a:rPr sz="1300" spc="36" dirty="0">
                <a:latin typeface="Lucida Sans Unicode"/>
                <a:cs typeface="Lucida Sans Unicode"/>
              </a:rPr>
              <a:t>that</a:t>
            </a:r>
            <a:r>
              <a:rPr sz="1300" spc="3" dirty="0">
                <a:latin typeface="Lucida Sans Unicode"/>
                <a:cs typeface="Lucida Sans Unicode"/>
              </a:rPr>
              <a:t> </a:t>
            </a:r>
            <a:r>
              <a:rPr sz="1300" spc="48" dirty="0">
                <a:latin typeface="Lucida Sans Unicode"/>
                <a:cs typeface="Lucida Sans Unicode"/>
              </a:rPr>
              <a:t>occur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over</a:t>
            </a:r>
            <a:r>
              <a:rPr sz="1300" spc="3" dirty="0">
                <a:latin typeface="Lucida Sans Unicode"/>
                <a:cs typeface="Lucida Sans Unicode"/>
              </a:rPr>
              <a:t>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period</a:t>
            </a:r>
            <a:r>
              <a:rPr sz="1300" spc="3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time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during</a:t>
            </a:r>
            <a:r>
              <a:rPr sz="1300" spc="3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course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98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business.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000" y="2826160"/>
            <a:ext cx="3757930" cy="115749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spc="31" dirty="0">
                <a:latin typeface="Lucida Sans Unicode"/>
                <a:cs typeface="Lucida Sans Unicode"/>
              </a:rPr>
              <a:t>Cost</a:t>
            </a:r>
            <a:r>
              <a:rPr sz="1300" spc="137" dirty="0">
                <a:latin typeface="Lucida Sans Unicode"/>
                <a:cs typeface="Lucida Sans Unicode"/>
              </a:rPr>
              <a:t>  </a:t>
            </a:r>
            <a:r>
              <a:rPr sz="1300" spc="48" dirty="0">
                <a:latin typeface="Lucida Sans Unicode"/>
                <a:cs typeface="Lucida Sans Unicode"/>
              </a:rPr>
              <a:t>accounting</a:t>
            </a:r>
            <a:r>
              <a:rPr sz="1300" spc="14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is</a:t>
            </a:r>
            <a:r>
              <a:rPr sz="1300" spc="146" dirty="0">
                <a:latin typeface="Lucida Sans Unicode"/>
                <a:cs typeface="Lucida Sans Unicode"/>
              </a:rPr>
              <a:t> 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142" dirty="0">
                <a:latin typeface="Lucida Sans Unicode"/>
                <a:cs typeface="Lucida Sans Unicode"/>
              </a:rPr>
              <a:t>  </a:t>
            </a:r>
            <a:r>
              <a:rPr sz="1300" spc="34" dirty="0">
                <a:latin typeface="Lucida Sans Unicode"/>
                <a:cs typeface="Lucida Sans Unicode"/>
              </a:rPr>
              <a:t>process</a:t>
            </a:r>
            <a:r>
              <a:rPr sz="1300" spc="14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146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recording, </a:t>
            </a:r>
            <a:r>
              <a:rPr sz="1300" dirty="0">
                <a:latin typeface="Lucida Sans Unicode"/>
                <a:cs typeface="Lucida Sans Unicode"/>
              </a:rPr>
              <a:t>summarizing,</a:t>
            </a:r>
            <a:r>
              <a:rPr sz="1300" spc="285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analyzing,</a:t>
            </a:r>
            <a:r>
              <a:rPr sz="1300" spc="288" dirty="0">
                <a:latin typeface="Lucida Sans Unicode"/>
                <a:cs typeface="Lucida Sans Unicode"/>
              </a:rPr>
              <a:t> 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285" dirty="0">
                <a:latin typeface="Lucida Sans Unicode"/>
                <a:cs typeface="Lucida Sans Unicode"/>
              </a:rPr>
              <a:t>  </a:t>
            </a:r>
            <a:r>
              <a:rPr sz="1300" spc="34" dirty="0">
                <a:latin typeface="Lucida Sans Unicode"/>
                <a:cs typeface="Lucida Sans Unicode"/>
              </a:rPr>
              <a:t>allocating</a:t>
            </a:r>
            <a:r>
              <a:rPr sz="1300" spc="288" dirty="0">
                <a:latin typeface="Lucida Sans Unicode"/>
                <a:cs typeface="Lucida Sans Unicode"/>
              </a:rPr>
              <a:t>  </a:t>
            </a:r>
            <a:r>
              <a:rPr sz="1300" spc="14" dirty="0">
                <a:latin typeface="Lucida Sans Unicode"/>
                <a:cs typeface="Lucida Sans Unicode"/>
              </a:rPr>
              <a:t>the </a:t>
            </a:r>
            <a:r>
              <a:rPr sz="1300" spc="36" dirty="0">
                <a:latin typeface="Lucida Sans Unicode"/>
                <a:cs typeface="Lucida Sans Unicode"/>
              </a:rPr>
              <a:t>cost</a:t>
            </a:r>
            <a:r>
              <a:rPr sz="1300" spc="255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over</a:t>
            </a:r>
            <a:r>
              <a:rPr sz="1300" spc="255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255" dirty="0">
                <a:latin typeface="Lucida Sans Unicode"/>
                <a:cs typeface="Lucida Sans Unicode"/>
              </a:rPr>
              <a:t>  </a:t>
            </a:r>
            <a:r>
              <a:rPr sz="1300" spc="34" dirty="0">
                <a:latin typeface="Lucida Sans Unicode"/>
                <a:cs typeface="Lucida Sans Unicode"/>
              </a:rPr>
              <a:t>process</a:t>
            </a:r>
            <a:r>
              <a:rPr sz="1300" spc="255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257" dirty="0">
                <a:latin typeface="Lucida Sans Unicode"/>
                <a:cs typeface="Lucida Sans Unicode"/>
              </a:rPr>
              <a:t>  </a:t>
            </a:r>
            <a:r>
              <a:rPr sz="1300" spc="39" dirty="0">
                <a:latin typeface="Lucida Sans Unicode"/>
                <a:cs typeface="Lucida Sans Unicode"/>
              </a:rPr>
              <a:t>manufacturing</a:t>
            </a:r>
            <a:r>
              <a:rPr sz="1300" spc="252" dirty="0">
                <a:latin typeface="Lucida Sans Unicode"/>
                <a:cs typeface="Lucida Sans Unicode"/>
              </a:rPr>
              <a:t> </a:t>
            </a:r>
            <a:r>
              <a:rPr sz="1300" spc="134" dirty="0">
                <a:latin typeface="Lucida Sans Unicode"/>
                <a:cs typeface="Lucida Sans Unicode"/>
              </a:rPr>
              <a:t>a </a:t>
            </a:r>
            <a:r>
              <a:rPr sz="1300" spc="28" dirty="0">
                <a:latin typeface="Lucida Sans Unicode"/>
                <a:cs typeface="Lucida Sans Unicode"/>
              </a:rPr>
              <a:t>product</a:t>
            </a:r>
            <a:r>
              <a:rPr sz="1300" spc="-39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or</a:t>
            </a:r>
            <a:r>
              <a:rPr sz="1300" spc="-39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providing</a:t>
            </a:r>
            <a:r>
              <a:rPr sz="1300" spc="-36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services.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75861" y="2843102"/>
            <a:ext cx="3604260" cy="871521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6500"/>
              </a:lnSpc>
              <a:spcBef>
                <a:spcPts val="56"/>
              </a:spcBef>
            </a:pPr>
            <a:r>
              <a:rPr sz="1200" dirty="0">
                <a:latin typeface="Lucida Sans Unicode"/>
                <a:cs typeface="Lucida Sans Unicode"/>
              </a:rPr>
              <a:t>It</a:t>
            </a:r>
            <a:r>
              <a:rPr sz="1200" spc="101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helps</a:t>
            </a:r>
            <a:r>
              <a:rPr sz="1200" spc="101" dirty="0">
                <a:latin typeface="Lucida Sans Unicode"/>
                <a:cs typeface="Lucida Sans Unicode"/>
              </a:rPr>
              <a:t>  </a:t>
            </a:r>
            <a:r>
              <a:rPr sz="1200" spc="73" dirty="0">
                <a:latin typeface="Lucida Sans Unicode"/>
                <a:cs typeface="Lucida Sans Unicode"/>
              </a:rPr>
              <a:t>management</a:t>
            </a:r>
            <a:r>
              <a:rPr sz="1200" spc="101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to</a:t>
            </a:r>
            <a:r>
              <a:rPr sz="1200" spc="269" dirty="0">
                <a:latin typeface="Lucida Sans Unicode"/>
                <a:cs typeface="Lucida Sans Unicode"/>
              </a:rPr>
              <a:t>   </a:t>
            </a:r>
            <a:r>
              <a:rPr sz="1200" spc="31" dirty="0">
                <a:latin typeface="Lucida Sans Unicode"/>
                <a:cs typeface="Lucida Sans Unicode"/>
              </a:rPr>
              <a:t>determine</a:t>
            </a:r>
            <a:r>
              <a:rPr sz="1200" spc="101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101" dirty="0">
                <a:latin typeface="Lucida Sans Unicode"/>
                <a:cs typeface="Lucida Sans Unicode"/>
              </a:rPr>
              <a:t>  </a:t>
            </a:r>
            <a:r>
              <a:rPr sz="1200" spc="20" dirty="0">
                <a:latin typeface="Lucida Sans Unicode"/>
                <a:cs typeface="Lucida Sans Unicode"/>
              </a:rPr>
              <a:t>cost </a:t>
            </a:r>
            <a:r>
              <a:rPr sz="1200" dirty="0">
                <a:latin typeface="Lucida Sans Unicode"/>
                <a:cs typeface="Lucida Sans Unicode"/>
              </a:rPr>
              <a:t>involved</a:t>
            </a:r>
            <a:r>
              <a:rPr sz="1200" spc="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3" dirty="0">
                <a:latin typeface="Lucida Sans Unicode"/>
                <a:cs typeface="Lucida Sans Unicode"/>
              </a:rPr>
              <a:t> </a:t>
            </a:r>
            <a:r>
              <a:rPr sz="1200" spc="36" dirty="0">
                <a:latin typeface="Lucida Sans Unicode"/>
                <a:cs typeface="Lucida Sans Unicode"/>
              </a:rPr>
              <a:t>manufacturing</a:t>
            </a:r>
            <a:r>
              <a:rPr sz="1200" spc="3" dirty="0">
                <a:latin typeface="Lucida Sans Unicode"/>
                <a:cs typeface="Lucida Sans Unicode"/>
              </a:rPr>
              <a:t> </a:t>
            </a:r>
            <a:r>
              <a:rPr sz="1200" spc="148" dirty="0">
                <a:latin typeface="Lucida Sans Unicode"/>
                <a:cs typeface="Lucida Sans Unicode"/>
              </a:rPr>
              <a:t>a</a:t>
            </a:r>
            <a:r>
              <a:rPr sz="1200" spc="3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product</a:t>
            </a:r>
            <a:r>
              <a:rPr sz="1200" spc="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or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spc="25" dirty="0">
                <a:latin typeface="Lucida Sans Unicode"/>
                <a:cs typeface="Lucida Sans Unicode"/>
              </a:rPr>
              <a:t>services</a:t>
            </a:r>
            <a:r>
              <a:rPr sz="1200" spc="3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by use</a:t>
            </a:r>
            <a:r>
              <a:rPr sz="1200" spc="27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different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31" dirty="0">
                <a:latin typeface="Lucida Sans Unicode"/>
                <a:cs typeface="Lucida Sans Unicode"/>
              </a:rPr>
              <a:t>cost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42" dirty="0">
                <a:latin typeface="Lucida Sans Unicode"/>
                <a:cs typeface="Lucida Sans Unicode"/>
              </a:rPr>
              <a:t>accounting</a:t>
            </a:r>
            <a:r>
              <a:rPr sz="1200" spc="-62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method.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75861" y="6906"/>
            <a:ext cx="3604260" cy="2931597"/>
          </a:xfrm>
          <a:prstGeom prst="rect">
            <a:avLst/>
          </a:prstGeom>
        </p:spPr>
        <p:txBody>
          <a:bodyPr vert="horz" wrap="square" lIns="0" tIns="118770" rIns="0" bIns="0" rtlCol="0">
            <a:spAutoFit/>
          </a:bodyPr>
          <a:lstStyle/>
          <a:p>
            <a:pPr marL="1049376" algn="just">
              <a:spcBef>
                <a:spcPts val="935"/>
              </a:spcBef>
            </a:pPr>
            <a:r>
              <a:rPr sz="1500" spc="28" dirty="0">
                <a:latin typeface="Lucida Sans Unicode"/>
                <a:cs typeface="Lucida Sans Unicode"/>
              </a:rPr>
              <a:t>Financial</a:t>
            </a:r>
            <a:r>
              <a:rPr sz="1500" spc="-56" dirty="0">
                <a:latin typeface="Lucida Sans Unicode"/>
                <a:cs typeface="Lucida Sans Unicode"/>
              </a:rPr>
              <a:t> </a:t>
            </a:r>
            <a:r>
              <a:rPr sz="1500" spc="25" dirty="0">
                <a:latin typeface="Lucida Sans Unicode"/>
                <a:cs typeface="Lucida Sans Unicode"/>
              </a:rPr>
              <a:t>Accounting</a:t>
            </a:r>
            <a:endParaRPr sz="1500">
              <a:latin typeface="Lucida Sans Unicode"/>
              <a:cs typeface="Lucida Sans Unicode"/>
            </a:endParaRPr>
          </a:p>
          <a:p>
            <a:pPr marL="7112" marR="2845" algn="just">
              <a:lnSpc>
                <a:spcPct val="116700"/>
              </a:lnSpc>
              <a:spcBef>
                <a:spcPts val="521"/>
              </a:spcBef>
            </a:pPr>
            <a:r>
              <a:rPr sz="1300" spc="114" dirty="0">
                <a:latin typeface="Lucida Sans Unicode"/>
                <a:cs typeface="Lucida Sans Unicode"/>
              </a:rPr>
              <a:t>We</a:t>
            </a:r>
            <a:r>
              <a:rPr sz="1300" spc="109" dirty="0">
                <a:latin typeface="Lucida Sans Unicode"/>
                <a:cs typeface="Lucida Sans Unicode"/>
              </a:rPr>
              <a:t> </a:t>
            </a:r>
            <a:r>
              <a:rPr sz="1300" spc="42" dirty="0">
                <a:latin typeface="Lucida Sans Unicode"/>
                <a:cs typeface="Lucida Sans Unicode"/>
              </a:rPr>
              <a:t>gather</a:t>
            </a:r>
            <a:r>
              <a:rPr sz="1300" spc="114" dirty="0">
                <a:latin typeface="Lucida Sans Unicode"/>
                <a:cs typeface="Lucida Sans Unicode"/>
              </a:rPr>
              <a:t>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114" dirty="0">
                <a:latin typeface="Lucida Sans Unicode"/>
                <a:cs typeface="Lucida Sans Unicode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convert</a:t>
            </a:r>
            <a:r>
              <a:rPr sz="1300" spc="11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all</a:t>
            </a:r>
            <a:r>
              <a:rPr sz="1300" spc="118" dirty="0">
                <a:latin typeface="Lucida Sans Unicode"/>
                <a:cs typeface="Lucida Sans Unicode"/>
              </a:rPr>
              <a:t> </a:t>
            </a:r>
            <a:r>
              <a:rPr sz="1300" spc="31" dirty="0">
                <a:latin typeface="Lucida Sans Unicode"/>
                <a:cs typeface="Lucida Sans Unicode"/>
              </a:rPr>
              <a:t>the</a:t>
            </a:r>
            <a:r>
              <a:rPr sz="1300" spc="114" dirty="0">
                <a:latin typeface="Lucida Sans Unicode"/>
                <a:cs typeface="Lucida Sans Unicode"/>
              </a:rPr>
              <a:t> </a:t>
            </a:r>
            <a:r>
              <a:rPr sz="1300" spc="31" dirty="0">
                <a:latin typeface="Lucida Sans Unicode"/>
                <a:cs typeface="Lucida Sans Unicode"/>
              </a:rPr>
              <a:t>daily</a:t>
            </a:r>
            <a:r>
              <a:rPr sz="1300" spc="114" dirty="0">
                <a:latin typeface="Lucida Sans Unicode"/>
                <a:cs typeface="Lucida Sans Unicode"/>
              </a:rPr>
              <a:t> </a:t>
            </a:r>
            <a:r>
              <a:rPr sz="1300" spc="25" dirty="0">
                <a:latin typeface="Lucida Sans Unicode"/>
                <a:cs typeface="Lucida Sans Unicode"/>
              </a:rPr>
              <a:t>transactions </a:t>
            </a:r>
            <a:r>
              <a:rPr sz="1300" dirty="0">
                <a:latin typeface="Lucida Sans Unicode"/>
                <a:cs typeface="Lucida Sans Unicode"/>
              </a:rPr>
              <a:t>into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financial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spc="25" dirty="0">
                <a:latin typeface="Lucida Sans Unicode"/>
                <a:cs typeface="Lucida Sans Unicode"/>
              </a:rPr>
              <a:t>statements,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spc="76" dirty="0">
                <a:latin typeface="Lucida Sans Unicode"/>
                <a:cs typeface="Lucida Sans Unicode"/>
              </a:rPr>
              <a:t>balance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sheets,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spc="48" dirty="0">
                <a:latin typeface="Lucida Sans Unicode"/>
                <a:cs typeface="Lucida Sans Unicode"/>
              </a:rPr>
              <a:t>income </a:t>
            </a:r>
            <a:r>
              <a:rPr sz="1300" spc="25" dirty="0">
                <a:latin typeface="Lucida Sans Unicode"/>
                <a:cs typeface="Lucida Sans Unicode"/>
              </a:rPr>
              <a:t>statements,</a:t>
            </a:r>
            <a:r>
              <a:rPr sz="1300" spc="36" dirty="0">
                <a:latin typeface="Lucida Sans Unicode"/>
                <a:cs typeface="Lucida Sans Unicode"/>
              </a:rPr>
              <a:t> 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36" dirty="0">
                <a:latin typeface="Lucida Sans Unicode"/>
                <a:cs typeface="Lucida Sans Unicode"/>
              </a:rPr>
              <a:t>  </a:t>
            </a:r>
            <a:r>
              <a:rPr sz="1300" spc="76" dirty="0">
                <a:latin typeface="Lucida Sans Unicode"/>
                <a:cs typeface="Lucida Sans Unicode"/>
              </a:rPr>
              <a:t>cash</a:t>
            </a:r>
            <a:r>
              <a:rPr sz="1300" spc="39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flow</a:t>
            </a:r>
            <a:r>
              <a:rPr sz="1300" spc="36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statements.</a:t>
            </a:r>
            <a:r>
              <a:rPr sz="1300" spc="39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36" dirty="0">
                <a:latin typeface="Lucida Sans Unicode"/>
                <a:cs typeface="Lucida Sans Unicode"/>
              </a:rPr>
              <a:t>  </a:t>
            </a:r>
            <a:r>
              <a:rPr sz="1300" spc="17" dirty="0">
                <a:latin typeface="Lucida Sans Unicode"/>
                <a:cs typeface="Lucida Sans Unicode"/>
              </a:rPr>
              <a:t>the </a:t>
            </a:r>
            <a:r>
              <a:rPr sz="1300" spc="34" dirty="0">
                <a:latin typeface="Lucida Sans Unicode"/>
                <a:cs typeface="Lucida Sans Unicode"/>
              </a:rPr>
              <a:t>preparation</a:t>
            </a:r>
            <a:r>
              <a:rPr sz="1300" spc="-14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14" dirty="0">
                <a:latin typeface="Lucida Sans Unicode"/>
                <a:cs typeface="Lucida Sans Unicode"/>
              </a:rPr>
              <a:t>  </a:t>
            </a:r>
            <a:r>
              <a:rPr sz="1300" spc="31" dirty="0">
                <a:latin typeface="Lucida Sans Unicode"/>
                <a:cs typeface="Lucida Sans Unicode"/>
              </a:rPr>
              <a:t>the</a:t>
            </a:r>
            <a:r>
              <a:rPr sz="1300" spc="-14" dirty="0">
                <a:latin typeface="Lucida Sans Unicode"/>
                <a:cs typeface="Lucida Sans Unicode"/>
              </a:rPr>
              <a:t>  </a:t>
            </a:r>
            <a:r>
              <a:rPr sz="1300" spc="36" dirty="0">
                <a:latin typeface="Lucida Sans Unicode"/>
                <a:cs typeface="Lucida Sans Unicode"/>
              </a:rPr>
              <a:t>above,</a:t>
            </a:r>
            <a:r>
              <a:rPr sz="1300" spc="-14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financial</a:t>
            </a:r>
            <a:r>
              <a:rPr sz="1300" spc="-11" dirty="0">
                <a:latin typeface="Lucida Sans Unicode"/>
                <a:cs typeface="Lucida Sans Unicode"/>
              </a:rPr>
              <a:t>  </a:t>
            </a:r>
            <a:r>
              <a:rPr sz="1300" spc="42" dirty="0">
                <a:latin typeface="Lucida Sans Unicode"/>
                <a:cs typeface="Lucida Sans Unicode"/>
              </a:rPr>
              <a:t>accounting </a:t>
            </a:r>
            <a:r>
              <a:rPr sz="1300" spc="31" dirty="0">
                <a:latin typeface="Lucida Sans Unicode"/>
                <a:cs typeface="Lucida Sans Unicode"/>
              </a:rPr>
              <a:t>uses  </a:t>
            </a:r>
            <a:r>
              <a:rPr sz="1300" spc="157" dirty="0">
                <a:latin typeface="Lucida Sans Unicode"/>
                <a:cs typeface="Lucida Sans Unicode"/>
              </a:rPr>
              <a:t>a</a:t>
            </a:r>
            <a:r>
              <a:rPr sz="1300" spc="34" dirty="0">
                <a:latin typeface="Lucida Sans Unicode"/>
                <a:cs typeface="Lucida Sans Unicode"/>
              </a:rPr>
              <a:t>  </a:t>
            </a:r>
            <a:r>
              <a:rPr sz="1300" spc="48" dirty="0">
                <a:latin typeface="Lucida Sans Unicode"/>
                <a:cs typeface="Lucida Sans Unicode"/>
              </a:rPr>
              <a:t>bunch</a:t>
            </a:r>
            <a:r>
              <a:rPr sz="1300" spc="34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31" dirty="0">
                <a:latin typeface="Lucida Sans Unicode"/>
                <a:cs typeface="Lucida Sans Unicode"/>
              </a:rPr>
              <a:t>  </a:t>
            </a:r>
            <a:r>
              <a:rPr sz="1300" spc="48" dirty="0">
                <a:latin typeface="Lucida Sans Unicode"/>
                <a:cs typeface="Lucida Sans Unicode"/>
              </a:rPr>
              <a:t>accounting</a:t>
            </a:r>
            <a:r>
              <a:rPr sz="1300" spc="34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principles.</a:t>
            </a:r>
            <a:r>
              <a:rPr sz="1300" spc="34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These </a:t>
            </a:r>
            <a:r>
              <a:rPr sz="1300" spc="39" dirty="0">
                <a:latin typeface="Lucida Sans Unicode"/>
                <a:cs typeface="Lucida Sans Unicode"/>
              </a:rPr>
              <a:t>contain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different</a:t>
            </a:r>
            <a:r>
              <a:rPr sz="1300" spc="17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rules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14" dirty="0">
                <a:latin typeface="Lucida Sans Unicode"/>
                <a:cs typeface="Lucida Sans Unicode"/>
              </a:rPr>
              <a:t> </a:t>
            </a:r>
            <a:r>
              <a:rPr sz="1300" spc="36" dirty="0">
                <a:latin typeface="Lucida Sans Unicode"/>
                <a:cs typeface="Lucida Sans Unicode"/>
              </a:rPr>
              <a:t>assumption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set</a:t>
            </a:r>
            <a:r>
              <a:rPr sz="1300" spc="17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out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spc="-14" dirty="0">
                <a:latin typeface="Lucida Sans Unicode"/>
                <a:cs typeface="Lucida Sans Unicode"/>
              </a:rPr>
              <a:t>for </a:t>
            </a:r>
            <a:r>
              <a:rPr sz="1300" spc="31" dirty="0">
                <a:latin typeface="Lucida Sans Unicode"/>
                <a:cs typeface="Lucida Sans Unicode"/>
              </a:rPr>
              <a:t>the</a:t>
            </a:r>
            <a:r>
              <a:rPr sz="1300" spc="-59" dirty="0">
                <a:latin typeface="Lucida Sans Unicode"/>
                <a:cs typeface="Lucida Sans Unicode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preparation</a:t>
            </a:r>
            <a:r>
              <a:rPr sz="1300" spc="-59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56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financial</a:t>
            </a:r>
            <a:r>
              <a:rPr sz="1300" spc="-59" dirty="0">
                <a:latin typeface="Lucida Sans Unicode"/>
                <a:cs typeface="Lucida Sans Unicode"/>
              </a:rPr>
              <a:t> </a:t>
            </a:r>
            <a:r>
              <a:rPr sz="1300" spc="22" dirty="0">
                <a:latin typeface="Lucida Sans Unicode"/>
                <a:cs typeface="Lucida Sans Unicode"/>
              </a:rPr>
              <a:t>statements.</a:t>
            </a:r>
            <a:endParaRPr sz="1300">
              <a:latin typeface="Lucida Sans Unicode"/>
              <a:cs typeface="Lucida Sans Unicode"/>
            </a:endParaRPr>
          </a:p>
          <a:p>
            <a:pPr marR="176022" algn="ctr">
              <a:spcBef>
                <a:spcPts val="1350"/>
              </a:spcBef>
            </a:pPr>
            <a:r>
              <a:rPr sz="1500" spc="34" dirty="0">
                <a:latin typeface="Lucida Sans Unicode"/>
                <a:cs typeface="Lucida Sans Unicode"/>
              </a:rPr>
              <a:t>Cost</a:t>
            </a:r>
            <a:r>
              <a:rPr sz="1500" spc="-73" dirty="0">
                <a:latin typeface="Lucida Sans Unicode"/>
                <a:cs typeface="Lucida Sans Unicode"/>
              </a:rPr>
              <a:t> </a:t>
            </a:r>
            <a:r>
              <a:rPr sz="1500" spc="25" dirty="0">
                <a:latin typeface="Lucida Sans Unicode"/>
                <a:cs typeface="Lucida Sans Unicode"/>
              </a:rPr>
              <a:t>Accounting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34366" y="4080105"/>
            <a:ext cx="2126298" cy="4688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500" spc="73" dirty="0">
                <a:latin typeface="Lucida Sans Unicode"/>
                <a:cs typeface="Lucida Sans Unicode"/>
              </a:rPr>
              <a:t>Management</a:t>
            </a:r>
            <a:r>
              <a:rPr sz="1500" spc="-48" dirty="0">
                <a:latin typeface="Lucida Sans Unicode"/>
                <a:cs typeface="Lucida Sans Unicode"/>
              </a:rPr>
              <a:t> </a:t>
            </a:r>
            <a:r>
              <a:rPr sz="1500" spc="25" dirty="0">
                <a:latin typeface="Lucida Sans Unicode"/>
                <a:cs typeface="Lucida Sans Unicode"/>
              </a:rPr>
              <a:t>Accounting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8000" y="4935525"/>
            <a:ext cx="3750628" cy="697370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spc="67" dirty="0">
                <a:latin typeface="Lucida Sans Unicode"/>
                <a:cs typeface="Lucida Sans Unicode"/>
              </a:rPr>
              <a:t>Management</a:t>
            </a:r>
            <a:r>
              <a:rPr sz="1300" spc="11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or</a:t>
            </a:r>
            <a:r>
              <a:rPr sz="1300" spc="11" dirty="0">
                <a:latin typeface="Lucida Sans Unicode"/>
                <a:cs typeface="Lucida Sans Unicode"/>
              </a:rPr>
              <a:t>  </a:t>
            </a:r>
            <a:r>
              <a:rPr sz="1300" spc="45" dirty="0">
                <a:latin typeface="Lucida Sans Unicode"/>
                <a:cs typeface="Lucida Sans Unicode"/>
              </a:rPr>
              <a:t>Managerial</a:t>
            </a:r>
            <a:r>
              <a:rPr sz="1300" spc="14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Accounting</a:t>
            </a:r>
            <a:r>
              <a:rPr sz="1300" spc="11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helps </a:t>
            </a:r>
            <a:r>
              <a:rPr sz="1300" spc="70" dirty="0">
                <a:latin typeface="Lucida Sans Unicode"/>
                <a:cs typeface="Lucida Sans Unicode"/>
              </a:rPr>
              <a:t>managers</a:t>
            </a:r>
            <a:r>
              <a:rPr sz="1300" spc="64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64" dirty="0">
                <a:latin typeface="Lucida Sans Unicode"/>
                <a:cs typeface="Lucida Sans Unicode"/>
              </a:rPr>
              <a:t>  make</a:t>
            </a:r>
            <a:r>
              <a:rPr sz="1300" spc="67" dirty="0">
                <a:latin typeface="Lucida Sans Unicode"/>
                <a:cs typeface="Lucida Sans Unicode"/>
              </a:rPr>
              <a:t> 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64" dirty="0">
                <a:latin typeface="Lucida Sans Unicode"/>
                <a:cs typeface="Lucida Sans Unicode"/>
              </a:rPr>
              <a:t>  </a:t>
            </a:r>
            <a:r>
              <a:rPr sz="1300" spc="36" dirty="0">
                <a:latin typeface="Lucida Sans Unicode"/>
                <a:cs typeface="Lucida Sans Unicode"/>
              </a:rPr>
              <a:t>implement</a:t>
            </a:r>
            <a:r>
              <a:rPr sz="1300" spc="67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business </a:t>
            </a:r>
            <a:r>
              <a:rPr sz="1300" dirty="0">
                <a:latin typeface="Lucida Sans Unicode"/>
                <a:cs typeface="Lucida Sans Unicode"/>
              </a:rPr>
              <a:t>policies</a:t>
            </a:r>
            <a:r>
              <a:rPr sz="1300" spc="3" dirty="0">
                <a:latin typeface="Lucida Sans Unicode"/>
                <a:cs typeface="Lucida Sans Unicode"/>
              </a:rPr>
              <a:t> </a:t>
            </a:r>
            <a:r>
              <a:rPr sz="1300" spc="-25" dirty="0">
                <a:latin typeface="Lucida Sans Unicode"/>
                <a:cs typeface="Lucida Sans Unicode"/>
              </a:rPr>
              <a:t>for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better</a:t>
            </a:r>
            <a:r>
              <a:rPr sz="1300" spc="6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results.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24136" y="4684178"/>
            <a:ext cx="3626167" cy="708579"/>
          </a:xfrm>
          <a:prstGeom prst="rect">
            <a:avLst/>
          </a:prstGeom>
        </p:spPr>
        <p:txBody>
          <a:bodyPr vert="horz" wrap="square" lIns="0" tIns="6401" rIns="0" bIns="0" rtlCol="0">
            <a:spAutoFit/>
          </a:bodyPr>
          <a:lstStyle/>
          <a:p>
            <a:pPr marL="7112" marR="2845">
              <a:lnSpc>
                <a:spcPct val="116700"/>
              </a:lnSpc>
              <a:spcBef>
                <a:spcPts val="50"/>
              </a:spcBef>
            </a:pPr>
            <a:r>
              <a:rPr sz="1300" dirty="0">
                <a:latin typeface="Lucida Sans Unicode"/>
                <a:cs typeface="Lucida Sans Unicode"/>
              </a:rPr>
              <a:t>They</a:t>
            </a:r>
            <a:r>
              <a:rPr sz="1300" spc="28" dirty="0">
                <a:latin typeface="Lucida Sans Unicode"/>
                <a:cs typeface="Lucida Sans Unicode"/>
              </a:rPr>
              <a:t> </a:t>
            </a:r>
            <a:r>
              <a:rPr sz="1300" spc="45" dirty="0">
                <a:latin typeface="Lucida Sans Unicode"/>
                <a:cs typeface="Lucida Sans Unicode"/>
              </a:rPr>
              <a:t>use</a:t>
            </a:r>
            <a:r>
              <a:rPr sz="1300" spc="31" dirty="0">
                <a:latin typeface="Lucida Sans Unicode"/>
                <a:cs typeface="Lucida Sans Unicode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financial</a:t>
            </a:r>
            <a:r>
              <a:rPr sz="1300" spc="28" dirty="0">
                <a:latin typeface="Lucida Sans Unicode"/>
                <a:cs typeface="Lucida Sans Unicode"/>
              </a:rPr>
              <a:t> </a:t>
            </a:r>
            <a:r>
              <a:rPr sz="1300" spc="36" dirty="0">
                <a:latin typeface="Lucida Sans Unicode"/>
                <a:cs typeface="Lucida Sans Unicode"/>
              </a:rPr>
              <a:t>Accounting</a:t>
            </a:r>
            <a:r>
              <a:rPr sz="1300" spc="3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information</a:t>
            </a:r>
            <a:r>
              <a:rPr sz="1300" spc="3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for</a:t>
            </a:r>
            <a:r>
              <a:rPr sz="1300" spc="28" dirty="0">
                <a:latin typeface="Lucida Sans Unicode"/>
                <a:cs typeface="Lucida Sans Unicode"/>
              </a:rPr>
              <a:t> </a:t>
            </a:r>
            <a:r>
              <a:rPr sz="1300" spc="-11" dirty="0">
                <a:latin typeface="Lucida Sans Unicode"/>
                <a:cs typeface="Lucida Sans Unicode"/>
              </a:rPr>
              <a:t>this </a:t>
            </a:r>
            <a:r>
              <a:rPr sz="1300" dirty="0">
                <a:latin typeface="Lucida Sans Unicode"/>
                <a:cs typeface="Lucida Sans Unicode"/>
              </a:rPr>
              <a:t>purpose.</a:t>
            </a:r>
            <a:r>
              <a:rPr sz="1300" spc="235" dirty="0">
                <a:latin typeface="Lucida Sans Unicode"/>
                <a:cs typeface="Lucida Sans Unicode"/>
              </a:rPr>
              <a:t> </a:t>
            </a:r>
            <a:r>
              <a:rPr sz="1300" spc="76" dirty="0">
                <a:latin typeface="Lucida Sans Unicode"/>
                <a:cs typeface="Lucida Sans Unicode"/>
              </a:rPr>
              <a:t>Management</a:t>
            </a:r>
            <a:r>
              <a:rPr sz="1300" spc="243" dirty="0">
                <a:latin typeface="Lucida Sans Unicode"/>
                <a:cs typeface="Lucida Sans Unicode"/>
              </a:rPr>
              <a:t> </a:t>
            </a:r>
            <a:r>
              <a:rPr sz="1300" spc="36" dirty="0">
                <a:latin typeface="Lucida Sans Unicode"/>
                <a:cs typeface="Lucida Sans Unicode"/>
              </a:rPr>
              <a:t>Accounting</a:t>
            </a:r>
            <a:r>
              <a:rPr sz="1300" spc="24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is</a:t>
            </a:r>
            <a:r>
              <a:rPr sz="1300" spc="241" dirty="0">
                <a:latin typeface="Lucida Sans Unicode"/>
                <a:cs typeface="Lucida Sans Unicode"/>
              </a:rPr>
              <a:t> </a:t>
            </a:r>
            <a:r>
              <a:rPr sz="1300" spc="165" dirty="0">
                <a:latin typeface="Lucida Sans Unicode"/>
                <a:cs typeface="Lucida Sans Unicode"/>
              </a:rPr>
              <a:t>a</a:t>
            </a:r>
            <a:r>
              <a:rPr sz="1300" spc="243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different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36958" y="5217579"/>
            <a:ext cx="2213610" cy="708579"/>
          </a:xfrm>
          <a:prstGeom prst="rect">
            <a:avLst/>
          </a:prstGeom>
        </p:spPr>
        <p:txBody>
          <a:bodyPr vert="horz" wrap="square" lIns="0" tIns="6401" rIns="0" bIns="0" rtlCol="0">
            <a:spAutoFit/>
          </a:bodyPr>
          <a:lstStyle/>
          <a:p>
            <a:pPr marL="7112" marR="2845" indent="20625">
              <a:lnSpc>
                <a:spcPct val="116700"/>
              </a:lnSpc>
              <a:spcBef>
                <a:spcPts val="50"/>
              </a:spcBef>
              <a:tabLst>
                <a:tab pos="327508" algn="l"/>
                <a:tab pos="502818" algn="l"/>
                <a:tab pos="897534" algn="l"/>
                <a:tab pos="1321765" algn="l"/>
                <a:tab pos="1541882" algn="l"/>
                <a:tab pos="1833118" algn="l"/>
                <a:tab pos="2208276" algn="l"/>
              </a:tabLst>
            </a:pPr>
            <a:r>
              <a:rPr sz="1300" spc="-14" dirty="0">
                <a:latin typeface="Lucida Sans Unicode"/>
                <a:cs typeface="Lucida Sans Unicode"/>
              </a:rPr>
              <a:t>for</a:t>
            </a:r>
            <a:r>
              <a:rPr sz="1300" dirty="0">
                <a:latin typeface="Lucida Sans Unicode"/>
                <a:cs typeface="Lucida Sans Unicode"/>
              </a:rPr>
              <a:t>		</a:t>
            </a:r>
            <a:r>
              <a:rPr sz="1300" spc="22" dirty="0">
                <a:latin typeface="Lucida Sans Unicode"/>
                <a:cs typeface="Lucida Sans Unicode"/>
              </a:rPr>
              <a:t>analyzing</a:t>
            </a:r>
            <a:r>
              <a:rPr sz="1300" dirty="0">
                <a:latin typeface="Lucida Sans Unicode"/>
                <a:cs typeface="Lucida Sans Unicode"/>
              </a:rPr>
              <a:t>		</a:t>
            </a:r>
            <a:r>
              <a:rPr sz="1300" spc="48" dirty="0">
                <a:latin typeface="Lucida Sans Unicode"/>
                <a:cs typeface="Lucida Sans Unicode"/>
              </a:rPr>
              <a:t>accounting </a:t>
            </a:r>
            <a:r>
              <a:rPr sz="1300" spc="-14" dirty="0">
                <a:latin typeface="Lucida Sans Unicode"/>
                <a:cs typeface="Lucida Sans Unicode"/>
              </a:rPr>
              <a:t>to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50" dirty="0">
                <a:latin typeface="Lucida Sans Unicode"/>
                <a:cs typeface="Lucida Sans Unicode"/>
              </a:rPr>
              <a:t>draw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4" dirty="0">
                <a:latin typeface="Lucida Sans Unicode"/>
                <a:cs typeface="Lucida Sans Unicode"/>
              </a:rPr>
              <a:t>out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31" dirty="0">
                <a:latin typeface="Lucida Sans Unicode"/>
                <a:cs typeface="Lucida Sans Unicode"/>
              </a:rPr>
              <a:t>best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4" dirty="0">
                <a:latin typeface="Lucida Sans Unicode"/>
                <a:cs typeface="Lucida Sans Unicode"/>
              </a:rPr>
              <a:t>for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22" dirty="0">
                <a:latin typeface="Lucida Sans Unicode"/>
                <a:cs typeface="Lucida Sans Unicode"/>
              </a:rPr>
              <a:t>the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24136" y="5217579"/>
            <a:ext cx="1284923" cy="1410694"/>
          </a:xfrm>
          <a:prstGeom prst="rect">
            <a:avLst/>
          </a:prstGeom>
        </p:spPr>
        <p:txBody>
          <a:bodyPr vert="horz" wrap="square" lIns="0" tIns="6401" rIns="0" bIns="0" rtlCol="0">
            <a:spAutoFit/>
          </a:bodyPr>
          <a:lstStyle/>
          <a:p>
            <a:pPr marL="7112" marR="2845">
              <a:lnSpc>
                <a:spcPct val="116700"/>
              </a:lnSpc>
              <a:spcBef>
                <a:spcPts val="50"/>
              </a:spcBef>
              <a:tabLst>
                <a:tab pos="1045820" algn="l"/>
                <a:tab pos="1108761" algn="l"/>
              </a:tabLst>
            </a:pPr>
            <a:r>
              <a:rPr sz="1300" spc="22" dirty="0">
                <a:latin typeface="Lucida Sans Unicode"/>
                <a:cs typeface="Lucida Sans Unicode"/>
              </a:rPr>
              <a:t>analyzing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1" dirty="0">
                <a:latin typeface="Lucida Sans Unicode"/>
                <a:cs typeface="Lucida Sans Unicode"/>
              </a:rPr>
              <a:t>tool </a:t>
            </a:r>
            <a:r>
              <a:rPr sz="1300" spc="-6" dirty="0">
                <a:latin typeface="Lucida Sans Unicode"/>
                <a:cs typeface="Lucida Sans Unicode"/>
              </a:rPr>
              <a:t>information</a:t>
            </a:r>
            <a:r>
              <a:rPr sz="1300" dirty="0">
                <a:latin typeface="Lucida Sans Unicode"/>
                <a:cs typeface="Lucida Sans Unicode"/>
              </a:rPr>
              <a:t>		</a:t>
            </a:r>
            <a:r>
              <a:rPr sz="1300" spc="73" dirty="0">
                <a:latin typeface="Lucida Sans Unicode"/>
                <a:cs typeface="Lucida Sans Unicode"/>
              </a:rPr>
              <a:t>and </a:t>
            </a:r>
            <a:r>
              <a:rPr sz="1300" spc="-6" dirty="0">
                <a:latin typeface="Lucida Sans Unicode"/>
                <a:cs typeface="Lucida Sans Unicode"/>
              </a:rPr>
              <a:t>organization.</a:t>
            </a:r>
            <a:endParaRPr sz="13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282364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00" y="8997950"/>
              <a:ext cx="2515235" cy="260350"/>
            </a:xfrm>
            <a:custGeom>
              <a:avLst/>
              <a:gdLst/>
              <a:ahLst/>
              <a:cxnLst/>
              <a:rect l="l" t="t" r="r" b="b"/>
              <a:pathLst>
                <a:path w="2515235" h="260350">
                  <a:moveTo>
                    <a:pt x="2515021" y="260350"/>
                  </a:moveTo>
                  <a:lnTo>
                    <a:pt x="0" y="260350"/>
                  </a:lnTo>
                  <a:lnTo>
                    <a:pt x="0" y="0"/>
                  </a:lnTo>
                  <a:lnTo>
                    <a:pt x="2515021" y="0"/>
                  </a:lnTo>
                  <a:lnTo>
                    <a:pt x="2515021" y="26035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97651" y="1276054"/>
              <a:ext cx="12947015" cy="1438910"/>
            </a:xfrm>
            <a:custGeom>
              <a:avLst/>
              <a:gdLst/>
              <a:ahLst/>
              <a:cxnLst/>
              <a:rect l="l" t="t" r="r" b="b"/>
              <a:pathLst>
                <a:path w="12947015" h="1438910">
                  <a:moveTo>
                    <a:pt x="12462278" y="1438497"/>
                  </a:moveTo>
                  <a:lnTo>
                    <a:pt x="485775" y="1438497"/>
                  </a:lnTo>
                  <a:lnTo>
                    <a:pt x="437762" y="1436120"/>
                  </a:lnTo>
                  <a:lnTo>
                    <a:pt x="390562" y="1429077"/>
                  </a:lnTo>
                  <a:lnTo>
                    <a:pt x="344494" y="1417499"/>
                  </a:lnTo>
                  <a:lnTo>
                    <a:pt x="299876" y="1401519"/>
                  </a:lnTo>
                  <a:lnTo>
                    <a:pt x="257028" y="1381269"/>
                  </a:lnTo>
                  <a:lnTo>
                    <a:pt x="216266" y="1356881"/>
                  </a:lnTo>
                  <a:lnTo>
                    <a:pt x="177911" y="1328486"/>
                  </a:lnTo>
                  <a:lnTo>
                    <a:pt x="142280" y="1296217"/>
                  </a:lnTo>
                  <a:lnTo>
                    <a:pt x="110010" y="1260586"/>
                  </a:lnTo>
                  <a:lnTo>
                    <a:pt x="81615" y="1222230"/>
                  </a:lnTo>
                  <a:lnTo>
                    <a:pt x="57227" y="1181469"/>
                  </a:lnTo>
                  <a:lnTo>
                    <a:pt x="36977" y="1138620"/>
                  </a:lnTo>
                  <a:lnTo>
                    <a:pt x="20997" y="1094002"/>
                  </a:lnTo>
                  <a:lnTo>
                    <a:pt x="9420" y="1047934"/>
                  </a:lnTo>
                  <a:lnTo>
                    <a:pt x="2377" y="1000735"/>
                  </a:lnTo>
                  <a:lnTo>
                    <a:pt x="0" y="952722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2462278" y="0"/>
                  </a:lnTo>
                  <a:lnTo>
                    <a:pt x="12510291" y="2377"/>
                  </a:lnTo>
                  <a:lnTo>
                    <a:pt x="12557491" y="9420"/>
                  </a:lnTo>
                  <a:lnTo>
                    <a:pt x="12603559" y="20997"/>
                  </a:lnTo>
                  <a:lnTo>
                    <a:pt x="12648177" y="36977"/>
                  </a:lnTo>
                  <a:lnTo>
                    <a:pt x="12691025" y="57227"/>
                  </a:lnTo>
                  <a:lnTo>
                    <a:pt x="12731787" y="81615"/>
                  </a:lnTo>
                  <a:lnTo>
                    <a:pt x="12770142" y="110010"/>
                  </a:lnTo>
                  <a:lnTo>
                    <a:pt x="12805774" y="142280"/>
                  </a:lnTo>
                  <a:lnTo>
                    <a:pt x="12838043" y="177911"/>
                  </a:lnTo>
                  <a:lnTo>
                    <a:pt x="12866438" y="216266"/>
                  </a:lnTo>
                  <a:lnTo>
                    <a:pt x="12890826" y="257028"/>
                  </a:lnTo>
                  <a:lnTo>
                    <a:pt x="12911076" y="299877"/>
                  </a:lnTo>
                  <a:lnTo>
                    <a:pt x="12927056" y="344494"/>
                  </a:lnTo>
                  <a:lnTo>
                    <a:pt x="12938633" y="390562"/>
                  </a:lnTo>
                  <a:lnTo>
                    <a:pt x="12945676" y="437762"/>
                  </a:lnTo>
                  <a:lnTo>
                    <a:pt x="12946475" y="453893"/>
                  </a:lnTo>
                  <a:lnTo>
                    <a:pt x="12946475" y="984604"/>
                  </a:lnTo>
                  <a:lnTo>
                    <a:pt x="12938633" y="1047934"/>
                  </a:lnTo>
                  <a:lnTo>
                    <a:pt x="12927056" y="1094002"/>
                  </a:lnTo>
                  <a:lnTo>
                    <a:pt x="12911076" y="1138620"/>
                  </a:lnTo>
                  <a:lnTo>
                    <a:pt x="12890826" y="1181469"/>
                  </a:lnTo>
                  <a:lnTo>
                    <a:pt x="12866438" y="1222230"/>
                  </a:lnTo>
                  <a:lnTo>
                    <a:pt x="12838043" y="1260586"/>
                  </a:lnTo>
                  <a:lnTo>
                    <a:pt x="12805774" y="1296217"/>
                  </a:lnTo>
                  <a:lnTo>
                    <a:pt x="12770142" y="1328486"/>
                  </a:lnTo>
                  <a:lnTo>
                    <a:pt x="12731787" y="1356881"/>
                  </a:lnTo>
                  <a:lnTo>
                    <a:pt x="12691025" y="1381269"/>
                  </a:lnTo>
                  <a:lnTo>
                    <a:pt x="12648177" y="1401519"/>
                  </a:lnTo>
                  <a:lnTo>
                    <a:pt x="12603559" y="1417499"/>
                  </a:lnTo>
                  <a:lnTo>
                    <a:pt x="12557491" y="1429077"/>
                  </a:lnTo>
                  <a:lnTo>
                    <a:pt x="12510291" y="1436120"/>
                  </a:lnTo>
                  <a:lnTo>
                    <a:pt x="12462278" y="1438497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61526" y="931524"/>
            <a:ext cx="6342063" cy="467307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>
              <a:lnSpc>
                <a:spcPct val="114599"/>
              </a:lnSpc>
              <a:spcBef>
                <a:spcPts val="56"/>
              </a:spcBef>
            </a:pPr>
            <a:r>
              <a:rPr sz="1300" spc="-56" dirty="0">
                <a:latin typeface="Arial Black"/>
                <a:cs typeface="Arial Black"/>
              </a:rPr>
              <a:t>Recording:</a:t>
            </a:r>
            <a:r>
              <a:rPr sz="1300" spc="-154" dirty="0">
                <a:latin typeface="Arial Black"/>
                <a:cs typeface="Arial Black"/>
              </a:rPr>
              <a:t> </a:t>
            </a:r>
            <a:r>
              <a:rPr sz="1300" spc="-36" dirty="0">
                <a:latin typeface="Lucida Sans Unicode"/>
                <a:cs typeface="Lucida Sans Unicode"/>
              </a:rPr>
              <a:t>It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spc="-17" dirty="0">
                <a:latin typeface="Lucida Sans Unicode"/>
                <a:cs typeface="Lucida Sans Unicode"/>
              </a:rPr>
              <a:t>is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spc="50" dirty="0">
                <a:latin typeface="Lucida Sans Unicode"/>
                <a:cs typeface="Lucida Sans Unicode"/>
              </a:rPr>
              <a:t>concerned</a:t>
            </a:r>
            <a:r>
              <a:rPr sz="1300" spc="-50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with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recording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50" dirty="0">
                <a:latin typeface="Lucida Sans Unicode"/>
                <a:cs typeface="Lucida Sans Unicode"/>
              </a:rPr>
              <a:t> </a:t>
            </a:r>
            <a:r>
              <a:rPr sz="1300" spc="25" dirty="0">
                <a:latin typeface="Lucida Sans Unicode"/>
                <a:cs typeface="Lucida Sans Unicode"/>
              </a:rPr>
              <a:t>financial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spc="31" dirty="0">
                <a:latin typeface="Lucida Sans Unicode"/>
                <a:cs typeface="Lucida Sans Unicode"/>
              </a:rPr>
              <a:t>transactions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322" dirty="0">
                <a:latin typeface="Lucida Sans Unicode"/>
                <a:cs typeface="Lucida Sans Unicode"/>
              </a:rPr>
              <a:t> </a:t>
            </a:r>
            <a:r>
              <a:rPr sz="1300" spc="92" dirty="0">
                <a:latin typeface="Lucida Sans Unicode"/>
                <a:cs typeface="Lucida Sans Unicode"/>
              </a:rPr>
              <a:t>an</a:t>
            </a:r>
            <a:r>
              <a:rPr sz="1300" spc="-53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orderly </a:t>
            </a:r>
            <a:r>
              <a:rPr sz="1300" spc="25" dirty="0">
                <a:latin typeface="Lucida Sans Unicode"/>
                <a:cs typeface="Lucida Sans Unicode"/>
              </a:rPr>
              <a:t>manner,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soon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after</a:t>
            </a:r>
            <a:r>
              <a:rPr sz="1300" spc="-4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their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spc="48" dirty="0">
                <a:latin typeface="Lucida Sans Unicode"/>
                <a:cs typeface="Lucida Sans Unicode"/>
              </a:rPr>
              <a:t>occurrence</a:t>
            </a:r>
            <a:r>
              <a:rPr sz="1300" spc="-4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-4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proper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books</a:t>
            </a:r>
            <a:r>
              <a:rPr sz="1300" spc="-4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45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accounts.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2703" y="850703"/>
            <a:ext cx="719455" cy="959273"/>
          </a:xfrm>
          <a:custGeom>
            <a:avLst/>
            <a:gdLst/>
            <a:ahLst/>
            <a:cxnLst/>
            <a:rect l="l" t="t" r="r" b="b"/>
            <a:pathLst>
              <a:path w="1438910" h="1438910">
                <a:moveTo>
                  <a:pt x="719248" y="1438497"/>
                </a:moveTo>
                <a:lnTo>
                  <a:pt x="671957" y="1436967"/>
                </a:lnTo>
                <a:lnTo>
                  <a:pt x="625483" y="1432440"/>
                </a:lnTo>
                <a:lnTo>
                  <a:pt x="579921" y="1425012"/>
                </a:lnTo>
                <a:lnTo>
                  <a:pt x="535365" y="1414777"/>
                </a:lnTo>
                <a:lnTo>
                  <a:pt x="491910" y="1401829"/>
                </a:lnTo>
                <a:lnTo>
                  <a:pt x="449651" y="1386264"/>
                </a:lnTo>
                <a:lnTo>
                  <a:pt x="408683" y="1368176"/>
                </a:lnTo>
                <a:lnTo>
                  <a:pt x="369100" y="1347660"/>
                </a:lnTo>
                <a:lnTo>
                  <a:pt x="330997" y="1324811"/>
                </a:lnTo>
                <a:lnTo>
                  <a:pt x="294469" y="1299724"/>
                </a:lnTo>
                <a:lnTo>
                  <a:pt x="259611" y="1272492"/>
                </a:lnTo>
                <a:lnTo>
                  <a:pt x="226518" y="1243212"/>
                </a:lnTo>
                <a:lnTo>
                  <a:pt x="195284" y="1211978"/>
                </a:lnTo>
                <a:lnTo>
                  <a:pt x="166004" y="1178885"/>
                </a:lnTo>
                <a:lnTo>
                  <a:pt x="138773" y="1144027"/>
                </a:lnTo>
                <a:lnTo>
                  <a:pt x="113685" y="1107499"/>
                </a:lnTo>
                <a:lnTo>
                  <a:pt x="90836" y="1069397"/>
                </a:lnTo>
                <a:lnTo>
                  <a:pt x="70320" y="1029814"/>
                </a:lnTo>
                <a:lnTo>
                  <a:pt x="52232" y="988845"/>
                </a:lnTo>
                <a:lnTo>
                  <a:pt x="36667" y="946586"/>
                </a:lnTo>
                <a:lnTo>
                  <a:pt x="23720" y="903131"/>
                </a:lnTo>
                <a:lnTo>
                  <a:pt x="13484" y="858575"/>
                </a:lnTo>
                <a:lnTo>
                  <a:pt x="6056" y="813013"/>
                </a:lnTo>
                <a:lnTo>
                  <a:pt x="1529" y="766539"/>
                </a:lnTo>
                <a:lnTo>
                  <a:pt x="0" y="719248"/>
                </a:lnTo>
                <a:lnTo>
                  <a:pt x="1529" y="671957"/>
                </a:lnTo>
                <a:lnTo>
                  <a:pt x="6056" y="625483"/>
                </a:lnTo>
                <a:lnTo>
                  <a:pt x="13484" y="579921"/>
                </a:lnTo>
                <a:lnTo>
                  <a:pt x="23720" y="535365"/>
                </a:lnTo>
                <a:lnTo>
                  <a:pt x="36667" y="491910"/>
                </a:lnTo>
                <a:lnTo>
                  <a:pt x="52232" y="449651"/>
                </a:lnTo>
                <a:lnTo>
                  <a:pt x="70320" y="408683"/>
                </a:lnTo>
                <a:lnTo>
                  <a:pt x="90836" y="369100"/>
                </a:lnTo>
                <a:lnTo>
                  <a:pt x="113685" y="330997"/>
                </a:lnTo>
                <a:lnTo>
                  <a:pt x="138773" y="294469"/>
                </a:lnTo>
                <a:lnTo>
                  <a:pt x="166004" y="259611"/>
                </a:lnTo>
                <a:lnTo>
                  <a:pt x="195284" y="226518"/>
                </a:lnTo>
                <a:lnTo>
                  <a:pt x="226518" y="195284"/>
                </a:lnTo>
                <a:lnTo>
                  <a:pt x="259611" y="166004"/>
                </a:lnTo>
                <a:lnTo>
                  <a:pt x="294469" y="138773"/>
                </a:lnTo>
                <a:lnTo>
                  <a:pt x="330997" y="113685"/>
                </a:lnTo>
                <a:lnTo>
                  <a:pt x="369100" y="90836"/>
                </a:lnTo>
                <a:lnTo>
                  <a:pt x="408683" y="70320"/>
                </a:lnTo>
                <a:lnTo>
                  <a:pt x="449651" y="52232"/>
                </a:lnTo>
                <a:lnTo>
                  <a:pt x="491910" y="36667"/>
                </a:lnTo>
                <a:lnTo>
                  <a:pt x="535365" y="23720"/>
                </a:lnTo>
                <a:lnTo>
                  <a:pt x="579921" y="13484"/>
                </a:lnTo>
                <a:lnTo>
                  <a:pt x="625483" y="6056"/>
                </a:lnTo>
                <a:lnTo>
                  <a:pt x="671957" y="1529"/>
                </a:lnTo>
                <a:lnTo>
                  <a:pt x="719248" y="0"/>
                </a:lnTo>
                <a:lnTo>
                  <a:pt x="766539" y="1529"/>
                </a:lnTo>
                <a:lnTo>
                  <a:pt x="813013" y="6056"/>
                </a:lnTo>
                <a:lnTo>
                  <a:pt x="858575" y="13484"/>
                </a:lnTo>
                <a:lnTo>
                  <a:pt x="903131" y="23720"/>
                </a:lnTo>
                <a:lnTo>
                  <a:pt x="946586" y="36667"/>
                </a:lnTo>
                <a:lnTo>
                  <a:pt x="988845" y="52232"/>
                </a:lnTo>
                <a:lnTo>
                  <a:pt x="1029814" y="70320"/>
                </a:lnTo>
                <a:lnTo>
                  <a:pt x="1069397" y="90836"/>
                </a:lnTo>
                <a:lnTo>
                  <a:pt x="1107499" y="113685"/>
                </a:lnTo>
                <a:lnTo>
                  <a:pt x="1144027" y="138773"/>
                </a:lnTo>
                <a:lnTo>
                  <a:pt x="1178885" y="166004"/>
                </a:lnTo>
                <a:lnTo>
                  <a:pt x="1211978" y="195284"/>
                </a:lnTo>
                <a:lnTo>
                  <a:pt x="1243212" y="226518"/>
                </a:lnTo>
                <a:lnTo>
                  <a:pt x="1272492" y="259611"/>
                </a:lnTo>
                <a:lnTo>
                  <a:pt x="1299724" y="294469"/>
                </a:lnTo>
                <a:lnTo>
                  <a:pt x="1324811" y="330997"/>
                </a:lnTo>
                <a:lnTo>
                  <a:pt x="1347660" y="369100"/>
                </a:lnTo>
                <a:lnTo>
                  <a:pt x="1368176" y="408683"/>
                </a:lnTo>
                <a:lnTo>
                  <a:pt x="1386264" y="449651"/>
                </a:lnTo>
                <a:lnTo>
                  <a:pt x="1401829" y="491910"/>
                </a:lnTo>
                <a:lnTo>
                  <a:pt x="1414777" y="535365"/>
                </a:lnTo>
                <a:lnTo>
                  <a:pt x="1425012" y="579921"/>
                </a:lnTo>
                <a:lnTo>
                  <a:pt x="1432440" y="625483"/>
                </a:lnTo>
                <a:lnTo>
                  <a:pt x="1436967" y="671957"/>
                </a:lnTo>
                <a:lnTo>
                  <a:pt x="1438497" y="719248"/>
                </a:lnTo>
                <a:lnTo>
                  <a:pt x="1436967" y="766539"/>
                </a:lnTo>
                <a:lnTo>
                  <a:pt x="1432440" y="813013"/>
                </a:lnTo>
                <a:lnTo>
                  <a:pt x="1425012" y="858575"/>
                </a:lnTo>
                <a:lnTo>
                  <a:pt x="1414777" y="903131"/>
                </a:lnTo>
                <a:lnTo>
                  <a:pt x="1401829" y="946586"/>
                </a:lnTo>
                <a:lnTo>
                  <a:pt x="1386264" y="988845"/>
                </a:lnTo>
                <a:lnTo>
                  <a:pt x="1368176" y="1029814"/>
                </a:lnTo>
                <a:lnTo>
                  <a:pt x="1347660" y="1069397"/>
                </a:lnTo>
                <a:lnTo>
                  <a:pt x="1324811" y="1107499"/>
                </a:lnTo>
                <a:lnTo>
                  <a:pt x="1299724" y="1144027"/>
                </a:lnTo>
                <a:lnTo>
                  <a:pt x="1272492" y="1178885"/>
                </a:lnTo>
                <a:lnTo>
                  <a:pt x="1243212" y="1211978"/>
                </a:lnTo>
                <a:lnTo>
                  <a:pt x="1211978" y="1243212"/>
                </a:lnTo>
                <a:lnTo>
                  <a:pt x="1178885" y="1272492"/>
                </a:lnTo>
                <a:lnTo>
                  <a:pt x="1144027" y="1299724"/>
                </a:lnTo>
                <a:lnTo>
                  <a:pt x="1107499" y="1324811"/>
                </a:lnTo>
                <a:lnTo>
                  <a:pt x="1069397" y="1347660"/>
                </a:lnTo>
                <a:lnTo>
                  <a:pt x="1029814" y="1368176"/>
                </a:lnTo>
                <a:lnTo>
                  <a:pt x="988845" y="1386264"/>
                </a:lnTo>
                <a:lnTo>
                  <a:pt x="946586" y="1401829"/>
                </a:lnTo>
                <a:lnTo>
                  <a:pt x="903131" y="1414777"/>
                </a:lnTo>
                <a:lnTo>
                  <a:pt x="858575" y="1425012"/>
                </a:lnTo>
                <a:lnTo>
                  <a:pt x="813013" y="1432440"/>
                </a:lnTo>
                <a:lnTo>
                  <a:pt x="766539" y="1436967"/>
                </a:lnTo>
                <a:lnTo>
                  <a:pt x="719248" y="1438497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10271" y="1172500"/>
            <a:ext cx="184150" cy="4688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500" spc="106" dirty="0">
                <a:latin typeface="Arial MT"/>
                <a:cs typeface="Arial MT"/>
              </a:rPr>
              <a:t>1.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57200" y="165259"/>
            <a:ext cx="8229600" cy="1361758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1870456">
              <a:spcBef>
                <a:spcPts val="59"/>
              </a:spcBef>
            </a:pPr>
            <a:r>
              <a:rPr spc="271" dirty="0"/>
              <a:t>FUNCTIONS</a:t>
            </a:r>
            <a:r>
              <a:rPr spc="-78" dirty="0"/>
              <a:t> </a:t>
            </a:r>
            <a:r>
              <a:rPr spc="221" dirty="0"/>
              <a:t>OF</a:t>
            </a:r>
            <a:r>
              <a:rPr spc="-78" dirty="0"/>
              <a:t> </a:t>
            </a:r>
            <a:r>
              <a:rPr spc="328" dirty="0"/>
              <a:t>ACCOUNTING</a:t>
            </a:r>
          </a:p>
        </p:txBody>
      </p:sp>
      <p:sp>
        <p:nvSpPr>
          <p:cNvPr id="10" name="object 10"/>
          <p:cNvSpPr/>
          <p:nvPr/>
        </p:nvSpPr>
        <p:spPr>
          <a:xfrm>
            <a:off x="942703" y="1959106"/>
            <a:ext cx="719455" cy="959273"/>
          </a:xfrm>
          <a:custGeom>
            <a:avLst/>
            <a:gdLst/>
            <a:ahLst/>
            <a:cxnLst/>
            <a:rect l="l" t="t" r="r" b="b"/>
            <a:pathLst>
              <a:path w="1438910" h="1438910">
                <a:moveTo>
                  <a:pt x="719248" y="1438497"/>
                </a:moveTo>
                <a:lnTo>
                  <a:pt x="671957" y="1436967"/>
                </a:lnTo>
                <a:lnTo>
                  <a:pt x="625483" y="1432440"/>
                </a:lnTo>
                <a:lnTo>
                  <a:pt x="579921" y="1425012"/>
                </a:lnTo>
                <a:lnTo>
                  <a:pt x="535365" y="1414777"/>
                </a:lnTo>
                <a:lnTo>
                  <a:pt x="491910" y="1401829"/>
                </a:lnTo>
                <a:lnTo>
                  <a:pt x="449651" y="1386264"/>
                </a:lnTo>
                <a:lnTo>
                  <a:pt x="408683" y="1368176"/>
                </a:lnTo>
                <a:lnTo>
                  <a:pt x="369100" y="1347660"/>
                </a:lnTo>
                <a:lnTo>
                  <a:pt x="330997" y="1324811"/>
                </a:lnTo>
                <a:lnTo>
                  <a:pt x="294469" y="1299723"/>
                </a:lnTo>
                <a:lnTo>
                  <a:pt x="259611" y="1272492"/>
                </a:lnTo>
                <a:lnTo>
                  <a:pt x="226518" y="1243212"/>
                </a:lnTo>
                <a:lnTo>
                  <a:pt x="195284" y="1211978"/>
                </a:lnTo>
                <a:lnTo>
                  <a:pt x="166004" y="1178885"/>
                </a:lnTo>
                <a:lnTo>
                  <a:pt x="138773" y="1144027"/>
                </a:lnTo>
                <a:lnTo>
                  <a:pt x="113685" y="1107499"/>
                </a:lnTo>
                <a:lnTo>
                  <a:pt x="90836" y="1069397"/>
                </a:lnTo>
                <a:lnTo>
                  <a:pt x="70320" y="1029814"/>
                </a:lnTo>
                <a:lnTo>
                  <a:pt x="52232" y="988845"/>
                </a:lnTo>
                <a:lnTo>
                  <a:pt x="36667" y="946586"/>
                </a:lnTo>
                <a:lnTo>
                  <a:pt x="23720" y="903131"/>
                </a:lnTo>
                <a:lnTo>
                  <a:pt x="13484" y="858575"/>
                </a:lnTo>
                <a:lnTo>
                  <a:pt x="6056" y="813013"/>
                </a:lnTo>
                <a:lnTo>
                  <a:pt x="1529" y="766539"/>
                </a:lnTo>
                <a:lnTo>
                  <a:pt x="0" y="719248"/>
                </a:lnTo>
                <a:lnTo>
                  <a:pt x="1529" y="671957"/>
                </a:lnTo>
                <a:lnTo>
                  <a:pt x="6056" y="625483"/>
                </a:lnTo>
                <a:lnTo>
                  <a:pt x="13484" y="579921"/>
                </a:lnTo>
                <a:lnTo>
                  <a:pt x="23720" y="535365"/>
                </a:lnTo>
                <a:lnTo>
                  <a:pt x="36667" y="491910"/>
                </a:lnTo>
                <a:lnTo>
                  <a:pt x="52232" y="449651"/>
                </a:lnTo>
                <a:lnTo>
                  <a:pt x="70320" y="408682"/>
                </a:lnTo>
                <a:lnTo>
                  <a:pt x="90836" y="369100"/>
                </a:lnTo>
                <a:lnTo>
                  <a:pt x="113685" y="330997"/>
                </a:lnTo>
                <a:lnTo>
                  <a:pt x="138773" y="294469"/>
                </a:lnTo>
                <a:lnTo>
                  <a:pt x="166004" y="259611"/>
                </a:lnTo>
                <a:lnTo>
                  <a:pt x="195284" y="226518"/>
                </a:lnTo>
                <a:lnTo>
                  <a:pt x="226518" y="195284"/>
                </a:lnTo>
                <a:lnTo>
                  <a:pt x="259611" y="166004"/>
                </a:lnTo>
                <a:lnTo>
                  <a:pt x="294469" y="138773"/>
                </a:lnTo>
                <a:lnTo>
                  <a:pt x="330997" y="113685"/>
                </a:lnTo>
                <a:lnTo>
                  <a:pt x="369100" y="90836"/>
                </a:lnTo>
                <a:lnTo>
                  <a:pt x="408683" y="70320"/>
                </a:lnTo>
                <a:lnTo>
                  <a:pt x="449651" y="52232"/>
                </a:lnTo>
                <a:lnTo>
                  <a:pt x="491910" y="36667"/>
                </a:lnTo>
                <a:lnTo>
                  <a:pt x="535365" y="23720"/>
                </a:lnTo>
                <a:lnTo>
                  <a:pt x="579921" y="13484"/>
                </a:lnTo>
                <a:lnTo>
                  <a:pt x="625483" y="6056"/>
                </a:lnTo>
                <a:lnTo>
                  <a:pt x="671957" y="1529"/>
                </a:lnTo>
                <a:lnTo>
                  <a:pt x="719248" y="0"/>
                </a:lnTo>
                <a:lnTo>
                  <a:pt x="766539" y="1529"/>
                </a:lnTo>
                <a:lnTo>
                  <a:pt x="813013" y="6056"/>
                </a:lnTo>
                <a:lnTo>
                  <a:pt x="858575" y="13484"/>
                </a:lnTo>
                <a:lnTo>
                  <a:pt x="903131" y="23720"/>
                </a:lnTo>
                <a:lnTo>
                  <a:pt x="946586" y="36667"/>
                </a:lnTo>
                <a:lnTo>
                  <a:pt x="988845" y="52232"/>
                </a:lnTo>
                <a:lnTo>
                  <a:pt x="1029814" y="70320"/>
                </a:lnTo>
                <a:lnTo>
                  <a:pt x="1069397" y="90836"/>
                </a:lnTo>
                <a:lnTo>
                  <a:pt x="1107499" y="113685"/>
                </a:lnTo>
                <a:lnTo>
                  <a:pt x="1144027" y="138773"/>
                </a:lnTo>
                <a:lnTo>
                  <a:pt x="1178885" y="166004"/>
                </a:lnTo>
                <a:lnTo>
                  <a:pt x="1211978" y="195284"/>
                </a:lnTo>
                <a:lnTo>
                  <a:pt x="1243212" y="226518"/>
                </a:lnTo>
                <a:lnTo>
                  <a:pt x="1272492" y="259611"/>
                </a:lnTo>
                <a:lnTo>
                  <a:pt x="1299724" y="294469"/>
                </a:lnTo>
                <a:lnTo>
                  <a:pt x="1324811" y="330997"/>
                </a:lnTo>
                <a:lnTo>
                  <a:pt x="1347660" y="369100"/>
                </a:lnTo>
                <a:lnTo>
                  <a:pt x="1368176" y="408682"/>
                </a:lnTo>
                <a:lnTo>
                  <a:pt x="1386264" y="449651"/>
                </a:lnTo>
                <a:lnTo>
                  <a:pt x="1401829" y="491910"/>
                </a:lnTo>
                <a:lnTo>
                  <a:pt x="1414777" y="535365"/>
                </a:lnTo>
                <a:lnTo>
                  <a:pt x="1425012" y="579921"/>
                </a:lnTo>
                <a:lnTo>
                  <a:pt x="1432440" y="625483"/>
                </a:lnTo>
                <a:lnTo>
                  <a:pt x="1436967" y="671957"/>
                </a:lnTo>
                <a:lnTo>
                  <a:pt x="1438497" y="719248"/>
                </a:lnTo>
                <a:lnTo>
                  <a:pt x="1436967" y="766539"/>
                </a:lnTo>
                <a:lnTo>
                  <a:pt x="1432440" y="813013"/>
                </a:lnTo>
                <a:lnTo>
                  <a:pt x="1425012" y="858575"/>
                </a:lnTo>
                <a:lnTo>
                  <a:pt x="1414777" y="903131"/>
                </a:lnTo>
                <a:lnTo>
                  <a:pt x="1401829" y="946586"/>
                </a:lnTo>
                <a:lnTo>
                  <a:pt x="1386264" y="988845"/>
                </a:lnTo>
                <a:lnTo>
                  <a:pt x="1368176" y="1029814"/>
                </a:lnTo>
                <a:lnTo>
                  <a:pt x="1347660" y="1069397"/>
                </a:lnTo>
                <a:lnTo>
                  <a:pt x="1324811" y="1107499"/>
                </a:lnTo>
                <a:lnTo>
                  <a:pt x="1299724" y="1144027"/>
                </a:lnTo>
                <a:lnTo>
                  <a:pt x="1272492" y="1178885"/>
                </a:lnTo>
                <a:lnTo>
                  <a:pt x="1243212" y="1211978"/>
                </a:lnTo>
                <a:lnTo>
                  <a:pt x="1211978" y="1243212"/>
                </a:lnTo>
                <a:lnTo>
                  <a:pt x="1178885" y="1272492"/>
                </a:lnTo>
                <a:lnTo>
                  <a:pt x="1144027" y="1299723"/>
                </a:lnTo>
                <a:lnTo>
                  <a:pt x="1107499" y="1324811"/>
                </a:lnTo>
                <a:lnTo>
                  <a:pt x="1069397" y="1347660"/>
                </a:lnTo>
                <a:lnTo>
                  <a:pt x="1029814" y="1368176"/>
                </a:lnTo>
                <a:lnTo>
                  <a:pt x="988845" y="1386264"/>
                </a:lnTo>
                <a:lnTo>
                  <a:pt x="946586" y="1401829"/>
                </a:lnTo>
                <a:lnTo>
                  <a:pt x="903131" y="1414777"/>
                </a:lnTo>
                <a:lnTo>
                  <a:pt x="858575" y="1425012"/>
                </a:lnTo>
                <a:lnTo>
                  <a:pt x="813013" y="1432440"/>
                </a:lnTo>
                <a:lnTo>
                  <a:pt x="766539" y="1436967"/>
                </a:lnTo>
                <a:lnTo>
                  <a:pt x="719248" y="1438497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10271" y="2280903"/>
            <a:ext cx="184150" cy="4688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500" spc="106" dirty="0">
                <a:latin typeface="Arial MT"/>
                <a:cs typeface="Arial MT"/>
              </a:rPr>
              <a:t>2.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48826" y="1985612"/>
            <a:ext cx="6473508" cy="1067647"/>
          </a:xfrm>
          <a:custGeom>
            <a:avLst/>
            <a:gdLst/>
            <a:ahLst/>
            <a:cxnLst/>
            <a:rect l="l" t="t" r="r" b="b"/>
            <a:pathLst>
              <a:path w="12947015" h="1601470">
                <a:moveTo>
                  <a:pt x="12462281" y="1601134"/>
                </a:moveTo>
                <a:lnTo>
                  <a:pt x="485775" y="1601134"/>
                </a:lnTo>
                <a:lnTo>
                  <a:pt x="437762" y="1598757"/>
                </a:lnTo>
                <a:lnTo>
                  <a:pt x="390562" y="1591714"/>
                </a:lnTo>
                <a:lnTo>
                  <a:pt x="344494" y="1580137"/>
                </a:lnTo>
                <a:lnTo>
                  <a:pt x="299877" y="1564157"/>
                </a:lnTo>
                <a:lnTo>
                  <a:pt x="257028" y="1543907"/>
                </a:lnTo>
                <a:lnTo>
                  <a:pt x="216266" y="1519518"/>
                </a:lnTo>
                <a:lnTo>
                  <a:pt x="177911" y="1491124"/>
                </a:lnTo>
                <a:lnTo>
                  <a:pt x="142280" y="1458854"/>
                </a:lnTo>
                <a:lnTo>
                  <a:pt x="110010" y="1423223"/>
                </a:lnTo>
                <a:lnTo>
                  <a:pt x="81615" y="1384868"/>
                </a:lnTo>
                <a:lnTo>
                  <a:pt x="57227" y="1344106"/>
                </a:lnTo>
                <a:lnTo>
                  <a:pt x="36977" y="1301257"/>
                </a:lnTo>
                <a:lnTo>
                  <a:pt x="20997" y="1256640"/>
                </a:lnTo>
                <a:lnTo>
                  <a:pt x="9420" y="1210572"/>
                </a:lnTo>
                <a:lnTo>
                  <a:pt x="2377" y="1163372"/>
                </a:lnTo>
                <a:lnTo>
                  <a:pt x="0" y="1115359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2462281" y="0"/>
                </a:lnTo>
                <a:lnTo>
                  <a:pt x="12510293" y="2377"/>
                </a:lnTo>
                <a:lnTo>
                  <a:pt x="12557493" y="9420"/>
                </a:lnTo>
                <a:lnTo>
                  <a:pt x="12603561" y="20997"/>
                </a:lnTo>
                <a:lnTo>
                  <a:pt x="12648178" y="36977"/>
                </a:lnTo>
                <a:lnTo>
                  <a:pt x="12691027" y="57227"/>
                </a:lnTo>
                <a:lnTo>
                  <a:pt x="12731788" y="81615"/>
                </a:lnTo>
                <a:lnTo>
                  <a:pt x="12770144" y="110010"/>
                </a:lnTo>
                <a:lnTo>
                  <a:pt x="12805775" y="142280"/>
                </a:lnTo>
                <a:lnTo>
                  <a:pt x="12838044" y="177911"/>
                </a:lnTo>
                <a:lnTo>
                  <a:pt x="12866439" y="216266"/>
                </a:lnTo>
                <a:lnTo>
                  <a:pt x="12890827" y="257028"/>
                </a:lnTo>
                <a:lnTo>
                  <a:pt x="12911077" y="299877"/>
                </a:lnTo>
                <a:lnTo>
                  <a:pt x="12927057" y="344494"/>
                </a:lnTo>
                <a:lnTo>
                  <a:pt x="12938634" y="390562"/>
                </a:lnTo>
                <a:lnTo>
                  <a:pt x="12945678" y="437762"/>
                </a:lnTo>
                <a:lnTo>
                  <a:pt x="12946676" y="457931"/>
                </a:lnTo>
                <a:lnTo>
                  <a:pt x="12946676" y="1143203"/>
                </a:lnTo>
                <a:lnTo>
                  <a:pt x="12938634" y="1210572"/>
                </a:lnTo>
                <a:lnTo>
                  <a:pt x="12927057" y="1256640"/>
                </a:lnTo>
                <a:lnTo>
                  <a:pt x="12911077" y="1301257"/>
                </a:lnTo>
                <a:lnTo>
                  <a:pt x="12890827" y="1344106"/>
                </a:lnTo>
                <a:lnTo>
                  <a:pt x="12866439" y="1384868"/>
                </a:lnTo>
                <a:lnTo>
                  <a:pt x="12838044" y="1423223"/>
                </a:lnTo>
                <a:lnTo>
                  <a:pt x="12805775" y="1458854"/>
                </a:lnTo>
                <a:lnTo>
                  <a:pt x="12770144" y="1491124"/>
                </a:lnTo>
                <a:lnTo>
                  <a:pt x="12731788" y="1519518"/>
                </a:lnTo>
                <a:lnTo>
                  <a:pt x="12691027" y="1543907"/>
                </a:lnTo>
                <a:lnTo>
                  <a:pt x="12648178" y="1564157"/>
                </a:lnTo>
                <a:lnTo>
                  <a:pt x="12603561" y="1580137"/>
                </a:lnTo>
                <a:lnTo>
                  <a:pt x="12557493" y="1591714"/>
                </a:lnTo>
                <a:lnTo>
                  <a:pt x="12510293" y="1598757"/>
                </a:lnTo>
                <a:lnTo>
                  <a:pt x="12462281" y="1601134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48826" y="2056186"/>
            <a:ext cx="6474460" cy="703269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21336" marR="17069" indent="82499">
              <a:lnSpc>
                <a:spcPct val="114599"/>
              </a:lnSpc>
              <a:spcBef>
                <a:spcPts val="56"/>
              </a:spcBef>
            </a:pPr>
            <a:r>
              <a:rPr sz="1300" spc="-34" dirty="0">
                <a:latin typeface="Arial Black"/>
                <a:cs typeface="Arial Black"/>
              </a:rPr>
              <a:t>Classifying</a:t>
            </a:r>
            <a:r>
              <a:rPr sz="1300" spc="-87" dirty="0">
                <a:latin typeface="Arial Black"/>
                <a:cs typeface="Arial Black"/>
              </a:rPr>
              <a:t> </a:t>
            </a:r>
            <a:r>
              <a:rPr sz="1300" spc="-142" dirty="0">
                <a:solidFill>
                  <a:srgbClr val="004AAC"/>
                </a:solidFill>
                <a:latin typeface="Lucida Sans Unicode"/>
                <a:cs typeface="Lucida Sans Unicode"/>
              </a:rPr>
              <a:t>:</a:t>
            </a:r>
            <a:r>
              <a:rPr sz="1300" spc="-62" dirty="0">
                <a:solidFill>
                  <a:srgbClr val="004AAC"/>
                </a:solidFill>
                <a:latin typeface="Lucida Sans Unicode"/>
                <a:cs typeface="Lucida Sans Unicode"/>
              </a:rPr>
              <a:t> </a:t>
            </a:r>
            <a:r>
              <a:rPr sz="1300" spc="-36" dirty="0">
                <a:solidFill>
                  <a:srgbClr val="070404"/>
                </a:solidFill>
                <a:latin typeface="Lucida Sans Unicode"/>
                <a:cs typeface="Lucida Sans Unicode"/>
              </a:rPr>
              <a:t>It</a:t>
            </a:r>
            <a:r>
              <a:rPr sz="1300" spc="-59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-11" dirty="0">
                <a:solidFill>
                  <a:srgbClr val="070404"/>
                </a:solidFill>
                <a:latin typeface="Lucida Sans Unicode"/>
                <a:cs typeface="Lucida Sans Unicode"/>
              </a:rPr>
              <a:t>Is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50" dirty="0">
                <a:solidFill>
                  <a:srgbClr val="070404"/>
                </a:solidFill>
                <a:latin typeface="Lucida Sans Unicode"/>
                <a:cs typeface="Lucida Sans Unicode"/>
              </a:rPr>
              <a:t>concerned</a:t>
            </a:r>
            <a:r>
              <a:rPr sz="1300" spc="-59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with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28" dirty="0">
                <a:solidFill>
                  <a:srgbClr val="070404"/>
                </a:solidFill>
                <a:latin typeface="Lucida Sans Unicode"/>
                <a:cs typeface="Lucida Sans Unicode"/>
              </a:rPr>
              <a:t>the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45" dirty="0">
                <a:solidFill>
                  <a:srgbClr val="070404"/>
                </a:solidFill>
                <a:latin typeface="Lucida Sans Unicode"/>
                <a:cs typeface="Lucida Sans Unicode"/>
              </a:rPr>
              <a:t>systematic</a:t>
            </a:r>
            <a:r>
              <a:rPr sz="1300" spc="-59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34" dirty="0">
                <a:solidFill>
                  <a:srgbClr val="070404"/>
                </a:solidFill>
                <a:latin typeface="Lucida Sans Unicode"/>
                <a:cs typeface="Lucida Sans Unicode"/>
              </a:rPr>
              <a:t>analysis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of</a:t>
            </a:r>
            <a:r>
              <a:rPr sz="1300" spc="-59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28" dirty="0">
                <a:solidFill>
                  <a:srgbClr val="070404"/>
                </a:solidFill>
                <a:latin typeface="Lucida Sans Unicode"/>
                <a:cs typeface="Lucida Sans Unicode"/>
              </a:rPr>
              <a:t>the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36" dirty="0">
                <a:solidFill>
                  <a:srgbClr val="070404"/>
                </a:solidFill>
                <a:latin typeface="Lucida Sans Unicode"/>
                <a:cs typeface="Lucida Sans Unicode"/>
              </a:rPr>
              <a:t>recorded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90" dirty="0">
                <a:solidFill>
                  <a:srgbClr val="070404"/>
                </a:solidFill>
                <a:latin typeface="Lucida Sans Unicode"/>
                <a:cs typeface="Lucida Sans Unicode"/>
              </a:rPr>
              <a:t>data</a:t>
            </a:r>
            <a:r>
              <a:rPr sz="1300" spc="-59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so</a:t>
            </a:r>
            <a:r>
              <a:rPr sz="1300" spc="-62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73" dirty="0">
                <a:solidFill>
                  <a:srgbClr val="070404"/>
                </a:solidFill>
                <a:latin typeface="Lucida Sans Unicode"/>
                <a:cs typeface="Lucida Sans Unicode"/>
              </a:rPr>
              <a:t>as </a:t>
            </a:r>
            <a:r>
              <a:rPr sz="2000" spc="-92" baseline="19675" dirty="0">
                <a:latin typeface="Lucida Sans Unicode"/>
                <a:cs typeface="Lucida Sans Unicode"/>
              </a:rPr>
              <a:t>I</a:t>
            </a:r>
            <a:r>
              <a:rPr sz="2000" spc="-147" baseline="19675" dirty="0"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to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73" dirty="0">
                <a:solidFill>
                  <a:srgbClr val="070404"/>
                </a:solidFill>
                <a:latin typeface="Lucida Sans Unicode"/>
                <a:cs typeface="Lucida Sans Unicode"/>
              </a:rPr>
              <a:t>accumulate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28" dirty="0">
                <a:solidFill>
                  <a:srgbClr val="070404"/>
                </a:solidFill>
                <a:latin typeface="Lucida Sans Unicode"/>
                <a:cs typeface="Lucida Sans Unicode"/>
              </a:rPr>
              <a:t>the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31" dirty="0">
                <a:solidFill>
                  <a:srgbClr val="070404"/>
                </a:solidFill>
                <a:latin typeface="Lucida Sans Unicode"/>
                <a:cs typeface="Lucida Sans Unicode"/>
              </a:rPr>
              <a:t>transactions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of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similar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42" dirty="0">
                <a:solidFill>
                  <a:srgbClr val="070404"/>
                </a:solidFill>
                <a:latin typeface="Lucida Sans Unicode"/>
                <a:cs typeface="Lucida Sans Unicode"/>
              </a:rPr>
              <a:t>type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70" dirty="0">
                <a:solidFill>
                  <a:srgbClr val="070404"/>
                </a:solidFill>
                <a:latin typeface="Lucida Sans Unicode"/>
                <a:cs typeface="Lucida Sans Unicode"/>
              </a:rPr>
              <a:t>at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45" dirty="0">
                <a:solidFill>
                  <a:srgbClr val="070404"/>
                </a:solidFill>
                <a:latin typeface="Lucida Sans Unicode"/>
                <a:cs typeface="Lucida Sans Unicode"/>
              </a:rPr>
              <a:t>one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34" dirty="0">
                <a:solidFill>
                  <a:srgbClr val="070404"/>
                </a:solidFill>
                <a:latin typeface="Lucida Sans Unicode"/>
                <a:cs typeface="Lucida Sans Unicode"/>
              </a:rPr>
              <a:t>place.</a:t>
            </a:r>
            <a:r>
              <a:rPr sz="1300" spc="-53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-42" dirty="0">
                <a:solidFill>
                  <a:srgbClr val="070404"/>
                </a:solidFill>
                <a:latin typeface="Lucida Sans Unicode"/>
                <a:cs typeface="Lucida Sans Unicode"/>
              </a:rPr>
              <a:t>This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070404"/>
                </a:solidFill>
                <a:latin typeface="Lucida Sans Unicode"/>
                <a:cs typeface="Lucida Sans Unicode"/>
              </a:rPr>
              <a:t>function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-14" dirty="0">
                <a:solidFill>
                  <a:srgbClr val="070404"/>
                </a:solidFill>
                <a:latin typeface="Lucida Sans Unicode"/>
                <a:cs typeface="Lucida Sans Unicode"/>
              </a:rPr>
              <a:t>is </a:t>
            </a:r>
            <a:r>
              <a:rPr sz="1300" spc="25" dirty="0">
                <a:solidFill>
                  <a:srgbClr val="070404"/>
                </a:solidFill>
                <a:latin typeface="Lucida Sans Unicode"/>
                <a:cs typeface="Lucida Sans Unicode"/>
              </a:rPr>
              <a:t>performed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56" dirty="0">
                <a:solidFill>
                  <a:srgbClr val="070404"/>
                </a:solidFill>
                <a:latin typeface="Lucida Sans Unicode"/>
                <a:cs typeface="Lucida Sans Unicode"/>
              </a:rPr>
              <a:t>by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31" dirty="0">
                <a:solidFill>
                  <a:srgbClr val="070404"/>
                </a:solidFill>
                <a:latin typeface="Lucida Sans Unicode"/>
                <a:cs typeface="Lucida Sans Unicode"/>
              </a:rPr>
              <a:t>maintaining</a:t>
            </a:r>
            <a:r>
              <a:rPr sz="1300" spc="-53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28" dirty="0">
                <a:solidFill>
                  <a:srgbClr val="070404"/>
                </a:solidFill>
                <a:latin typeface="Lucida Sans Unicode"/>
                <a:cs typeface="Lucida Sans Unicode"/>
              </a:rPr>
              <a:t>the</a:t>
            </a:r>
            <a:r>
              <a:rPr sz="1300" spc="-56" dirty="0">
                <a:solidFill>
                  <a:srgbClr val="070404"/>
                </a:solidFill>
                <a:latin typeface="Lucida Sans Unicode"/>
                <a:cs typeface="Lucida Sans Unicode"/>
              </a:rPr>
              <a:t> </a:t>
            </a:r>
            <a:r>
              <a:rPr sz="1300" spc="-6" dirty="0">
                <a:solidFill>
                  <a:srgbClr val="070404"/>
                </a:solidFill>
                <a:latin typeface="Lucida Sans Unicode"/>
                <a:cs typeface="Lucida Sans Unicode"/>
              </a:rPr>
              <a:t>ledger.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2703" y="3271865"/>
            <a:ext cx="719455" cy="959273"/>
          </a:xfrm>
          <a:custGeom>
            <a:avLst/>
            <a:gdLst/>
            <a:ahLst/>
            <a:cxnLst/>
            <a:rect l="l" t="t" r="r" b="b"/>
            <a:pathLst>
              <a:path w="1438910" h="1438910">
                <a:moveTo>
                  <a:pt x="719248" y="1438497"/>
                </a:moveTo>
                <a:lnTo>
                  <a:pt x="671957" y="1436967"/>
                </a:lnTo>
                <a:lnTo>
                  <a:pt x="625483" y="1432441"/>
                </a:lnTo>
                <a:lnTo>
                  <a:pt x="579921" y="1425012"/>
                </a:lnTo>
                <a:lnTo>
                  <a:pt x="535365" y="1414777"/>
                </a:lnTo>
                <a:lnTo>
                  <a:pt x="491910" y="1401829"/>
                </a:lnTo>
                <a:lnTo>
                  <a:pt x="449651" y="1386264"/>
                </a:lnTo>
                <a:lnTo>
                  <a:pt x="408683" y="1368176"/>
                </a:lnTo>
                <a:lnTo>
                  <a:pt x="369100" y="1347660"/>
                </a:lnTo>
                <a:lnTo>
                  <a:pt x="330997" y="1324811"/>
                </a:lnTo>
                <a:lnTo>
                  <a:pt x="294469" y="1299724"/>
                </a:lnTo>
                <a:lnTo>
                  <a:pt x="259611" y="1272493"/>
                </a:lnTo>
                <a:lnTo>
                  <a:pt x="226518" y="1243213"/>
                </a:lnTo>
                <a:lnTo>
                  <a:pt x="195284" y="1211979"/>
                </a:lnTo>
                <a:lnTo>
                  <a:pt x="166004" y="1178885"/>
                </a:lnTo>
                <a:lnTo>
                  <a:pt x="138773" y="1144027"/>
                </a:lnTo>
                <a:lnTo>
                  <a:pt x="113685" y="1107500"/>
                </a:lnTo>
                <a:lnTo>
                  <a:pt x="90836" y="1069397"/>
                </a:lnTo>
                <a:lnTo>
                  <a:pt x="70320" y="1029814"/>
                </a:lnTo>
                <a:lnTo>
                  <a:pt x="52232" y="988846"/>
                </a:lnTo>
                <a:lnTo>
                  <a:pt x="36667" y="946586"/>
                </a:lnTo>
                <a:lnTo>
                  <a:pt x="23720" y="903132"/>
                </a:lnTo>
                <a:lnTo>
                  <a:pt x="13484" y="858575"/>
                </a:lnTo>
                <a:lnTo>
                  <a:pt x="6056" y="813013"/>
                </a:lnTo>
                <a:lnTo>
                  <a:pt x="1529" y="766539"/>
                </a:lnTo>
                <a:lnTo>
                  <a:pt x="0" y="719248"/>
                </a:lnTo>
                <a:lnTo>
                  <a:pt x="1529" y="671957"/>
                </a:lnTo>
                <a:lnTo>
                  <a:pt x="6056" y="625483"/>
                </a:lnTo>
                <a:lnTo>
                  <a:pt x="13484" y="579921"/>
                </a:lnTo>
                <a:lnTo>
                  <a:pt x="23720" y="535365"/>
                </a:lnTo>
                <a:lnTo>
                  <a:pt x="36667" y="491910"/>
                </a:lnTo>
                <a:lnTo>
                  <a:pt x="52232" y="449651"/>
                </a:lnTo>
                <a:lnTo>
                  <a:pt x="70320" y="408683"/>
                </a:lnTo>
                <a:lnTo>
                  <a:pt x="90836" y="369100"/>
                </a:lnTo>
                <a:lnTo>
                  <a:pt x="113685" y="330997"/>
                </a:lnTo>
                <a:lnTo>
                  <a:pt x="138773" y="294469"/>
                </a:lnTo>
                <a:lnTo>
                  <a:pt x="166004" y="259611"/>
                </a:lnTo>
                <a:lnTo>
                  <a:pt x="195284" y="226518"/>
                </a:lnTo>
                <a:lnTo>
                  <a:pt x="226518" y="195284"/>
                </a:lnTo>
                <a:lnTo>
                  <a:pt x="259611" y="166004"/>
                </a:lnTo>
                <a:lnTo>
                  <a:pt x="294469" y="138773"/>
                </a:lnTo>
                <a:lnTo>
                  <a:pt x="330997" y="113685"/>
                </a:lnTo>
                <a:lnTo>
                  <a:pt x="369100" y="90836"/>
                </a:lnTo>
                <a:lnTo>
                  <a:pt x="408683" y="70320"/>
                </a:lnTo>
                <a:lnTo>
                  <a:pt x="449651" y="52232"/>
                </a:lnTo>
                <a:lnTo>
                  <a:pt x="491910" y="36667"/>
                </a:lnTo>
                <a:lnTo>
                  <a:pt x="535365" y="23720"/>
                </a:lnTo>
                <a:lnTo>
                  <a:pt x="579921" y="13484"/>
                </a:lnTo>
                <a:lnTo>
                  <a:pt x="625483" y="6056"/>
                </a:lnTo>
                <a:lnTo>
                  <a:pt x="671957" y="1529"/>
                </a:lnTo>
                <a:lnTo>
                  <a:pt x="719248" y="0"/>
                </a:lnTo>
                <a:lnTo>
                  <a:pt x="766539" y="1529"/>
                </a:lnTo>
                <a:lnTo>
                  <a:pt x="813013" y="6056"/>
                </a:lnTo>
                <a:lnTo>
                  <a:pt x="858575" y="13484"/>
                </a:lnTo>
                <a:lnTo>
                  <a:pt x="903131" y="23720"/>
                </a:lnTo>
                <a:lnTo>
                  <a:pt x="946586" y="36667"/>
                </a:lnTo>
                <a:lnTo>
                  <a:pt x="988845" y="52232"/>
                </a:lnTo>
                <a:lnTo>
                  <a:pt x="1029814" y="70320"/>
                </a:lnTo>
                <a:lnTo>
                  <a:pt x="1069397" y="90836"/>
                </a:lnTo>
                <a:lnTo>
                  <a:pt x="1107499" y="113685"/>
                </a:lnTo>
                <a:lnTo>
                  <a:pt x="1144027" y="138773"/>
                </a:lnTo>
                <a:lnTo>
                  <a:pt x="1178885" y="166004"/>
                </a:lnTo>
                <a:lnTo>
                  <a:pt x="1211978" y="195284"/>
                </a:lnTo>
                <a:lnTo>
                  <a:pt x="1243212" y="226518"/>
                </a:lnTo>
                <a:lnTo>
                  <a:pt x="1272492" y="259611"/>
                </a:lnTo>
                <a:lnTo>
                  <a:pt x="1299724" y="294469"/>
                </a:lnTo>
                <a:lnTo>
                  <a:pt x="1324811" y="330997"/>
                </a:lnTo>
                <a:lnTo>
                  <a:pt x="1347660" y="369100"/>
                </a:lnTo>
                <a:lnTo>
                  <a:pt x="1368176" y="408683"/>
                </a:lnTo>
                <a:lnTo>
                  <a:pt x="1386264" y="449651"/>
                </a:lnTo>
                <a:lnTo>
                  <a:pt x="1401829" y="491910"/>
                </a:lnTo>
                <a:lnTo>
                  <a:pt x="1414777" y="535365"/>
                </a:lnTo>
                <a:lnTo>
                  <a:pt x="1425012" y="579921"/>
                </a:lnTo>
                <a:lnTo>
                  <a:pt x="1432440" y="625483"/>
                </a:lnTo>
                <a:lnTo>
                  <a:pt x="1436967" y="671957"/>
                </a:lnTo>
                <a:lnTo>
                  <a:pt x="1438497" y="719248"/>
                </a:lnTo>
                <a:lnTo>
                  <a:pt x="1436967" y="766539"/>
                </a:lnTo>
                <a:lnTo>
                  <a:pt x="1432440" y="813013"/>
                </a:lnTo>
                <a:lnTo>
                  <a:pt x="1425012" y="858575"/>
                </a:lnTo>
                <a:lnTo>
                  <a:pt x="1414777" y="903132"/>
                </a:lnTo>
                <a:lnTo>
                  <a:pt x="1401829" y="946586"/>
                </a:lnTo>
                <a:lnTo>
                  <a:pt x="1386264" y="988846"/>
                </a:lnTo>
                <a:lnTo>
                  <a:pt x="1368176" y="1029814"/>
                </a:lnTo>
                <a:lnTo>
                  <a:pt x="1347660" y="1069397"/>
                </a:lnTo>
                <a:lnTo>
                  <a:pt x="1324811" y="1107500"/>
                </a:lnTo>
                <a:lnTo>
                  <a:pt x="1299724" y="1144027"/>
                </a:lnTo>
                <a:lnTo>
                  <a:pt x="1272492" y="1178885"/>
                </a:lnTo>
                <a:lnTo>
                  <a:pt x="1243212" y="1211979"/>
                </a:lnTo>
                <a:lnTo>
                  <a:pt x="1211978" y="1243213"/>
                </a:lnTo>
                <a:lnTo>
                  <a:pt x="1178885" y="1272493"/>
                </a:lnTo>
                <a:lnTo>
                  <a:pt x="1144027" y="1299724"/>
                </a:lnTo>
                <a:lnTo>
                  <a:pt x="1107499" y="1324811"/>
                </a:lnTo>
                <a:lnTo>
                  <a:pt x="1069397" y="1347660"/>
                </a:lnTo>
                <a:lnTo>
                  <a:pt x="1029814" y="1368176"/>
                </a:lnTo>
                <a:lnTo>
                  <a:pt x="988845" y="1386264"/>
                </a:lnTo>
                <a:lnTo>
                  <a:pt x="946586" y="1401829"/>
                </a:lnTo>
                <a:lnTo>
                  <a:pt x="903131" y="1414777"/>
                </a:lnTo>
                <a:lnTo>
                  <a:pt x="858575" y="1425012"/>
                </a:lnTo>
                <a:lnTo>
                  <a:pt x="813013" y="1432441"/>
                </a:lnTo>
                <a:lnTo>
                  <a:pt x="766539" y="1436967"/>
                </a:lnTo>
                <a:lnTo>
                  <a:pt x="719248" y="1438497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10271" y="3593662"/>
            <a:ext cx="184150" cy="4688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500" spc="106" dirty="0">
                <a:latin typeface="Arial MT"/>
                <a:cs typeface="Arial MT"/>
              </a:rPr>
              <a:t>3.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56706" y="3218136"/>
            <a:ext cx="6466205" cy="1282700"/>
          </a:xfrm>
          <a:custGeom>
            <a:avLst/>
            <a:gdLst/>
            <a:ahLst/>
            <a:cxnLst/>
            <a:rect l="l" t="t" r="r" b="b"/>
            <a:pathLst>
              <a:path w="12932410" h="1924050">
                <a:moveTo>
                  <a:pt x="12446519" y="1923896"/>
                </a:moveTo>
                <a:lnTo>
                  <a:pt x="485775" y="1923896"/>
                </a:lnTo>
                <a:lnTo>
                  <a:pt x="437762" y="1921519"/>
                </a:lnTo>
                <a:lnTo>
                  <a:pt x="390562" y="1914476"/>
                </a:lnTo>
                <a:lnTo>
                  <a:pt x="344494" y="1902898"/>
                </a:lnTo>
                <a:lnTo>
                  <a:pt x="299876" y="1886919"/>
                </a:lnTo>
                <a:lnTo>
                  <a:pt x="257028" y="1866669"/>
                </a:lnTo>
                <a:lnTo>
                  <a:pt x="216266" y="1842280"/>
                </a:lnTo>
                <a:lnTo>
                  <a:pt x="177911" y="1813885"/>
                </a:lnTo>
                <a:lnTo>
                  <a:pt x="142280" y="1781616"/>
                </a:lnTo>
                <a:lnTo>
                  <a:pt x="110010" y="1745985"/>
                </a:lnTo>
                <a:lnTo>
                  <a:pt x="81615" y="1707629"/>
                </a:lnTo>
                <a:lnTo>
                  <a:pt x="57227" y="1666868"/>
                </a:lnTo>
                <a:lnTo>
                  <a:pt x="36977" y="1624019"/>
                </a:lnTo>
                <a:lnTo>
                  <a:pt x="20997" y="1579401"/>
                </a:lnTo>
                <a:lnTo>
                  <a:pt x="9420" y="1533334"/>
                </a:lnTo>
                <a:lnTo>
                  <a:pt x="2377" y="1486134"/>
                </a:lnTo>
                <a:lnTo>
                  <a:pt x="0" y="143812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2446519" y="0"/>
                </a:lnTo>
                <a:lnTo>
                  <a:pt x="12494532" y="2377"/>
                </a:lnTo>
                <a:lnTo>
                  <a:pt x="12541731" y="9420"/>
                </a:lnTo>
                <a:lnTo>
                  <a:pt x="12587799" y="20997"/>
                </a:lnTo>
                <a:lnTo>
                  <a:pt x="12632417" y="36977"/>
                </a:lnTo>
                <a:lnTo>
                  <a:pt x="12675266" y="57227"/>
                </a:lnTo>
                <a:lnTo>
                  <a:pt x="12716027" y="81615"/>
                </a:lnTo>
                <a:lnTo>
                  <a:pt x="12754383" y="110010"/>
                </a:lnTo>
                <a:lnTo>
                  <a:pt x="12790014" y="142280"/>
                </a:lnTo>
                <a:lnTo>
                  <a:pt x="12822284" y="177911"/>
                </a:lnTo>
                <a:lnTo>
                  <a:pt x="12850679" y="216266"/>
                </a:lnTo>
                <a:lnTo>
                  <a:pt x="12875067" y="257028"/>
                </a:lnTo>
                <a:lnTo>
                  <a:pt x="12895317" y="299876"/>
                </a:lnTo>
                <a:lnTo>
                  <a:pt x="12911297" y="344494"/>
                </a:lnTo>
                <a:lnTo>
                  <a:pt x="12922874" y="390562"/>
                </a:lnTo>
                <a:lnTo>
                  <a:pt x="12929917" y="437762"/>
                </a:lnTo>
                <a:lnTo>
                  <a:pt x="12932294" y="485774"/>
                </a:lnTo>
                <a:lnTo>
                  <a:pt x="12932294" y="1438121"/>
                </a:lnTo>
                <a:lnTo>
                  <a:pt x="12929917" y="1486134"/>
                </a:lnTo>
                <a:lnTo>
                  <a:pt x="12922874" y="1533334"/>
                </a:lnTo>
                <a:lnTo>
                  <a:pt x="12911297" y="1579401"/>
                </a:lnTo>
                <a:lnTo>
                  <a:pt x="12895317" y="1624019"/>
                </a:lnTo>
                <a:lnTo>
                  <a:pt x="12875067" y="1666868"/>
                </a:lnTo>
                <a:lnTo>
                  <a:pt x="12850679" y="1707629"/>
                </a:lnTo>
                <a:lnTo>
                  <a:pt x="12822284" y="1745985"/>
                </a:lnTo>
                <a:lnTo>
                  <a:pt x="12790014" y="1781616"/>
                </a:lnTo>
                <a:lnTo>
                  <a:pt x="12754383" y="1813885"/>
                </a:lnTo>
                <a:lnTo>
                  <a:pt x="12716027" y="1842280"/>
                </a:lnTo>
                <a:lnTo>
                  <a:pt x="12675266" y="1866669"/>
                </a:lnTo>
                <a:lnTo>
                  <a:pt x="12632417" y="1886919"/>
                </a:lnTo>
                <a:lnTo>
                  <a:pt x="12587799" y="1902898"/>
                </a:lnTo>
                <a:lnTo>
                  <a:pt x="12541731" y="1914476"/>
                </a:lnTo>
                <a:lnTo>
                  <a:pt x="12494532" y="1921519"/>
                </a:lnTo>
                <a:lnTo>
                  <a:pt x="12446519" y="1923896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69406" y="3256647"/>
            <a:ext cx="6440805" cy="115749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dirty="0">
                <a:latin typeface="Arial Black"/>
                <a:cs typeface="Arial Black"/>
              </a:rPr>
              <a:t>Summarizing</a:t>
            </a:r>
            <a:r>
              <a:rPr sz="1300" dirty="0">
                <a:latin typeface="Lucida Sans Unicode"/>
                <a:cs typeface="Lucida Sans Unicode"/>
              </a:rPr>
              <a:t>: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It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is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spc="50" dirty="0">
                <a:latin typeface="Lucida Sans Unicode"/>
                <a:cs typeface="Lucida Sans Unicode"/>
              </a:rPr>
              <a:t>concerned</a:t>
            </a:r>
            <a:r>
              <a:rPr sz="1300" spc="20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with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spc="31" dirty="0">
                <a:latin typeface="Lucida Sans Unicode"/>
                <a:cs typeface="Lucida Sans Unicode"/>
              </a:rPr>
              <a:t>preparation</a:t>
            </a:r>
            <a:r>
              <a:rPr sz="1300" spc="20" dirty="0">
                <a:latin typeface="Lucida Sans Unicode"/>
                <a:cs typeface="Lucida Sans Unicode"/>
              </a:rPr>
              <a:t> 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spc="25" dirty="0">
                <a:latin typeface="Lucida Sans Unicode"/>
                <a:cs typeface="Lucida Sans Unicode"/>
              </a:rPr>
              <a:t>presentation</a:t>
            </a:r>
            <a:r>
              <a:rPr sz="1300" spc="17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165" dirty="0">
                <a:latin typeface="Lucida Sans Unicode"/>
                <a:cs typeface="Lucida Sans Unicode"/>
              </a:rPr>
              <a:t>   </a:t>
            </a:r>
            <a:r>
              <a:rPr sz="1300" spc="14" dirty="0">
                <a:latin typeface="Lucida Sans Unicode"/>
                <a:cs typeface="Lucida Sans Unicode"/>
              </a:rPr>
              <a:t>the </a:t>
            </a:r>
            <a:r>
              <a:rPr sz="1300" dirty="0">
                <a:latin typeface="Lucida Sans Unicode"/>
                <a:cs typeface="Lucida Sans Unicode"/>
              </a:rPr>
              <a:t>classified</a:t>
            </a:r>
            <a:r>
              <a:rPr sz="1300" spc="243" dirty="0">
                <a:latin typeface="Lucida Sans Unicode"/>
                <a:cs typeface="Lucida Sans Unicode"/>
              </a:rPr>
              <a:t>  </a:t>
            </a:r>
            <a:r>
              <a:rPr sz="1300" spc="90" dirty="0">
                <a:latin typeface="Lucida Sans Unicode"/>
                <a:cs typeface="Lucida Sans Unicode"/>
              </a:rPr>
              <a:t>data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243" dirty="0">
                <a:latin typeface="Lucida Sans Unicode"/>
                <a:cs typeface="Lucida Sans Unicode"/>
              </a:rPr>
              <a:t> 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spc="56" dirty="0">
                <a:latin typeface="Lucida Sans Unicode"/>
                <a:cs typeface="Lucida Sans Unicode"/>
              </a:rPr>
              <a:t>manner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useful</a:t>
            </a:r>
            <a:r>
              <a:rPr sz="1300" spc="243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users.</a:t>
            </a:r>
            <a:r>
              <a:rPr sz="1300" spc="243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This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function</a:t>
            </a:r>
            <a:r>
              <a:rPr sz="1300" spc="246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involves </a:t>
            </a:r>
            <a:r>
              <a:rPr sz="1300" spc="34" dirty="0">
                <a:latin typeface="Lucida Sans Unicode"/>
                <a:cs typeface="Lucida Sans Unicode"/>
              </a:rPr>
              <a:t>thepreparationoffinancialstatementssuchasIncomeStatement,</a:t>
            </a:r>
            <a:r>
              <a:rPr sz="1300" spc="249" dirty="0">
                <a:latin typeface="Lucida Sans Unicode"/>
                <a:cs typeface="Lucida Sans Unicode"/>
              </a:rPr>
              <a:t>     </a:t>
            </a:r>
            <a:r>
              <a:rPr sz="1300" spc="73" dirty="0">
                <a:latin typeface="Lucida Sans Unicode"/>
                <a:cs typeface="Lucida Sans Unicode"/>
              </a:rPr>
              <a:t>Balance</a:t>
            </a:r>
            <a:r>
              <a:rPr sz="1300" spc="137" dirty="0">
                <a:latin typeface="Lucida Sans Unicode"/>
                <a:cs typeface="Lucida Sans Unicode"/>
              </a:rPr>
              <a:t>   </a:t>
            </a:r>
            <a:r>
              <a:rPr sz="1300" spc="-6" dirty="0">
                <a:latin typeface="Lucida Sans Unicode"/>
                <a:cs typeface="Lucida Sans Unicode"/>
              </a:rPr>
              <a:t>Sheet, </a:t>
            </a:r>
            <a:r>
              <a:rPr sz="1300" spc="50" dirty="0">
                <a:latin typeface="Lucida Sans Unicode"/>
                <a:cs typeface="Lucida Sans Unicode"/>
              </a:rPr>
              <a:t>Statement</a:t>
            </a:r>
            <a:r>
              <a:rPr sz="1300" spc="-70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67" dirty="0">
                <a:latin typeface="Lucida Sans Unicode"/>
                <a:cs typeface="Lucida Sans Unicode"/>
              </a:rPr>
              <a:t> </a:t>
            </a:r>
            <a:r>
              <a:rPr sz="1300" spc="64" dirty="0">
                <a:latin typeface="Lucida Sans Unicode"/>
                <a:cs typeface="Lucida Sans Unicode"/>
              </a:rPr>
              <a:t>Changes</a:t>
            </a:r>
            <a:r>
              <a:rPr sz="1300" spc="-67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in</a:t>
            </a:r>
            <a:r>
              <a:rPr sz="1300" spc="-67" dirty="0">
                <a:latin typeface="Lucida Sans Unicode"/>
                <a:cs typeface="Lucida Sans Unicode"/>
              </a:rPr>
              <a:t> </a:t>
            </a:r>
            <a:r>
              <a:rPr sz="1300" spc="25" dirty="0">
                <a:latin typeface="Lucida Sans Unicode"/>
                <a:cs typeface="Lucida Sans Unicode"/>
              </a:rPr>
              <a:t>Financial</a:t>
            </a:r>
            <a:r>
              <a:rPr sz="1300" spc="-67" dirty="0">
                <a:latin typeface="Lucida Sans Unicode"/>
                <a:cs typeface="Lucida Sans Unicode"/>
              </a:rPr>
              <a:t> </a:t>
            </a:r>
            <a:r>
              <a:rPr sz="1300" spc="-22" dirty="0">
                <a:latin typeface="Lucida Sans Unicode"/>
                <a:cs typeface="Lucida Sans Unicode"/>
              </a:rPr>
              <a:t>Position,</a:t>
            </a:r>
            <a:r>
              <a:rPr sz="1300" spc="-70" dirty="0">
                <a:latin typeface="Lucida Sans Unicode"/>
                <a:cs typeface="Lucida Sans Unicode"/>
              </a:rPr>
              <a:t> </a:t>
            </a:r>
            <a:r>
              <a:rPr sz="1300" spc="50" dirty="0">
                <a:latin typeface="Lucida Sans Unicode"/>
                <a:cs typeface="Lucida Sans Unicode"/>
              </a:rPr>
              <a:t>Statement</a:t>
            </a:r>
            <a:r>
              <a:rPr sz="1300" spc="-67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291" dirty="0">
                <a:latin typeface="Lucida Sans Unicode"/>
                <a:cs typeface="Lucida Sans Unicode"/>
              </a:rPr>
              <a:t> </a:t>
            </a:r>
            <a:r>
              <a:rPr sz="1300" spc="73" dirty="0">
                <a:latin typeface="Lucida Sans Unicode"/>
                <a:cs typeface="Lucida Sans Unicode"/>
              </a:rPr>
              <a:t>Cash</a:t>
            </a:r>
            <a:r>
              <a:rPr sz="1300" spc="-67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Flow.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2703" y="4635250"/>
            <a:ext cx="719455" cy="959273"/>
          </a:xfrm>
          <a:custGeom>
            <a:avLst/>
            <a:gdLst/>
            <a:ahLst/>
            <a:cxnLst/>
            <a:rect l="l" t="t" r="r" b="b"/>
            <a:pathLst>
              <a:path w="1438910" h="1438909">
                <a:moveTo>
                  <a:pt x="719248" y="1438497"/>
                </a:moveTo>
                <a:lnTo>
                  <a:pt x="671957" y="1436967"/>
                </a:lnTo>
                <a:lnTo>
                  <a:pt x="625483" y="1432441"/>
                </a:lnTo>
                <a:lnTo>
                  <a:pt x="579921" y="1425012"/>
                </a:lnTo>
                <a:lnTo>
                  <a:pt x="535365" y="1414777"/>
                </a:lnTo>
                <a:lnTo>
                  <a:pt x="491910" y="1401829"/>
                </a:lnTo>
                <a:lnTo>
                  <a:pt x="449651" y="1386264"/>
                </a:lnTo>
                <a:lnTo>
                  <a:pt x="408683" y="1368176"/>
                </a:lnTo>
                <a:lnTo>
                  <a:pt x="369100" y="1347660"/>
                </a:lnTo>
                <a:lnTo>
                  <a:pt x="330997" y="1324811"/>
                </a:lnTo>
                <a:lnTo>
                  <a:pt x="294469" y="1299724"/>
                </a:lnTo>
                <a:lnTo>
                  <a:pt x="259611" y="1272493"/>
                </a:lnTo>
                <a:lnTo>
                  <a:pt x="226518" y="1243213"/>
                </a:lnTo>
                <a:lnTo>
                  <a:pt x="195284" y="1211978"/>
                </a:lnTo>
                <a:lnTo>
                  <a:pt x="166004" y="1178885"/>
                </a:lnTo>
                <a:lnTo>
                  <a:pt x="138773" y="1144027"/>
                </a:lnTo>
                <a:lnTo>
                  <a:pt x="113685" y="1107499"/>
                </a:lnTo>
                <a:lnTo>
                  <a:pt x="90836" y="1069397"/>
                </a:lnTo>
                <a:lnTo>
                  <a:pt x="70320" y="1029814"/>
                </a:lnTo>
                <a:lnTo>
                  <a:pt x="52232" y="988845"/>
                </a:lnTo>
                <a:lnTo>
                  <a:pt x="36667" y="946586"/>
                </a:lnTo>
                <a:lnTo>
                  <a:pt x="23720" y="903131"/>
                </a:lnTo>
                <a:lnTo>
                  <a:pt x="13484" y="858575"/>
                </a:lnTo>
                <a:lnTo>
                  <a:pt x="6056" y="813013"/>
                </a:lnTo>
                <a:lnTo>
                  <a:pt x="1529" y="766539"/>
                </a:lnTo>
                <a:lnTo>
                  <a:pt x="0" y="719248"/>
                </a:lnTo>
                <a:lnTo>
                  <a:pt x="1529" y="671957"/>
                </a:lnTo>
                <a:lnTo>
                  <a:pt x="6056" y="625483"/>
                </a:lnTo>
                <a:lnTo>
                  <a:pt x="13484" y="579921"/>
                </a:lnTo>
                <a:lnTo>
                  <a:pt x="23720" y="535365"/>
                </a:lnTo>
                <a:lnTo>
                  <a:pt x="36667" y="491910"/>
                </a:lnTo>
                <a:lnTo>
                  <a:pt x="52232" y="449651"/>
                </a:lnTo>
                <a:lnTo>
                  <a:pt x="70320" y="408683"/>
                </a:lnTo>
                <a:lnTo>
                  <a:pt x="90836" y="369100"/>
                </a:lnTo>
                <a:lnTo>
                  <a:pt x="113685" y="330997"/>
                </a:lnTo>
                <a:lnTo>
                  <a:pt x="138773" y="294469"/>
                </a:lnTo>
                <a:lnTo>
                  <a:pt x="166004" y="259611"/>
                </a:lnTo>
                <a:lnTo>
                  <a:pt x="195284" y="226518"/>
                </a:lnTo>
                <a:lnTo>
                  <a:pt x="226518" y="195284"/>
                </a:lnTo>
                <a:lnTo>
                  <a:pt x="259611" y="166004"/>
                </a:lnTo>
                <a:lnTo>
                  <a:pt x="294469" y="138773"/>
                </a:lnTo>
                <a:lnTo>
                  <a:pt x="330997" y="113685"/>
                </a:lnTo>
                <a:lnTo>
                  <a:pt x="369100" y="90836"/>
                </a:lnTo>
                <a:lnTo>
                  <a:pt x="408683" y="70320"/>
                </a:lnTo>
                <a:lnTo>
                  <a:pt x="449651" y="52232"/>
                </a:lnTo>
                <a:lnTo>
                  <a:pt x="491910" y="36667"/>
                </a:lnTo>
                <a:lnTo>
                  <a:pt x="535365" y="23720"/>
                </a:lnTo>
                <a:lnTo>
                  <a:pt x="579921" y="13484"/>
                </a:lnTo>
                <a:lnTo>
                  <a:pt x="625483" y="6056"/>
                </a:lnTo>
                <a:lnTo>
                  <a:pt x="671957" y="1529"/>
                </a:lnTo>
                <a:lnTo>
                  <a:pt x="719248" y="0"/>
                </a:lnTo>
                <a:lnTo>
                  <a:pt x="766539" y="1529"/>
                </a:lnTo>
                <a:lnTo>
                  <a:pt x="813013" y="6056"/>
                </a:lnTo>
                <a:lnTo>
                  <a:pt x="858575" y="13484"/>
                </a:lnTo>
                <a:lnTo>
                  <a:pt x="903131" y="23720"/>
                </a:lnTo>
                <a:lnTo>
                  <a:pt x="946586" y="36667"/>
                </a:lnTo>
                <a:lnTo>
                  <a:pt x="988845" y="52232"/>
                </a:lnTo>
                <a:lnTo>
                  <a:pt x="1029814" y="70320"/>
                </a:lnTo>
                <a:lnTo>
                  <a:pt x="1069397" y="90836"/>
                </a:lnTo>
                <a:lnTo>
                  <a:pt x="1107499" y="113685"/>
                </a:lnTo>
                <a:lnTo>
                  <a:pt x="1144027" y="138773"/>
                </a:lnTo>
                <a:lnTo>
                  <a:pt x="1178885" y="166004"/>
                </a:lnTo>
                <a:lnTo>
                  <a:pt x="1211978" y="195284"/>
                </a:lnTo>
                <a:lnTo>
                  <a:pt x="1243212" y="226518"/>
                </a:lnTo>
                <a:lnTo>
                  <a:pt x="1272492" y="259611"/>
                </a:lnTo>
                <a:lnTo>
                  <a:pt x="1299724" y="294469"/>
                </a:lnTo>
                <a:lnTo>
                  <a:pt x="1324811" y="330997"/>
                </a:lnTo>
                <a:lnTo>
                  <a:pt x="1347660" y="369100"/>
                </a:lnTo>
                <a:lnTo>
                  <a:pt x="1368176" y="408683"/>
                </a:lnTo>
                <a:lnTo>
                  <a:pt x="1386264" y="449651"/>
                </a:lnTo>
                <a:lnTo>
                  <a:pt x="1401829" y="491910"/>
                </a:lnTo>
                <a:lnTo>
                  <a:pt x="1414777" y="535365"/>
                </a:lnTo>
                <a:lnTo>
                  <a:pt x="1425012" y="579921"/>
                </a:lnTo>
                <a:lnTo>
                  <a:pt x="1432440" y="625483"/>
                </a:lnTo>
                <a:lnTo>
                  <a:pt x="1436967" y="671957"/>
                </a:lnTo>
                <a:lnTo>
                  <a:pt x="1438497" y="719248"/>
                </a:lnTo>
                <a:lnTo>
                  <a:pt x="1436967" y="766539"/>
                </a:lnTo>
                <a:lnTo>
                  <a:pt x="1432440" y="813013"/>
                </a:lnTo>
                <a:lnTo>
                  <a:pt x="1425012" y="858575"/>
                </a:lnTo>
                <a:lnTo>
                  <a:pt x="1414777" y="903131"/>
                </a:lnTo>
                <a:lnTo>
                  <a:pt x="1401829" y="946586"/>
                </a:lnTo>
                <a:lnTo>
                  <a:pt x="1386264" y="988845"/>
                </a:lnTo>
                <a:lnTo>
                  <a:pt x="1368176" y="1029814"/>
                </a:lnTo>
                <a:lnTo>
                  <a:pt x="1347660" y="1069397"/>
                </a:lnTo>
                <a:lnTo>
                  <a:pt x="1324811" y="1107499"/>
                </a:lnTo>
                <a:lnTo>
                  <a:pt x="1299724" y="1144027"/>
                </a:lnTo>
                <a:lnTo>
                  <a:pt x="1272492" y="1178885"/>
                </a:lnTo>
                <a:lnTo>
                  <a:pt x="1243212" y="1211978"/>
                </a:lnTo>
                <a:lnTo>
                  <a:pt x="1211978" y="1243213"/>
                </a:lnTo>
                <a:lnTo>
                  <a:pt x="1178885" y="1272493"/>
                </a:lnTo>
                <a:lnTo>
                  <a:pt x="1144027" y="1299724"/>
                </a:lnTo>
                <a:lnTo>
                  <a:pt x="1107499" y="1324811"/>
                </a:lnTo>
                <a:lnTo>
                  <a:pt x="1069397" y="1347660"/>
                </a:lnTo>
                <a:lnTo>
                  <a:pt x="1029814" y="1368176"/>
                </a:lnTo>
                <a:lnTo>
                  <a:pt x="988845" y="1386264"/>
                </a:lnTo>
                <a:lnTo>
                  <a:pt x="946586" y="1401829"/>
                </a:lnTo>
                <a:lnTo>
                  <a:pt x="903131" y="1414777"/>
                </a:lnTo>
                <a:lnTo>
                  <a:pt x="858575" y="1425012"/>
                </a:lnTo>
                <a:lnTo>
                  <a:pt x="813013" y="1432441"/>
                </a:lnTo>
                <a:lnTo>
                  <a:pt x="766539" y="1436967"/>
                </a:lnTo>
                <a:lnTo>
                  <a:pt x="719248" y="1438497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10271" y="4957046"/>
            <a:ext cx="184150" cy="4688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500" spc="106" dirty="0">
                <a:latin typeface="Arial MT"/>
                <a:cs typeface="Arial MT"/>
              </a:rPr>
              <a:t>4.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60646" y="4678533"/>
            <a:ext cx="6466205" cy="2120900"/>
          </a:xfrm>
          <a:custGeom>
            <a:avLst/>
            <a:gdLst/>
            <a:ahLst/>
            <a:cxnLst/>
            <a:rect l="l" t="t" r="r" b="b"/>
            <a:pathLst>
              <a:path w="12932410" h="3181350">
                <a:moveTo>
                  <a:pt x="12446519" y="3181196"/>
                </a:moveTo>
                <a:lnTo>
                  <a:pt x="485775" y="3181196"/>
                </a:lnTo>
                <a:lnTo>
                  <a:pt x="437762" y="3178819"/>
                </a:lnTo>
                <a:lnTo>
                  <a:pt x="390562" y="3171776"/>
                </a:lnTo>
                <a:lnTo>
                  <a:pt x="344494" y="3160198"/>
                </a:lnTo>
                <a:lnTo>
                  <a:pt x="299876" y="3144219"/>
                </a:lnTo>
                <a:lnTo>
                  <a:pt x="257028" y="3123969"/>
                </a:lnTo>
                <a:lnTo>
                  <a:pt x="216266" y="3099580"/>
                </a:lnTo>
                <a:lnTo>
                  <a:pt x="177911" y="3071185"/>
                </a:lnTo>
                <a:lnTo>
                  <a:pt x="142280" y="3038916"/>
                </a:lnTo>
                <a:lnTo>
                  <a:pt x="110010" y="3003285"/>
                </a:lnTo>
                <a:lnTo>
                  <a:pt x="81615" y="2964929"/>
                </a:lnTo>
                <a:lnTo>
                  <a:pt x="57227" y="2924168"/>
                </a:lnTo>
                <a:lnTo>
                  <a:pt x="36977" y="2881319"/>
                </a:lnTo>
                <a:lnTo>
                  <a:pt x="20997" y="2836702"/>
                </a:lnTo>
                <a:lnTo>
                  <a:pt x="9420" y="2790634"/>
                </a:lnTo>
                <a:lnTo>
                  <a:pt x="2377" y="2743434"/>
                </a:lnTo>
                <a:lnTo>
                  <a:pt x="0" y="269542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2446519" y="0"/>
                </a:lnTo>
                <a:lnTo>
                  <a:pt x="12494532" y="2377"/>
                </a:lnTo>
                <a:lnTo>
                  <a:pt x="12541732" y="9420"/>
                </a:lnTo>
                <a:lnTo>
                  <a:pt x="12587800" y="20997"/>
                </a:lnTo>
                <a:lnTo>
                  <a:pt x="12632417" y="36977"/>
                </a:lnTo>
                <a:lnTo>
                  <a:pt x="12675266" y="57227"/>
                </a:lnTo>
                <a:lnTo>
                  <a:pt x="12716027" y="81615"/>
                </a:lnTo>
                <a:lnTo>
                  <a:pt x="12754382" y="110010"/>
                </a:lnTo>
                <a:lnTo>
                  <a:pt x="12790013" y="142280"/>
                </a:lnTo>
                <a:lnTo>
                  <a:pt x="12822283" y="177911"/>
                </a:lnTo>
                <a:lnTo>
                  <a:pt x="12850678" y="216266"/>
                </a:lnTo>
                <a:lnTo>
                  <a:pt x="12875067" y="257028"/>
                </a:lnTo>
                <a:lnTo>
                  <a:pt x="12895317" y="299876"/>
                </a:lnTo>
                <a:lnTo>
                  <a:pt x="12911297" y="344494"/>
                </a:lnTo>
                <a:lnTo>
                  <a:pt x="12922874" y="390562"/>
                </a:lnTo>
                <a:lnTo>
                  <a:pt x="12929917" y="437762"/>
                </a:lnTo>
                <a:lnTo>
                  <a:pt x="12932294" y="485775"/>
                </a:lnTo>
                <a:lnTo>
                  <a:pt x="12932294" y="2695421"/>
                </a:lnTo>
                <a:lnTo>
                  <a:pt x="12929917" y="2743434"/>
                </a:lnTo>
                <a:lnTo>
                  <a:pt x="12922874" y="2790634"/>
                </a:lnTo>
                <a:lnTo>
                  <a:pt x="12911297" y="2836702"/>
                </a:lnTo>
                <a:lnTo>
                  <a:pt x="12895317" y="2881319"/>
                </a:lnTo>
                <a:lnTo>
                  <a:pt x="12875067" y="2924168"/>
                </a:lnTo>
                <a:lnTo>
                  <a:pt x="12850678" y="2964929"/>
                </a:lnTo>
                <a:lnTo>
                  <a:pt x="12822283" y="3003285"/>
                </a:lnTo>
                <a:lnTo>
                  <a:pt x="12790013" y="3038916"/>
                </a:lnTo>
                <a:lnTo>
                  <a:pt x="12754382" y="3071185"/>
                </a:lnTo>
                <a:lnTo>
                  <a:pt x="12716027" y="3099580"/>
                </a:lnTo>
                <a:lnTo>
                  <a:pt x="12675266" y="3123969"/>
                </a:lnTo>
                <a:lnTo>
                  <a:pt x="12632417" y="3144219"/>
                </a:lnTo>
                <a:lnTo>
                  <a:pt x="12587800" y="3160198"/>
                </a:lnTo>
                <a:lnTo>
                  <a:pt x="12541732" y="3171776"/>
                </a:lnTo>
                <a:lnTo>
                  <a:pt x="12494532" y="3178819"/>
                </a:lnTo>
                <a:lnTo>
                  <a:pt x="12446519" y="3181196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873346" y="4717044"/>
            <a:ext cx="6440805" cy="927433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>
              <a:lnSpc>
                <a:spcPct val="114599"/>
              </a:lnSpc>
              <a:spcBef>
                <a:spcPts val="56"/>
              </a:spcBef>
              <a:tabLst>
                <a:tab pos="5969457" algn="l"/>
              </a:tabLst>
            </a:pPr>
            <a:r>
              <a:rPr sz="1300" spc="-42" dirty="0">
                <a:latin typeface="Arial Black"/>
                <a:cs typeface="Arial Black"/>
              </a:rPr>
              <a:t>Interpreting:</a:t>
            </a:r>
            <a:r>
              <a:rPr sz="1300" spc="-39" dirty="0">
                <a:latin typeface="Arial Black"/>
                <a:cs typeface="Arial Black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Nowadays,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aforesaid</a:t>
            </a:r>
            <a:r>
              <a:rPr sz="1300" spc="6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three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functions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62" dirty="0">
                <a:latin typeface="Lucida Sans Unicode"/>
                <a:cs typeface="Lucida Sans Unicode"/>
              </a:rPr>
              <a:t>are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25" dirty="0">
                <a:latin typeface="Lucida Sans Unicode"/>
                <a:cs typeface="Lucida Sans Unicode"/>
              </a:rPr>
              <a:t>performed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56" dirty="0">
                <a:latin typeface="Lucida Sans Unicode"/>
                <a:cs typeface="Lucida Sans Unicode"/>
              </a:rPr>
              <a:t>by</a:t>
            </a:r>
            <a:r>
              <a:rPr sz="1300" spc="62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electronic </a:t>
            </a:r>
            <a:r>
              <a:rPr sz="1300" spc="90" dirty="0">
                <a:latin typeface="Lucida Sans Unicode"/>
                <a:cs typeface="Lucida Sans Unicode"/>
              </a:rPr>
              <a:t>data</a:t>
            </a:r>
            <a:r>
              <a:rPr sz="1300" spc="24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processing</a:t>
            </a:r>
            <a:r>
              <a:rPr sz="1300" spc="246" dirty="0">
                <a:latin typeface="Lucida Sans Unicode"/>
                <a:cs typeface="Lucida Sans Unicode"/>
              </a:rPr>
              <a:t> </a:t>
            </a:r>
            <a:r>
              <a:rPr sz="1300" spc="48" dirty="0">
                <a:latin typeface="Lucida Sans Unicode"/>
                <a:cs typeface="Lucida Sans Unicode"/>
              </a:rPr>
              <a:t>devices</a:t>
            </a:r>
            <a:r>
              <a:rPr sz="1300" spc="246" dirty="0">
                <a:latin typeface="Lucida Sans Unicode"/>
                <a:cs typeface="Lucida Sans Unicode"/>
              </a:rPr>
              <a:t>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249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246" dirty="0">
                <a:latin typeface="Lucida Sans Unicode"/>
                <a:cs typeface="Lucida Sans Unicode"/>
              </a:rPr>
              <a:t> </a:t>
            </a:r>
            <a:r>
              <a:rPr sz="1300" spc="62" dirty="0">
                <a:latin typeface="Lucida Sans Unicode"/>
                <a:cs typeface="Lucida Sans Unicode"/>
              </a:rPr>
              <a:t>accountant</a:t>
            </a:r>
            <a:r>
              <a:rPr sz="1300" spc="246" dirty="0">
                <a:latin typeface="Lucida Sans Unicode"/>
                <a:cs typeface="Lucida Sans Unicode"/>
              </a:rPr>
              <a:t> </a:t>
            </a:r>
            <a:r>
              <a:rPr sz="1300" spc="64" dirty="0">
                <a:latin typeface="Lucida Sans Unicode"/>
                <a:cs typeface="Lucida Sans Unicode"/>
              </a:rPr>
              <a:t>has</a:t>
            </a:r>
            <a:r>
              <a:rPr sz="1300" spc="249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246" dirty="0">
                <a:latin typeface="Lucida Sans Unicode"/>
                <a:cs typeface="Lucida Sans Unicode"/>
              </a:rPr>
              <a:t> </a:t>
            </a:r>
            <a:r>
              <a:rPr sz="1300" spc="42" dirty="0">
                <a:latin typeface="Lucida Sans Unicode"/>
                <a:cs typeface="Lucida Sans Unicode"/>
              </a:rPr>
              <a:t>concentrate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36" dirty="0">
                <a:latin typeface="Lucida Sans Unicode"/>
                <a:cs typeface="Lucida Sans Unicode"/>
              </a:rPr>
              <a:t>mainly</a:t>
            </a:r>
            <a:r>
              <a:rPr sz="1300" spc="23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on</a:t>
            </a:r>
            <a:r>
              <a:rPr sz="1300" spc="241" dirty="0">
                <a:latin typeface="Lucida Sans Unicode"/>
                <a:cs typeface="Lucida Sans Unicode"/>
              </a:rPr>
              <a:t> </a:t>
            </a:r>
            <a:r>
              <a:rPr sz="1300" spc="14" dirty="0">
                <a:latin typeface="Lucida Sans Unicode"/>
                <a:cs typeface="Lucida Sans Unicode"/>
              </a:rPr>
              <a:t>the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73346" y="5275844"/>
            <a:ext cx="6440805" cy="114877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dirty="0">
                <a:latin typeface="Lucida Sans Unicode"/>
                <a:cs typeface="Lucida Sans Unicode"/>
              </a:rPr>
              <a:t>interpretation</a:t>
            </a:r>
            <a:r>
              <a:rPr sz="1300" spc="109" dirty="0">
                <a:latin typeface="Lucida Sans Unicode"/>
                <a:cs typeface="Lucida Sans Unicode"/>
              </a:rPr>
              <a:t>  </a:t>
            </a:r>
            <a:r>
              <a:rPr sz="1300" spc="59" dirty="0">
                <a:latin typeface="Lucida Sans Unicode"/>
                <a:cs typeface="Lucida Sans Unicode"/>
              </a:rPr>
              <a:t>aspects</a:t>
            </a:r>
            <a:r>
              <a:rPr sz="1300" spc="112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112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accounting.</a:t>
            </a:r>
            <a:r>
              <a:rPr sz="1300" spc="112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The</a:t>
            </a:r>
            <a:r>
              <a:rPr sz="1300" spc="112" dirty="0">
                <a:latin typeface="Lucida Sans Unicode"/>
                <a:cs typeface="Lucida Sans Unicode"/>
              </a:rPr>
              <a:t>  </a:t>
            </a:r>
            <a:r>
              <a:rPr sz="1300" spc="56" dirty="0">
                <a:latin typeface="Lucida Sans Unicode"/>
                <a:cs typeface="Lucida Sans Unicode"/>
              </a:rPr>
              <a:t>accountants</a:t>
            </a:r>
            <a:r>
              <a:rPr sz="1300" spc="291" dirty="0">
                <a:latin typeface="Lucida Sans Unicode"/>
                <a:cs typeface="Lucida Sans Unicode"/>
              </a:rPr>
              <a:t>   </a:t>
            </a:r>
            <a:r>
              <a:rPr sz="1300" dirty="0">
                <a:latin typeface="Lucida Sans Unicode"/>
                <a:cs typeface="Lucida Sans Unicode"/>
              </a:rPr>
              <a:t>should</a:t>
            </a:r>
            <a:r>
              <a:rPr sz="1300" spc="114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interpret</a:t>
            </a:r>
            <a:r>
              <a:rPr sz="1300" spc="112" dirty="0">
                <a:latin typeface="Lucida Sans Unicode"/>
                <a:cs typeface="Lucida Sans Unicode"/>
              </a:rPr>
              <a:t>  </a:t>
            </a:r>
            <a:r>
              <a:rPr sz="1300" spc="14" dirty="0">
                <a:latin typeface="Lucida Sans Unicode"/>
                <a:cs typeface="Lucida Sans Unicode"/>
              </a:rPr>
              <a:t>the </a:t>
            </a:r>
            <a:r>
              <a:rPr sz="1300" spc="42" dirty="0">
                <a:latin typeface="Lucida Sans Unicode"/>
                <a:cs typeface="Lucida Sans Unicode"/>
              </a:rPr>
              <a:t>statements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spc="56" dirty="0">
                <a:latin typeface="Lucida Sans Unicode"/>
                <a:cs typeface="Lucida Sans Unicode"/>
              </a:rPr>
              <a:t>manner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useful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action.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The</a:t>
            </a:r>
            <a:r>
              <a:rPr sz="1300" spc="128" dirty="0">
                <a:latin typeface="Lucida Sans Unicode"/>
                <a:cs typeface="Lucida Sans Unicode"/>
              </a:rPr>
              <a:t>  </a:t>
            </a:r>
            <a:r>
              <a:rPr sz="1300" spc="62" dirty="0">
                <a:latin typeface="Lucida Sans Unicode"/>
                <a:cs typeface="Lucida Sans Unicode"/>
              </a:rPr>
              <a:t>accountant</a:t>
            </a:r>
            <a:r>
              <a:rPr sz="1300" spc="13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should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explain</a:t>
            </a:r>
            <a:r>
              <a:rPr sz="1300" spc="13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not</a:t>
            </a:r>
            <a:r>
              <a:rPr sz="1300" spc="128" dirty="0">
                <a:latin typeface="Lucida Sans Unicode"/>
                <a:cs typeface="Lucida Sans Unicode"/>
              </a:rPr>
              <a:t> </a:t>
            </a:r>
            <a:r>
              <a:rPr sz="1300" spc="-11" dirty="0">
                <a:latin typeface="Lucida Sans Unicode"/>
                <a:cs typeface="Lucida Sans Unicode"/>
              </a:rPr>
              <a:t>only </a:t>
            </a:r>
            <a:r>
              <a:rPr sz="1300" spc="56" dirty="0">
                <a:latin typeface="Lucida Sans Unicode"/>
                <a:cs typeface="Lucida Sans Unicode"/>
              </a:rPr>
              <a:t>what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spc="64" dirty="0">
                <a:latin typeface="Lucida Sans Unicode"/>
                <a:cs typeface="Lucida Sans Unicode"/>
              </a:rPr>
              <a:t>has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spc="64" dirty="0">
                <a:latin typeface="Lucida Sans Unicode"/>
                <a:cs typeface="Lucida Sans Unicode"/>
              </a:rPr>
              <a:t>happened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but</a:t>
            </a:r>
            <a:r>
              <a:rPr sz="1300" spc="-45" dirty="0">
                <a:latin typeface="Lucida Sans Unicode"/>
                <a:cs typeface="Lucida Sans Unicode"/>
              </a:rPr>
              <a:t> </a:t>
            </a:r>
            <a:r>
              <a:rPr sz="1300" spc="22" dirty="0">
                <a:latin typeface="Lucida Sans Unicode"/>
                <a:cs typeface="Lucida Sans Unicode"/>
              </a:rPr>
              <a:t>also</a:t>
            </a:r>
            <a:endParaRPr sz="1300">
              <a:latin typeface="Lucida Sans Unicode"/>
              <a:cs typeface="Lucida Sans Unicode"/>
            </a:endParaRPr>
          </a:p>
          <a:p>
            <a:pPr marL="322174" indent="-315062" algn="just">
              <a:spcBef>
                <a:spcPts val="235"/>
              </a:spcBef>
              <a:buAutoNum type="alphaLcParenBoth"/>
              <a:tabLst>
                <a:tab pos="322174" algn="l"/>
              </a:tabLst>
            </a:pPr>
            <a:r>
              <a:rPr sz="1300" spc="45" dirty="0">
                <a:latin typeface="Lucida Sans Unicode"/>
                <a:cs typeface="Lucida Sans Unicode"/>
              </a:rPr>
              <a:t>why</a:t>
            </a:r>
            <a:r>
              <a:rPr sz="1300" spc="-8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it</a:t>
            </a:r>
            <a:r>
              <a:rPr sz="1300" spc="263" dirty="0">
                <a:latin typeface="Lucida Sans Unicode"/>
                <a:cs typeface="Lucida Sans Unicode"/>
              </a:rPr>
              <a:t> </a:t>
            </a:r>
            <a:r>
              <a:rPr sz="1300" spc="39" dirty="0">
                <a:latin typeface="Lucida Sans Unicode"/>
                <a:cs typeface="Lucida Sans Unicode"/>
              </a:rPr>
              <a:t>happened,</a:t>
            </a:r>
            <a:r>
              <a:rPr sz="1300" spc="-84" dirty="0">
                <a:latin typeface="Lucida Sans Unicode"/>
                <a:cs typeface="Lucida Sans Unicode"/>
              </a:rPr>
              <a:t> </a:t>
            </a:r>
            <a:r>
              <a:rPr sz="1300" spc="64" dirty="0">
                <a:latin typeface="Lucida Sans Unicode"/>
                <a:cs typeface="Lucida Sans Unicode"/>
              </a:rPr>
              <a:t>and</a:t>
            </a:r>
            <a:endParaRPr sz="1300">
              <a:latin typeface="Lucida Sans Unicode"/>
              <a:cs typeface="Lucida Sans Unicode"/>
            </a:endParaRPr>
          </a:p>
          <a:p>
            <a:pPr marL="322174" indent="-315062" algn="just">
              <a:spcBef>
                <a:spcPts val="235"/>
              </a:spcBef>
              <a:buAutoNum type="alphaLcParenBoth"/>
              <a:tabLst>
                <a:tab pos="322174" algn="l"/>
              </a:tabLst>
            </a:pPr>
            <a:r>
              <a:rPr sz="1300" spc="56" dirty="0">
                <a:latin typeface="Lucida Sans Unicode"/>
                <a:cs typeface="Lucida Sans Unicode"/>
              </a:rPr>
              <a:t>what</a:t>
            </a:r>
            <a:r>
              <a:rPr sz="1300" spc="-20" dirty="0">
                <a:latin typeface="Lucida Sans Unicode"/>
                <a:cs typeface="Lucida Sans Unicode"/>
              </a:rPr>
              <a:t> </a:t>
            </a:r>
            <a:r>
              <a:rPr sz="1300" spc="-17" dirty="0">
                <a:latin typeface="Lucida Sans Unicode"/>
                <a:cs typeface="Lucida Sans Unicode"/>
              </a:rPr>
              <a:t>is </a:t>
            </a:r>
            <a:r>
              <a:rPr sz="1300" spc="-25" dirty="0">
                <a:latin typeface="Lucida Sans Unicode"/>
                <a:cs typeface="Lucida Sans Unicode"/>
              </a:rPr>
              <a:t>likely</a:t>
            </a:r>
            <a:r>
              <a:rPr sz="1300" spc="-20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spc="64" dirty="0">
                <a:latin typeface="Lucida Sans Unicode"/>
                <a:cs typeface="Lucida Sans Unicode"/>
              </a:rPr>
              <a:t>happen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under</a:t>
            </a:r>
            <a:r>
              <a:rPr sz="1300" spc="-20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specified</a:t>
            </a:r>
            <a:r>
              <a:rPr sz="1300" spc="-17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conditions.</a:t>
            </a:r>
            <a:endParaRPr sz="13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5818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9144000" cy="6857999"/>
            <a:chOff x="0" y="0"/>
            <a:chExt cx="18288000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78320"/>
              <a:ext cx="2364105" cy="260350"/>
            </a:xfrm>
            <a:custGeom>
              <a:avLst/>
              <a:gdLst/>
              <a:ahLst/>
              <a:cxnLst/>
              <a:rect l="l" t="t" r="r" b="b"/>
              <a:pathLst>
                <a:path w="2364105" h="260350">
                  <a:moveTo>
                    <a:pt x="2363580" y="260350"/>
                  </a:moveTo>
                  <a:lnTo>
                    <a:pt x="0" y="260350"/>
                  </a:lnTo>
                  <a:lnTo>
                    <a:pt x="0" y="0"/>
                  </a:lnTo>
                  <a:lnTo>
                    <a:pt x="2363580" y="0"/>
                  </a:lnTo>
                  <a:lnTo>
                    <a:pt x="2363580" y="26035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0906124" cy="75354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5078" y="419771"/>
              <a:ext cx="104775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5078" y="2934370"/>
              <a:ext cx="104775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5078" y="5029870"/>
              <a:ext cx="104775" cy="1047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641460" y="140609"/>
            <a:ext cx="3433445" cy="3423758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spc="-11" dirty="0">
                <a:latin typeface="Arial Black"/>
                <a:cs typeface="Arial Black"/>
              </a:rPr>
              <a:t>Accounting</a:t>
            </a:r>
            <a:r>
              <a:rPr sz="1300" spc="-81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in</a:t>
            </a:r>
            <a:r>
              <a:rPr sz="1300" spc="50" dirty="0">
                <a:latin typeface="Arial Black"/>
                <a:cs typeface="Arial Black"/>
              </a:rPr>
              <a:t> </a:t>
            </a:r>
            <a:r>
              <a:rPr sz="1300" spc="-11" dirty="0">
                <a:latin typeface="Arial Black"/>
                <a:cs typeface="Arial Black"/>
              </a:rPr>
              <a:t>business</a:t>
            </a:r>
            <a:r>
              <a:rPr sz="1300" spc="50" dirty="0">
                <a:latin typeface="Arial Black"/>
                <a:cs typeface="Arial Black"/>
              </a:rPr>
              <a:t> </a:t>
            </a:r>
            <a:r>
              <a:rPr sz="1300" spc="-42" dirty="0">
                <a:latin typeface="Arial Black"/>
                <a:cs typeface="Arial Black"/>
              </a:rPr>
              <a:t>organizations:</a:t>
            </a:r>
            <a:r>
              <a:rPr sz="1300" spc="-70" dirty="0">
                <a:latin typeface="Arial Black"/>
                <a:cs typeface="Arial Black"/>
              </a:rPr>
              <a:t> </a:t>
            </a:r>
            <a:r>
              <a:rPr sz="1300" spc="-14" dirty="0">
                <a:latin typeface="Lucida Sans Unicode"/>
                <a:cs typeface="Lucida Sans Unicode"/>
              </a:rPr>
              <a:t>The </a:t>
            </a:r>
            <a:r>
              <a:rPr sz="1300" dirty="0">
                <a:latin typeface="Lucida Sans Unicode"/>
                <a:cs typeface="Lucida Sans Unicode"/>
              </a:rPr>
              <a:t>prime</a:t>
            </a:r>
            <a:r>
              <a:rPr sz="1300" spc="-6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objective</a:t>
            </a:r>
            <a:r>
              <a:rPr sz="1300" spc="-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business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is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spc="50" dirty="0">
                <a:latin typeface="Lucida Sans Unicode"/>
                <a:cs typeface="Lucida Sans Unicode"/>
              </a:rPr>
              <a:t>earn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spc="-20" dirty="0">
                <a:latin typeface="Lucida Sans Unicode"/>
                <a:cs typeface="Lucida Sans Unicode"/>
              </a:rPr>
              <a:t>profit. </a:t>
            </a:r>
            <a:r>
              <a:rPr sz="1300" spc="28" dirty="0">
                <a:latin typeface="Lucida Sans Unicode"/>
                <a:cs typeface="Lucida Sans Unicode"/>
              </a:rPr>
              <a:t>Financial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spc="31" dirty="0">
                <a:latin typeface="Lucida Sans Unicode"/>
                <a:cs typeface="Lucida Sans Unicode"/>
              </a:rPr>
              <a:t>transactions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14" dirty="0">
                <a:latin typeface="Lucida Sans Unicode"/>
                <a:cs typeface="Lucida Sans Unicode"/>
              </a:rPr>
              <a:t>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11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business</a:t>
            </a:r>
            <a:r>
              <a:rPr sz="1300" spc="14" dirty="0">
                <a:latin typeface="Lucida Sans Unicode"/>
                <a:cs typeface="Lucida Sans Unicode"/>
              </a:rPr>
              <a:t> </a:t>
            </a:r>
            <a:r>
              <a:rPr sz="1300" spc="45" dirty="0">
                <a:latin typeface="Lucida Sans Unicode"/>
                <a:cs typeface="Lucida Sans Unicode"/>
              </a:rPr>
              <a:t>concern </a:t>
            </a:r>
            <a:r>
              <a:rPr sz="1300" spc="62" dirty="0">
                <a:latin typeface="Lucida Sans Unicode"/>
                <a:cs typeface="Lucida Sans Unicode"/>
              </a:rPr>
              <a:t>are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spc="39" dirty="0">
                <a:latin typeface="Lucida Sans Unicode"/>
                <a:cs typeface="Lucida Sans Unicode"/>
              </a:rPr>
              <a:t>recorded</a:t>
            </a:r>
            <a:r>
              <a:rPr sz="1300" spc="-45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books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spc="59" dirty="0">
                <a:latin typeface="Lucida Sans Unicode"/>
                <a:cs typeface="Lucida Sans Unicode"/>
              </a:rPr>
              <a:t>accounts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spc="-14" dirty="0">
                <a:latin typeface="Lucida Sans Unicode"/>
                <a:cs typeface="Lucida Sans Unicode"/>
              </a:rPr>
              <a:t>to </a:t>
            </a:r>
            <a:r>
              <a:rPr sz="1300" spc="45" dirty="0">
                <a:latin typeface="Lucida Sans Unicode"/>
                <a:cs typeface="Lucida Sans Unicode"/>
              </a:rPr>
              <a:t>ascertain</a:t>
            </a:r>
            <a:r>
              <a:rPr sz="1300" spc="118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operating</a:t>
            </a:r>
            <a:r>
              <a:rPr sz="1300" spc="120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results</a:t>
            </a:r>
            <a:r>
              <a:rPr sz="1300" spc="120" dirty="0">
                <a:latin typeface="Lucida Sans Unicode"/>
                <a:cs typeface="Lucida Sans Unicode"/>
              </a:rPr>
              <a:t> 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118" dirty="0">
                <a:latin typeface="Lucida Sans Unicode"/>
                <a:cs typeface="Lucida Sans Unicode"/>
              </a:rPr>
              <a:t>  </a:t>
            </a:r>
            <a:r>
              <a:rPr sz="1300" spc="20" dirty="0">
                <a:latin typeface="Lucida Sans Unicode"/>
                <a:cs typeface="Lucida Sans Unicode"/>
              </a:rPr>
              <a:t>financial </a:t>
            </a:r>
            <a:r>
              <a:rPr sz="1300" spc="-6" dirty="0">
                <a:latin typeface="Lucida Sans Unicode"/>
                <a:cs typeface="Lucida Sans Unicode"/>
              </a:rPr>
              <a:t>position.</a:t>
            </a:r>
            <a:endParaRPr sz="1300">
              <a:latin typeface="Lucida Sans Unicode"/>
              <a:cs typeface="Lucida Sans Unicode"/>
            </a:endParaRPr>
          </a:p>
          <a:p>
            <a:pPr marL="7112" marR="2845" algn="just">
              <a:lnSpc>
                <a:spcPct val="114599"/>
              </a:lnSpc>
            </a:pPr>
            <a:r>
              <a:rPr sz="1300" dirty="0">
                <a:latin typeface="Arial Black"/>
                <a:cs typeface="Arial Black"/>
              </a:rPr>
              <a:t>Accounting</a:t>
            </a:r>
            <a:r>
              <a:rPr sz="1300" spc="126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in</a:t>
            </a:r>
            <a:r>
              <a:rPr sz="1300" spc="126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personal</a:t>
            </a:r>
            <a:r>
              <a:rPr sz="1300" spc="126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life</a:t>
            </a:r>
            <a:r>
              <a:rPr sz="1300" dirty="0">
                <a:latin typeface="Lucida Sans Unicode"/>
                <a:cs typeface="Lucida Sans Unicode"/>
              </a:rPr>
              <a:t>:</a:t>
            </a:r>
            <a:r>
              <a:rPr sz="1300" spc="202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The</a:t>
            </a:r>
            <a:r>
              <a:rPr sz="1300" spc="204" dirty="0">
                <a:latin typeface="Lucida Sans Unicode"/>
                <a:cs typeface="Lucida Sans Unicode"/>
              </a:rPr>
              <a:t> </a:t>
            </a:r>
            <a:r>
              <a:rPr sz="1300" spc="20" dirty="0">
                <a:latin typeface="Lucida Sans Unicode"/>
                <a:cs typeface="Lucida Sans Unicode"/>
              </a:rPr>
              <a:t>financial </a:t>
            </a:r>
            <a:r>
              <a:rPr sz="1300" spc="31" dirty="0">
                <a:latin typeface="Lucida Sans Unicode"/>
                <a:cs typeface="Lucida Sans Unicode"/>
              </a:rPr>
              <a:t>transactions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which</a:t>
            </a:r>
            <a:r>
              <a:rPr sz="1300" spc="-6" dirty="0">
                <a:latin typeface="Lucida Sans Unicode"/>
                <a:cs typeface="Lucida Sans Unicode"/>
              </a:rPr>
              <a:t> </a:t>
            </a:r>
            <a:r>
              <a:rPr sz="1300" spc="50" dirty="0">
                <a:latin typeface="Lucida Sans Unicode"/>
                <a:cs typeface="Lucida Sans Unicode"/>
              </a:rPr>
              <a:t>occur</a:t>
            </a:r>
            <a:r>
              <a:rPr sz="1300" spc="-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in individual</a:t>
            </a:r>
            <a:r>
              <a:rPr sz="1300" spc="-6" dirty="0">
                <a:latin typeface="Lucida Sans Unicode"/>
                <a:cs typeface="Lucida Sans Unicode"/>
              </a:rPr>
              <a:t> life </a:t>
            </a:r>
            <a:r>
              <a:rPr sz="1300" spc="-14" dirty="0">
                <a:latin typeface="Lucida Sans Unicode"/>
                <a:cs typeface="Lucida Sans Unicode"/>
              </a:rPr>
              <a:t>of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person</a:t>
            </a:r>
            <a:r>
              <a:rPr sz="1300" spc="59" dirty="0">
                <a:latin typeface="Lucida Sans Unicode"/>
                <a:cs typeface="Lucida Sans Unicode"/>
              </a:rPr>
              <a:t> </a:t>
            </a:r>
            <a:r>
              <a:rPr sz="1300" spc="62" dirty="0">
                <a:latin typeface="Lucida Sans Unicode"/>
                <a:cs typeface="Lucida Sans Unicode"/>
              </a:rPr>
              <a:t>are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spc="39" dirty="0">
                <a:latin typeface="Lucida Sans Unicode"/>
                <a:cs typeface="Lucida Sans Unicode"/>
              </a:rPr>
              <a:t>recorded</a:t>
            </a:r>
            <a:r>
              <a:rPr sz="1300" spc="59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properly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59" dirty="0">
                <a:latin typeface="Lucida Sans Unicode"/>
                <a:cs typeface="Lucida Sans Unicode"/>
              </a:rPr>
              <a:t> </a:t>
            </a:r>
            <a:r>
              <a:rPr sz="1300" spc="28" dirty="0">
                <a:latin typeface="Lucida Sans Unicode"/>
                <a:cs typeface="Lucida Sans Unicode"/>
              </a:rPr>
              <a:t>the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books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148" dirty="0">
                <a:latin typeface="Lucida Sans Unicode"/>
                <a:cs typeface="Lucida Sans Unicode"/>
              </a:rPr>
              <a:t>   </a:t>
            </a:r>
            <a:r>
              <a:rPr sz="1300" spc="59" dirty="0">
                <a:latin typeface="Lucida Sans Unicode"/>
                <a:cs typeface="Lucida Sans Unicode"/>
              </a:rPr>
              <a:t>accounts</a:t>
            </a:r>
            <a:r>
              <a:rPr sz="1300" spc="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with</a:t>
            </a:r>
            <a:r>
              <a:rPr sz="1300" spc="6" dirty="0">
                <a:latin typeface="Lucida Sans Unicode"/>
                <a:cs typeface="Lucida Sans Unicode"/>
              </a:rPr>
              <a:t>  </a:t>
            </a:r>
            <a:r>
              <a:rPr sz="1300" spc="162" dirty="0">
                <a:latin typeface="Lucida Sans Unicode"/>
                <a:cs typeface="Lucida Sans Unicode"/>
              </a:rPr>
              <a:t>a</a:t>
            </a:r>
            <a:r>
              <a:rPr sz="1300" spc="6" dirty="0">
                <a:latin typeface="Lucida Sans Unicode"/>
                <a:cs typeface="Lucida Sans Unicode"/>
              </a:rPr>
              <a:t>  </a:t>
            </a:r>
            <a:r>
              <a:rPr sz="1300" spc="31" dirty="0">
                <a:latin typeface="Lucida Sans Unicode"/>
                <a:cs typeface="Lucida Sans Unicode"/>
              </a:rPr>
              <a:t>view</a:t>
            </a:r>
            <a:r>
              <a:rPr sz="1300" spc="3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to</a:t>
            </a:r>
            <a:r>
              <a:rPr sz="1300" spc="6" dirty="0">
                <a:latin typeface="Lucida Sans Unicode"/>
                <a:cs typeface="Lucida Sans Unicode"/>
              </a:rPr>
              <a:t>  </a:t>
            </a:r>
            <a:r>
              <a:rPr sz="1300" spc="31" dirty="0">
                <a:latin typeface="Lucida Sans Unicode"/>
                <a:cs typeface="Lucida Sans Unicode"/>
              </a:rPr>
              <a:t>ascertaining </a:t>
            </a:r>
            <a:r>
              <a:rPr sz="1300" dirty="0">
                <a:latin typeface="Lucida Sans Unicode"/>
                <a:cs typeface="Lucida Sans Unicode"/>
              </a:rPr>
              <a:t>receipts-</a:t>
            </a:r>
            <a:r>
              <a:rPr sz="1300" spc="-28" dirty="0">
                <a:latin typeface="Lucida Sans Unicode"/>
                <a:cs typeface="Lucida Sans Unicode"/>
              </a:rPr>
              <a:t> </a:t>
            </a:r>
            <a:r>
              <a:rPr sz="1300" spc="59" dirty="0">
                <a:latin typeface="Lucida Sans Unicode"/>
                <a:cs typeface="Lucida Sans Unicode"/>
              </a:rPr>
              <a:t>payments</a:t>
            </a:r>
            <a:r>
              <a:rPr sz="1300" spc="-28" dirty="0">
                <a:latin typeface="Lucida Sans Unicode"/>
                <a:cs typeface="Lucida Sans Unicode"/>
              </a:rPr>
              <a:t>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-25" dirty="0">
                <a:latin typeface="Lucida Sans Unicode"/>
                <a:cs typeface="Lucida Sans Unicode"/>
              </a:rPr>
              <a:t> </a:t>
            </a:r>
            <a:r>
              <a:rPr sz="1300" spc="31" dirty="0">
                <a:latin typeface="Lucida Sans Unicode"/>
                <a:cs typeface="Lucida Sans Unicode"/>
              </a:rPr>
              <a:t>assets-</a:t>
            </a:r>
            <a:r>
              <a:rPr sz="1300" spc="-28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liabilities.</a:t>
            </a:r>
            <a:endParaRPr sz="1300">
              <a:latin typeface="Lucida Sans Unicode"/>
              <a:cs typeface="Lucida Sans Unicode"/>
            </a:endParaRPr>
          </a:p>
          <a:p>
            <a:pPr marL="7112" algn="just">
              <a:spcBef>
                <a:spcPts val="232"/>
              </a:spcBef>
            </a:pPr>
            <a:r>
              <a:rPr sz="1300" dirty="0">
                <a:latin typeface="Arial Black"/>
                <a:cs typeface="Arial Black"/>
              </a:rPr>
              <a:t>Accounting</a:t>
            </a:r>
            <a:r>
              <a:rPr sz="1300" spc="87" dirty="0">
                <a:latin typeface="Arial Black"/>
                <a:cs typeface="Arial Black"/>
              </a:rPr>
              <a:t>   </a:t>
            </a:r>
            <a:r>
              <a:rPr sz="1300" dirty="0">
                <a:latin typeface="Arial Black"/>
                <a:cs typeface="Arial Black"/>
              </a:rPr>
              <a:t>in</a:t>
            </a:r>
            <a:r>
              <a:rPr sz="1300" spc="90" dirty="0">
                <a:latin typeface="Arial Black"/>
                <a:cs typeface="Arial Black"/>
              </a:rPr>
              <a:t>   </a:t>
            </a:r>
            <a:r>
              <a:rPr sz="1300" spc="73" dirty="0">
                <a:latin typeface="Arial Black"/>
                <a:cs typeface="Arial Black"/>
              </a:rPr>
              <a:t>non-</a:t>
            </a:r>
            <a:r>
              <a:rPr sz="1300" dirty="0">
                <a:latin typeface="Arial Black"/>
                <a:cs typeface="Arial Black"/>
              </a:rPr>
              <a:t>trading</a:t>
            </a:r>
            <a:r>
              <a:rPr sz="1300" spc="87" dirty="0">
                <a:latin typeface="Arial Black"/>
                <a:cs typeface="Arial Black"/>
              </a:rPr>
              <a:t>   </a:t>
            </a:r>
            <a:r>
              <a:rPr sz="1300" spc="-28" dirty="0">
                <a:latin typeface="Arial Black"/>
                <a:cs typeface="Arial Black"/>
              </a:rPr>
              <a:t>concerns: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6186" y="3493409"/>
            <a:ext cx="2528570" cy="697370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indent="7468">
              <a:lnSpc>
                <a:spcPct val="114599"/>
              </a:lnSpc>
              <a:spcBef>
                <a:spcPts val="56"/>
              </a:spcBef>
              <a:tabLst>
                <a:tab pos="538023" algn="l"/>
                <a:tab pos="1141120" algn="l"/>
                <a:tab pos="1616913" algn="l"/>
                <a:tab pos="2105863" algn="l"/>
                <a:tab pos="2201164" algn="l"/>
              </a:tabLst>
            </a:pPr>
            <a:r>
              <a:rPr sz="1300" spc="53" dirty="0">
                <a:latin typeface="Lucida Sans Unicode"/>
                <a:cs typeface="Lucida Sans Unicode"/>
              </a:rPr>
              <a:t>accounts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4" dirty="0">
                <a:latin typeface="Lucida Sans Unicode"/>
                <a:cs typeface="Lucida Sans Unicode"/>
              </a:rPr>
              <a:t>in</a:t>
            </a:r>
            <a:r>
              <a:rPr sz="1300" dirty="0">
                <a:latin typeface="Lucida Sans Unicode"/>
                <a:cs typeface="Lucida Sans Unicode"/>
              </a:rPr>
              <a:t>	non-		</a:t>
            </a:r>
            <a:r>
              <a:rPr sz="1300" spc="-6" dirty="0">
                <a:latin typeface="Lucida Sans Unicode"/>
                <a:cs typeface="Lucida Sans Unicode"/>
              </a:rPr>
              <a:t>trading like,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1" dirty="0">
                <a:latin typeface="Lucida Sans Unicode"/>
                <a:cs typeface="Lucida Sans Unicode"/>
              </a:rPr>
              <a:t>school,-</a:t>
            </a:r>
            <a:r>
              <a:rPr sz="1300" spc="-6" dirty="0">
                <a:latin typeface="Lucida Sans Unicode"/>
                <a:cs typeface="Lucida Sans Unicode"/>
              </a:rPr>
              <a:t>college,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6" dirty="0">
                <a:latin typeface="Lucida Sans Unicode"/>
                <a:cs typeface="Lucida Sans Unicode"/>
              </a:rPr>
              <a:t>hospital,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8230" y="4087540"/>
            <a:ext cx="2486660" cy="407291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300" dirty="0">
                <a:latin typeface="Lucida Sans Unicode"/>
                <a:cs typeface="Lucida Sans Unicode"/>
              </a:rPr>
              <a:t>mosque,</a:t>
            </a:r>
            <a:r>
              <a:rPr sz="1300" spc="95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temple,</a:t>
            </a:r>
            <a:r>
              <a:rPr sz="1300" spc="98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church,</a:t>
            </a:r>
            <a:r>
              <a:rPr sz="1300" spc="98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club,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1460" y="3493409"/>
            <a:ext cx="894080" cy="115749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>
              <a:lnSpc>
                <a:spcPct val="114599"/>
              </a:lnSpc>
              <a:spcBef>
                <a:spcPts val="56"/>
              </a:spcBef>
            </a:pPr>
            <a:r>
              <a:rPr sz="1300" spc="-6" dirty="0">
                <a:latin typeface="Lucida Sans Unicode"/>
                <a:cs typeface="Lucida Sans Unicode"/>
              </a:rPr>
              <a:t>Keeping </a:t>
            </a:r>
            <a:r>
              <a:rPr sz="1300" spc="39" dirty="0">
                <a:latin typeface="Lucida Sans Unicode"/>
                <a:cs typeface="Lucida Sans Unicode"/>
              </a:rPr>
              <a:t>concerns </a:t>
            </a:r>
            <a:r>
              <a:rPr sz="1300" spc="50" dirty="0">
                <a:latin typeface="Lucida Sans Unicode"/>
                <a:cs typeface="Lucida Sans Unicode"/>
              </a:rPr>
              <a:t>madrasa, </a:t>
            </a:r>
            <a:r>
              <a:rPr sz="1300" spc="31" dirty="0">
                <a:latin typeface="Lucida Sans Unicode"/>
                <a:cs typeface="Lucida Sans Unicode"/>
              </a:rPr>
              <a:t>association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1460" y="4646340"/>
            <a:ext cx="1829118" cy="607346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  <a:tabLst>
                <a:tab pos="970077" algn="l"/>
              </a:tabLst>
            </a:pPr>
            <a:r>
              <a:rPr sz="1300" spc="20" dirty="0">
                <a:latin typeface="Lucida Sans Unicode"/>
                <a:cs typeface="Lucida Sans Unicode"/>
              </a:rPr>
              <a:t>financial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25" dirty="0">
                <a:latin typeface="Lucida Sans Unicode"/>
                <a:cs typeface="Lucida Sans Unicode"/>
              </a:rPr>
              <a:t>transactions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23457" y="4331609"/>
            <a:ext cx="2351405" cy="663155"/>
          </a:xfrm>
          <a:prstGeom prst="rect">
            <a:avLst/>
          </a:prstGeom>
        </p:spPr>
        <p:txBody>
          <a:bodyPr vert="horz" wrap="square" lIns="0" tIns="36982" rIns="0" bIns="0" rtlCol="0">
            <a:spAutoFit/>
          </a:bodyPr>
          <a:lstStyle/>
          <a:p>
            <a:pPr marR="2845" algn="r">
              <a:spcBef>
                <a:spcPts val="291"/>
              </a:spcBef>
              <a:tabLst>
                <a:tab pos="532333" algn="l"/>
                <a:tab pos="888289" algn="l"/>
                <a:tab pos="1874368" algn="l"/>
              </a:tabLst>
            </a:pPr>
            <a:r>
              <a:rPr sz="1300" spc="-11" dirty="0">
                <a:latin typeface="Lucida Sans Unicode"/>
                <a:cs typeface="Lucida Sans Unicode"/>
              </a:rPr>
              <a:t>etc.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4" dirty="0">
                <a:latin typeface="Lucida Sans Unicode"/>
                <a:cs typeface="Lucida Sans Unicode"/>
              </a:rPr>
              <a:t>is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6" dirty="0">
                <a:latin typeface="Lucida Sans Unicode"/>
                <a:cs typeface="Lucida Sans Unicode"/>
              </a:rPr>
              <a:t>essential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70" dirty="0">
                <a:latin typeface="Lucida Sans Unicode"/>
                <a:cs typeface="Lucida Sans Unicode"/>
              </a:rPr>
              <a:t>because</a:t>
            </a:r>
            <a:endParaRPr sz="1300">
              <a:latin typeface="Lucida Sans Unicode"/>
              <a:cs typeface="Lucida Sans Unicode"/>
            </a:endParaRPr>
          </a:p>
          <a:p>
            <a:pPr marR="2845" algn="r">
              <a:spcBef>
                <a:spcPts val="235"/>
              </a:spcBef>
              <a:tabLst>
                <a:tab pos="717245" algn="l"/>
                <a:tab pos="1096670" algn="l"/>
              </a:tabLst>
            </a:pPr>
            <a:r>
              <a:rPr sz="1300" spc="45" dirty="0">
                <a:latin typeface="Lucida Sans Unicode"/>
                <a:cs typeface="Lucida Sans Unicode"/>
              </a:rPr>
              <a:t>occur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-14" dirty="0">
                <a:latin typeface="Lucida Sans Unicode"/>
                <a:cs typeface="Lucida Sans Unicode"/>
              </a:rPr>
              <a:t>in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1300" spc="22" dirty="0">
                <a:latin typeface="Lucida Sans Unicode"/>
                <a:cs typeface="Lucida Sans Unicode"/>
              </a:rPr>
              <a:t>these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1460" y="4925740"/>
            <a:ext cx="1231900" cy="407291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1300" spc="-11" dirty="0">
                <a:latin typeface="Lucida Sans Unicode"/>
                <a:cs typeface="Lucida Sans Unicode"/>
              </a:rPr>
              <a:t>institutions</a:t>
            </a:r>
            <a:r>
              <a:rPr sz="1300" spc="-64" dirty="0">
                <a:latin typeface="Lucida Sans Unicode"/>
                <a:cs typeface="Lucida Sans Unicode"/>
              </a:rPr>
              <a:t> </a:t>
            </a:r>
            <a:r>
              <a:rPr sz="1300" spc="-11" dirty="0">
                <a:latin typeface="Lucida Sans Unicode"/>
                <a:cs typeface="Lucida Sans Unicode"/>
              </a:rPr>
              <a:t>also.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9062" y="5309047"/>
            <a:ext cx="5440998" cy="151130"/>
            <a:chOff x="238124" y="7963570"/>
            <a:chExt cx="10881995" cy="22669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5078" y="7963570"/>
              <a:ext cx="104775" cy="1047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124" y="8085455"/>
              <a:ext cx="104775" cy="1047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641459" y="5169808"/>
            <a:ext cx="3433763" cy="1413933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spc="-28" dirty="0">
                <a:latin typeface="Arial Black"/>
                <a:cs typeface="Arial Black"/>
              </a:rPr>
              <a:t>Accounting</a:t>
            </a:r>
            <a:r>
              <a:rPr sz="1300" spc="-76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in</a:t>
            </a:r>
            <a:r>
              <a:rPr sz="1300" spc="-76" dirty="0">
                <a:latin typeface="Arial Black"/>
                <a:cs typeface="Arial Black"/>
              </a:rPr>
              <a:t> </a:t>
            </a:r>
            <a:r>
              <a:rPr sz="1300" spc="-20" dirty="0">
                <a:latin typeface="Arial Black"/>
                <a:cs typeface="Arial Black"/>
              </a:rPr>
              <a:t>Government</a:t>
            </a:r>
            <a:r>
              <a:rPr sz="1300" spc="-73" dirty="0">
                <a:latin typeface="Arial Black"/>
                <a:cs typeface="Arial Black"/>
              </a:rPr>
              <a:t> </a:t>
            </a:r>
            <a:r>
              <a:rPr sz="1300" spc="-50" dirty="0">
                <a:latin typeface="Arial Black"/>
                <a:cs typeface="Arial Black"/>
              </a:rPr>
              <a:t>Offices:</a:t>
            </a:r>
            <a:r>
              <a:rPr sz="1300" spc="-11" dirty="0">
                <a:latin typeface="Arial Black"/>
                <a:cs typeface="Arial Black"/>
              </a:rPr>
              <a:t> </a:t>
            </a:r>
            <a:r>
              <a:rPr sz="1300" spc="45" dirty="0">
                <a:latin typeface="Lucida Sans Unicode"/>
                <a:cs typeface="Lucida Sans Unicode"/>
              </a:rPr>
              <a:t>System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56" dirty="0">
                <a:latin typeface="Lucida Sans Unicode"/>
                <a:cs typeface="Lucida Sans Unicode"/>
              </a:rPr>
              <a:t>  </a:t>
            </a:r>
            <a:r>
              <a:rPr sz="1300" spc="59" dirty="0">
                <a:latin typeface="Lucida Sans Unicode"/>
                <a:cs typeface="Lucida Sans Unicode"/>
              </a:rPr>
              <a:t>accounts  </a:t>
            </a:r>
            <a:r>
              <a:rPr sz="1300" dirty="0">
                <a:latin typeface="Lucida Sans Unicode"/>
                <a:cs typeface="Lucida Sans Unicode"/>
              </a:rPr>
              <a:t>is</a:t>
            </a:r>
            <a:r>
              <a:rPr sz="1300" spc="56" dirty="0">
                <a:latin typeface="Lucida Sans Unicode"/>
                <a:cs typeface="Lucida Sans Unicode"/>
              </a:rPr>
              <a:t>  </a:t>
            </a:r>
            <a:r>
              <a:rPr sz="1300" spc="34" dirty="0">
                <a:latin typeface="Lucida Sans Unicode"/>
                <a:cs typeface="Lucida Sans Unicode"/>
              </a:rPr>
              <a:t>prevalent</a:t>
            </a:r>
            <a:r>
              <a:rPr sz="1300" spc="59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in</a:t>
            </a:r>
            <a:r>
              <a:rPr sz="1300" spc="56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govt.</a:t>
            </a:r>
            <a:r>
              <a:rPr sz="1300" spc="59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offices, </a:t>
            </a:r>
            <a:r>
              <a:rPr sz="1300" dirty="0">
                <a:latin typeface="Lucida Sans Unicode"/>
                <a:cs typeface="Lucida Sans Unicode"/>
              </a:rPr>
              <a:t>courts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-39" dirty="0">
                <a:latin typeface="Lucida Sans Unicode"/>
                <a:cs typeface="Lucida Sans Unicode"/>
              </a:rPr>
              <a:t>  </a:t>
            </a:r>
            <a:r>
              <a:rPr sz="1300" spc="28" dirty="0">
                <a:latin typeface="Lucida Sans Unicode"/>
                <a:cs typeface="Lucida Sans Unicode"/>
              </a:rPr>
              <a:t>state-</a:t>
            </a:r>
            <a:r>
              <a:rPr sz="1300" spc="-39" dirty="0">
                <a:latin typeface="Lucida Sans Unicode"/>
                <a:cs typeface="Lucida Sans Unicode"/>
              </a:rPr>
              <a:t>  </a:t>
            </a:r>
            <a:r>
              <a:rPr sz="1300" spc="48" dirty="0">
                <a:latin typeface="Lucida Sans Unicode"/>
                <a:cs typeface="Lucida Sans Unicode"/>
              </a:rPr>
              <a:t>owned</a:t>
            </a:r>
            <a:r>
              <a:rPr sz="1300" spc="-42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organizations</a:t>
            </a:r>
            <a:r>
              <a:rPr sz="1300" spc="-39" dirty="0">
                <a:latin typeface="Lucida Sans Unicode"/>
                <a:cs typeface="Lucida Sans Unicode"/>
              </a:rPr>
              <a:t>  </a:t>
            </a:r>
            <a:r>
              <a:rPr sz="1300" spc="-14" dirty="0">
                <a:latin typeface="Lucida Sans Unicode"/>
                <a:cs typeface="Lucida Sans Unicode"/>
              </a:rPr>
              <a:t>for </a:t>
            </a:r>
            <a:r>
              <a:rPr sz="1300" dirty="0">
                <a:latin typeface="Lucida Sans Unicode"/>
                <a:cs typeface="Lucida Sans Unicode"/>
              </a:rPr>
              <a:t>determining</a:t>
            </a:r>
            <a:r>
              <a:rPr sz="1300" spc="62" dirty="0">
                <a:latin typeface="Lucida Sans Unicode"/>
                <a:cs typeface="Lucida Sans Unicode"/>
              </a:rPr>
              <a:t> </a:t>
            </a:r>
            <a:r>
              <a:rPr sz="1300" spc="53" dirty="0">
                <a:latin typeface="Lucida Sans Unicode"/>
                <a:cs typeface="Lucida Sans Unicode"/>
              </a:rPr>
              <a:t>income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expenditure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64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proper </a:t>
            </a:r>
            <a:r>
              <a:rPr sz="1300" dirty="0">
                <a:latin typeface="Lucida Sans Unicode"/>
                <a:cs typeface="Lucida Sans Unicode"/>
              </a:rPr>
              <a:t>running</a:t>
            </a:r>
            <a:r>
              <a:rPr sz="1300" spc="-64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-64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administration.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2685" y="5251014"/>
            <a:ext cx="4460558" cy="927433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4599"/>
              </a:lnSpc>
              <a:spcBef>
                <a:spcPts val="56"/>
              </a:spcBef>
            </a:pPr>
            <a:r>
              <a:rPr sz="1300" spc="-6" dirty="0">
                <a:latin typeface="Arial Black"/>
                <a:cs typeface="Arial Black"/>
              </a:rPr>
              <a:t>Accounting</a:t>
            </a:r>
            <a:r>
              <a:rPr sz="1300" spc="106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in</a:t>
            </a:r>
            <a:r>
              <a:rPr sz="1300" spc="106" dirty="0">
                <a:latin typeface="Arial Black"/>
                <a:cs typeface="Arial Black"/>
              </a:rPr>
              <a:t> </a:t>
            </a:r>
            <a:r>
              <a:rPr sz="1300" spc="-17" dirty="0">
                <a:latin typeface="Arial Black"/>
                <a:cs typeface="Arial Black"/>
              </a:rPr>
              <a:t>professionals:</a:t>
            </a:r>
            <a:r>
              <a:rPr sz="1300" spc="165" dirty="0">
                <a:latin typeface="Arial Black"/>
                <a:cs typeface="Arial Black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Professionals</a:t>
            </a:r>
            <a:r>
              <a:rPr sz="1300" spc="188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like</a:t>
            </a:r>
            <a:r>
              <a:rPr sz="1300" spc="185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doctors, </a:t>
            </a:r>
            <a:r>
              <a:rPr sz="1300" dirty="0">
                <a:latin typeface="Lucida Sans Unicode"/>
                <a:cs typeface="Lucida Sans Unicode"/>
              </a:rPr>
              <a:t>engineers,</a:t>
            </a:r>
            <a:r>
              <a:rPr sz="1300" spc="92" dirty="0">
                <a:latin typeface="Lucida Sans Unicode"/>
                <a:cs typeface="Lucida Sans Unicode"/>
              </a:rPr>
              <a:t>  </a:t>
            </a:r>
            <a:r>
              <a:rPr sz="1300" spc="48" dirty="0">
                <a:latin typeface="Lucida Sans Unicode"/>
                <a:cs typeface="Lucida Sans Unicode"/>
              </a:rPr>
              <a:t>advocates,</a:t>
            </a:r>
            <a:r>
              <a:rPr sz="1300" spc="95" dirty="0">
                <a:latin typeface="Lucida Sans Unicode"/>
                <a:cs typeface="Lucida Sans Unicode"/>
              </a:rPr>
              <a:t>  </a:t>
            </a:r>
            <a:r>
              <a:rPr sz="1300" dirty="0">
                <a:latin typeface="Lucida Sans Unicode"/>
                <a:cs typeface="Lucida Sans Unicode"/>
              </a:rPr>
              <a:t>actors,</a:t>
            </a:r>
            <a:r>
              <a:rPr sz="1300" spc="95" dirty="0">
                <a:latin typeface="Lucida Sans Unicode"/>
                <a:cs typeface="Lucida Sans Unicode"/>
              </a:rPr>
              <a:t>  </a:t>
            </a:r>
            <a:r>
              <a:rPr sz="1300" spc="42" dirty="0">
                <a:latin typeface="Lucida Sans Unicode"/>
                <a:cs typeface="Lucida Sans Unicode"/>
              </a:rPr>
              <a:t>actresses</a:t>
            </a:r>
            <a:r>
              <a:rPr sz="1300" spc="92" dirty="0">
                <a:latin typeface="Lucida Sans Unicode"/>
                <a:cs typeface="Lucida Sans Unicode"/>
              </a:rPr>
              <a:t>  </a:t>
            </a:r>
            <a:r>
              <a:rPr sz="1300" spc="50" dirty="0">
                <a:latin typeface="Lucida Sans Unicode"/>
                <a:cs typeface="Lucida Sans Unicode"/>
              </a:rPr>
              <a:t>earn</a:t>
            </a:r>
            <a:r>
              <a:rPr sz="1300" spc="95" dirty="0">
                <a:latin typeface="Lucida Sans Unicode"/>
                <a:cs typeface="Lucida Sans Unicode"/>
              </a:rPr>
              <a:t>  </a:t>
            </a:r>
            <a:r>
              <a:rPr sz="1300" spc="56" dirty="0">
                <a:latin typeface="Lucida Sans Unicode"/>
                <a:cs typeface="Lucida Sans Unicode"/>
              </a:rPr>
              <a:t>by</a:t>
            </a:r>
            <a:r>
              <a:rPr sz="1300" spc="95" dirty="0">
                <a:latin typeface="Lucida Sans Unicode"/>
                <a:cs typeface="Lucida Sans Unicode"/>
              </a:rPr>
              <a:t>  </a:t>
            </a:r>
            <a:r>
              <a:rPr sz="1300" spc="-6" dirty="0">
                <a:latin typeface="Lucida Sans Unicode"/>
                <a:cs typeface="Lucida Sans Unicode"/>
              </a:rPr>
              <a:t>their </a:t>
            </a:r>
            <a:r>
              <a:rPr sz="1300" dirty="0">
                <a:latin typeface="Lucida Sans Unicode"/>
                <a:cs typeface="Lucida Sans Unicode"/>
              </a:rPr>
              <a:t>professions.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They</a:t>
            </a:r>
            <a:r>
              <a:rPr sz="1300" spc="59" dirty="0">
                <a:latin typeface="Lucida Sans Unicode"/>
                <a:cs typeface="Lucida Sans Unicode"/>
              </a:rPr>
              <a:t> </a:t>
            </a:r>
            <a:r>
              <a:rPr sz="1300" spc="34" dirty="0">
                <a:latin typeface="Lucida Sans Unicode"/>
                <a:cs typeface="Lucida Sans Unicode"/>
              </a:rPr>
              <a:t>also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spc="42" dirty="0">
                <a:latin typeface="Lucida Sans Unicode"/>
                <a:cs typeface="Lucida Sans Unicode"/>
              </a:rPr>
              <a:t>maintain</a:t>
            </a:r>
            <a:r>
              <a:rPr sz="1300" spc="59" dirty="0">
                <a:latin typeface="Lucida Sans Unicode"/>
                <a:cs typeface="Lucida Sans Unicode"/>
              </a:rPr>
              <a:t> </a:t>
            </a:r>
            <a:r>
              <a:rPr sz="1300" dirty="0">
                <a:latin typeface="Lucida Sans Unicode"/>
                <a:cs typeface="Lucida Sans Unicode"/>
              </a:rPr>
              <a:t>their</a:t>
            </a:r>
            <a:r>
              <a:rPr sz="1300" spc="56" dirty="0">
                <a:latin typeface="Lucida Sans Unicode"/>
                <a:cs typeface="Lucida Sans Unicode"/>
              </a:rPr>
              <a:t> </a:t>
            </a:r>
            <a:r>
              <a:rPr sz="1300" spc="59" dirty="0">
                <a:latin typeface="Lucida Sans Unicode"/>
                <a:cs typeface="Lucida Sans Unicode"/>
              </a:rPr>
              <a:t>accounts </a:t>
            </a:r>
            <a:r>
              <a:rPr sz="1300" dirty="0">
                <a:latin typeface="Lucida Sans Unicode"/>
                <a:cs typeface="Lucida Sans Unicode"/>
              </a:rPr>
              <a:t>of</a:t>
            </a:r>
            <a:r>
              <a:rPr sz="1300" spc="59" dirty="0">
                <a:latin typeface="Lucida Sans Unicode"/>
                <a:cs typeface="Lucida Sans Unicode"/>
              </a:rPr>
              <a:t> </a:t>
            </a:r>
            <a:r>
              <a:rPr sz="1300" spc="45" dirty="0">
                <a:latin typeface="Lucida Sans Unicode"/>
                <a:cs typeface="Lucida Sans Unicode"/>
              </a:rPr>
              <a:t>income </a:t>
            </a:r>
            <a:r>
              <a:rPr sz="1300" spc="78" dirty="0">
                <a:latin typeface="Lucida Sans Unicode"/>
                <a:cs typeface="Lucida Sans Unicode"/>
              </a:rPr>
              <a:t>and</a:t>
            </a:r>
            <a:r>
              <a:rPr sz="1300" spc="-62" dirty="0">
                <a:latin typeface="Lucida Sans Unicode"/>
                <a:cs typeface="Lucida Sans Unicode"/>
              </a:rPr>
              <a:t> </a:t>
            </a:r>
            <a:r>
              <a:rPr sz="1300" spc="-6" dirty="0">
                <a:latin typeface="Lucida Sans Unicode"/>
                <a:cs typeface="Lucida Sans Unicode"/>
              </a:rPr>
              <a:t>expenditure.</a:t>
            </a:r>
            <a:endParaRPr sz="13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221191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02574"/>
            <a:ext cx="1257618" cy="139277"/>
          </a:xfrm>
          <a:custGeom>
            <a:avLst/>
            <a:gdLst/>
            <a:ahLst/>
            <a:cxnLst/>
            <a:rect l="l" t="t" r="r" b="b"/>
            <a:pathLst>
              <a:path w="2515235" h="208915">
                <a:moveTo>
                  <a:pt x="2514681" y="208876"/>
                </a:moveTo>
                <a:lnTo>
                  <a:pt x="0" y="208876"/>
                </a:lnTo>
                <a:lnTo>
                  <a:pt x="0" y="0"/>
                </a:lnTo>
                <a:lnTo>
                  <a:pt x="2514681" y="0"/>
                </a:lnTo>
                <a:lnTo>
                  <a:pt x="2514681" y="20887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493951" y="985390"/>
            <a:ext cx="1967865" cy="2501900"/>
            <a:chOff x="6987902" y="1478085"/>
            <a:chExt cx="3935729" cy="37528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6921" y="1557104"/>
              <a:ext cx="3777119" cy="35953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87896" y="1478088"/>
              <a:ext cx="3935729" cy="3752850"/>
            </a:xfrm>
            <a:custGeom>
              <a:avLst/>
              <a:gdLst/>
              <a:ahLst/>
              <a:cxnLst/>
              <a:rect l="l" t="t" r="r" b="b"/>
              <a:pathLst>
                <a:path w="3935729" h="3752850">
                  <a:moveTo>
                    <a:pt x="3935158" y="0"/>
                  </a:moveTo>
                  <a:lnTo>
                    <a:pt x="0" y="0"/>
                  </a:lnTo>
                  <a:lnTo>
                    <a:pt x="0" y="78740"/>
                  </a:lnTo>
                  <a:lnTo>
                    <a:pt x="0" y="3674110"/>
                  </a:lnTo>
                  <a:lnTo>
                    <a:pt x="0" y="3752850"/>
                  </a:lnTo>
                  <a:lnTo>
                    <a:pt x="3935158" y="3752850"/>
                  </a:lnTo>
                  <a:lnTo>
                    <a:pt x="3935158" y="3674402"/>
                  </a:lnTo>
                  <a:lnTo>
                    <a:pt x="3935158" y="3674110"/>
                  </a:lnTo>
                  <a:lnTo>
                    <a:pt x="3935158" y="79019"/>
                  </a:lnTo>
                  <a:lnTo>
                    <a:pt x="3856139" y="79019"/>
                  </a:lnTo>
                  <a:lnTo>
                    <a:pt x="3856139" y="3674110"/>
                  </a:lnTo>
                  <a:lnTo>
                    <a:pt x="79019" y="3674110"/>
                  </a:lnTo>
                  <a:lnTo>
                    <a:pt x="79019" y="78740"/>
                  </a:lnTo>
                  <a:lnTo>
                    <a:pt x="3935158" y="78740"/>
                  </a:lnTo>
                  <a:lnTo>
                    <a:pt x="3935158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406" y="169427"/>
            <a:ext cx="4699194" cy="453457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>
              <a:spcBef>
                <a:spcPts val="56"/>
              </a:spcBef>
            </a:pPr>
            <a:r>
              <a:rPr sz="2900" dirty="0">
                <a:latin typeface="Roboto"/>
                <a:cs typeface="Roboto"/>
              </a:rPr>
              <a:t>BASIS</a:t>
            </a:r>
            <a:r>
              <a:rPr sz="2900" spc="-14" dirty="0">
                <a:latin typeface="Roboto"/>
                <a:cs typeface="Roboto"/>
              </a:rPr>
              <a:t> </a:t>
            </a:r>
            <a:r>
              <a:rPr sz="2900" dirty="0">
                <a:latin typeface="Roboto"/>
                <a:cs typeface="Roboto"/>
              </a:rPr>
              <a:t>OF</a:t>
            </a:r>
            <a:r>
              <a:rPr sz="2900" spc="-11" dirty="0">
                <a:latin typeface="Roboto"/>
                <a:cs typeface="Roboto"/>
              </a:rPr>
              <a:t> </a:t>
            </a:r>
            <a:r>
              <a:rPr sz="2900" spc="-6" dirty="0">
                <a:latin typeface="Roboto"/>
                <a:cs typeface="Roboto"/>
              </a:rPr>
              <a:t>ACCOUNTING</a:t>
            </a:r>
            <a:endParaRPr sz="290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81" y="3908405"/>
            <a:ext cx="47625" cy="63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81" y="4416405"/>
            <a:ext cx="47625" cy="634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81" y="4924405"/>
            <a:ext cx="47625" cy="634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81" y="5432405"/>
            <a:ext cx="47625" cy="634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7429" y="724548"/>
            <a:ext cx="3180715" cy="5096510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68275" marR="77165" algn="just">
              <a:lnSpc>
                <a:spcPct val="116500"/>
              </a:lnSpc>
              <a:spcBef>
                <a:spcPts val="53"/>
              </a:spcBef>
            </a:pPr>
            <a:r>
              <a:rPr sz="1200" dirty="0">
                <a:latin typeface="Lucida Sans Unicode"/>
                <a:cs typeface="Lucida Sans Unicode"/>
              </a:rPr>
              <a:t>Business</a:t>
            </a:r>
            <a:r>
              <a:rPr sz="1200" spc="257" dirty="0">
                <a:latin typeface="Lucida Sans Unicode"/>
                <a:cs typeface="Lucida Sans Unicode"/>
              </a:rPr>
              <a:t> </a:t>
            </a:r>
            <a:r>
              <a:rPr sz="1200" spc="36" dirty="0">
                <a:latin typeface="Lucida Sans Unicode"/>
                <a:cs typeface="Lucida Sans Unicode"/>
              </a:rPr>
              <a:t>transactions</a:t>
            </a:r>
            <a:r>
              <a:rPr sz="1200" spc="257" dirty="0">
                <a:latin typeface="Lucida Sans Unicode"/>
                <a:cs typeface="Lucida Sans Unicode"/>
              </a:rPr>
              <a:t> </a:t>
            </a:r>
            <a:r>
              <a:rPr sz="1200" spc="64" dirty="0">
                <a:latin typeface="Lucida Sans Unicode"/>
                <a:cs typeface="Lucida Sans Unicode"/>
              </a:rPr>
              <a:t>are</a:t>
            </a:r>
            <a:r>
              <a:rPr sz="1200" spc="257" dirty="0">
                <a:latin typeface="Lucida Sans Unicode"/>
                <a:cs typeface="Lucida Sans Unicode"/>
              </a:rPr>
              <a:t> </a:t>
            </a:r>
            <a:r>
              <a:rPr sz="1200" spc="59" dirty="0">
                <a:latin typeface="Lucida Sans Unicode"/>
                <a:cs typeface="Lucida Sans Unicode"/>
              </a:rPr>
              <a:t>documented</a:t>
            </a:r>
            <a:r>
              <a:rPr sz="1200" spc="260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in </a:t>
            </a:r>
            <a:r>
              <a:rPr sz="1200" spc="31" dirty="0">
                <a:latin typeface="Lucida Sans Unicode"/>
                <a:cs typeface="Lucida Sans Unicode"/>
              </a:rPr>
              <a:t>the</a:t>
            </a:r>
            <a:r>
              <a:rPr sz="1200" spc="12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books</a:t>
            </a:r>
            <a:r>
              <a:rPr sz="1200" spc="12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126" dirty="0">
                <a:latin typeface="Lucida Sans Unicode"/>
                <a:cs typeface="Lucida Sans Unicode"/>
              </a:rPr>
              <a:t> </a:t>
            </a:r>
            <a:r>
              <a:rPr sz="1200" spc="67" dirty="0">
                <a:latin typeface="Lucida Sans Unicode"/>
                <a:cs typeface="Lucida Sans Unicode"/>
              </a:rPr>
              <a:t>account</a:t>
            </a:r>
            <a:r>
              <a:rPr sz="1200" spc="123" dirty="0">
                <a:latin typeface="Lucida Sans Unicode"/>
                <a:cs typeface="Lucida Sans Unicode"/>
              </a:rPr>
              <a:t> </a:t>
            </a:r>
            <a:r>
              <a:rPr sz="1200" spc="53" dirty="0">
                <a:latin typeface="Lucida Sans Unicode"/>
                <a:cs typeface="Lucida Sans Unicode"/>
              </a:rPr>
              <a:t>according</a:t>
            </a:r>
            <a:r>
              <a:rPr sz="1200" spc="12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to</a:t>
            </a:r>
            <a:r>
              <a:rPr sz="1200" spc="123" dirty="0">
                <a:latin typeface="Lucida Sans Unicode"/>
                <a:cs typeface="Lucida Sans Unicode"/>
              </a:rPr>
              <a:t> </a:t>
            </a:r>
            <a:r>
              <a:rPr sz="1200" spc="48" dirty="0">
                <a:latin typeface="Lucida Sans Unicode"/>
                <a:cs typeface="Lucida Sans Unicode"/>
              </a:rPr>
              <a:t>one</a:t>
            </a:r>
            <a:r>
              <a:rPr sz="1200" spc="126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</a:t>
            </a:r>
            <a:r>
              <a:rPr sz="1200" dirty="0">
                <a:latin typeface="Lucida Sans Unicode"/>
                <a:cs typeface="Lucida Sans Unicode"/>
              </a:rPr>
              <a:t>three</a:t>
            </a:r>
            <a:r>
              <a:rPr sz="1200" spc="17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accounting</a:t>
            </a:r>
            <a:r>
              <a:rPr sz="1200" spc="20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bases:</a:t>
            </a:r>
            <a:endParaRPr sz="1200" dirty="0">
              <a:latin typeface="Lucida Sans Unicode"/>
              <a:cs typeface="Lucida Sans Unicode"/>
            </a:endParaRPr>
          </a:p>
          <a:p>
            <a:pPr marL="104546" marR="9601" indent="-97790">
              <a:lnSpc>
                <a:spcPct val="116300"/>
              </a:lnSpc>
              <a:spcBef>
                <a:spcPts val="1546"/>
              </a:spcBef>
            </a:pPr>
            <a:r>
              <a:rPr sz="1200" spc="-252" dirty="0">
                <a:latin typeface="Lucida Sans Unicode"/>
                <a:cs typeface="Lucida Sans Unicode"/>
              </a:rPr>
              <a:t>1.</a:t>
            </a:r>
            <a:r>
              <a:rPr sz="1200" spc="-257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Arial Black"/>
                <a:cs typeface="Arial Black"/>
              </a:rPr>
              <a:t>Cash</a:t>
            </a:r>
            <a:r>
              <a:rPr sz="1200" spc="-137" dirty="0">
                <a:latin typeface="Arial Black"/>
                <a:cs typeface="Arial Black"/>
              </a:rPr>
              <a:t> </a:t>
            </a:r>
            <a:r>
              <a:rPr sz="1200" spc="-62" dirty="0">
                <a:latin typeface="Arial Black"/>
                <a:cs typeface="Arial Black"/>
              </a:rPr>
              <a:t>Basis</a:t>
            </a:r>
            <a:r>
              <a:rPr sz="1200" spc="-137" dirty="0">
                <a:latin typeface="Arial Black"/>
                <a:cs typeface="Arial Black"/>
              </a:rPr>
              <a:t> </a:t>
            </a:r>
            <a:r>
              <a:rPr sz="1200" spc="-39" dirty="0">
                <a:latin typeface="Arial Black"/>
                <a:cs typeface="Arial Black"/>
              </a:rPr>
              <a:t>of</a:t>
            </a:r>
            <a:r>
              <a:rPr sz="1200" spc="-137" dirty="0">
                <a:latin typeface="Arial Black"/>
                <a:cs typeface="Arial Black"/>
              </a:rPr>
              <a:t> </a:t>
            </a:r>
            <a:r>
              <a:rPr sz="1200" spc="-31" dirty="0">
                <a:latin typeface="Arial Black"/>
                <a:cs typeface="Arial Black"/>
              </a:rPr>
              <a:t>Accounting:</a:t>
            </a:r>
            <a:r>
              <a:rPr sz="1200" spc="-67" dirty="0">
                <a:latin typeface="Arial Black"/>
                <a:cs typeface="Arial Black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45" dirty="0">
                <a:latin typeface="Lucida Sans Unicode"/>
                <a:cs typeface="Lucida Sans Unicode"/>
              </a:rPr>
              <a:t> </a:t>
            </a:r>
            <a:r>
              <a:rPr sz="1200" spc="78" dirty="0">
                <a:latin typeface="Lucida Sans Unicode"/>
                <a:cs typeface="Lucida Sans Unicode"/>
              </a:rPr>
              <a:t>cash</a:t>
            </a:r>
            <a:r>
              <a:rPr sz="1200" spc="-45" dirty="0">
                <a:latin typeface="Lucida Sans Unicode"/>
                <a:cs typeface="Lucida Sans Unicode"/>
              </a:rPr>
              <a:t> </a:t>
            </a:r>
            <a:r>
              <a:rPr sz="1200" spc="36" dirty="0">
                <a:latin typeface="Lucida Sans Unicode"/>
                <a:cs typeface="Lucida Sans Unicode"/>
              </a:rPr>
              <a:t>basis</a:t>
            </a:r>
            <a:r>
              <a:rPr sz="1200" spc="-45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</a:t>
            </a:r>
            <a:r>
              <a:rPr sz="1200" spc="50" dirty="0">
                <a:latin typeface="Lucida Sans Unicode"/>
                <a:cs typeface="Lucida Sans Unicode"/>
              </a:rPr>
              <a:t>accounting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151" dirty="0">
                <a:latin typeface="Lucida Sans Unicode"/>
                <a:cs typeface="Lucida Sans Unicode"/>
              </a:rPr>
              <a:t>a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53" dirty="0">
                <a:latin typeface="Lucida Sans Unicode"/>
                <a:cs typeface="Lucida Sans Unicode"/>
              </a:rPr>
              <a:t>method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-56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accounting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in </a:t>
            </a:r>
            <a:r>
              <a:rPr sz="1200" spc="36" dirty="0">
                <a:latin typeface="Lucida Sans Unicode"/>
                <a:cs typeface="Lucida Sans Unicode"/>
              </a:rPr>
              <a:t>which</a:t>
            </a:r>
            <a:r>
              <a:rPr sz="1200" spc="-56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transactions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spc="62" dirty="0">
                <a:latin typeface="Lucida Sans Unicode"/>
                <a:cs typeface="Lucida Sans Unicode"/>
              </a:rPr>
              <a:t>are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spc="45" dirty="0">
                <a:latin typeface="Lucida Sans Unicode"/>
                <a:cs typeface="Lucida Sans Unicode"/>
              </a:rPr>
              <a:t>recorded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-56" dirty="0">
                <a:latin typeface="Lucida Sans Unicode"/>
                <a:cs typeface="Lucida Sans Unicode"/>
              </a:rPr>
              <a:t> </a:t>
            </a:r>
            <a:r>
              <a:rPr sz="1200" spc="17" dirty="0">
                <a:latin typeface="Lucida Sans Unicode"/>
                <a:cs typeface="Lucida Sans Unicode"/>
              </a:rPr>
              <a:t>the </a:t>
            </a:r>
            <a:r>
              <a:rPr sz="1200" dirty="0">
                <a:latin typeface="Lucida Sans Unicode"/>
                <a:cs typeface="Lucida Sans Unicode"/>
              </a:rPr>
              <a:t>books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spc="67" dirty="0">
                <a:latin typeface="Lucida Sans Unicode"/>
                <a:cs typeface="Lucida Sans Unicode"/>
              </a:rPr>
              <a:t>account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spc="48" dirty="0">
                <a:latin typeface="Lucida Sans Unicode"/>
                <a:cs typeface="Lucida Sans Unicode"/>
              </a:rPr>
              <a:t>when</a:t>
            </a:r>
            <a:r>
              <a:rPr sz="1200" spc="274" dirty="0">
                <a:latin typeface="Lucida Sans Unicode"/>
                <a:cs typeface="Lucida Sans Unicode"/>
              </a:rPr>
              <a:t> </a:t>
            </a:r>
            <a:r>
              <a:rPr sz="1200" spc="78" dirty="0">
                <a:latin typeface="Lucida Sans Unicode"/>
                <a:cs typeface="Lucida Sans Unicode"/>
              </a:rPr>
              <a:t>cash</a:t>
            </a:r>
            <a:r>
              <a:rPr sz="1200" spc="27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274" dirty="0">
                <a:latin typeface="Lucida Sans Unicode"/>
                <a:cs typeface="Lucida Sans Unicode"/>
              </a:rPr>
              <a:t> </a:t>
            </a:r>
            <a:r>
              <a:rPr sz="1200" spc="39" dirty="0">
                <a:latin typeface="Lucida Sans Unicode"/>
                <a:cs typeface="Lucida Sans Unicode"/>
              </a:rPr>
              <a:t>received </a:t>
            </a:r>
            <a:r>
              <a:rPr sz="1200" spc="81" dirty="0">
                <a:latin typeface="Lucida Sans Unicode"/>
                <a:cs typeface="Lucida Sans Unicode"/>
              </a:rPr>
              <a:t>and</a:t>
            </a:r>
            <a:r>
              <a:rPr sz="1200" spc="-3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paid.</a:t>
            </a:r>
            <a:r>
              <a:rPr sz="1200" spc="-3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Credit</a:t>
            </a:r>
            <a:r>
              <a:rPr sz="1200" spc="-3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transactions,</a:t>
            </a:r>
            <a:r>
              <a:rPr sz="1200" spc="-3" dirty="0">
                <a:latin typeface="Lucida Sans Unicode"/>
                <a:cs typeface="Lucida Sans Unicode"/>
              </a:rPr>
              <a:t>  </a:t>
            </a:r>
            <a:r>
              <a:rPr sz="1200" spc="48" dirty="0">
                <a:latin typeface="Lucida Sans Unicode"/>
                <a:cs typeface="Lucida Sans Unicode"/>
              </a:rPr>
              <a:t>such</a:t>
            </a:r>
            <a:r>
              <a:rPr sz="1200" spc="-3" dirty="0">
                <a:latin typeface="Lucida Sans Unicode"/>
                <a:cs typeface="Lucida Sans Unicode"/>
              </a:rPr>
              <a:t>  </a:t>
            </a:r>
            <a:r>
              <a:rPr sz="1200" spc="70" dirty="0">
                <a:latin typeface="Lucida Sans Unicode"/>
                <a:cs typeface="Lucida Sans Unicode"/>
              </a:rPr>
              <a:t>as </a:t>
            </a:r>
            <a:r>
              <a:rPr sz="1200" dirty="0">
                <a:latin typeface="Lucida Sans Unicode"/>
                <a:cs typeface="Lucida Sans Unicode"/>
              </a:rPr>
              <a:t>credit</a:t>
            </a:r>
            <a:r>
              <a:rPr sz="1200" spc="-8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purchases</a:t>
            </a:r>
            <a:r>
              <a:rPr sz="1200" spc="-8" dirty="0">
                <a:latin typeface="Lucida Sans Unicode"/>
                <a:cs typeface="Lucida Sans Unicode"/>
              </a:rPr>
              <a:t> </a:t>
            </a:r>
            <a:r>
              <a:rPr sz="1200" spc="81" dirty="0">
                <a:latin typeface="Lucida Sans Unicode"/>
                <a:cs typeface="Lucida Sans Unicode"/>
              </a:rPr>
              <a:t>and</a:t>
            </a:r>
            <a:r>
              <a:rPr sz="1200" spc="-8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sales,</a:t>
            </a:r>
            <a:r>
              <a:rPr sz="1200" spc="-8" dirty="0">
                <a:latin typeface="Lucida Sans Unicode"/>
                <a:cs typeface="Lucida Sans Unicode"/>
              </a:rPr>
              <a:t> </a:t>
            </a:r>
            <a:r>
              <a:rPr sz="1200" spc="62" dirty="0">
                <a:latin typeface="Lucida Sans Unicode"/>
                <a:cs typeface="Lucida Sans Unicode"/>
              </a:rPr>
              <a:t>are</a:t>
            </a:r>
            <a:r>
              <a:rPr sz="1200" spc="-8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not</a:t>
            </a:r>
            <a:r>
              <a:rPr sz="1200" spc="300" dirty="0">
                <a:latin typeface="Lucida Sans Unicode"/>
                <a:cs typeface="Lucida Sans Unicode"/>
              </a:rPr>
              <a:t> </a:t>
            </a:r>
            <a:r>
              <a:rPr sz="1200" spc="45" dirty="0">
                <a:latin typeface="Lucida Sans Unicode"/>
                <a:cs typeface="Lucida Sans Unicode"/>
              </a:rPr>
              <a:t>recorded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31" dirty="0">
                <a:latin typeface="Lucida Sans Unicode"/>
                <a:cs typeface="Lucida Sans Unicode"/>
              </a:rPr>
              <a:t>the</a:t>
            </a:r>
            <a:r>
              <a:rPr sz="1200" spc="-48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books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-48" dirty="0">
                <a:latin typeface="Lucida Sans Unicode"/>
                <a:cs typeface="Lucida Sans Unicode"/>
              </a:rPr>
              <a:t> </a:t>
            </a:r>
            <a:r>
              <a:rPr sz="1200" spc="67" dirty="0">
                <a:latin typeface="Lucida Sans Unicode"/>
                <a:cs typeface="Lucida Sans Unicode"/>
              </a:rPr>
              <a:t>account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31" dirty="0">
                <a:latin typeface="Lucida Sans Unicode"/>
                <a:cs typeface="Lucida Sans Unicode"/>
              </a:rPr>
              <a:t>under</a:t>
            </a:r>
            <a:r>
              <a:rPr sz="1200" spc="-48" dirty="0">
                <a:latin typeface="Lucida Sans Unicode"/>
                <a:cs typeface="Lucida Sans Unicode"/>
              </a:rPr>
              <a:t> </a:t>
            </a:r>
            <a:r>
              <a:rPr sz="1200" spc="-11" dirty="0">
                <a:latin typeface="Lucida Sans Unicode"/>
                <a:cs typeface="Lucida Sans Unicode"/>
              </a:rPr>
              <a:t>this </a:t>
            </a:r>
            <a:r>
              <a:rPr sz="1200" spc="20" dirty="0">
                <a:latin typeface="Lucida Sans Unicode"/>
                <a:cs typeface="Lucida Sans Unicode"/>
              </a:rPr>
              <a:t>method.</a:t>
            </a:r>
            <a:endParaRPr sz="1200" dirty="0">
              <a:latin typeface="Lucida Sans Unicode"/>
              <a:cs typeface="Lucida Sans Unicode"/>
            </a:endParaRPr>
          </a:p>
          <a:p>
            <a:pPr marL="104546" marR="2845">
              <a:lnSpc>
                <a:spcPct val="116300"/>
              </a:lnSpc>
            </a:pPr>
            <a:r>
              <a:rPr sz="1200" spc="50" dirty="0">
                <a:latin typeface="Lucida Sans Unicode"/>
                <a:cs typeface="Lucida Sans Unicode"/>
              </a:rPr>
              <a:t>Cash-</a:t>
            </a:r>
            <a:r>
              <a:rPr sz="1200" spc="36" dirty="0">
                <a:latin typeface="Lucida Sans Unicode"/>
                <a:cs typeface="Lucida Sans Unicode"/>
              </a:rPr>
              <a:t>basis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accounting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not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76" dirty="0">
                <a:latin typeface="Lucida Sans Unicode"/>
                <a:cs typeface="Lucida Sans Unicode"/>
              </a:rPr>
              <a:t>accordance </a:t>
            </a:r>
            <a:r>
              <a:rPr sz="1200" dirty="0">
                <a:latin typeface="Lucida Sans Unicode"/>
                <a:cs typeface="Lucida Sans Unicode"/>
              </a:rPr>
              <a:t>with</a:t>
            </a:r>
            <a:r>
              <a:rPr sz="1200" spc="-28" dirty="0">
                <a:latin typeface="Lucida Sans Unicode"/>
                <a:cs typeface="Lucida Sans Unicode"/>
              </a:rPr>
              <a:t> </a:t>
            </a:r>
            <a:r>
              <a:rPr sz="1200" spc="-11" dirty="0">
                <a:latin typeface="Lucida Sans Unicode"/>
                <a:cs typeface="Lucida Sans Unicode"/>
              </a:rPr>
              <a:t>GAAP.</a:t>
            </a:r>
            <a:endParaRPr sz="1200" dirty="0">
              <a:latin typeface="Lucida Sans Unicode"/>
              <a:cs typeface="Lucida Sans Unicode"/>
            </a:endParaRPr>
          </a:p>
          <a:p>
            <a:pPr marL="104546" marR="740715">
              <a:lnSpc>
                <a:spcPct val="116300"/>
              </a:lnSpc>
            </a:pPr>
            <a:r>
              <a:rPr sz="1200" dirty="0">
                <a:latin typeface="Lucida Sans Unicode"/>
                <a:cs typeface="Lucida Sans Unicode"/>
              </a:rPr>
              <a:t>Most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59" dirty="0">
                <a:latin typeface="Lucida Sans Unicode"/>
                <a:cs typeface="Lucida Sans Unicode"/>
              </a:rPr>
              <a:t>Companies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39" dirty="0">
                <a:latin typeface="Lucida Sans Unicode"/>
                <a:cs typeface="Lucida Sans Unicode"/>
              </a:rPr>
              <a:t>use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67" dirty="0">
                <a:latin typeface="Lucida Sans Unicode"/>
                <a:cs typeface="Lucida Sans Unicode"/>
              </a:rPr>
              <a:t>accrual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25" dirty="0">
                <a:latin typeface="Lucida Sans Unicode"/>
                <a:cs typeface="Lucida Sans Unicode"/>
              </a:rPr>
              <a:t>basis </a:t>
            </a:r>
            <a:r>
              <a:rPr sz="1200" spc="45" dirty="0">
                <a:latin typeface="Lucida Sans Unicode"/>
                <a:cs typeface="Lucida Sans Unicode"/>
              </a:rPr>
              <a:t>accounting</a:t>
            </a:r>
            <a:endParaRPr sz="1200" dirty="0">
              <a:latin typeface="Lucida Sans Unicode"/>
              <a:cs typeface="Lucida Sans Unicode"/>
            </a:endParaRPr>
          </a:p>
          <a:p>
            <a:pPr marL="104546" marR="98857">
              <a:lnSpc>
                <a:spcPct val="116300"/>
              </a:lnSpc>
            </a:pPr>
            <a:r>
              <a:rPr sz="1200" dirty="0">
                <a:latin typeface="Lucida Sans Unicode"/>
                <a:cs typeface="Lucida Sans Unicode"/>
              </a:rPr>
              <a:t>Individuals</a:t>
            </a:r>
            <a:r>
              <a:rPr sz="1200" spc="-17" dirty="0">
                <a:latin typeface="Lucida Sans Unicode"/>
                <a:cs typeface="Lucida Sans Unicode"/>
              </a:rPr>
              <a:t> </a:t>
            </a:r>
            <a:r>
              <a:rPr sz="1200" spc="81" dirty="0">
                <a:latin typeface="Lucida Sans Unicode"/>
                <a:cs typeface="Lucida Sans Unicode"/>
              </a:rPr>
              <a:t>and</a:t>
            </a:r>
            <a:r>
              <a:rPr sz="1200" spc="-14" dirty="0">
                <a:latin typeface="Lucida Sans Unicode"/>
                <a:cs typeface="Lucida Sans Unicode"/>
              </a:rPr>
              <a:t> </a:t>
            </a:r>
            <a:r>
              <a:rPr sz="1200" spc="62" dirty="0">
                <a:latin typeface="Lucida Sans Unicode"/>
                <a:cs typeface="Lucida Sans Unicode"/>
              </a:rPr>
              <a:t>some</a:t>
            </a:r>
            <a:r>
              <a:rPr sz="1200" spc="-14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small</a:t>
            </a:r>
            <a:r>
              <a:rPr sz="1200" spc="-14" dirty="0">
                <a:latin typeface="Lucida Sans Unicode"/>
                <a:cs typeface="Lucida Sans Unicode"/>
              </a:rPr>
              <a:t> </a:t>
            </a:r>
            <a:r>
              <a:rPr sz="1200" spc="62" dirty="0">
                <a:latin typeface="Lucida Sans Unicode"/>
                <a:cs typeface="Lucida Sans Unicode"/>
              </a:rPr>
              <a:t>companies</a:t>
            </a:r>
            <a:r>
              <a:rPr sz="1200" spc="-14" dirty="0">
                <a:latin typeface="Lucida Sans Unicode"/>
                <a:cs typeface="Lucida Sans Unicode"/>
              </a:rPr>
              <a:t> </a:t>
            </a:r>
            <a:r>
              <a:rPr sz="1200" spc="25" dirty="0">
                <a:latin typeface="Lucida Sans Unicode"/>
                <a:cs typeface="Lucida Sans Unicode"/>
              </a:rPr>
              <a:t>use </a:t>
            </a:r>
            <a:r>
              <a:rPr sz="1200" spc="53" dirty="0">
                <a:latin typeface="Lucida Sans Unicode"/>
                <a:cs typeface="Lucida Sans Unicode"/>
              </a:rPr>
              <a:t>cash-</a:t>
            </a:r>
            <a:r>
              <a:rPr sz="1200" spc="36" dirty="0">
                <a:latin typeface="Lucida Sans Unicode"/>
                <a:cs typeface="Lucida Sans Unicode"/>
              </a:rPr>
              <a:t>basis</a:t>
            </a:r>
            <a:r>
              <a:rPr sz="1200" spc="-36" dirty="0">
                <a:latin typeface="Lucida Sans Unicode"/>
                <a:cs typeface="Lucida Sans Unicode"/>
              </a:rPr>
              <a:t> </a:t>
            </a:r>
            <a:r>
              <a:rPr sz="1200" spc="45" dirty="0">
                <a:latin typeface="Lucida Sans Unicode"/>
                <a:cs typeface="Lucida Sans Unicode"/>
              </a:rPr>
              <a:t>accounting</a:t>
            </a:r>
            <a:endParaRPr sz="1200" dirty="0">
              <a:latin typeface="Lucida Sans Unicode"/>
              <a:cs typeface="Lucida Sans Unicode"/>
            </a:endParaRPr>
          </a:p>
          <a:p>
            <a:pPr marL="104546" marR="721868">
              <a:lnSpc>
                <a:spcPct val="116300"/>
              </a:lnSpc>
            </a:pPr>
            <a:r>
              <a:rPr sz="1200" dirty="0">
                <a:latin typeface="Lucida Sans Unicode"/>
                <a:cs typeface="Lucida Sans Unicode"/>
              </a:rPr>
              <a:t>BD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Govt.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Primarily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spc="45" dirty="0">
                <a:latin typeface="Lucida Sans Unicode"/>
                <a:cs typeface="Lucida Sans Unicode"/>
              </a:rPr>
              <a:t>used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this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36" dirty="0">
                <a:latin typeface="Lucida Sans Unicode"/>
                <a:cs typeface="Lucida Sans Unicode"/>
              </a:rPr>
              <a:t>basis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</a:t>
            </a:r>
            <a:r>
              <a:rPr sz="1200" spc="50" dirty="0">
                <a:latin typeface="Lucida Sans Unicode"/>
                <a:cs typeface="Lucida Sans Unicode"/>
              </a:rPr>
              <a:t>accounting</a:t>
            </a:r>
            <a:r>
              <a:rPr sz="1200" spc="-6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budget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purpose.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1229" y="2956018"/>
            <a:ext cx="47625" cy="634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1229" y="3451318"/>
            <a:ext cx="47625" cy="634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1229" y="3946618"/>
            <a:ext cx="47625" cy="6349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758210" y="4262567"/>
            <a:ext cx="1967865" cy="2501900"/>
            <a:chOff x="13516419" y="6393850"/>
            <a:chExt cx="3935729" cy="375285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95439" y="6472870"/>
              <a:ext cx="3777119" cy="35953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516419" y="6393852"/>
              <a:ext cx="3935729" cy="3752850"/>
            </a:xfrm>
            <a:custGeom>
              <a:avLst/>
              <a:gdLst/>
              <a:ahLst/>
              <a:cxnLst/>
              <a:rect l="l" t="t" r="r" b="b"/>
              <a:pathLst>
                <a:path w="3935730" h="3752850">
                  <a:moveTo>
                    <a:pt x="3935158" y="0"/>
                  </a:moveTo>
                  <a:lnTo>
                    <a:pt x="0" y="0"/>
                  </a:lnTo>
                  <a:lnTo>
                    <a:pt x="0" y="78740"/>
                  </a:lnTo>
                  <a:lnTo>
                    <a:pt x="0" y="3674110"/>
                  </a:lnTo>
                  <a:lnTo>
                    <a:pt x="0" y="3752850"/>
                  </a:lnTo>
                  <a:lnTo>
                    <a:pt x="3935158" y="3752850"/>
                  </a:lnTo>
                  <a:lnTo>
                    <a:pt x="3935158" y="3674402"/>
                  </a:lnTo>
                  <a:lnTo>
                    <a:pt x="3935158" y="3674110"/>
                  </a:lnTo>
                  <a:lnTo>
                    <a:pt x="3935158" y="79019"/>
                  </a:lnTo>
                  <a:lnTo>
                    <a:pt x="3856126" y="79019"/>
                  </a:lnTo>
                  <a:lnTo>
                    <a:pt x="3856126" y="3674110"/>
                  </a:lnTo>
                  <a:lnTo>
                    <a:pt x="79019" y="3674110"/>
                  </a:lnTo>
                  <a:lnTo>
                    <a:pt x="79019" y="78740"/>
                  </a:lnTo>
                  <a:lnTo>
                    <a:pt x="3935158" y="78740"/>
                  </a:lnTo>
                  <a:lnTo>
                    <a:pt x="3935158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36300" y="849701"/>
            <a:ext cx="5415915" cy="6257829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2477465" marR="2845" indent="-148285">
              <a:lnSpc>
                <a:spcPct val="116100"/>
              </a:lnSpc>
              <a:spcBef>
                <a:spcPts val="53"/>
              </a:spcBef>
              <a:buSzPct val="92857"/>
              <a:buFont typeface="Lucida Sans Unicode"/>
              <a:buAutoNum type="arabicPeriod" startAt="2"/>
              <a:tabLst>
                <a:tab pos="2478176" algn="l"/>
              </a:tabLst>
            </a:pPr>
            <a:r>
              <a:rPr sz="1200" spc="-14" dirty="0">
                <a:latin typeface="Arial Black"/>
                <a:cs typeface="Arial Black"/>
              </a:rPr>
              <a:t>Accrual</a:t>
            </a:r>
            <a:r>
              <a:rPr sz="1200" spc="14" dirty="0">
                <a:latin typeface="Arial Black"/>
                <a:cs typeface="Arial Black"/>
              </a:rPr>
              <a:t> </a:t>
            </a:r>
            <a:r>
              <a:rPr sz="1200" spc="-34" dirty="0">
                <a:latin typeface="Arial Black"/>
                <a:cs typeface="Arial Black"/>
              </a:rPr>
              <a:t>Basis</a:t>
            </a:r>
            <a:r>
              <a:rPr sz="1200" spc="11" dirty="0">
                <a:latin typeface="Arial Black"/>
                <a:cs typeface="Arial Black"/>
              </a:rPr>
              <a:t> </a:t>
            </a:r>
            <a:r>
              <a:rPr sz="1200" dirty="0">
                <a:latin typeface="Arial Black"/>
                <a:cs typeface="Arial Black"/>
              </a:rPr>
              <a:t>of</a:t>
            </a:r>
            <a:r>
              <a:rPr sz="1200" spc="14" dirty="0">
                <a:latin typeface="Arial Black"/>
                <a:cs typeface="Arial Black"/>
              </a:rPr>
              <a:t> </a:t>
            </a:r>
            <a:r>
              <a:rPr sz="1200" spc="-20" dirty="0">
                <a:latin typeface="Arial Black"/>
                <a:cs typeface="Arial Black"/>
              </a:rPr>
              <a:t>Accounting:</a:t>
            </a:r>
            <a:r>
              <a:rPr sz="1200" spc="64" dirty="0">
                <a:latin typeface="Arial Black"/>
                <a:cs typeface="Arial Black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According</a:t>
            </a:r>
            <a:r>
              <a:rPr sz="1200" spc="137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to 	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274" dirty="0">
                <a:latin typeface="Lucida Sans Unicode"/>
                <a:cs typeface="Lucida Sans Unicode"/>
              </a:rPr>
              <a:t> </a:t>
            </a:r>
            <a:r>
              <a:rPr sz="1200" spc="59" dirty="0">
                <a:latin typeface="Lucida Sans Unicode"/>
                <a:cs typeface="Lucida Sans Unicode"/>
              </a:rPr>
              <a:t>accrual</a:t>
            </a:r>
            <a:r>
              <a:rPr sz="1200" spc="274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basis</a:t>
            </a:r>
            <a:r>
              <a:rPr sz="1200" spc="277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274" dirty="0">
                <a:latin typeface="Lucida Sans Unicode"/>
                <a:cs typeface="Lucida Sans Unicode"/>
              </a:rPr>
              <a:t> </a:t>
            </a:r>
            <a:r>
              <a:rPr sz="1200" spc="42" dirty="0">
                <a:latin typeface="Lucida Sans Unicode"/>
                <a:cs typeface="Lucida Sans Unicode"/>
              </a:rPr>
              <a:t>accounting</a:t>
            </a:r>
            <a:r>
              <a:rPr sz="1200" spc="-48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revenue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56" dirty="0">
                <a:latin typeface="Lucida Sans Unicode"/>
                <a:cs typeface="Lucida Sans Unicode"/>
              </a:rPr>
              <a:t>and 	</a:t>
            </a:r>
            <a:r>
              <a:rPr sz="1200" spc="28" dirty="0">
                <a:latin typeface="Lucida Sans Unicode"/>
                <a:cs typeface="Lucida Sans Unicode"/>
              </a:rPr>
              <a:t>costs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spc="53" dirty="0">
                <a:latin typeface="Lucida Sans Unicode"/>
                <a:cs typeface="Lucida Sans Unicode"/>
              </a:rPr>
              <a:t>are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recorded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in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period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in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spc="31" dirty="0">
                <a:latin typeface="Lucida Sans Unicode"/>
                <a:cs typeface="Lucida Sans Unicode"/>
              </a:rPr>
              <a:t>which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17" dirty="0">
                <a:latin typeface="Lucida Sans Unicode"/>
                <a:cs typeface="Lucida Sans Unicode"/>
              </a:rPr>
              <a:t>they 	</a:t>
            </a:r>
            <a:r>
              <a:rPr sz="1200" spc="70" dirty="0">
                <a:latin typeface="Lucida Sans Unicode"/>
                <a:cs typeface="Lucida Sans Unicode"/>
              </a:rPr>
              <a:t>become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due,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rather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spc="39" dirty="0">
                <a:latin typeface="Lucida Sans Unicode"/>
                <a:cs typeface="Lucida Sans Unicode"/>
              </a:rPr>
              <a:t>than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42" dirty="0">
                <a:latin typeface="Lucida Sans Unicode"/>
                <a:cs typeface="Lucida Sans Unicode"/>
              </a:rPr>
              <a:t>when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they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39" dirty="0">
                <a:latin typeface="Lucida Sans Unicode"/>
                <a:cs typeface="Lucida Sans Unicode"/>
              </a:rPr>
              <a:t>are 	received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or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paid,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Credit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sales,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for</a:t>
            </a:r>
            <a:r>
              <a:rPr sz="1200" spc="29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example,</a:t>
            </a:r>
            <a:r>
              <a:rPr sz="1200" spc="-39" dirty="0">
                <a:latin typeface="Lucida Sans Unicode"/>
                <a:cs typeface="Lucida Sans Unicode"/>
              </a:rPr>
              <a:t>  </a:t>
            </a:r>
            <a:r>
              <a:rPr sz="1200" spc="39" dirty="0">
                <a:latin typeface="Lucida Sans Unicode"/>
                <a:cs typeface="Lucida Sans Unicode"/>
              </a:rPr>
              <a:t>are 	</a:t>
            </a:r>
            <a:r>
              <a:rPr sz="1200" spc="25" dirty="0">
                <a:latin typeface="Lucida Sans Unicode"/>
                <a:cs typeface="Lucida Sans Unicode"/>
              </a:rPr>
              <a:t>included</a:t>
            </a:r>
            <a:r>
              <a:rPr sz="1200" spc="26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26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total</a:t>
            </a:r>
            <a:r>
              <a:rPr sz="1200" spc="263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sales</a:t>
            </a:r>
            <a:r>
              <a:rPr sz="1200" spc="26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for</a:t>
            </a:r>
            <a:r>
              <a:rPr sz="1200" spc="26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266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period, 	</a:t>
            </a:r>
            <a:r>
              <a:rPr sz="1200" spc="25" dirty="0">
                <a:latin typeface="Lucida Sans Unicode"/>
                <a:cs typeface="Lucida Sans Unicode"/>
              </a:rPr>
              <a:t>regardless</a:t>
            </a:r>
            <a:r>
              <a:rPr sz="1200" spc="255" dirty="0">
                <a:latin typeface="Lucida Sans Unicode"/>
                <a:cs typeface="Lucida Sans Unicode"/>
              </a:rPr>
              <a:t> </a:t>
            </a:r>
            <a:r>
              <a:rPr sz="1200" spc="76" dirty="0">
                <a:latin typeface="Lucida Sans Unicode"/>
                <a:cs typeface="Lucida Sans Unicode"/>
              </a:rPr>
              <a:t>as</a:t>
            </a:r>
            <a:r>
              <a:rPr sz="1200" spc="257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to</a:t>
            </a:r>
            <a:r>
              <a:rPr sz="1200" spc="257" dirty="0">
                <a:latin typeface="Lucida Sans Unicode"/>
                <a:cs typeface="Lucida Sans Unicode"/>
              </a:rPr>
              <a:t> </a:t>
            </a:r>
            <a:r>
              <a:rPr sz="1200" spc="25" dirty="0">
                <a:latin typeface="Lucida Sans Unicode"/>
                <a:cs typeface="Lucida Sans Unicode"/>
              </a:rPr>
              <a:t>whether</a:t>
            </a:r>
            <a:r>
              <a:rPr sz="1200" spc="-56" dirty="0">
                <a:latin typeface="Lucida Sans Unicode"/>
                <a:cs typeface="Lucida Sans Unicode"/>
              </a:rPr>
              <a:t> </a:t>
            </a:r>
            <a:r>
              <a:rPr sz="1200" spc="53" dirty="0">
                <a:latin typeface="Lucida Sans Unicode"/>
                <a:cs typeface="Lucida Sans Unicode"/>
              </a:rPr>
              <a:t>money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-17" dirty="0">
                <a:latin typeface="Lucida Sans Unicode"/>
                <a:cs typeface="Lucida Sans Unicode"/>
              </a:rPr>
              <a:t>is</a:t>
            </a:r>
            <a:r>
              <a:rPr sz="1200" spc="-56" dirty="0">
                <a:latin typeface="Lucida Sans Unicode"/>
                <a:cs typeface="Lucida Sans Unicode"/>
              </a:rPr>
              <a:t> </a:t>
            </a:r>
            <a:r>
              <a:rPr sz="1200" spc="39" dirty="0">
                <a:latin typeface="Lucida Sans Unicode"/>
                <a:cs typeface="Lucida Sans Unicode"/>
              </a:rPr>
              <a:t>received</a:t>
            </a:r>
            <a:r>
              <a:rPr sz="1200" spc="-59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or 	</a:t>
            </a:r>
            <a:r>
              <a:rPr sz="1200" spc="-11" dirty="0">
                <a:latin typeface="Lucida Sans Unicode"/>
                <a:cs typeface="Lucida Sans Unicode"/>
              </a:rPr>
              <a:t>not.</a:t>
            </a:r>
            <a:endParaRPr sz="1200">
              <a:latin typeface="Lucida Sans Unicode"/>
              <a:cs typeface="Lucida Sans Unicode"/>
            </a:endParaRPr>
          </a:p>
          <a:p>
            <a:pPr marL="2478176" marR="390449">
              <a:lnSpc>
                <a:spcPct val="116100"/>
              </a:lnSpc>
            </a:pPr>
            <a:r>
              <a:rPr sz="1200" spc="34" dirty="0">
                <a:latin typeface="Lucida Sans Unicode"/>
                <a:cs typeface="Lucida Sans Unicode"/>
              </a:rPr>
              <a:t>Revenues</a:t>
            </a:r>
            <a:r>
              <a:rPr sz="1200" spc="238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will</a:t>
            </a:r>
            <a:r>
              <a:rPr sz="1200" spc="238" dirty="0">
                <a:latin typeface="Lucida Sans Unicode"/>
                <a:cs typeface="Lucida Sans Unicode"/>
              </a:rPr>
              <a:t> </a:t>
            </a:r>
            <a:r>
              <a:rPr sz="1200" spc="59" dirty="0">
                <a:latin typeface="Lucida Sans Unicode"/>
                <a:cs typeface="Lucida Sans Unicode"/>
              </a:rPr>
              <a:t>be</a:t>
            </a:r>
            <a:r>
              <a:rPr sz="1200" spc="238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recorded</a:t>
            </a:r>
            <a:r>
              <a:rPr sz="1200" spc="238" dirty="0">
                <a:latin typeface="Lucida Sans Unicode"/>
                <a:cs typeface="Lucida Sans Unicode"/>
              </a:rPr>
              <a:t> </a:t>
            </a:r>
            <a:r>
              <a:rPr sz="1200" spc="42" dirty="0">
                <a:latin typeface="Lucida Sans Unicode"/>
                <a:cs typeface="Lucida Sans Unicode"/>
              </a:rPr>
              <a:t>when</a:t>
            </a:r>
            <a:r>
              <a:rPr sz="1200" spc="238" dirty="0">
                <a:latin typeface="Lucida Sans Unicode"/>
                <a:cs typeface="Lucida Sans Unicode"/>
              </a:rPr>
              <a:t> </a:t>
            </a:r>
            <a:r>
              <a:rPr sz="1200" spc="45" dirty="0">
                <a:latin typeface="Lucida Sans Unicode"/>
                <a:cs typeface="Lucida Sans Unicode"/>
              </a:rPr>
              <a:t>earned </a:t>
            </a:r>
            <a:r>
              <a:rPr sz="1200" dirty="0">
                <a:latin typeface="Lucida Sans Unicode"/>
                <a:cs typeface="Lucida Sans Unicode"/>
              </a:rPr>
              <a:t>rather</a:t>
            </a:r>
            <a:r>
              <a:rPr sz="1200" spc="-36" dirty="0">
                <a:latin typeface="Lucida Sans Unicode"/>
                <a:cs typeface="Lucida Sans Unicode"/>
              </a:rPr>
              <a:t>  </a:t>
            </a:r>
            <a:r>
              <a:rPr sz="1200" spc="39" dirty="0">
                <a:latin typeface="Lucida Sans Unicode"/>
                <a:cs typeface="Lucida Sans Unicode"/>
              </a:rPr>
              <a:t>than</a:t>
            </a:r>
            <a:r>
              <a:rPr sz="1200" spc="-36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36" dirty="0">
                <a:latin typeface="Lucida Sans Unicode"/>
                <a:cs typeface="Lucida Sans Unicode"/>
              </a:rPr>
              <a:t>  </a:t>
            </a:r>
            <a:r>
              <a:rPr sz="1200" spc="70" dirty="0">
                <a:latin typeface="Lucida Sans Unicode"/>
                <a:cs typeface="Lucida Sans Unicode"/>
              </a:rPr>
              <a:t>cash</a:t>
            </a:r>
            <a:r>
              <a:rPr sz="1200" spc="-36" dirty="0">
                <a:latin typeface="Lucida Sans Unicode"/>
                <a:cs typeface="Lucida Sans Unicode"/>
              </a:rPr>
              <a:t>  </a:t>
            </a:r>
            <a:r>
              <a:rPr sz="1200" spc="-17" dirty="0">
                <a:latin typeface="Lucida Sans Unicode"/>
                <a:cs typeface="Lucida Sans Unicode"/>
              </a:rPr>
              <a:t>is</a:t>
            </a:r>
            <a:r>
              <a:rPr sz="1200" spc="-36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received.</a:t>
            </a:r>
            <a:endParaRPr sz="1200">
              <a:latin typeface="Lucida Sans Unicode"/>
              <a:cs typeface="Lucida Sans Unicode"/>
            </a:endParaRPr>
          </a:p>
          <a:p>
            <a:pPr marL="2478176" marR="44450">
              <a:lnSpc>
                <a:spcPct val="116100"/>
              </a:lnSpc>
            </a:pPr>
            <a:r>
              <a:rPr sz="1200" dirty="0">
                <a:latin typeface="Lucida Sans Unicode"/>
                <a:cs typeface="Lucida Sans Unicode"/>
              </a:rPr>
              <a:t>Expenses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-28" dirty="0">
                <a:latin typeface="Lucida Sans Unicode"/>
                <a:cs typeface="Lucida Sans Unicode"/>
              </a:rPr>
              <a:t>will </a:t>
            </a:r>
            <a:r>
              <a:rPr sz="1200" spc="59" dirty="0">
                <a:latin typeface="Lucida Sans Unicode"/>
                <a:cs typeface="Lucida Sans Unicode"/>
              </a:rPr>
              <a:t>be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recorded</a:t>
            </a:r>
            <a:r>
              <a:rPr sz="1200" spc="-28" dirty="0">
                <a:latin typeface="Lucida Sans Unicode"/>
                <a:cs typeface="Lucida Sans Unicode"/>
              </a:rPr>
              <a:t> </a:t>
            </a:r>
            <a:r>
              <a:rPr sz="1200" spc="42" dirty="0">
                <a:latin typeface="Lucida Sans Unicode"/>
                <a:cs typeface="Lucida Sans Unicode"/>
              </a:rPr>
              <a:t>when</a:t>
            </a:r>
            <a:r>
              <a:rPr sz="1200" spc="-28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incurred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rather </a:t>
            </a:r>
            <a:r>
              <a:rPr sz="1200" spc="39" dirty="0">
                <a:latin typeface="Lucida Sans Unicode"/>
                <a:cs typeface="Lucida Sans Unicode"/>
              </a:rPr>
              <a:t>than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70" dirty="0">
                <a:latin typeface="Lucida Sans Unicode"/>
                <a:cs typeface="Lucida Sans Unicode"/>
              </a:rPr>
              <a:t>cash</a:t>
            </a:r>
            <a:r>
              <a:rPr sz="1200" spc="-39" dirty="0">
                <a:latin typeface="Lucida Sans Unicode"/>
                <a:cs typeface="Lucida Sans Unicode"/>
              </a:rPr>
              <a:t> </a:t>
            </a:r>
            <a:r>
              <a:rPr sz="1200" spc="-17" dirty="0">
                <a:latin typeface="Lucida Sans Unicode"/>
                <a:cs typeface="Lucida Sans Unicode"/>
              </a:rPr>
              <a:t>is</a:t>
            </a:r>
            <a:r>
              <a:rPr sz="1200" spc="-42" dirty="0">
                <a:latin typeface="Lucida Sans Unicode"/>
                <a:cs typeface="Lucida Sans Unicode"/>
              </a:rPr>
              <a:t> </a:t>
            </a:r>
            <a:r>
              <a:rPr sz="1200" spc="-11" dirty="0">
                <a:latin typeface="Lucida Sans Unicode"/>
                <a:cs typeface="Lucida Sans Unicode"/>
              </a:rPr>
              <a:t>paid.</a:t>
            </a:r>
            <a:endParaRPr sz="1200">
              <a:latin typeface="Lucida Sans Unicode"/>
              <a:cs typeface="Lucida Sans Unicode"/>
            </a:endParaRPr>
          </a:p>
          <a:p>
            <a:pPr marL="2478176" marR="32004">
              <a:lnSpc>
                <a:spcPct val="116100"/>
              </a:lnSpc>
            </a:pPr>
            <a:r>
              <a:rPr sz="1200" dirty="0">
                <a:latin typeface="Lucida Sans Unicode"/>
                <a:cs typeface="Lucida Sans Unicode"/>
              </a:rPr>
              <a:t>Public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Limited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Companies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spc="53" dirty="0">
                <a:latin typeface="Lucida Sans Unicode"/>
                <a:cs typeface="Lucida Sans Unicode"/>
              </a:rPr>
              <a:t>are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uses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this</a:t>
            </a:r>
            <a:r>
              <a:rPr sz="1200" spc="-34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basis</a:t>
            </a:r>
            <a:r>
              <a:rPr sz="1200" spc="-31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</a:t>
            </a:r>
            <a:r>
              <a:rPr sz="1200" spc="20" dirty="0">
                <a:latin typeface="Lucida Sans Unicode"/>
                <a:cs typeface="Lucida Sans Unicode"/>
              </a:rPr>
              <a:t>accounting.</a:t>
            </a:r>
            <a:endParaRPr sz="1200">
              <a:latin typeface="Lucida Sans Unicode"/>
              <a:cs typeface="Lucida Sans Unicode"/>
            </a:endParaRPr>
          </a:p>
          <a:p>
            <a:pPr marL="140462" marR="2658466" indent="-138684" algn="just">
              <a:lnSpc>
                <a:spcPct val="116100"/>
              </a:lnSpc>
              <a:spcBef>
                <a:spcPts val="305"/>
              </a:spcBef>
              <a:buSzPct val="92857"/>
              <a:buFont typeface="Lucida Sans Unicode"/>
              <a:buAutoNum type="arabicPeriod" startAt="3"/>
              <a:tabLst>
                <a:tab pos="141173" algn="l"/>
              </a:tabLst>
            </a:pPr>
            <a:r>
              <a:rPr sz="1200" dirty="0">
                <a:latin typeface="Arial Black"/>
                <a:cs typeface="Arial Black"/>
              </a:rPr>
              <a:t>Hybrid</a:t>
            </a:r>
            <a:r>
              <a:rPr sz="1200" spc="8" dirty="0">
                <a:latin typeface="Arial Black"/>
                <a:cs typeface="Arial Black"/>
              </a:rPr>
              <a:t> </a:t>
            </a:r>
            <a:r>
              <a:rPr sz="1200" spc="-34" dirty="0">
                <a:latin typeface="Arial Black"/>
                <a:cs typeface="Arial Black"/>
              </a:rPr>
              <a:t>Basis</a:t>
            </a:r>
            <a:r>
              <a:rPr sz="1200" spc="11" dirty="0">
                <a:latin typeface="Arial Black"/>
                <a:cs typeface="Arial Black"/>
              </a:rPr>
              <a:t> </a:t>
            </a:r>
            <a:r>
              <a:rPr sz="1200" dirty="0">
                <a:latin typeface="Arial Black"/>
                <a:cs typeface="Arial Black"/>
              </a:rPr>
              <a:t>of</a:t>
            </a:r>
            <a:r>
              <a:rPr sz="1200" spc="11" dirty="0">
                <a:latin typeface="Arial Black"/>
                <a:cs typeface="Arial Black"/>
              </a:rPr>
              <a:t> </a:t>
            </a:r>
            <a:r>
              <a:rPr sz="1200" spc="-22" dirty="0">
                <a:latin typeface="Arial Black"/>
                <a:cs typeface="Arial Black"/>
              </a:rPr>
              <a:t>Accounting:</a:t>
            </a:r>
            <a:r>
              <a:rPr sz="1200" spc="8" dirty="0">
                <a:latin typeface="Arial Black"/>
                <a:cs typeface="Arial Black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It</a:t>
            </a:r>
            <a:r>
              <a:rPr sz="1200" spc="8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81" dirty="0">
                <a:latin typeface="Lucida Sans Unicode"/>
                <a:cs typeface="Lucida Sans Unicode"/>
              </a:rPr>
              <a:t> </a:t>
            </a:r>
            <a:r>
              <a:rPr sz="1200" spc="142" dirty="0">
                <a:latin typeface="Lucida Sans Unicode"/>
                <a:cs typeface="Lucida Sans Unicode"/>
              </a:rPr>
              <a:t>a</a:t>
            </a:r>
            <a:r>
              <a:rPr sz="1200" spc="8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mix</a:t>
            </a:r>
            <a:r>
              <a:rPr sz="1200" spc="81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	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spc="62" dirty="0">
                <a:latin typeface="Lucida Sans Unicode"/>
                <a:cs typeface="Lucida Sans Unicode"/>
              </a:rPr>
              <a:t>Cash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Basis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spc="70" dirty="0">
                <a:latin typeface="Lucida Sans Unicode"/>
                <a:cs typeface="Lucida Sans Unicode"/>
              </a:rPr>
              <a:t>and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spc="34" dirty="0">
                <a:latin typeface="Lucida Sans Unicode"/>
                <a:cs typeface="Lucida Sans Unicode"/>
              </a:rPr>
              <a:t>Accrual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Basis</a:t>
            </a:r>
            <a:r>
              <a:rPr sz="1200" spc="-6" dirty="0">
                <a:latin typeface="Lucida Sans Unicode"/>
                <a:cs typeface="Lucida Sans Unicode"/>
              </a:rPr>
              <a:t>  </a:t>
            </a:r>
            <a:r>
              <a:rPr sz="1200" spc="-14" dirty="0">
                <a:latin typeface="Lucida Sans Unicode"/>
                <a:cs typeface="Lucida Sans Unicode"/>
              </a:rPr>
              <a:t>of 	</a:t>
            </a:r>
            <a:r>
              <a:rPr sz="1200" dirty="0">
                <a:latin typeface="Lucida Sans Unicode"/>
                <a:cs typeface="Lucida Sans Unicode"/>
              </a:rPr>
              <a:t>Accounting.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spc="31" dirty="0">
                <a:latin typeface="Lucida Sans Unicode"/>
                <a:cs typeface="Lucida Sans Unicode"/>
              </a:rPr>
              <a:t>Revenues</a:t>
            </a:r>
            <a:r>
              <a:rPr sz="1200" spc="25" dirty="0">
                <a:latin typeface="Lucida Sans Unicode"/>
                <a:cs typeface="Lucida Sans Unicode"/>
              </a:rPr>
              <a:t>  </a:t>
            </a:r>
            <a:r>
              <a:rPr sz="1200" spc="50" dirty="0">
                <a:latin typeface="Lucida Sans Unicode"/>
                <a:cs typeface="Lucida Sans Unicode"/>
              </a:rPr>
              <a:t>are</a:t>
            </a:r>
            <a:r>
              <a:rPr sz="1200" spc="25" dirty="0">
                <a:latin typeface="Lucida Sans Unicode"/>
                <a:cs typeface="Lucida Sans Unicode"/>
              </a:rPr>
              <a:t>  </a:t>
            </a:r>
            <a:r>
              <a:rPr sz="1200" spc="56" dirty="0">
                <a:latin typeface="Lucida Sans Unicode"/>
                <a:cs typeface="Lucida Sans Unicode"/>
              </a:rPr>
              <a:t>accounted</a:t>
            </a:r>
            <a:r>
              <a:rPr sz="1200" spc="25" dirty="0">
                <a:latin typeface="Lucida Sans Unicode"/>
                <a:cs typeface="Lucida Sans Unicode"/>
              </a:rPr>
              <a:t>  </a:t>
            </a:r>
            <a:r>
              <a:rPr sz="1200" spc="-14" dirty="0">
                <a:latin typeface="Lucida Sans Unicode"/>
                <a:cs typeface="Lucida Sans Unicode"/>
              </a:rPr>
              <a:t>for 	</a:t>
            </a:r>
            <a:r>
              <a:rPr sz="1200" dirty="0">
                <a:latin typeface="Lucida Sans Unicode"/>
                <a:cs typeface="Lucida Sans Unicode"/>
              </a:rPr>
              <a:t>on</a:t>
            </a:r>
            <a:r>
              <a:rPr sz="1200" spc="11" dirty="0">
                <a:latin typeface="Lucida Sans Unicode"/>
                <a:cs typeface="Lucida Sans Unicode"/>
              </a:rPr>
              <a:t> </a:t>
            </a:r>
            <a:r>
              <a:rPr sz="1200" spc="142" dirty="0">
                <a:latin typeface="Lucida Sans Unicode"/>
                <a:cs typeface="Lucida Sans Unicode"/>
              </a:rPr>
              <a:t>a</a:t>
            </a:r>
            <a:r>
              <a:rPr sz="1200" spc="14" dirty="0">
                <a:latin typeface="Lucida Sans Unicode"/>
                <a:cs typeface="Lucida Sans Unicode"/>
              </a:rPr>
              <a:t> </a:t>
            </a:r>
            <a:r>
              <a:rPr sz="1200" spc="62" dirty="0">
                <a:latin typeface="Lucida Sans Unicode"/>
                <a:cs typeface="Lucida Sans Unicode"/>
              </a:rPr>
              <a:t>Cash</a:t>
            </a:r>
            <a:r>
              <a:rPr sz="1200" spc="1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Basis,</a:t>
            </a:r>
            <a:r>
              <a:rPr sz="1200" spc="1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while</a:t>
            </a:r>
            <a:r>
              <a:rPr sz="1200" spc="1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costs</a:t>
            </a:r>
            <a:r>
              <a:rPr sz="1200" spc="14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are</a:t>
            </a:r>
            <a:r>
              <a:rPr sz="1200" spc="11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accounted 	</a:t>
            </a:r>
            <a:r>
              <a:rPr sz="1200" dirty="0">
                <a:latin typeface="Lucida Sans Unicode"/>
                <a:cs typeface="Lucida Sans Unicode"/>
              </a:rPr>
              <a:t>for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on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spc="78" dirty="0">
                <a:latin typeface="Lucida Sans Unicode"/>
                <a:cs typeface="Lucida Sans Unicode"/>
              </a:rPr>
              <a:t>an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Accrual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Basis,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under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232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Hybrid 	</a:t>
            </a:r>
            <a:r>
              <a:rPr sz="1200" dirty="0">
                <a:latin typeface="Lucida Sans Unicode"/>
                <a:cs typeface="Lucida Sans Unicode"/>
              </a:rPr>
              <a:t>Basis</a:t>
            </a:r>
            <a:r>
              <a:rPr sz="1200" spc="17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179" dirty="0">
                <a:latin typeface="Lucida Sans Unicode"/>
                <a:cs typeface="Lucida Sans Unicode"/>
              </a:rPr>
              <a:t> </a:t>
            </a:r>
            <a:r>
              <a:rPr sz="1200" spc="25" dirty="0">
                <a:latin typeface="Lucida Sans Unicode"/>
                <a:cs typeface="Lucida Sans Unicode"/>
              </a:rPr>
              <a:t>Accounting</a:t>
            </a:r>
            <a:r>
              <a:rPr sz="1200" spc="179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(also</a:t>
            </a:r>
            <a:r>
              <a:rPr sz="1200" spc="17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known</a:t>
            </a:r>
            <a:r>
              <a:rPr sz="1200" spc="179" dirty="0">
                <a:latin typeface="Lucida Sans Unicode"/>
                <a:cs typeface="Lucida Sans Unicode"/>
              </a:rPr>
              <a:t> </a:t>
            </a:r>
            <a:r>
              <a:rPr sz="1200" spc="73" dirty="0">
                <a:latin typeface="Lucida Sans Unicode"/>
                <a:cs typeface="Lucida Sans Unicode"/>
              </a:rPr>
              <a:t>as</a:t>
            </a:r>
            <a:r>
              <a:rPr sz="1200" spc="179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Mixed 	</a:t>
            </a:r>
            <a:r>
              <a:rPr sz="1200" spc="42" dirty="0">
                <a:latin typeface="Lucida Sans Unicode"/>
                <a:cs typeface="Lucida Sans Unicode"/>
              </a:rPr>
              <a:t>System</a:t>
            </a:r>
            <a:r>
              <a:rPr sz="1200" spc="109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11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Accounting).</a:t>
            </a:r>
            <a:r>
              <a:rPr sz="1200" spc="11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Different</a:t>
            </a:r>
            <a:r>
              <a:rPr sz="1200" spc="112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small</a:t>
            </a:r>
            <a:r>
              <a:rPr sz="1200" spc="112" dirty="0">
                <a:latin typeface="Lucida Sans Unicode"/>
                <a:cs typeface="Lucida Sans Unicode"/>
              </a:rPr>
              <a:t> </a:t>
            </a:r>
            <a:r>
              <a:rPr sz="1200" spc="56" dirty="0">
                <a:latin typeface="Lucida Sans Unicode"/>
                <a:cs typeface="Lucida Sans Unicode"/>
              </a:rPr>
              <a:t>and 	</a:t>
            </a:r>
            <a:r>
              <a:rPr sz="1200" spc="48" dirty="0">
                <a:latin typeface="Lucida Sans Unicode"/>
                <a:cs typeface="Lucida Sans Unicode"/>
              </a:rPr>
              <a:t>medium</a:t>
            </a:r>
            <a:r>
              <a:rPr sz="1200" spc="148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enterprises</a:t>
            </a:r>
            <a:r>
              <a:rPr sz="1200" spc="151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uses</a:t>
            </a:r>
            <a:r>
              <a:rPr sz="1200" spc="151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this</a:t>
            </a:r>
            <a:r>
              <a:rPr sz="1200" spc="148" dirty="0">
                <a:latin typeface="Lucida Sans Unicode"/>
                <a:cs typeface="Lucida Sans Unicode"/>
              </a:rPr>
              <a:t>  </a:t>
            </a:r>
            <a:r>
              <a:rPr sz="1200" spc="28" dirty="0">
                <a:latin typeface="Lucida Sans Unicode"/>
                <a:cs typeface="Lucida Sans Unicode"/>
              </a:rPr>
              <a:t>basis</a:t>
            </a:r>
            <a:r>
              <a:rPr sz="1200" spc="151" dirty="0">
                <a:latin typeface="Lucida Sans Unicode"/>
                <a:cs typeface="Lucida Sans Unicode"/>
              </a:rPr>
              <a:t>  </a:t>
            </a:r>
            <a:r>
              <a:rPr sz="1200" spc="-14" dirty="0">
                <a:latin typeface="Lucida Sans Unicode"/>
                <a:cs typeface="Lucida Sans Unicode"/>
              </a:rPr>
              <a:t>of 	</a:t>
            </a:r>
            <a:r>
              <a:rPr sz="1200" spc="20" dirty="0">
                <a:latin typeface="Lucida Sans Unicode"/>
                <a:cs typeface="Lucida Sans Unicode"/>
              </a:rPr>
              <a:t>accounting.</a:t>
            </a:r>
            <a:endParaRPr sz="12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419093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5400"/>
            <a:ext cx="9144000" cy="6858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60100" y="1028700"/>
              <a:ext cx="8020050" cy="9116695"/>
            </a:xfrm>
            <a:custGeom>
              <a:avLst/>
              <a:gdLst/>
              <a:ahLst/>
              <a:cxnLst/>
              <a:rect l="l" t="t" r="r" b="b"/>
              <a:pathLst>
                <a:path w="8020050" h="9116695">
                  <a:moveTo>
                    <a:pt x="7620569" y="9116541"/>
                  </a:moveTo>
                  <a:lnTo>
                    <a:pt x="399480" y="9116541"/>
                  </a:lnTo>
                  <a:lnTo>
                    <a:pt x="390562" y="9115210"/>
                  </a:lnTo>
                  <a:lnTo>
                    <a:pt x="344494" y="9103633"/>
                  </a:lnTo>
                  <a:lnTo>
                    <a:pt x="299877" y="9087653"/>
                  </a:lnTo>
                  <a:lnTo>
                    <a:pt x="257028" y="9067403"/>
                  </a:lnTo>
                  <a:lnTo>
                    <a:pt x="216266" y="9043015"/>
                  </a:lnTo>
                  <a:lnTo>
                    <a:pt x="177911" y="9014620"/>
                  </a:lnTo>
                  <a:lnTo>
                    <a:pt x="142280" y="8982350"/>
                  </a:lnTo>
                  <a:lnTo>
                    <a:pt x="110011" y="8946719"/>
                  </a:lnTo>
                  <a:lnTo>
                    <a:pt x="81616" y="8908364"/>
                  </a:lnTo>
                  <a:lnTo>
                    <a:pt x="57227" y="8867602"/>
                  </a:lnTo>
                  <a:lnTo>
                    <a:pt x="36977" y="8824753"/>
                  </a:lnTo>
                  <a:lnTo>
                    <a:pt x="20997" y="8780136"/>
                  </a:lnTo>
                  <a:lnTo>
                    <a:pt x="9420" y="8734068"/>
                  </a:lnTo>
                  <a:lnTo>
                    <a:pt x="2377" y="8686868"/>
                  </a:lnTo>
                  <a:lnTo>
                    <a:pt x="0" y="8638855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1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7534274" y="0"/>
                  </a:lnTo>
                  <a:lnTo>
                    <a:pt x="7582287" y="2377"/>
                  </a:lnTo>
                  <a:lnTo>
                    <a:pt x="7629487" y="9420"/>
                  </a:lnTo>
                  <a:lnTo>
                    <a:pt x="7675555" y="20997"/>
                  </a:lnTo>
                  <a:lnTo>
                    <a:pt x="7720172" y="36977"/>
                  </a:lnTo>
                  <a:lnTo>
                    <a:pt x="7763021" y="57227"/>
                  </a:lnTo>
                  <a:lnTo>
                    <a:pt x="7803783" y="81615"/>
                  </a:lnTo>
                  <a:lnTo>
                    <a:pt x="7842138" y="110010"/>
                  </a:lnTo>
                  <a:lnTo>
                    <a:pt x="7877770" y="142280"/>
                  </a:lnTo>
                  <a:lnTo>
                    <a:pt x="7910039" y="177911"/>
                  </a:lnTo>
                  <a:lnTo>
                    <a:pt x="7938434" y="216266"/>
                  </a:lnTo>
                  <a:lnTo>
                    <a:pt x="7962822" y="257028"/>
                  </a:lnTo>
                  <a:lnTo>
                    <a:pt x="7983072" y="299877"/>
                  </a:lnTo>
                  <a:lnTo>
                    <a:pt x="7999052" y="344494"/>
                  </a:lnTo>
                  <a:lnTo>
                    <a:pt x="8010629" y="390562"/>
                  </a:lnTo>
                  <a:lnTo>
                    <a:pt x="8017672" y="437762"/>
                  </a:lnTo>
                  <a:lnTo>
                    <a:pt x="8020049" y="485775"/>
                  </a:lnTo>
                  <a:lnTo>
                    <a:pt x="8020049" y="8638855"/>
                  </a:lnTo>
                  <a:lnTo>
                    <a:pt x="8017672" y="8686868"/>
                  </a:lnTo>
                  <a:lnTo>
                    <a:pt x="8010629" y="8734068"/>
                  </a:lnTo>
                  <a:lnTo>
                    <a:pt x="7999052" y="8780136"/>
                  </a:lnTo>
                  <a:lnTo>
                    <a:pt x="7983072" y="8824753"/>
                  </a:lnTo>
                  <a:lnTo>
                    <a:pt x="7962822" y="8867602"/>
                  </a:lnTo>
                  <a:lnTo>
                    <a:pt x="7938434" y="8908364"/>
                  </a:lnTo>
                  <a:lnTo>
                    <a:pt x="7910039" y="8946719"/>
                  </a:lnTo>
                  <a:lnTo>
                    <a:pt x="7877770" y="8982350"/>
                  </a:lnTo>
                  <a:lnTo>
                    <a:pt x="7842138" y="9014620"/>
                  </a:lnTo>
                  <a:lnTo>
                    <a:pt x="7803783" y="9043015"/>
                  </a:lnTo>
                  <a:lnTo>
                    <a:pt x="7763021" y="9067403"/>
                  </a:lnTo>
                  <a:lnTo>
                    <a:pt x="7720172" y="9087653"/>
                  </a:lnTo>
                  <a:lnTo>
                    <a:pt x="7675555" y="9103633"/>
                  </a:lnTo>
                  <a:lnTo>
                    <a:pt x="7629487" y="9115210"/>
                  </a:lnTo>
                  <a:lnTo>
                    <a:pt x="7620569" y="9116541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219" y="1821357"/>
              <a:ext cx="11139805" cy="6557645"/>
            </a:xfrm>
            <a:custGeom>
              <a:avLst/>
              <a:gdLst/>
              <a:ahLst/>
              <a:cxnLst/>
              <a:rect l="l" t="t" r="r" b="b"/>
              <a:pathLst>
                <a:path w="11139805" h="6557645">
                  <a:moveTo>
                    <a:pt x="1655178" y="3524847"/>
                  </a:moveTo>
                  <a:lnTo>
                    <a:pt x="1653768" y="3476218"/>
                  </a:lnTo>
                  <a:lnTo>
                    <a:pt x="1649603" y="3428327"/>
                  </a:lnTo>
                  <a:lnTo>
                    <a:pt x="1642770" y="3381260"/>
                  </a:lnTo>
                  <a:lnTo>
                    <a:pt x="1633321" y="3335083"/>
                  </a:lnTo>
                  <a:lnTo>
                    <a:pt x="1621345" y="3289884"/>
                  </a:lnTo>
                  <a:lnTo>
                    <a:pt x="1606931" y="3245726"/>
                  </a:lnTo>
                  <a:lnTo>
                    <a:pt x="1590141" y="3202711"/>
                  </a:lnTo>
                  <a:lnTo>
                    <a:pt x="1571066" y="3160890"/>
                  </a:lnTo>
                  <a:lnTo>
                    <a:pt x="1549768" y="3120352"/>
                  </a:lnTo>
                  <a:lnTo>
                    <a:pt x="1526336" y="3081185"/>
                  </a:lnTo>
                  <a:lnTo>
                    <a:pt x="1500835" y="3043440"/>
                  </a:lnTo>
                  <a:lnTo>
                    <a:pt x="1473365" y="3007233"/>
                  </a:lnTo>
                  <a:lnTo>
                    <a:pt x="1443990" y="2972600"/>
                  </a:lnTo>
                  <a:lnTo>
                    <a:pt x="1412786" y="2939643"/>
                  </a:lnTo>
                  <a:lnTo>
                    <a:pt x="1379829" y="2908439"/>
                  </a:lnTo>
                  <a:lnTo>
                    <a:pt x="1345209" y="2879064"/>
                  </a:lnTo>
                  <a:lnTo>
                    <a:pt x="1308989" y="2851594"/>
                  </a:lnTo>
                  <a:lnTo>
                    <a:pt x="1271244" y="2826105"/>
                  </a:lnTo>
                  <a:lnTo>
                    <a:pt x="1232077" y="2802661"/>
                  </a:lnTo>
                  <a:lnTo>
                    <a:pt x="1191539" y="2781376"/>
                  </a:lnTo>
                  <a:lnTo>
                    <a:pt x="1149718" y="2762288"/>
                  </a:lnTo>
                  <a:lnTo>
                    <a:pt x="1106703" y="2745498"/>
                  </a:lnTo>
                  <a:lnTo>
                    <a:pt x="1062545" y="2731084"/>
                  </a:lnTo>
                  <a:lnTo>
                    <a:pt x="1017346" y="2719108"/>
                  </a:lnTo>
                  <a:lnTo>
                    <a:pt x="971169" y="2709659"/>
                  </a:lnTo>
                  <a:lnTo>
                    <a:pt x="924102" y="2702826"/>
                  </a:lnTo>
                  <a:lnTo>
                    <a:pt x="876211" y="2698661"/>
                  </a:lnTo>
                  <a:lnTo>
                    <a:pt x="827595" y="2697251"/>
                  </a:lnTo>
                  <a:lnTo>
                    <a:pt x="778967" y="2698661"/>
                  </a:lnTo>
                  <a:lnTo>
                    <a:pt x="731075" y="2702826"/>
                  </a:lnTo>
                  <a:lnTo>
                    <a:pt x="684009" y="2709659"/>
                  </a:lnTo>
                  <a:lnTo>
                    <a:pt x="637832" y="2719108"/>
                  </a:lnTo>
                  <a:lnTo>
                    <a:pt x="592632" y="2731084"/>
                  </a:lnTo>
                  <a:lnTo>
                    <a:pt x="548474" y="2745498"/>
                  </a:lnTo>
                  <a:lnTo>
                    <a:pt x="505460" y="2762288"/>
                  </a:lnTo>
                  <a:lnTo>
                    <a:pt x="463638" y="2781376"/>
                  </a:lnTo>
                  <a:lnTo>
                    <a:pt x="423100" y="2802661"/>
                  </a:lnTo>
                  <a:lnTo>
                    <a:pt x="383933" y="2826105"/>
                  </a:lnTo>
                  <a:lnTo>
                    <a:pt x="346189" y="2851594"/>
                  </a:lnTo>
                  <a:lnTo>
                    <a:pt x="309981" y="2879064"/>
                  </a:lnTo>
                  <a:lnTo>
                    <a:pt x="275348" y="2908439"/>
                  </a:lnTo>
                  <a:lnTo>
                    <a:pt x="242392" y="2939643"/>
                  </a:lnTo>
                  <a:lnTo>
                    <a:pt x="211188" y="2972600"/>
                  </a:lnTo>
                  <a:lnTo>
                    <a:pt x="181813" y="3007233"/>
                  </a:lnTo>
                  <a:lnTo>
                    <a:pt x="154343" y="3043440"/>
                  </a:lnTo>
                  <a:lnTo>
                    <a:pt x="128854" y="3081185"/>
                  </a:lnTo>
                  <a:lnTo>
                    <a:pt x="105410" y="3120352"/>
                  </a:lnTo>
                  <a:lnTo>
                    <a:pt x="84124" y="3160890"/>
                  </a:lnTo>
                  <a:lnTo>
                    <a:pt x="65036" y="3202711"/>
                  </a:lnTo>
                  <a:lnTo>
                    <a:pt x="48247" y="3245726"/>
                  </a:lnTo>
                  <a:lnTo>
                    <a:pt x="33832" y="3289884"/>
                  </a:lnTo>
                  <a:lnTo>
                    <a:pt x="21856" y="3335083"/>
                  </a:lnTo>
                  <a:lnTo>
                    <a:pt x="12407" y="3381260"/>
                  </a:lnTo>
                  <a:lnTo>
                    <a:pt x="5575" y="3428327"/>
                  </a:lnTo>
                  <a:lnTo>
                    <a:pt x="1409" y="3476218"/>
                  </a:lnTo>
                  <a:lnTo>
                    <a:pt x="0" y="3524847"/>
                  </a:lnTo>
                  <a:lnTo>
                    <a:pt x="1409" y="3573462"/>
                  </a:lnTo>
                  <a:lnTo>
                    <a:pt x="5575" y="3621354"/>
                  </a:lnTo>
                  <a:lnTo>
                    <a:pt x="12407" y="3668420"/>
                  </a:lnTo>
                  <a:lnTo>
                    <a:pt x="21856" y="3714597"/>
                  </a:lnTo>
                  <a:lnTo>
                    <a:pt x="33832" y="3759797"/>
                  </a:lnTo>
                  <a:lnTo>
                    <a:pt x="48247" y="3803954"/>
                  </a:lnTo>
                  <a:lnTo>
                    <a:pt x="65036" y="3846969"/>
                  </a:lnTo>
                  <a:lnTo>
                    <a:pt x="84124" y="3888790"/>
                  </a:lnTo>
                  <a:lnTo>
                    <a:pt x="105410" y="3929329"/>
                  </a:lnTo>
                  <a:lnTo>
                    <a:pt x="128854" y="3968496"/>
                  </a:lnTo>
                  <a:lnTo>
                    <a:pt x="154343" y="4006240"/>
                  </a:lnTo>
                  <a:lnTo>
                    <a:pt x="181813" y="4042460"/>
                  </a:lnTo>
                  <a:lnTo>
                    <a:pt x="211188" y="4077081"/>
                  </a:lnTo>
                  <a:lnTo>
                    <a:pt x="242392" y="4110037"/>
                  </a:lnTo>
                  <a:lnTo>
                    <a:pt x="275348" y="4141241"/>
                  </a:lnTo>
                  <a:lnTo>
                    <a:pt x="309981" y="4170616"/>
                  </a:lnTo>
                  <a:lnTo>
                    <a:pt x="346189" y="4198086"/>
                  </a:lnTo>
                  <a:lnTo>
                    <a:pt x="383933" y="4223588"/>
                  </a:lnTo>
                  <a:lnTo>
                    <a:pt x="423100" y="4247019"/>
                  </a:lnTo>
                  <a:lnTo>
                    <a:pt x="463638" y="4268317"/>
                  </a:lnTo>
                  <a:lnTo>
                    <a:pt x="505460" y="4287393"/>
                  </a:lnTo>
                  <a:lnTo>
                    <a:pt x="548474" y="4304182"/>
                  </a:lnTo>
                  <a:lnTo>
                    <a:pt x="592632" y="4318597"/>
                  </a:lnTo>
                  <a:lnTo>
                    <a:pt x="637832" y="4330573"/>
                  </a:lnTo>
                  <a:lnTo>
                    <a:pt x="684009" y="4340022"/>
                  </a:lnTo>
                  <a:lnTo>
                    <a:pt x="731075" y="4346854"/>
                  </a:lnTo>
                  <a:lnTo>
                    <a:pt x="778967" y="4351020"/>
                  </a:lnTo>
                  <a:lnTo>
                    <a:pt x="827595" y="4352429"/>
                  </a:lnTo>
                  <a:lnTo>
                    <a:pt x="876211" y="4351020"/>
                  </a:lnTo>
                  <a:lnTo>
                    <a:pt x="924102" y="4346854"/>
                  </a:lnTo>
                  <a:lnTo>
                    <a:pt x="971169" y="4340022"/>
                  </a:lnTo>
                  <a:lnTo>
                    <a:pt x="1017346" y="4330573"/>
                  </a:lnTo>
                  <a:lnTo>
                    <a:pt x="1062545" y="4318597"/>
                  </a:lnTo>
                  <a:lnTo>
                    <a:pt x="1106703" y="4304182"/>
                  </a:lnTo>
                  <a:lnTo>
                    <a:pt x="1149718" y="4287393"/>
                  </a:lnTo>
                  <a:lnTo>
                    <a:pt x="1191539" y="4268317"/>
                  </a:lnTo>
                  <a:lnTo>
                    <a:pt x="1232077" y="4247019"/>
                  </a:lnTo>
                  <a:lnTo>
                    <a:pt x="1271244" y="4223588"/>
                  </a:lnTo>
                  <a:lnTo>
                    <a:pt x="1308989" y="4198086"/>
                  </a:lnTo>
                  <a:lnTo>
                    <a:pt x="1345209" y="4170616"/>
                  </a:lnTo>
                  <a:lnTo>
                    <a:pt x="1379829" y="4141241"/>
                  </a:lnTo>
                  <a:lnTo>
                    <a:pt x="1412786" y="4110037"/>
                  </a:lnTo>
                  <a:lnTo>
                    <a:pt x="1443990" y="4077081"/>
                  </a:lnTo>
                  <a:lnTo>
                    <a:pt x="1473365" y="4042460"/>
                  </a:lnTo>
                  <a:lnTo>
                    <a:pt x="1500835" y="4006240"/>
                  </a:lnTo>
                  <a:lnTo>
                    <a:pt x="1526336" y="3968496"/>
                  </a:lnTo>
                  <a:lnTo>
                    <a:pt x="1549768" y="3929329"/>
                  </a:lnTo>
                  <a:lnTo>
                    <a:pt x="1571066" y="3888790"/>
                  </a:lnTo>
                  <a:lnTo>
                    <a:pt x="1590141" y="3846969"/>
                  </a:lnTo>
                  <a:lnTo>
                    <a:pt x="1606931" y="3803954"/>
                  </a:lnTo>
                  <a:lnTo>
                    <a:pt x="1621345" y="3759797"/>
                  </a:lnTo>
                  <a:lnTo>
                    <a:pt x="1633321" y="3714597"/>
                  </a:lnTo>
                  <a:lnTo>
                    <a:pt x="1642770" y="3668420"/>
                  </a:lnTo>
                  <a:lnTo>
                    <a:pt x="1649603" y="3621354"/>
                  </a:lnTo>
                  <a:lnTo>
                    <a:pt x="1653768" y="3573462"/>
                  </a:lnTo>
                  <a:lnTo>
                    <a:pt x="1655178" y="3524847"/>
                  </a:lnTo>
                  <a:close/>
                </a:path>
                <a:path w="11139805" h="6557645">
                  <a:moveTo>
                    <a:pt x="1769897" y="5680418"/>
                  </a:moveTo>
                  <a:lnTo>
                    <a:pt x="1768589" y="5632310"/>
                  </a:lnTo>
                  <a:lnTo>
                    <a:pt x="1764741" y="5584888"/>
                  </a:lnTo>
                  <a:lnTo>
                    <a:pt x="1758416" y="5538203"/>
                  </a:lnTo>
                  <a:lnTo>
                    <a:pt x="1749666" y="5492331"/>
                  </a:lnTo>
                  <a:lnTo>
                    <a:pt x="1738579" y="5447335"/>
                  </a:lnTo>
                  <a:lnTo>
                    <a:pt x="1725193" y="5403291"/>
                  </a:lnTo>
                  <a:lnTo>
                    <a:pt x="1709597" y="5360251"/>
                  </a:lnTo>
                  <a:lnTo>
                    <a:pt x="1691855" y="5318303"/>
                  </a:lnTo>
                  <a:lnTo>
                    <a:pt x="1672031" y="5277485"/>
                  </a:lnTo>
                  <a:lnTo>
                    <a:pt x="1650187" y="5237899"/>
                  </a:lnTo>
                  <a:lnTo>
                    <a:pt x="1626400" y="5199583"/>
                  </a:lnTo>
                  <a:lnTo>
                    <a:pt x="1600720" y="5162613"/>
                  </a:lnTo>
                  <a:lnTo>
                    <a:pt x="1573237" y="5127053"/>
                  </a:lnTo>
                  <a:lnTo>
                    <a:pt x="1544002" y="5092979"/>
                  </a:lnTo>
                  <a:lnTo>
                    <a:pt x="1513090" y="5060442"/>
                  </a:lnTo>
                  <a:lnTo>
                    <a:pt x="1480566" y="5029530"/>
                  </a:lnTo>
                  <a:lnTo>
                    <a:pt x="1446491" y="5000295"/>
                  </a:lnTo>
                  <a:lnTo>
                    <a:pt x="1410931" y="4972812"/>
                  </a:lnTo>
                  <a:lnTo>
                    <a:pt x="1373962" y="4947145"/>
                  </a:lnTo>
                  <a:lnTo>
                    <a:pt x="1335646" y="4923345"/>
                  </a:lnTo>
                  <a:lnTo>
                    <a:pt x="1296047" y="4901514"/>
                  </a:lnTo>
                  <a:lnTo>
                    <a:pt x="1255229" y="4881677"/>
                  </a:lnTo>
                  <a:lnTo>
                    <a:pt x="1213281" y="4863935"/>
                  </a:lnTo>
                  <a:lnTo>
                    <a:pt x="1170241" y="4848339"/>
                  </a:lnTo>
                  <a:lnTo>
                    <a:pt x="1126197" y="4834966"/>
                  </a:lnTo>
                  <a:lnTo>
                    <a:pt x="1081201" y="4823866"/>
                  </a:lnTo>
                  <a:lnTo>
                    <a:pt x="1035329" y="4815116"/>
                  </a:lnTo>
                  <a:lnTo>
                    <a:pt x="988656" y="4808791"/>
                  </a:lnTo>
                  <a:lnTo>
                    <a:pt x="941222" y="4804943"/>
                  </a:lnTo>
                  <a:lnTo>
                    <a:pt x="893114" y="4803648"/>
                  </a:lnTo>
                  <a:lnTo>
                    <a:pt x="845007" y="4804943"/>
                  </a:lnTo>
                  <a:lnTo>
                    <a:pt x="797585" y="4808791"/>
                  </a:lnTo>
                  <a:lnTo>
                    <a:pt x="750900" y="4815116"/>
                  </a:lnTo>
                  <a:lnTo>
                    <a:pt x="705027" y="4823866"/>
                  </a:lnTo>
                  <a:lnTo>
                    <a:pt x="660031" y="4834966"/>
                  </a:lnTo>
                  <a:lnTo>
                    <a:pt x="615988" y="4848339"/>
                  </a:lnTo>
                  <a:lnTo>
                    <a:pt x="572947" y="4863935"/>
                  </a:lnTo>
                  <a:lnTo>
                    <a:pt x="530999" y="4881677"/>
                  </a:lnTo>
                  <a:lnTo>
                    <a:pt x="490181" y="4901514"/>
                  </a:lnTo>
                  <a:lnTo>
                    <a:pt x="450596" y="4923345"/>
                  </a:lnTo>
                  <a:lnTo>
                    <a:pt x="412280" y="4947145"/>
                  </a:lnTo>
                  <a:lnTo>
                    <a:pt x="375310" y="4972812"/>
                  </a:lnTo>
                  <a:lnTo>
                    <a:pt x="339750" y="5000295"/>
                  </a:lnTo>
                  <a:lnTo>
                    <a:pt x="305676" y="5029530"/>
                  </a:lnTo>
                  <a:lnTo>
                    <a:pt x="273138" y="5060442"/>
                  </a:lnTo>
                  <a:lnTo>
                    <a:pt x="242227" y="5092979"/>
                  </a:lnTo>
                  <a:lnTo>
                    <a:pt x="212991" y="5127053"/>
                  </a:lnTo>
                  <a:lnTo>
                    <a:pt x="185508" y="5162613"/>
                  </a:lnTo>
                  <a:lnTo>
                    <a:pt x="159842" y="5199583"/>
                  </a:lnTo>
                  <a:lnTo>
                    <a:pt x="136042" y="5237899"/>
                  </a:lnTo>
                  <a:lnTo>
                    <a:pt x="114211" y="5277485"/>
                  </a:lnTo>
                  <a:lnTo>
                    <a:pt x="94373" y="5318303"/>
                  </a:lnTo>
                  <a:lnTo>
                    <a:pt x="76631" y="5360251"/>
                  </a:lnTo>
                  <a:lnTo>
                    <a:pt x="61036" y="5403291"/>
                  </a:lnTo>
                  <a:lnTo>
                    <a:pt x="47663" y="5447335"/>
                  </a:lnTo>
                  <a:lnTo>
                    <a:pt x="36563" y="5492331"/>
                  </a:lnTo>
                  <a:lnTo>
                    <a:pt x="27813" y="5538203"/>
                  </a:lnTo>
                  <a:lnTo>
                    <a:pt x="21488" y="5584888"/>
                  </a:lnTo>
                  <a:lnTo>
                    <a:pt x="17640" y="5632310"/>
                  </a:lnTo>
                  <a:lnTo>
                    <a:pt x="16344" y="5680418"/>
                  </a:lnTo>
                  <a:lnTo>
                    <a:pt x="17640" y="5728525"/>
                  </a:lnTo>
                  <a:lnTo>
                    <a:pt x="21488" y="5775960"/>
                  </a:lnTo>
                  <a:lnTo>
                    <a:pt x="27813" y="5822632"/>
                  </a:lnTo>
                  <a:lnTo>
                    <a:pt x="36563" y="5868505"/>
                  </a:lnTo>
                  <a:lnTo>
                    <a:pt x="47663" y="5913501"/>
                  </a:lnTo>
                  <a:lnTo>
                    <a:pt x="61036" y="5957544"/>
                  </a:lnTo>
                  <a:lnTo>
                    <a:pt x="76631" y="6000585"/>
                  </a:lnTo>
                  <a:lnTo>
                    <a:pt x="94373" y="6042533"/>
                  </a:lnTo>
                  <a:lnTo>
                    <a:pt x="114211" y="6083351"/>
                  </a:lnTo>
                  <a:lnTo>
                    <a:pt x="136042" y="6122949"/>
                  </a:lnTo>
                  <a:lnTo>
                    <a:pt x="159842" y="6161265"/>
                  </a:lnTo>
                  <a:lnTo>
                    <a:pt x="185508" y="6198235"/>
                  </a:lnTo>
                  <a:lnTo>
                    <a:pt x="212991" y="6233795"/>
                  </a:lnTo>
                  <a:lnTo>
                    <a:pt x="242227" y="6267869"/>
                  </a:lnTo>
                  <a:lnTo>
                    <a:pt x="273138" y="6300394"/>
                  </a:lnTo>
                  <a:lnTo>
                    <a:pt x="305676" y="6331305"/>
                  </a:lnTo>
                  <a:lnTo>
                    <a:pt x="339750" y="6360541"/>
                  </a:lnTo>
                  <a:lnTo>
                    <a:pt x="375310" y="6388024"/>
                  </a:lnTo>
                  <a:lnTo>
                    <a:pt x="412280" y="6413703"/>
                  </a:lnTo>
                  <a:lnTo>
                    <a:pt x="450596" y="6437490"/>
                  </a:lnTo>
                  <a:lnTo>
                    <a:pt x="490181" y="6459334"/>
                  </a:lnTo>
                  <a:lnTo>
                    <a:pt x="530999" y="6479159"/>
                  </a:lnTo>
                  <a:lnTo>
                    <a:pt x="572947" y="6496901"/>
                  </a:lnTo>
                  <a:lnTo>
                    <a:pt x="615988" y="6512496"/>
                  </a:lnTo>
                  <a:lnTo>
                    <a:pt x="660031" y="6525882"/>
                  </a:lnTo>
                  <a:lnTo>
                    <a:pt x="705027" y="6536969"/>
                  </a:lnTo>
                  <a:lnTo>
                    <a:pt x="750900" y="6545720"/>
                  </a:lnTo>
                  <a:lnTo>
                    <a:pt x="797585" y="6552057"/>
                  </a:lnTo>
                  <a:lnTo>
                    <a:pt x="845007" y="6555892"/>
                  </a:lnTo>
                  <a:lnTo>
                    <a:pt x="893114" y="6557200"/>
                  </a:lnTo>
                  <a:lnTo>
                    <a:pt x="941222" y="6555892"/>
                  </a:lnTo>
                  <a:lnTo>
                    <a:pt x="988656" y="6552057"/>
                  </a:lnTo>
                  <a:lnTo>
                    <a:pt x="1035329" y="6545720"/>
                  </a:lnTo>
                  <a:lnTo>
                    <a:pt x="1081201" y="6536969"/>
                  </a:lnTo>
                  <a:lnTo>
                    <a:pt x="1126197" y="6525882"/>
                  </a:lnTo>
                  <a:lnTo>
                    <a:pt x="1170241" y="6512496"/>
                  </a:lnTo>
                  <a:lnTo>
                    <a:pt x="1213281" y="6496901"/>
                  </a:lnTo>
                  <a:lnTo>
                    <a:pt x="1255229" y="6479159"/>
                  </a:lnTo>
                  <a:lnTo>
                    <a:pt x="1296047" y="6459334"/>
                  </a:lnTo>
                  <a:lnTo>
                    <a:pt x="1335646" y="6437490"/>
                  </a:lnTo>
                  <a:lnTo>
                    <a:pt x="1373962" y="6413703"/>
                  </a:lnTo>
                  <a:lnTo>
                    <a:pt x="1410931" y="6388024"/>
                  </a:lnTo>
                  <a:lnTo>
                    <a:pt x="1446491" y="6360541"/>
                  </a:lnTo>
                  <a:lnTo>
                    <a:pt x="1480566" y="6331305"/>
                  </a:lnTo>
                  <a:lnTo>
                    <a:pt x="1513090" y="6300394"/>
                  </a:lnTo>
                  <a:lnTo>
                    <a:pt x="1544002" y="6267869"/>
                  </a:lnTo>
                  <a:lnTo>
                    <a:pt x="1573237" y="6233795"/>
                  </a:lnTo>
                  <a:lnTo>
                    <a:pt x="1600720" y="6198235"/>
                  </a:lnTo>
                  <a:lnTo>
                    <a:pt x="1626400" y="6161265"/>
                  </a:lnTo>
                  <a:lnTo>
                    <a:pt x="1650187" y="6122949"/>
                  </a:lnTo>
                  <a:lnTo>
                    <a:pt x="1672031" y="6083351"/>
                  </a:lnTo>
                  <a:lnTo>
                    <a:pt x="1691855" y="6042533"/>
                  </a:lnTo>
                  <a:lnTo>
                    <a:pt x="1709597" y="6000585"/>
                  </a:lnTo>
                  <a:lnTo>
                    <a:pt x="1725193" y="5957544"/>
                  </a:lnTo>
                  <a:lnTo>
                    <a:pt x="1738579" y="5913501"/>
                  </a:lnTo>
                  <a:lnTo>
                    <a:pt x="1749666" y="5868505"/>
                  </a:lnTo>
                  <a:lnTo>
                    <a:pt x="1758416" y="5822632"/>
                  </a:lnTo>
                  <a:lnTo>
                    <a:pt x="1764741" y="5775960"/>
                  </a:lnTo>
                  <a:lnTo>
                    <a:pt x="1768589" y="5728525"/>
                  </a:lnTo>
                  <a:lnTo>
                    <a:pt x="1769897" y="5680418"/>
                  </a:lnTo>
                  <a:close/>
                </a:path>
                <a:path w="11139805" h="6557645">
                  <a:moveTo>
                    <a:pt x="11139551" y="759853"/>
                  </a:moveTo>
                  <a:lnTo>
                    <a:pt x="11138040" y="713562"/>
                  </a:lnTo>
                  <a:lnTo>
                    <a:pt x="11133569" y="668007"/>
                  </a:lnTo>
                  <a:lnTo>
                    <a:pt x="11126229" y="623265"/>
                  </a:lnTo>
                  <a:lnTo>
                    <a:pt x="11116094" y="579424"/>
                  </a:lnTo>
                  <a:lnTo>
                    <a:pt x="11103254" y="536536"/>
                  </a:lnTo>
                  <a:lnTo>
                    <a:pt x="11087799" y="494715"/>
                  </a:lnTo>
                  <a:lnTo>
                    <a:pt x="11069815" y="454025"/>
                  </a:lnTo>
                  <a:lnTo>
                    <a:pt x="11049394" y="414540"/>
                  </a:lnTo>
                  <a:lnTo>
                    <a:pt x="11026610" y="376339"/>
                  </a:lnTo>
                  <a:lnTo>
                    <a:pt x="11001553" y="339509"/>
                  </a:lnTo>
                  <a:lnTo>
                    <a:pt x="10974324" y="304139"/>
                  </a:lnTo>
                  <a:lnTo>
                    <a:pt x="10944987" y="270294"/>
                  </a:lnTo>
                  <a:lnTo>
                    <a:pt x="10913656" y="238048"/>
                  </a:lnTo>
                  <a:lnTo>
                    <a:pt x="10880382" y="207492"/>
                  </a:lnTo>
                  <a:lnTo>
                    <a:pt x="10845292" y="178701"/>
                  </a:lnTo>
                  <a:lnTo>
                    <a:pt x="10808437" y="151765"/>
                  </a:lnTo>
                  <a:lnTo>
                    <a:pt x="10769918" y="126746"/>
                  </a:lnTo>
                  <a:lnTo>
                    <a:pt x="10729824" y="103746"/>
                  </a:lnTo>
                  <a:lnTo>
                    <a:pt x="10688244" y="82816"/>
                  </a:lnTo>
                  <a:lnTo>
                    <a:pt x="10645254" y="64058"/>
                  </a:lnTo>
                  <a:lnTo>
                    <a:pt x="10600944" y="47536"/>
                  </a:lnTo>
                  <a:lnTo>
                    <a:pt x="10555415" y="33350"/>
                  </a:lnTo>
                  <a:lnTo>
                    <a:pt x="10508729" y="21551"/>
                  </a:lnTo>
                  <a:lnTo>
                    <a:pt x="10460990" y="12242"/>
                  </a:lnTo>
                  <a:lnTo>
                    <a:pt x="10412285" y="5499"/>
                  </a:lnTo>
                  <a:lnTo>
                    <a:pt x="10362679" y="1384"/>
                  </a:lnTo>
                  <a:lnTo>
                    <a:pt x="10312286" y="0"/>
                  </a:lnTo>
                  <a:lnTo>
                    <a:pt x="10261892" y="1384"/>
                  </a:lnTo>
                  <a:lnTo>
                    <a:pt x="10212299" y="5499"/>
                  </a:lnTo>
                  <a:lnTo>
                    <a:pt x="10163581" y="12242"/>
                  </a:lnTo>
                  <a:lnTo>
                    <a:pt x="10115842" y="21551"/>
                  </a:lnTo>
                  <a:lnTo>
                    <a:pt x="10069170" y="33350"/>
                  </a:lnTo>
                  <a:lnTo>
                    <a:pt x="10023627" y="47536"/>
                  </a:lnTo>
                  <a:lnTo>
                    <a:pt x="9979317" y="64058"/>
                  </a:lnTo>
                  <a:lnTo>
                    <a:pt x="9936328" y="82816"/>
                  </a:lnTo>
                  <a:lnTo>
                    <a:pt x="9894748" y="103746"/>
                  </a:lnTo>
                  <a:lnTo>
                    <a:pt x="9854654" y="126746"/>
                  </a:lnTo>
                  <a:lnTo>
                    <a:pt x="9816147" y="151765"/>
                  </a:lnTo>
                  <a:lnTo>
                    <a:pt x="9779292" y="178701"/>
                  </a:lnTo>
                  <a:lnTo>
                    <a:pt x="9744189" y="207492"/>
                  </a:lnTo>
                  <a:lnTo>
                    <a:pt x="9710928" y="238048"/>
                  </a:lnTo>
                  <a:lnTo>
                    <a:pt x="9679584" y="270294"/>
                  </a:lnTo>
                  <a:lnTo>
                    <a:pt x="9650247" y="304139"/>
                  </a:lnTo>
                  <a:lnTo>
                    <a:pt x="9623019" y="339509"/>
                  </a:lnTo>
                  <a:lnTo>
                    <a:pt x="9597961" y="376339"/>
                  </a:lnTo>
                  <a:lnTo>
                    <a:pt x="9575190" y="414540"/>
                  </a:lnTo>
                  <a:lnTo>
                    <a:pt x="9554756" y="454025"/>
                  </a:lnTo>
                  <a:lnTo>
                    <a:pt x="9536773" y="494715"/>
                  </a:lnTo>
                  <a:lnTo>
                    <a:pt x="9521317" y="536536"/>
                  </a:lnTo>
                  <a:lnTo>
                    <a:pt x="9508490" y="579424"/>
                  </a:lnTo>
                  <a:lnTo>
                    <a:pt x="9498343" y="623265"/>
                  </a:lnTo>
                  <a:lnTo>
                    <a:pt x="9491002" y="668007"/>
                  </a:lnTo>
                  <a:lnTo>
                    <a:pt x="9486532" y="713562"/>
                  </a:lnTo>
                  <a:lnTo>
                    <a:pt x="9485020" y="759853"/>
                  </a:lnTo>
                  <a:lnTo>
                    <a:pt x="9486532" y="806145"/>
                  </a:lnTo>
                  <a:lnTo>
                    <a:pt x="9491002" y="851700"/>
                  </a:lnTo>
                  <a:lnTo>
                    <a:pt x="9498343" y="896442"/>
                  </a:lnTo>
                  <a:lnTo>
                    <a:pt x="9508490" y="940282"/>
                  </a:lnTo>
                  <a:lnTo>
                    <a:pt x="9521317" y="983157"/>
                  </a:lnTo>
                  <a:lnTo>
                    <a:pt x="9536773" y="1024991"/>
                  </a:lnTo>
                  <a:lnTo>
                    <a:pt x="9554756" y="1065682"/>
                  </a:lnTo>
                  <a:lnTo>
                    <a:pt x="9575190" y="1105166"/>
                  </a:lnTo>
                  <a:lnTo>
                    <a:pt x="9597961" y="1143368"/>
                  </a:lnTo>
                  <a:lnTo>
                    <a:pt x="9623019" y="1180185"/>
                  </a:lnTo>
                  <a:lnTo>
                    <a:pt x="9650247" y="1215567"/>
                  </a:lnTo>
                  <a:lnTo>
                    <a:pt x="9679584" y="1249413"/>
                  </a:lnTo>
                  <a:lnTo>
                    <a:pt x="9710928" y="1281658"/>
                  </a:lnTo>
                  <a:lnTo>
                    <a:pt x="9744189" y="1312214"/>
                  </a:lnTo>
                  <a:lnTo>
                    <a:pt x="9779292" y="1340993"/>
                  </a:lnTo>
                  <a:lnTo>
                    <a:pt x="9816147" y="1367942"/>
                  </a:lnTo>
                  <a:lnTo>
                    <a:pt x="9854654" y="1392948"/>
                  </a:lnTo>
                  <a:lnTo>
                    <a:pt x="9894748" y="1415961"/>
                  </a:lnTo>
                  <a:lnTo>
                    <a:pt x="9936328" y="1436890"/>
                  </a:lnTo>
                  <a:lnTo>
                    <a:pt x="9979317" y="1455648"/>
                  </a:lnTo>
                  <a:lnTo>
                    <a:pt x="10023627" y="1472171"/>
                  </a:lnTo>
                  <a:lnTo>
                    <a:pt x="10069170" y="1486357"/>
                  </a:lnTo>
                  <a:lnTo>
                    <a:pt x="10115842" y="1498155"/>
                  </a:lnTo>
                  <a:lnTo>
                    <a:pt x="10163581" y="1507464"/>
                  </a:lnTo>
                  <a:lnTo>
                    <a:pt x="10212299" y="1514208"/>
                  </a:lnTo>
                  <a:lnTo>
                    <a:pt x="10261892" y="1518323"/>
                  </a:lnTo>
                  <a:lnTo>
                    <a:pt x="10312286" y="1519707"/>
                  </a:lnTo>
                  <a:lnTo>
                    <a:pt x="10362679" y="1518323"/>
                  </a:lnTo>
                  <a:lnTo>
                    <a:pt x="10412285" y="1514208"/>
                  </a:lnTo>
                  <a:lnTo>
                    <a:pt x="10460990" y="1507464"/>
                  </a:lnTo>
                  <a:lnTo>
                    <a:pt x="10508729" y="1498155"/>
                  </a:lnTo>
                  <a:lnTo>
                    <a:pt x="10555415" y="1486357"/>
                  </a:lnTo>
                  <a:lnTo>
                    <a:pt x="10600944" y="1472171"/>
                  </a:lnTo>
                  <a:lnTo>
                    <a:pt x="10645254" y="1455648"/>
                  </a:lnTo>
                  <a:lnTo>
                    <a:pt x="10688244" y="1436890"/>
                  </a:lnTo>
                  <a:lnTo>
                    <a:pt x="10729824" y="1415961"/>
                  </a:lnTo>
                  <a:lnTo>
                    <a:pt x="10769918" y="1392948"/>
                  </a:lnTo>
                  <a:lnTo>
                    <a:pt x="10808437" y="1367942"/>
                  </a:lnTo>
                  <a:lnTo>
                    <a:pt x="10845292" y="1340993"/>
                  </a:lnTo>
                  <a:lnTo>
                    <a:pt x="10880382" y="1312214"/>
                  </a:lnTo>
                  <a:lnTo>
                    <a:pt x="10913656" y="1281658"/>
                  </a:lnTo>
                  <a:lnTo>
                    <a:pt x="10944987" y="1249413"/>
                  </a:lnTo>
                  <a:lnTo>
                    <a:pt x="10974324" y="1215567"/>
                  </a:lnTo>
                  <a:lnTo>
                    <a:pt x="11001553" y="1180185"/>
                  </a:lnTo>
                  <a:lnTo>
                    <a:pt x="11026610" y="1143368"/>
                  </a:lnTo>
                  <a:lnTo>
                    <a:pt x="11049394" y="1105166"/>
                  </a:lnTo>
                  <a:lnTo>
                    <a:pt x="11069815" y="1065682"/>
                  </a:lnTo>
                  <a:lnTo>
                    <a:pt x="11087799" y="1024991"/>
                  </a:lnTo>
                  <a:lnTo>
                    <a:pt x="11103254" y="983157"/>
                  </a:lnTo>
                  <a:lnTo>
                    <a:pt x="11116094" y="940282"/>
                  </a:lnTo>
                  <a:lnTo>
                    <a:pt x="11126229" y="896442"/>
                  </a:lnTo>
                  <a:lnTo>
                    <a:pt x="11133569" y="851700"/>
                  </a:lnTo>
                  <a:lnTo>
                    <a:pt x="11138040" y="806145"/>
                  </a:lnTo>
                  <a:lnTo>
                    <a:pt x="11139551" y="759853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75552" y="1300822"/>
            <a:ext cx="332740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202" dirty="0">
                <a:latin typeface="Trebuchet MS"/>
                <a:cs typeface="Trebuchet MS"/>
              </a:rPr>
              <a:t>5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6584" y="704879"/>
            <a:ext cx="3532505" cy="792165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 algn="just">
              <a:lnSpc>
                <a:spcPct val="115599"/>
              </a:lnSpc>
              <a:spcBef>
                <a:spcPts val="53"/>
              </a:spcBef>
            </a:pP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Accounting</a:t>
            </a:r>
            <a:r>
              <a:rPr sz="1100" spc="252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Period</a:t>
            </a:r>
            <a:r>
              <a:rPr sz="1100" spc="2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Assumption:</a:t>
            </a:r>
            <a:r>
              <a:rPr sz="1100" spc="-34" dirty="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According</a:t>
            </a:r>
            <a:r>
              <a:rPr sz="1100" spc="1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100" spc="14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-11" dirty="0">
                <a:solidFill>
                  <a:srgbClr val="FFFFFF"/>
                </a:solidFill>
                <a:latin typeface="Lucida Sans Unicode"/>
                <a:cs typeface="Lucida Sans Unicode"/>
              </a:rPr>
              <a:t>this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assumption,</a:t>
            </a:r>
            <a:r>
              <a:rPr sz="1100" spc="266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sz="1100" spc="269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unlimited</a:t>
            </a:r>
            <a:r>
              <a:rPr sz="1100" spc="109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life</a:t>
            </a:r>
            <a:r>
              <a:rPr sz="1100" spc="11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100" spc="11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11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business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organization</a:t>
            </a:r>
            <a:r>
              <a:rPr sz="1100" spc="-3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1100" spc="-3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divided</a:t>
            </a:r>
            <a:r>
              <a:rPr sz="1100" spc="-2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into</a:t>
            </a:r>
            <a:r>
              <a:rPr sz="1100" spc="-3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small</a:t>
            </a:r>
            <a:r>
              <a:rPr sz="1100" spc="-2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chunk</a:t>
            </a:r>
            <a:r>
              <a:rPr sz="1100" spc="-3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100" spc="81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time.</a:t>
            </a:r>
            <a:r>
              <a:rPr sz="1100" spc="-2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6584" y="1409729"/>
            <a:ext cx="3532505" cy="792165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>
              <a:lnSpc>
                <a:spcPct val="115599"/>
              </a:lnSpc>
              <a:spcBef>
                <a:spcPts val="53"/>
              </a:spcBef>
              <a:tabLst>
                <a:tab pos="397205" algn="l"/>
                <a:tab pos="979678" algn="l"/>
                <a:tab pos="1605890" algn="l"/>
                <a:tab pos="1995982" algn="l"/>
                <a:tab pos="2434082" algn="l"/>
                <a:tab pos="2743810" algn="l"/>
                <a:tab pos="3094076" algn="l"/>
                <a:tab pos="3808831" algn="l"/>
              </a:tabLst>
            </a:pPr>
            <a:r>
              <a:rPr sz="1100" spc="104" dirty="0">
                <a:solidFill>
                  <a:srgbClr val="FFFFFF"/>
                </a:solidFill>
                <a:latin typeface="Lucida Sans Unicode"/>
                <a:cs typeface="Lucida Sans Unicode"/>
              </a:rPr>
              <a:t>may</a:t>
            </a:r>
            <a:r>
              <a:rPr sz="11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11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month,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three</a:t>
            </a:r>
            <a:r>
              <a:rPr sz="11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months,</a:t>
            </a:r>
            <a:r>
              <a:rPr sz="11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11" dirty="0">
                <a:solidFill>
                  <a:srgbClr val="FFFFFF"/>
                </a:solidFill>
                <a:latin typeface="Lucida Sans Unicode"/>
                <a:cs typeface="Lucida Sans Unicode"/>
              </a:rPr>
              <a:t>six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months,</a:t>
            </a:r>
            <a:r>
              <a:rPr sz="11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or 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-11" dirty="0">
                <a:solidFill>
                  <a:srgbClr val="FFFFFF"/>
                </a:solidFill>
                <a:latin typeface="Lucida Sans Unicode"/>
                <a:cs typeface="Lucida Sans Unicode"/>
              </a:rPr>
              <a:t>year,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usually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48" dirty="0">
                <a:solidFill>
                  <a:srgbClr val="FFFFFF"/>
                </a:solidFill>
                <a:latin typeface="Lucida Sans Unicode"/>
                <a:cs typeface="Lucida Sans Unicode"/>
              </a:rPr>
              <a:t>year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purpose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6584" y="1908153"/>
            <a:ext cx="3532505" cy="347891"/>
          </a:xfrm>
          <a:prstGeom prst="rect">
            <a:avLst/>
          </a:prstGeom>
        </p:spPr>
        <p:txBody>
          <a:bodyPr vert="horz" wrap="square" lIns="0" tIns="9246" rIns="0" bIns="0" rtlCol="0">
            <a:spAutoFit/>
          </a:bodyPr>
          <a:lstStyle/>
          <a:p>
            <a:pPr marL="7112">
              <a:spcBef>
                <a:spcPts val="73"/>
              </a:spcBef>
            </a:pP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reporting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outsiders.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If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6" dirty="0">
                <a:solidFill>
                  <a:srgbClr val="FFFFFF"/>
                </a:solidFill>
                <a:latin typeface="Lucida Sans Unicode"/>
                <a:cs typeface="Lucida Sans Unicode"/>
              </a:rPr>
              <a:t>cannot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1100" spc="2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done,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22" dirty="0">
                <a:solidFill>
                  <a:srgbClr val="FFFFFF"/>
                </a:solidFill>
                <a:latin typeface="Lucida Sans Unicode"/>
                <a:cs typeface="Lucida Sans Unicode"/>
              </a:rPr>
              <a:t>would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6584" y="2114579"/>
            <a:ext cx="3532505" cy="1496589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 algn="just">
              <a:lnSpc>
                <a:spcPct val="115599"/>
              </a:lnSpc>
              <a:spcBef>
                <a:spcPts val="53"/>
              </a:spcBef>
            </a:pP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possible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know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about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profit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sz="1100" spc="179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loss</a:t>
            </a:r>
            <a:r>
              <a:rPr sz="1100" spc="176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2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position</a:t>
            </a:r>
            <a:r>
              <a:rPr sz="1100" spc="257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1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assets</a:t>
            </a:r>
            <a:r>
              <a:rPr sz="11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76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100" spc="25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liabilities</a:t>
            </a:r>
            <a:r>
              <a:rPr sz="1100" spc="25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1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1100" spc="25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organization until</a:t>
            </a:r>
            <a:r>
              <a:rPr sz="1100" spc="-1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76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100" spc="-1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unless</a:t>
            </a:r>
            <a:r>
              <a:rPr sz="1100" spc="-1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r>
              <a:rPr sz="1100" spc="-17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48" dirty="0">
                <a:solidFill>
                  <a:srgbClr val="FFFFFF"/>
                </a:solidFill>
                <a:latin typeface="Lucida Sans Unicode"/>
                <a:cs typeface="Lucida Sans Unicode"/>
              </a:rPr>
              <a:t>goes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100" spc="-1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liquidation.</a:t>
            </a:r>
            <a:endParaRPr sz="1100" dirty="0">
              <a:latin typeface="Lucida Sans Unicode"/>
              <a:cs typeface="Lucida Sans Unicode"/>
            </a:endParaRPr>
          </a:p>
          <a:p>
            <a:pPr marL="7112" marR="11379" algn="just">
              <a:lnSpc>
                <a:spcPct val="115599"/>
              </a:lnSpc>
              <a:spcBef>
                <a:spcPts val="944"/>
              </a:spcBef>
            </a:pP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Revenue</a:t>
            </a:r>
            <a:r>
              <a:rPr sz="1100" spc="87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Arial Black"/>
                <a:cs typeface="Arial Black"/>
              </a:rPr>
              <a:t>Recognition</a:t>
            </a:r>
            <a:r>
              <a:rPr sz="1100" spc="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Principle:</a:t>
            </a:r>
            <a:r>
              <a:rPr sz="1100" spc="13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Recognition</a:t>
            </a:r>
            <a:r>
              <a:rPr sz="1100" spc="20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means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recording</a:t>
            </a:r>
            <a:r>
              <a:rPr sz="11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73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1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reporting.</a:t>
            </a:r>
            <a:r>
              <a:rPr sz="11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48" dirty="0">
                <a:solidFill>
                  <a:srgbClr val="FFFFFF"/>
                </a:solidFill>
                <a:latin typeface="Lucida Sans Unicode"/>
                <a:cs typeface="Lucida Sans Unicode"/>
              </a:rPr>
              <a:t>So</a:t>
            </a:r>
            <a:r>
              <a:rPr sz="1100" spc="23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sz="11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recognition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6583" y="3432305"/>
            <a:ext cx="3524885" cy="792165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 algn="just">
              <a:lnSpc>
                <a:spcPct val="115599"/>
              </a:lnSpc>
              <a:spcBef>
                <a:spcPts val="53"/>
              </a:spcBef>
            </a:pP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principle</a:t>
            </a:r>
            <a:r>
              <a:rPr sz="1100" spc="134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spc="76" dirty="0">
                <a:solidFill>
                  <a:srgbClr val="FFFFFF"/>
                </a:solidFill>
                <a:latin typeface="Lucida Sans Unicode"/>
                <a:cs typeface="Lucida Sans Unicode"/>
              </a:rPr>
              <a:t>means</a:t>
            </a:r>
            <a:r>
              <a:rPr sz="1100" spc="134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134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rules</a:t>
            </a:r>
            <a:r>
              <a:rPr sz="1100" spc="14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sz="1100" spc="134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laws</a:t>
            </a:r>
            <a:r>
              <a:rPr sz="1100" spc="134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related</a:t>
            </a:r>
            <a:r>
              <a:rPr sz="1100" spc="1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recording</a:t>
            </a:r>
            <a:r>
              <a:rPr sz="11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100" spc="18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sz="1100" spc="18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11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18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48" dirty="0">
                <a:solidFill>
                  <a:srgbClr val="FFFFFF"/>
                </a:solidFill>
                <a:latin typeface="Lucida Sans Unicode"/>
                <a:cs typeface="Lucida Sans Unicode"/>
              </a:rPr>
              <a:t>accounting</a:t>
            </a:r>
            <a:r>
              <a:rPr sz="11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records</a:t>
            </a:r>
            <a:r>
              <a:rPr sz="1100" spc="18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9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reporting</a:t>
            </a:r>
            <a:r>
              <a:rPr sz="1100" spc="-4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sz="1100" spc="27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1100" spc="-4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-4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3" dirty="0">
                <a:solidFill>
                  <a:srgbClr val="FFFFFF"/>
                </a:solidFill>
                <a:latin typeface="Lucida Sans Unicode"/>
                <a:cs typeface="Lucida Sans Unicode"/>
              </a:rPr>
              <a:t>income</a:t>
            </a:r>
            <a:r>
              <a:rPr sz="1100" spc="-42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statement.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02541" y="4373385"/>
            <a:ext cx="3524885" cy="792165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 algn="just">
              <a:lnSpc>
                <a:spcPct val="115599"/>
              </a:lnSpc>
              <a:spcBef>
                <a:spcPts val="53"/>
              </a:spcBef>
            </a:pP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Matching</a:t>
            </a:r>
            <a:r>
              <a:rPr sz="1100" spc="190" dirty="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sz="1100" dirty="0">
                <a:solidFill>
                  <a:srgbClr val="FFFFFF"/>
                </a:solidFill>
                <a:latin typeface="Arial Black"/>
                <a:cs typeface="Arial Black"/>
              </a:rPr>
              <a:t>Principle:</a:t>
            </a:r>
            <a:r>
              <a:rPr sz="1100" spc="221" dirty="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sz="1100" spc="24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principle</a:t>
            </a:r>
            <a:r>
              <a:rPr sz="1100" spc="24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reveals</a:t>
            </a:r>
            <a:r>
              <a:rPr sz="1100" spc="24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that </a:t>
            </a:r>
            <a:r>
              <a:rPr sz="11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revenues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76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expenses</a:t>
            </a:r>
            <a:r>
              <a:rPr sz="11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146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1" dirty="0">
                <a:solidFill>
                  <a:srgbClr val="FFFFFF"/>
                </a:solidFill>
                <a:latin typeface="Lucida Sans Unicode"/>
                <a:cs typeface="Lucida Sans Unicode"/>
              </a:rPr>
              <a:t>particular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period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should 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1100" spc="12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properly</a:t>
            </a:r>
            <a:r>
              <a:rPr sz="1100" spc="12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matched.</a:t>
            </a:r>
            <a:r>
              <a:rPr sz="1100" spc="12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12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period</a:t>
            </a:r>
            <a:r>
              <a:rPr sz="1100" spc="126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1100" spc="123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which</a:t>
            </a:r>
            <a:r>
              <a:rPr sz="1100" spc="123" dirty="0">
                <a:solidFill>
                  <a:srgbClr val="FFFFFF"/>
                </a:solidFill>
                <a:latin typeface="Lucida Sans Unicode"/>
                <a:cs typeface="Lucida Sans Unicode"/>
              </a:rPr>
              <a:t>    </a:t>
            </a:r>
            <a:r>
              <a:rPr sz="11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2541" y="5106759"/>
            <a:ext cx="3524567" cy="347891"/>
          </a:xfrm>
          <a:prstGeom prst="rect">
            <a:avLst/>
          </a:prstGeom>
        </p:spPr>
        <p:txBody>
          <a:bodyPr vert="horz" wrap="square" lIns="0" tIns="9246" rIns="0" bIns="0" rtlCol="0">
            <a:spAutoFit/>
          </a:bodyPr>
          <a:lstStyle/>
          <a:p>
            <a:pPr marL="7112">
              <a:spcBef>
                <a:spcPts val="73"/>
              </a:spcBef>
            </a:pPr>
            <a:r>
              <a:rPr sz="11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revenues</a:t>
            </a:r>
            <a:r>
              <a:rPr sz="1100" spc="2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62" dirty="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sz="1100" spc="2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recognized,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2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expenses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incurred</a:t>
            </a:r>
            <a:r>
              <a:rPr sz="1100" spc="22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-14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2541" y="5313185"/>
            <a:ext cx="3524885" cy="1191683"/>
          </a:xfrm>
          <a:prstGeom prst="rect">
            <a:avLst/>
          </a:prstGeom>
        </p:spPr>
        <p:txBody>
          <a:bodyPr vert="horz" wrap="square" lIns="0" tIns="6756" rIns="0" bIns="0" rtlCol="0">
            <a:spAutoFit/>
          </a:bodyPr>
          <a:lstStyle/>
          <a:p>
            <a:pPr marL="7112" marR="2845" algn="just">
              <a:lnSpc>
                <a:spcPct val="115599"/>
              </a:lnSpc>
              <a:spcBef>
                <a:spcPts val="53"/>
              </a:spcBef>
            </a:pPr>
            <a:r>
              <a:rPr sz="1100" spc="53" dirty="0">
                <a:solidFill>
                  <a:srgbClr val="FFFFFF"/>
                </a:solidFill>
                <a:latin typeface="Lucida Sans Unicode"/>
                <a:cs typeface="Lucida Sans Unicode"/>
              </a:rPr>
              <a:t>earn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sz="11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9" dirty="0">
                <a:solidFill>
                  <a:srgbClr val="FFFFFF"/>
                </a:solidFill>
                <a:latin typeface="Lucida Sans Unicode"/>
                <a:cs typeface="Lucida Sans Unicode"/>
              </a:rPr>
              <a:t>must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2" dirty="0">
                <a:solidFill>
                  <a:srgbClr val="FFFFFF"/>
                </a:solidFill>
                <a:latin typeface="Lucida Sans Unicode"/>
                <a:cs typeface="Lucida Sans Unicode"/>
              </a:rPr>
              <a:t>charged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2" dirty="0">
                <a:solidFill>
                  <a:srgbClr val="FFFFFF"/>
                </a:solidFill>
                <a:latin typeface="Lucida Sans Unicode"/>
                <a:cs typeface="Lucida Sans Unicode"/>
              </a:rPr>
              <a:t>achieve</a:t>
            </a:r>
            <a:r>
              <a:rPr sz="1100" spc="11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sz="11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accurate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56" dirty="0">
                <a:solidFill>
                  <a:srgbClr val="FFFFFF"/>
                </a:solidFill>
                <a:latin typeface="Lucida Sans Unicode"/>
                <a:cs typeface="Lucida Sans Unicode"/>
              </a:rPr>
              <a:t>income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period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concerned.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Expenses </a:t>
            </a:r>
            <a:r>
              <a:rPr sz="1100" spc="62" dirty="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sz="1100" spc="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thus</a:t>
            </a:r>
            <a:r>
              <a:rPr sz="1100" spc="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expired</a:t>
            </a:r>
            <a:r>
              <a:rPr sz="1100" spc="1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costs</a:t>
            </a:r>
            <a:r>
              <a:rPr sz="1100" spc="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sz="1100" spc="1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sacrifices</a:t>
            </a:r>
            <a:r>
              <a:rPr sz="1100" spc="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made</a:t>
            </a:r>
            <a:r>
              <a:rPr sz="1100" spc="11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100" spc="8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1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earn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revenue.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1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unexpired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4" dirty="0">
                <a:solidFill>
                  <a:srgbClr val="FFFFFF"/>
                </a:solidFill>
                <a:latin typeface="Lucida Sans Unicode"/>
                <a:cs typeface="Lucida Sans Unicode"/>
              </a:rPr>
              <a:t>costs</a:t>
            </a:r>
            <a:r>
              <a:rPr sz="11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should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sz="11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7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1100" spc="9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shown</a:t>
            </a:r>
            <a:r>
              <a:rPr sz="1100" spc="101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4" dirty="0">
                <a:solidFill>
                  <a:srgbClr val="FFFFFF"/>
                </a:solidFill>
                <a:latin typeface="Lucida Sans Unicode"/>
                <a:cs typeface="Lucida Sans Unicode"/>
              </a:rPr>
              <a:t>as </a:t>
            </a:r>
            <a:r>
              <a:rPr sz="11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expenses</a:t>
            </a:r>
            <a:r>
              <a:rPr sz="1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28" dirty="0">
                <a:solidFill>
                  <a:srgbClr val="FFFFFF"/>
                </a:solidFill>
                <a:latin typeface="Lucida Sans Unicode"/>
                <a:cs typeface="Lucida Sans Unicode"/>
              </a:rPr>
              <a:t>rather</a:t>
            </a:r>
            <a:r>
              <a:rPr sz="11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36" dirty="0">
                <a:solidFill>
                  <a:srgbClr val="FFFFFF"/>
                </a:solidFill>
                <a:latin typeface="Lucida Sans Unicode"/>
                <a:cs typeface="Lucida Sans Unicode"/>
              </a:rPr>
              <a:t>they</a:t>
            </a:r>
            <a:r>
              <a:rPr sz="1100" spc="-4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62" dirty="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sz="1100" spc="-4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42" dirty="0">
                <a:solidFill>
                  <a:srgbClr val="FFFFFF"/>
                </a:solidFill>
                <a:latin typeface="Lucida Sans Unicode"/>
                <a:cs typeface="Lucida Sans Unicode"/>
              </a:rPr>
              <a:t>treated</a:t>
            </a:r>
            <a:r>
              <a:rPr sz="1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78" dirty="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sz="1100" spc="-48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6" dirty="0">
                <a:solidFill>
                  <a:srgbClr val="FFFFFF"/>
                </a:solidFill>
                <a:latin typeface="Lucida Sans Unicode"/>
                <a:cs typeface="Lucida Sans Unicode"/>
              </a:rPr>
              <a:t>assets.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284" y="1535545"/>
            <a:ext cx="819468" cy="1092623"/>
          </a:xfrm>
          <a:custGeom>
            <a:avLst/>
            <a:gdLst/>
            <a:ahLst/>
            <a:cxnLst/>
            <a:rect l="l" t="t" r="r" b="b"/>
            <a:pathLst>
              <a:path w="1638935" h="1638935">
                <a:moveTo>
                  <a:pt x="819417" y="1638835"/>
                </a:moveTo>
                <a:lnTo>
                  <a:pt x="771270" y="1637444"/>
                </a:lnTo>
                <a:lnTo>
                  <a:pt x="723856" y="1633322"/>
                </a:lnTo>
                <a:lnTo>
                  <a:pt x="677251" y="1626547"/>
                </a:lnTo>
                <a:lnTo>
                  <a:pt x="631532" y="1617194"/>
                </a:lnTo>
                <a:lnTo>
                  <a:pt x="586777" y="1605341"/>
                </a:lnTo>
                <a:lnTo>
                  <a:pt x="543061" y="1591064"/>
                </a:lnTo>
                <a:lnTo>
                  <a:pt x="500463" y="1574441"/>
                </a:lnTo>
                <a:lnTo>
                  <a:pt x="459058" y="1555549"/>
                </a:lnTo>
                <a:lnTo>
                  <a:pt x="418924" y="1534463"/>
                </a:lnTo>
                <a:lnTo>
                  <a:pt x="380137" y="1511262"/>
                </a:lnTo>
                <a:lnTo>
                  <a:pt x="342775" y="1486021"/>
                </a:lnTo>
                <a:lnTo>
                  <a:pt x="306913" y="1458818"/>
                </a:lnTo>
                <a:lnTo>
                  <a:pt x="272630" y="1429730"/>
                </a:lnTo>
                <a:lnTo>
                  <a:pt x="240001" y="1398833"/>
                </a:lnTo>
                <a:lnTo>
                  <a:pt x="209105" y="1366205"/>
                </a:lnTo>
                <a:lnTo>
                  <a:pt x="180016" y="1331921"/>
                </a:lnTo>
                <a:lnTo>
                  <a:pt x="152814" y="1296060"/>
                </a:lnTo>
                <a:lnTo>
                  <a:pt x="127573" y="1258697"/>
                </a:lnTo>
                <a:lnTo>
                  <a:pt x="104372" y="1219911"/>
                </a:lnTo>
                <a:lnTo>
                  <a:pt x="83286" y="1179776"/>
                </a:lnTo>
                <a:lnTo>
                  <a:pt x="64393" y="1138372"/>
                </a:lnTo>
                <a:lnTo>
                  <a:pt x="47770" y="1095773"/>
                </a:lnTo>
                <a:lnTo>
                  <a:pt x="33494" y="1052058"/>
                </a:lnTo>
                <a:lnTo>
                  <a:pt x="21641" y="1007302"/>
                </a:lnTo>
                <a:lnTo>
                  <a:pt x="12288" y="961584"/>
                </a:lnTo>
                <a:lnTo>
                  <a:pt x="5512" y="914979"/>
                </a:lnTo>
                <a:lnTo>
                  <a:pt x="1391" y="867564"/>
                </a:lnTo>
                <a:lnTo>
                  <a:pt x="0" y="819417"/>
                </a:lnTo>
                <a:lnTo>
                  <a:pt x="1391" y="771270"/>
                </a:lnTo>
                <a:lnTo>
                  <a:pt x="5512" y="723856"/>
                </a:lnTo>
                <a:lnTo>
                  <a:pt x="12288" y="677251"/>
                </a:lnTo>
                <a:lnTo>
                  <a:pt x="21641" y="631532"/>
                </a:lnTo>
                <a:lnTo>
                  <a:pt x="33494" y="586777"/>
                </a:lnTo>
                <a:lnTo>
                  <a:pt x="47770" y="543061"/>
                </a:lnTo>
                <a:lnTo>
                  <a:pt x="64393" y="500463"/>
                </a:lnTo>
                <a:lnTo>
                  <a:pt x="83286" y="459058"/>
                </a:lnTo>
                <a:lnTo>
                  <a:pt x="104372" y="418924"/>
                </a:lnTo>
                <a:lnTo>
                  <a:pt x="127573" y="380137"/>
                </a:lnTo>
                <a:lnTo>
                  <a:pt x="152814" y="342775"/>
                </a:lnTo>
                <a:lnTo>
                  <a:pt x="180016" y="306913"/>
                </a:lnTo>
                <a:lnTo>
                  <a:pt x="209105" y="272630"/>
                </a:lnTo>
                <a:lnTo>
                  <a:pt x="240001" y="240001"/>
                </a:lnTo>
                <a:lnTo>
                  <a:pt x="272630" y="209105"/>
                </a:lnTo>
                <a:lnTo>
                  <a:pt x="306913" y="180016"/>
                </a:lnTo>
                <a:lnTo>
                  <a:pt x="342775" y="152814"/>
                </a:lnTo>
                <a:lnTo>
                  <a:pt x="380137" y="127573"/>
                </a:lnTo>
                <a:lnTo>
                  <a:pt x="418924" y="104372"/>
                </a:lnTo>
                <a:lnTo>
                  <a:pt x="459058" y="83286"/>
                </a:lnTo>
                <a:lnTo>
                  <a:pt x="500463" y="64393"/>
                </a:lnTo>
                <a:lnTo>
                  <a:pt x="543061" y="47770"/>
                </a:lnTo>
                <a:lnTo>
                  <a:pt x="586777" y="33494"/>
                </a:lnTo>
                <a:lnTo>
                  <a:pt x="631532" y="21641"/>
                </a:lnTo>
                <a:lnTo>
                  <a:pt x="677251" y="12288"/>
                </a:lnTo>
                <a:lnTo>
                  <a:pt x="723856" y="5512"/>
                </a:lnTo>
                <a:lnTo>
                  <a:pt x="771270" y="1391"/>
                </a:lnTo>
                <a:lnTo>
                  <a:pt x="819417" y="0"/>
                </a:lnTo>
                <a:lnTo>
                  <a:pt x="867564" y="1391"/>
                </a:lnTo>
                <a:lnTo>
                  <a:pt x="914979" y="5512"/>
                </a:lnTo>
                <a:lnTo>
                  <a:pt x="961584" y="12288"/>
                </a:lnTo>
                <a:lnTo>
                  <a:pt x="1007302" y="21641"/>
                </a:lnTo>
                <a:lnTo>
                  <a:pt x="1052058" y="33494"/>
                </a:lnTo>
                <a:lnTo>
                  <a:pt x="1095773" y="47770"/>
                </a:lnTo>
                <a:lnTo>
                  <a:pt x="1138372" y="64393"/>
                </a:lnTo>
                <a:lnTo>
                  <a:pt x="1179776" y="83286"/>
                </a:lnTo>
                <a:lnTo>
                  <a:pt x="1219911" y="104372"/>
                </a:lnTo>
                <a:lnTo>
                  <a:pt x="1258697" y="127573"/>
                </a:lnTo>
                <a:lnTo>
                  <a:pt x="1296060" y="152814"/>
                </a:lnTo>
                <a:lnTo>
                  <a:pt x="1331921" y="180016"/>
                </a:lnTo>
                <a:lnTo>
                  <a:pt x="1366205" y="209105"/>
                </a:lnTo>
                <a:lnTo>
                  <a:pt x="1398833" y="240001"/>
                </a:lnTo>
                <a:lnTo>
                  <a:pt x="1429730" y="272630"/>
                </a:lnTo>
                <a:lnTo>
                  <a:pt x="1458818" y="306913"/>
                </a:lnTo>
                <a:lnTo>
                  <a:pt x="1486021" y="342775"/>
                </a:lnTo>
                <a:lnTo>
                  <a:pt x="1511262" y="380137"/>
                </a:lnTo>
                <a:lnTo>
                  <a:pt x="1534463" y="418924"/>
                </a:lnTo>
                <a:lnTo>
                  <a:pt x="1555548" y="459058"/>
                </a:lnTo>
                <a:lnTo>
                  <a:pt x="1574441" y="500463"/>
                </a:lnTo>
                <a:lnTo>
                  <a:pt x="1591064" y="543061"/>
                </a:lnTo>
                <a:lnTo>
                  <a:pt x="1605341" y="586777"/>
                </a:lnTo>
                <a:lnTo>
                  <a:pt x="1617194" y="631532"/>
                </a:lnTo>
                <a:lnTo>
                  <a:pt x="1626546" y="677251"/>
                </a:lnTo>
                <a:lnTo>
                  <a:pt x="1633322" y="723856"/>
                </a:lnTo>
                <a:lnTo>
                  <a:pt x="1637444" y="771270"/>
                </a:lnTo>
                <a:lnTo>
                  <a:pt x="1638835" y="819417"/>
                </a:lnTo>
                <a:lnTo>
                  <a:pt x="1637444" y="867564"/>
                </a:lnTo>
                <a:lnTo>
                  <a:pt x="1633322" y="914979"/>
                </a:lnTo>
                <a:lnTo>
                  <a:pt x="1626546" y="961584"/>
                </a:lnTo>
                <a:lnTo>
                  <a:pt x="1617194" y="1007302"/>
                </a:lnTo>
                <a:lnTo>
                  <a:pt x="1605341" y="1052058"/>
                </a:lnTo>
                <a:lnTo>
                  <a:pt x="1591064" y="1095773"/>
                </a:lnTo>
                <a:lnTo>
                  <a:pt x="1574441" y="1138372"/>
                </a:lnTo>
                <a:lnTo>
                  <a:pt x="1555548" y="1179776"/>
                </a:lnTo>
                <a:lnTo>
                  <a:pt x="1534463" y="1219911"/>
                </a:lnTo>
                <a:lnTo>
                  <a:pt x="1511262" y="1258697"/>
                </a:lnTo>
                <a:lnTo>
                  <a:pt x="1486021" y="1296060"/>
                </a:lnTo>
                <a:lnTo>
                  <a:pt x="1458818" y="1331921"/>
                </a:lnTo>
                <a:lnTo>
                  <a:pt x="1429730" y="1366205"/>
                </a:lnTo>
                <a:lnTo>
                  <a:pt x="1398833" y="1398833"/>
                </a:lnTo>
                <a:lnTo>
                  <a:pt x="1366205" y="1429730"/>
                </a:lnTo>
                <a:lnTo>
                  <a:pt x="1331921" y="1458818"/>
                </a:lnTo>
                <a:lnTo>
                  <a:pt x="1296060" y="1486021"/>
                </a:lnTo>
                <a:lnTo>
                  <a:pt x="1258697" y="1511262"/>
                </a:lnTo>
                <a:lnTo>
                  <a:pt x="1219911" y="1534463"/>
                </a:lnTo>
                <a:lnTo>
                  <a:pt x="1179776" y="1555549"/>
                </a:lnTo>
                <a:lnTo>
                  <a:pt x="1138372" y="1574441"/>
                </a:lnTo>
                <a:lnTo>
                  <a:pt x="1095773" y="1591064"/>
                </a:lnTo>
                <a:lnTo>
                  <a:pt x="1052058" y="1605341"/>
                </a:lnTo>
                <a:lnTo>
                  <a:pt x="1007302" y="1617194"/>
                </a:lnTo>
                <a:lnTo>
                  <a:pt x="961584" y="1626547"/>
                </a:lnTo>
                <a:lnTo>
                  <a:pt x="914979" y="1633322"/>
                </a:lnTo>
                <a:lnTo>
                  <a:pt x="867564" y="1637444"/>
                </a:lnTo>
                <a:lnTo>
                  <a:pt x="819417" y="1638835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2773" y="1788340"/>
            <a:ext cx="388620" cy="1772127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101702">
              <a:spcBef>
                <a:spcPts val="59"/>
              </a:spcBef>
            </a:pPr>
            <a:r>
              <a:rPr sz="4400" b="1" spc="-801" dirty="0">
                <a:latin typeface="Trebuchet MS"/>
                <a:cs typeface="Trebuchet MS"/>
              </a:rPr>
              <a:t>1</a:t>
            </a:r>
            <a:endParaRPr sz="4400">
              <a:latin typeface="Trebuchet MS"/>
              <a:cs typeface="Trebuchet MS"/>
            </a:endParaRPr>
          </a:p>
          <a:p>
            <a:pPr marL="7112">
              <a:spcBef>
                <a:spcPts val="3172"/>
              </a:spcBef>
            </a:pPr>
            <a:r>
              <a:rPr sz="4400" b="1" spc="692" dirty="0">
                <a:latin typeface="Trebuchet MS"/>
                <a:cs typeface="Trebuchet MS"/>
              </a:rPr>
              <a:t>2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642" y="75409"/>
            <a:ext cx="5427370" cy="1136105"/>
          </a:xfrm>
          <a:prstGeom prst="rect">
            <a:avLst/>
          </a:prstGeom>
        </p:spPr>
        <p:txBody>
          <a:bodyPr vert="horz" wrap="square" lIns="0" tIns="111658" rIns="0" bIns="0" rtlCol="0">
            <a:spAutoFit/>
          </a:bodyPr>
          <a:lstStyle/>
          <a:p>
            <a:pPr marL="7112">
              <a:spcBef>
                <a:spcPts val="879"/>
              </a:spcBef>
            </a:pPr>
            <a:r>
              <a:rPr sz="2900" dirty="0">
                <a:latin typeface="Roboto"/>
                <a:cs typeface="Roboto"/>
              </a:rPr>
              <a:t>ACCOUNTING</a:t>
            </a:r>
            <a:r>
              <a:rPr sz="2900" spc="-28" dirty="0">
                <a:latin typeface="Roboto"/>
                <a:cs typeface="Roboto"/>
              </a:rPr>
              <a:t> </a:t>
            </a:r>
            <a:r>
              <a:rPr sz="2900" spc="-6" dirty="0">
                <a:latin typeface="Roboto"/>
                <a:cs typeface="Roboto"/>
              </a:rPr>
              <a:t>ASSUMPTIONS</a:t>
            </a:r>
            <a:endParaRPr lang="en-US" sz="2900" spc="-6" dirty="0">
              <a:latin typeface="Roboto"/>
              <a:cs typeface="Roboto"/>
            </a:endParaRPr>
          </a:p>
          <a:p>
            <a:pPr marL="7112">
              <a:spcBef>
                <a:spcPts val="879"/>
              </a:spcBef>
            </a:pPr>
            <a:r>
              <a:rPr sz="3000" b="1" spc="375" dirty="0">
                <a:solidFill>
                  <a:srgbClr val="004AAC"/>
                </a:solidFill>
                <a:latin typeface="Trebuchet MS"/>
                <a:cs typeface="Trebuchet MS"/>
              </a:rPr>
              <a:t>&amp;</a:t>
            </a:r>
            <a:r>
              <a:rPr sz="3000" b="1" spc="-84" dirty="0">
                <a:solidFill>
                  <a:srgbClr val="004AAC"/>
                </a:solidFill>
                <a:latin typeface="Trebuchet MS"/>
                <a:cs typeface="Trebuchet MS"/>
              </a:rPr>
              <a:t> </a:t>
            </a:r>
            <a:r>
              <a:rPr sz="3000" b="1" spc="224" dirty="0">
                <a:solidFill>
                  <a:srgbClr val="004AAC"/>
                </a:solidFill>
                <a:latin typeface="Trebuchet MS"/>
                <a:cs typeface="Trebuchet MS"/>
              </a:rPr>
              <a:t>PRINCIPLES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9648" y="1426662"/>
            <a:ext cx="3955904" cy="1766381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6100"/>
              </a:lnSpc>
              <a:spcBef>
                <a:spcPts val="56"/>
              </a:spcBef>
              <a:tabLst>
                <a:tab pos="661772" algn="l"/>
                <a:tab pos="994969" algn="l"/>
                <a:tab pos="1375105" algn="l"/>
                <a:tab pos="2079904" algn="l"/>
                <a:tab pos="2614016" algn="l"/>
                <a:tab pos="2940812" algn="l"/>
                <a:tab pos="3723487" algn="l"/>
                <a:tab pos="3989121" algn="l"/>
              </a:tabLst>
            </a:pP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lang="en-US" sz="1200" spc="-6" dirty="0">
                <a:latin typeface="Arial Black"/>
                <a:cs typeface="Arial Black"/>
              </a:rPr>
              <a:t>Monetary</a:t>
            </a:r>
            <a:r>
              <a:rPr lang="en-US" sz="1200" spc="56" dirty="0">
                <a:latin typeface="Arial Black"/>
                <a:cs typeface="Arial Black"/>
              </a:rPr>
              <a:t> </a:t>
            </a:r>
            <a:r>
              <a:rPr lang="en-US" sz="1200" spc="-22" dirty="0">
                <a:latin typeface="Arial Black"/>
                <a:cs typeface="Arial Black"/>
              </a:rPr>
              <a:t>Unit</a:t>
            </a:r>
            <a:r>
              <a:rPr lang="en-US" sz="1200" spc="59" dirty="0">
                <a:latin typeface="Arial Black"/>
                <a:cs typeface="Arial Black"/>
              </a:rPr>
              <a:t> </a:t>
            </a:r>
            <a:r>
              <a:rPr lang="en-US" sz="1200" spc="-20" dirty="0">
                <a:latin typeface="Arial Black"/>
                <a:cs typeface="Arial Black"/>
              </a:rPr>
              <a:t>Assumption</a:t>
            </a:r>
            <a:r>
              <a:rPr lang="en-US" sz="1200" spc="-20" dirty="0">
                <a:latin typeface="Lucida Sans Unicode"/>
                <a:cs typeface="Lucida Sans Unicode"/>
              </a:rPr>
              <a:t>:</a:t>
            </a:r>
            <a:r>
              <a:rPr lang="en-US" sz="1200" spc="132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You</a:t>
            </a:r>
            <a:r>
              <a:rPr lang="en-US" sz="1200" spc="128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know,</a:t>
            </a:r>
            <a:r>
              <a:rPr lang="en-US" sz="1200" spc="132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in</a:t>
            </a:r>
            <a:r>
              <a:rPr lang="en-US" sz="1200" spc="128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our</a:t>
            </a:r>
            <a:r>
              <a:rPr lang="en-US" sz="1200" spc="128" dirty="0">
                <a:latin typeface="Lucida Sans Unicode"/>
                <a:cs typeface="Lucida Sans Unicode"/>
              </a:rPr>
              <a:t> </a:t>
            </a:r>
            <a:r>
              <a:rPr lang="en-US" sz="1200" spc="-6" dirty="0">
                <a:latin typeface="Lucida Sans Unicode"/>
                <a:cs typeface="Lucida Sans Unicode"/>
              </a:rPr>
              <a:t>country, </a:t>
            </a:r>
            <a:r>
              <a:rPr lang="en-US" sz="1200" dirty="0">
                <a:latin typeface="Lucida Sans Unicode"/>
                <a:cs typeface="Lucida Sans Unicode"/>
              </a:rPr>
              <a:t>the</a:t>
            </a:r>
            <a:r>
              <a:rPr lang="en-US" sz="1200" spc="8" dirty="0">
                <a:latin typeface="Lucida Sans Unicode"/>
                <a:cs typeface="Lucida Sans Unicode"/>
              </a:rPr>
              <a:t> </a:t>
            </a:r>
            <a:r>
              <a:rPr lang="en-US" sz="1200" spc="39" dirty="0">
                <a:latin typeface="Lucida Sans Unicode"/>
                <a:cs typeface="Lucida Sans Unicode"/>
              </a:rPr>
              <a:t>monetary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unit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is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taka.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spc="25" dirty="0">
                <a:latin typeface="Lucida Sans Unicode"/>
                <a:cs typeface="Lucida Sans Unicode"/>
              </a:rPr>
              <a:t>According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to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this</a:t>
            </a:r>
            <a:r>
              <a:rPr lang="en-US" sz="1200" spc="11" dirty="0">
                <a:latin typeface="Lucida Sans Unicode"/>
                <a:cs typeface="Lucida Sans Unicode"/>
              </a:rPr>
              <a:t> </a:t>
            </a:r>
            <a:r>
              <a:rPr lang="en-US" sz="1200" spc="-6" dirty="0">
                <a:latin typeface="Lucida Sans Unicode"/>
                <a:cs typeface="Lucida Sans Unicode"/>
              </a:rPr>
              <a:t>assumptions, </a:t>
            </a:r>
            <a:r>
              <a:rPr sz="1200" dirty="0">
                <a:latin typeface="Lucida Sans Unicode"/>
                <a:cs typeface="Lucida Sans Unicode"/>
              </a:rPr>
              <a:t>only</a:t>
            </a:r>
            <a:r>
              <a:rPr sz="1200" spc="34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transaction</a:t>
            </a:r>
            <a:r>
              <a:rPr sz="1200" spc="36" dirty="0">
                <a:latin typeface="Lucida Sans Unicode"/>
                <a:cs typeface="Lucida Sans Unicode"/>
              </a:rPr>
              <a:t> </a:t>
            </a:r>
            <a:r>
              <a:rPr sz="1200" spc="78" dirty="0">
                <a:latin typeface="Lucida Sans Unicode"/>
                <a:cs typeface="Lucida Sans Unicode"/>
              </a:rPr>
              <a:t>data</a:t>
            </a:r>
            <a:r>
              <a:rPr sz="1200" spc="34" dirty="0">
                <a:latin typeface="Lucida Sans Unicode"/>
                <a:cs typeface="Lucida Sans Unicode"/>
              </a:rPr>
              <a:t> </a:t>
            </a:r>
            <a:r>
              <a:rPr sz="1200" spc="31" dirty="0">
                <a:latin typeface="Lucida Sans Unicode"/>
                <a:cs typeface="Lucida Sans Unicode"/>
              </a:rPr>
              <a:t>that</a:t>
            </a:r>
            <a:r>
              <a:rPr sz="1200" spc="36" dirty="0">
                <a:latin typeface="Lucida Sans Unicode"/>
                <a:cs typeface="Lucida Sans Unicode"/>
              </a:rPr>
              <a:t> </a:t>
            </a:r>
            <a:r>
              <a:rPr sz="1200" spc="87" dirty="0">
                <a:latin typeface="Lucida Sans Unicode"/>
                <a:cs typeface="Lucida Sans Unicode"/>
              </a:rPr>
              <a:t>can</a:t>
            </a:r>
            <a:r>
              <a:rPr sz="1200" spc="34" dirty="0">
                <a:latin typeface="Lucida Sans Unicode"/>
                <a:cs typeface="Lucida Sans Unicode"/>
              </a:rPr>
              <a:t> </a:t>
            </a:r>
            <a:r>
              <a:rPr sz="1200" spc="56" dirty="0">
                <a:latin typeface="Lucida Sans Unicode"/>
                <a:cs typeface="Lucida Sans Unicode"/>
              </a:rPr>
              <a:t>be</a:t>
            </a:r>
            <a:r>
              <a:rPr sz="1200" spc="3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expressed</a:t>
            </a:r>
            <a:r>
              <a:rPr sz="1200" spc="3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</a:t>
            </a:r>
            <a:r>
              <a:rPr sz="1200" spc="3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terms</a:t>
            </a:r>
            <a:r>
              <a:rPr sz="1200" spc="36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</a:t>
            </a:r>
            <a:r>
              <a:rPr sz="1200" spc="45" dirty="0">
                <a:latin typeface="Lucida Sans Unicode"/>
                <a:cs typeface="Lucida Sans Unicode"/>
              </a:rPr>
              <a:t>money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20" dirty="0">
                <a:latin typeface="Lucida Sans Unicode"/>
                <a:cs typeface="Lucida Sans Unicode"/>
              </a:rPr>
              <a:t>(</a:t>
            </a:r>
            <a:r>
              <a:rPr sz="1200" spc="20" dirty="0">
                <a:latin typeface="Lucida Sans Unicode"/>
                <a:cs typeface="Lucida Sans Unicode"/>
              </a:rPr>
              <a:t>in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our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country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53" dirty="0">
                <a:latin typeface="Lucida Sans Unicode"/>
                <a:cs typeface="Lucida Sans Unicode"/>
              </a:rPr>
              <a:t>taka)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42" dirty="0">
                <a:latin typeface="Lucida Sans Unicode"/>
                <a:cs typeface="Lucida Sans Unicode"/>
              </a:rPr>
              <a:t>be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included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in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the</a:t>
            </a:r>
            <a:r>
              <a:rPr lang="en-US" sz="1200" spc="-14" dirty="0">
                <a:latin typeface="Lucida Sans Unicode"/>
                <a:cs typeface="Lucida Sans Unicode"/>
              </a:rPr>
              <a:t> </a:t>
            </a:r>
            <a:r>
              <a:rPr lang="en-US" sz="1200" spc="36" dirty="0">
                <a:latin typeface="Lucida Sans Unicode"/>
                <a:cs typeface="Lucida Sans Unicode"/>
              </a:rPr>
              <a:t>accounting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lang="en-US" sz="1200" spc="-6" dirty="0">
                <a:latin typeface="Lucida Sans Unicode"/>
                <a:cs typeface="Lucida Sans Unicode"/>
              </a:rPr>
              <a:t>records.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lang="en-US" sz="1200" spc="-11" dirty="0">
                <a:latin typeface="Lucida Sans Unicode"/>
                <a:cs typeface="Lucida Sans Unicode"/>
              </a:rPr>
              <a:t>This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lang="en-US" sz="1200" spc="22" dirty="0">
                <a:latin typeface="Lucida Sans Unicode"/>
                <a:cs typeface="Lucida Sans Unicode"/>
              </a:rPr>
              <a:t>assumption</a:t>
            </a:r>
            <a:r>
              <a:rPr lang="en-US" sz="1200" dirty="0">
                <a:latin typeface="Lucida Sans Unicode"/>
                <a:cs typeface="Lucida Sans Unicode"/>
              </a:rPr>
              <a:t> </a:t>
            </a:r>
            <a:r>
              <a:rPr lang="en-US" sz="1200" spc="34" dirty="0">
                <a:latin typeface="Lucida Sans Unicode"/>
                <a:cs typeface="Lucida Sans Unicode"/>
              </a:rPr>
              <a:t>enables </a:t>
            </a:r>
            <a:r>
              <a:rPr lang="en-US" sz="1200" spc="42" dirty="0">
                <a:latin typeface="Lucida Sans Unicode"/>
                <a:cs typeface="Lucida Sans Unicode"/>
              </a:rPr>
              <a:t>accounting</a:t>
            </a:r>
            <a:r>
              <a:rPr lang="en-US" sz="1200" spc="-25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to</a:t>
            </a:r>
            <a:r>
              <a:rPr lang="en-US" sz="1200" spc="-22" dirty="0">
                <a:latin typeface="Lucida Sans Unicode"/>
                <a:cs typeface="Lucida Sans Unicode"/>
              </a:rPr>
              <a:t> </a:t>
            </a:r>
            <a:r>
              <a:rPr lang="en-US" sz="1200" dirty="0">
                <a:latin typeface="Lucida Sans Unicode"/>
                <a:cs typeface="Lucida Sans Unicode"/>
              </a:rPr>
              <a:t>quantify</a:t>
            </a:r>
            <a:r>
              <a:rPr lang="en-US" sz="1200" spc="-22" dirty="0">
                <a:latin typeface="Lucida Sans Unicode"/>
                <a:cs typeface="Lucida Sans Unicode"/>
              </a:rPr>
              <a:t> </a:t>
            </a:r>
            <a:r>
              <a:rPr lang="en-US" sz="1200" spc="70" dirty="0">
                <a:latin typeface="Lucida Sans Unicode"/>
                <a:cs typeface="Lucida Sans Unicode"/>
              </a:rPr>
              <a:t>(measure)</a:t>
            </a:r>
            <a:r>
              <a:rPr lang="en-US" sz="1200" spc="-22" dirty="0">
                <a:latin typeface="Lucida Sans Unicode"/>
                <a:cs typeface="Lucida Sans Unicode"/>
              </a:rPr>
              <a:t> </a:t>
            </a:r>
            <a:r>
              <a:rPr lang="en-US" sz="1200" spc="48" dirty="0">
                <a:latin typeface="Lucida Sans Unicode"/>
                <a:cs typeface="Lucida Sans Unicode"/>
              </a:rPr>
              <a:t>economic</a:t>
            </a:r>
            <a:r>
              <a:rPr lang="en-US" sz="1200" spc="-22" dirty="0">
                <a:latin typeface="Lucida Sans Unicode"/>
                <a:cs typeface="Lucida Sans Unicode"/>
              </a:rPr>
              <a:t> </a:t>
            </a:r>
            <a:r>
              <a:rPr lang="en-US" sz="1200" spc="-6" dirty="0">
                <a:latin typeface="Lucida Sans Unicode"/>
                <a:cs typeface="Lucida Sans Unicode"/>
              </a:rPr>
              <a:t>events.</a:t>
            </a:r>
            <a:endParaRPr lang="en-US" sz="1200" dirty="0">
              <a:latin typeface="Lucida Sans Unicode"/>
              <a:cs typeface="Lucida Sans Unicode"/>
            </a:endParaRPr>
          </a:p>
          <a:p>
            <a:pPr marL="7112" marR="2845">
              <a:lnSpc>
                <a:spcPct val="116100"/>
              </a:lnSpc>
              <a:spcBef>
                <a:spcPts val="56"/>
              </a:spcBef>
              <a:tabLst>
                <a:tab pos="661772" algn="l"/>
                <a:tab pos="994969" algn="l"/>
                <a:tab pos="1375105" algn="l"/>
                <a:tab pos="2079904" algn="l"/>
                <a:tab pos="2614016" algn="l"/>
                <a:tab pos="2940812" algn="l"/>
                <a:tab pos="3723487" algn="l"/>
                <a:tab pos="3989121" algn="l"/>
              </a:tabLst>
            </a:pP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2424" y="3078268"/>
            <a:ext cx="3784917" cy="2101922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 algn="just">
              <a:lnSpc>
                <a:spcPct val="116100"/>
              </a:lnSpc>
              <a:spcBef>
                <a:spcPts val="56"/>
              </a:spcBef>
            </a:pPr>
            <a:r>
              <a:rPr sz="1200" dirty="0">
                <a:latin typeface="Arial Black"/>
                <a:cs typeface="Arial Black"/>
              </a:rPr>
              <a:t>Going</a:t>
            </a:r>
            <a:r>
              <a:rPr sz="1200" spc="118" dirty="0">
                <a:latin typeface="Arial Black"/>
                <a:cs typeface="Arial Black"/>
              </a:rPr>
              <a:t> </a:t>
            </a:r>
            <a:r>
              <a:rPr sz="1200" dirty="0">
                <a:latin typeface="Arial Black"/>
                <a:cs typeface="Arial Black"/>
              </a:rPr>
              <a:t>Concern</a:t>
            </a:r>
            <a:r>
              <a:rPr sz="1200" spc="118" dirty="0">
                <a:latin typeface="Arial Black"/>
                <a:cs typeface="Arial Black"/>
              </a:rPr>
              <a:t> </a:t>
            </a:r>
            <a:r>
              <a:rPr sz="1200" dirty="0">
                <a:latin typeface="Arial Black"/>
                <a:cs typeface="Arial Black"/>
              </a:rPr>
              <a:t>Assumption</a:t>
            </a:r>
            <a:r>
              <a:rPr sz="1200" dirty="0">
                <a:latin typeface="Lucida Sans Unicode"/>
                <a:cs typeface="Lucida Sans Unicode"/>
              </a:rPr>
              <a:t>:</a:t>
            </a:r>
            <a:r>
              <a:rPr sz="1200" spc="18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This</a:t>
            </a:r>
            <a:r>
              <a:rPr sz="1200" spc="185" dirty="0">
                <a:latin typeface="Lucida Sans Unicode"/>
                <a:cs typeface="Lucida Sans Unicode"/>
              </a:rPr>
              <a:t> </a:t>
            </a:r>
            <a:r>
              <a:rPr sz="1200" spc="28" dirty="0">
                <a:latin typeface="Lucida Sans Unicode"/>
                <a:cs typeface="Lucida Sans Unicode"/>
              </a:rPr>
              <a:t>assumption</a:t>
            </a:r>
            <a:r>
              <a:rPr sz="1200" spc="188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185" dirty="0">
                <a:latin typeface="Lucida Sans Unicode"/>
                <a:cs typeface="Lucida Sans Unicode"/>
              </a:rPr>
              <a:t> </a:t>
            </a:r>
            <a:r>
              <a:rPr sz="1200" spc="17" dirty="0">
                <a:latin typeface="Lucida Sans Unicode"/>
                <a:cs typeface="Lucida Sans Unicode"/>
              </a:rPr>
              <a:t>also </a:t>
            </a:r>
            <a:r>
              <a:rPr sz="1200" dirty="0">
                <a:latin typeface="Lucida Sans Unicode"/>
                <a:cs typeface="Lucida Sans Unicode"/>
              </a:rPr>
              <a:t>known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spc="73" dirty="0">
                <a:latin typeface="Lucida Sans Unicode"/>
                <a:cs typeface="Lucida Sans Unicode"/>
              </a:rPr>
              <a:t>as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Continuity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assumption.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8" dirty="0">
                <a:latin typeface="Lucida Sans Unicode"/>
                <a:cs typeface="Lucida Sans Unicode"/>
              </a:rPr>
              <a:t> </a:t>
            </a:r>
            <a:r>
              <a:rPr sz="1200" spc="50" dirty="0">
                <a:latin typeface="Lucida Sans Unicode"/>
                <a:cs typeface="Lucida Sans Unicode"/>
              </a:rPr>
              <a:t>main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spc="48" dirty="0">
                <a:latin typeface="Lucida Sans Unicode"/>
                <a:cs typeface="Lucida Sans Unicode"/>
              </a:rPr>
              <a:t>theme</a:t>
            </a:r>
            <a:r>
              <a:rPr sz="1200" spc="6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of </a:t>
            </a:r>
            <a:r>
              <a:rPr sz="1200" dirty="0">
                <a:latin typeface="Lucida Sans Unicode"/>
                <a:cs typeface="Lucida Sans Unicode"/>
              </a:rPr>
              <a:t>this</a:t>
            </a:r>
            <a:r>
              <a:rPr sz="1200" spc="62" dirty="0">
                <a:latin typeface="Lucida Sans Unicode"/>
                <a:cs typeface="Lucida Sans Unicode"/>
              </a:rPr>
              <a:t>  </a:t>
            </a:r>
            <a:r>
              <a:rPr sz="1200" spc="28" dirty="0">
                <a:latin typeface="Lucida Sans Unicode"/>
                <a:cs typeface="Lucida Sans Unicode"/>
              </a:rPr>
              <a:t>assumption</a:t>
            </a:r>
            <a:r>
              <a:rPr sz="1200" spc="6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62" dirty="0">
                <a:latin typeface="Lucida Sans Unicode"/>
                <a:cs typeface="Lucida Sans Unicode"/>
              </a:rPr>
              <a:t>  </a:t>
            </a:r>
            <a:r>
              <a:rPr sz="1200" spc="31" dirty="0">
                <a:latin typeface="Lucida Sans Unicode"/>
                <a:cs typeface="Lucida Sans Unicode"/>
              </a:rPr>
              <a:t>that</a:t>
            </a:r>
            <a:r>
              <a:rPr sz="1200" spc="64" dirty="0">
                <a:latin typeface="Lucida Sans Unicode"/>
                <a:cs typeface="Lucida Sans Unicode"/>
              </a:rPr>
              <a:t>  </a:t>
            </a:r>
            <a:r>
              <a:rPr sz="1200" spc="142" dirty="0">
                <a:latin typeface="Lucida Sans Unicode"/>
                <a:cs typeface="Lucida Sans Unicode"/>
              </a:rPr>
              <a:t>a</a:t>
            </a:r>
            <a:r>
              <a:rPr sz="1200" spc="6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business</a:t>
            </a:r>
            <a:r>
              <a:rPr sz="1200" spc="6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will</a:t>
            </a:r>
            <a:r>
              <a:rPr sz="1200" spc="6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continue</a:t>
            </a:r>
            <a:r>
              <a:rPr sz="1200" spc="64" dirty="0">
                <a:latin typeface="Lucida Sans Unicode"/>
                <a:cs typeface="Lucida Sans Unicode"/>
              </a:rPr>
              <a:t>  </a:t>
            </a:r>
            <a:r>
              <a:rPr sz="1200" spc="-14" dirty="0">
                <a:latin typeface="Lucida Sans Unicode"/>
                <a:cs typeface="Lucida Sans Unicode"/>
              </a:rPr>
              <a:t>in </a:t>
            </a:r>
            <a:r>
              <a:rPr sz="1200" dirty="0">
                <a:latin typeface="Lucida Sans Unicode"/>
                <a:cs typeface="Lucida Sans Unicode"/>
              </a:rPr>
              <a:t>operation</a:t>
            </a:r>
            <a:r>
              <a:rPr sz="1200" spc="15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for</a:t>
            </a:r>
            <a:r>
              <a:rPr sz="1200" spc="154" dirty="0">
                <a:latin typeface="Lucida Sans Unicode"/>
                <a:cs typeface="Lucida Sans Unicode"/>
              </a:rPr>
              <a:t> </a:t>
            </a:r>
            <a:r>
              <a:rPr sz="1200" spc="78" dirty="0">
                <a:latin typeface="Lucida Sans Unicode"/>
                <a:cs typeface="Lucida Sans Unicode"/>
              </a:rPr>
              <a:t>an</a:t>
            </a:r>
            <a:r>
              <a:rPr sz="1200" spc="15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indefinite</a:t>
            </a:r>
            <a:r>
              <a:rPr sz="1200" spc="15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period</a:t>
            </a:r>
            <a:r>
              <a:rPr sz="1200" spc="151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157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time,</a:t>
            </a:r>
            <a:r>
              <a:rPr sz="1200" spc="154" dirty="0">
                <a:latin typeface="Lucida Sans Unicode"/>
                <a:cs typeface="Lucida Sans Unicode"/>
              </a:rPr>
              <a:t> </a:t>
            </a:r>
            <a:r>
              <a:rPr sz="1200" spc="62" dirty="0">
                <a:latin typeface="Lucida Sans Unicode"/>
                <a:cs typeface="Lucida Sans Unicode"/>
              </a:rPr>
              <a:t>at</a:t>
            </a:r>
            <a:r>
              <a:rPr sz="1200" spc="15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least</a:t>
            </a:r>
            <a:r>
              <a:rPr sz="1200" spc="151" dirty="0">
                <a:latin typeface="Lucida Sans Unicode"/>
                <a:cs typeface="Lucida Sans Unicode"/>
              </a:rPr>
              <a:t> </a:t>
            </a:r>
            <a:r>
              <a:rPr sz="1200" spc="-11" dirty="0">
                <a:latin typeface="Lucida Sans Unicode"/>
                <a:cs typeface="Lucida Sans Unicode"/>
              </a:rPr>
              <a:t>long </a:t>
            </a:r>
            <a:r>
              <a:rPr sz="1200" spc="34" dirty="0">
                <a:latin typeface="Lucida Sans Unicode"/>
                <a:cs typeface="Lucida Sans Unicode"/>
              </a:rPr>
              <a:t>enough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to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36" dirty="0">
                <a:latin typeface="Lucida Sans Unicode"/>
                <a:cs typeface="Lucida Sans Unicode"/>
              </a:rPr>
              <a:t>carry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out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-22" dirty="0">
                <a:latin typeface="Lucida Sans Unicode"/>
                <a:cs typeface="Lucida Sans Unicode"/>
              </a:rPr>
              <a:t>its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existing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31" dirty="0">
                <a:latin typeface="Lucida Sans Unicode"/>
                <a:cs typeface="Lucida Sans Unicode"/>
              </a:rPr>
              <a:t>plans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70" dirty="0">
                <a:latin typeface="Lucida Sans Unicode"/>
                <a:cs typeface="Lucida Sans Unicode"/>
              </a:rPr>
              <a:t>and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contracts.</a:t>
            </a:r>
            <a:endParaRPr sz="1200" dirty="0">
              <a:latin typeface="Lucida Sans Unicode"/>
              <a:cs typeface="Lucida Sans Unicode"/>
            </a:endParaRPr>
          </a:p>
          <a:p>
            <a:pPr marL="7112" marR="2845" algn="just">
              <a:lnSpc>
                <a:spcPct val="116100"/>
              </a:lnSpc>
              <a:spcBef>
                <a:spcPts val="1263"/>
              </a:spcBef>
            </a:pPr>
            <a:r>
              <a:rPr sz="1200" dirty="0">
                <a:latin typeface="Arial Black"/>
                <a:cs typeface="Arial Black"/>
              </a:rPr>
              <a:t>Economic</a:t>
            </a:r>
            <a:r>
              <a:rPr sz="1200" spc="162" dirty="0">
                <a:latin typeface="Arial Black"/>
                <a:cs typeface="Arial Black"/>
              </a:rPr>
              <a:t>  </a:t>
            </a:r>
            <a:r>
              <a:rPr sz="1200" dirty="0">
                <a:latin typeface="Arial Black"/>
                <a:cs typeface="Arial Black"/>
              </a:rPr>
              <a:t>Entity</a:t>
            </a:r>
            <a:r>
              <a:rPr sz="1200" spc="162" dirty="0">
                <a:latin typeface="Arial Black"/>
                <a:cs typeface="Arial Black"/>
              </a:rPr>
              <a:t>  </a:t>
            </a:r>
            <a:r>
              <a:rPr sz="1200" dirty="0">
                <a:latin typeface="Arial Black"/>
                <a:cs typeface="Arial Black"/>
              </a:rPr>
              <a:t>Assumption:</a:t>
            </a:r>
            <a:r>
              <a:rPr sz="1200" spc="193" dirty="0">
                <a:latin typeface="Arial Black"/>
                <a:cs typeface="Arial Black"/>
              </a:rPr>
              <a:t>  </a:t>
            </a:r>
            <a:r>
              <a:rPr sz="1200" spc="25" dirty="0">
                <a:latin typeface="Lucida Sans Unicode"/>
                <a:cs typeface="Lucida Sans Unicode"/>
              </a:rPr>
              <a:t>According</a:t>
            </a:r>
            <a:r>
              <a:rPr sz="1200" spc="207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to</a:t>
            </a:r>
            <a:r>
              <a:rPr sz="1200" spc="210" dirty="0">
                <a:latin typeface="Lucida Sans Unicode"/>
                <a:cs typeface="Lucida Sans Unicode"/>
              </a:rPr>
              <a:t>  </a:t>
            </a:r>
            <a:r>
              <a:rPr sz="1200" spc="-11" dirty="0">
                <a:latin typeface="Lucida Sans Unicode"/>
                <a:cs typeface="Lucida Sans Unicode"/>
              </a:rPr>
              <a:t>this </a:t>
            </a:r>
            <a:r>
              <a:rPr sz="1200" dirty="0">
                <a:latin typeface="Lucida Sans Unicode"/>
                <a:cs typeface="Lucida Sans Unicode"/>
              </a:rPr>
              <a:t>assumption,</a:t>
            </a:r>
            <a:r>
              <a:rPr sz="1200" spc="10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10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business</a:t>
            </a:r>
            <a:r>
              <a:rPr sz="1200" spc="10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104" dirty="0">
                <a:latin typeface="Lucida Sans Unicode"/>
                <a:cs typeface="Lucida Sans Unicode"/>
              </a:rPr>
              <a:t> </a:t>
            </a:r>
            <a:r>
              <a:rPr sz="1200" spc="34" dirty="0">
                <a:latin typeface="Lucida Sans Unicode"/>
                <a:cs typeface="Lucida Sans Unicode"/>
              </a:rPr>
              <a:t>treated</a:t>
            </a:r>
            <a:r>
              <a:rPr sz="1200" spc="106" dirty="0">
                <a:latin typeface="Lucida Sans Unicode"/>
                <a:cs typeface="Lucida Sans Unicode"/>
              </a:rPr>
              <a:t> </a:t>
            </a:r>
            <a:r>
              <a:rPr sz="1200" spc="73" dirty="0">
                <a:latin typeface="Lucida Sans Unicode"/>
                <a:cs typeface="Lucida Sans Unicode"/>
              </a:rPr>
              <a:t>as</a:t>
            </a:r>
            <a:r>
              <a:rPr sz="1200" spc="104" dirty="0">
                <a:latin typeface="Lucida Sans Unicode"/>
                <a:cs typeface="Lucida Sans Unicode"/>
              </a:rPr>
              <a:t> </a:t>
            </a:r>
            <a:r>
              <a:rPr sz="1200" spc="48" dirty="0">
                <a:latin typeface="Lucida Sans Unicode"/>
                <a:cs typeface="Lucida Sans Unicode"/>
              </a:rPr>
              <a:t>separate</a:t>
            </a:r>
            <a:r>
              <a:rPr sz="1200" spc="106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unit</a:t>
            </a:r>
            <a:r>
              <a:rPr sz="1200" spc="104" dirty="0">
                <a:latin typeface="Lucida Sans Unicode"/>
                <a:cs typeface="Lucida Sans Unicode"/>
              </a:rPr>
              <a:t> </a:t>
            </a:r>
            <a:r>
              <a:rPr sz="1200" spc="-14" dirty="0">
                <a:latin typeface="Lucida Sans Unicode"/>
                <a:cs typeface="Lucida Sans Unicode"/>
              </a:rPr>
              <a:t>or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2424" y="5003000"/>
            <a:ext cx="3784917" cy="435632"/>
          </a:xfrm>
          <a:prstGeom prst="rect">
            <a:avLst/>
          </a:prstGeom>
        </p:spPr>
        <p:txBody>
          <a:bodyPr vert="horz" wrap="square" lIns="0" tIns="7112" rIns="0" bIns="0" rtlCol="0">
            <a:spAutoFit/>
          </a:bodyPr>
          <a:lstStyle/>
          <a:p>
            <a:pPr marL="7112" marR="2845">
              <a:lnSpc>
                <a:spcPct val="116100"/>
              </a:lnSpc>
              <a:spcBef>
                <a:spcPts val="56"/>
              </a:spcBef>
            </a:pPr>
            <a:r>
              <a:rPr sz="1200" dirty="0">
                <a:latin typeface="Lucida Sans Unicode"/>
                <a:cs typeface="Lucida Sans Unicode"/>
              </a:rPr>
              <a:t>entity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from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its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spc="28" dirty="0">
                <a:latin typeface="Lucida Sans Unicode"/>
                <a:cs typeface="Lucida Sans Unicode"/>
              </a:rPr>
              <a:t>owner(s).</a:t>
            </a:r>
            <a:r>
              <a:rPr sz="1200" spc="25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owner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is</a:t>
            </a:r>
            <a:r>
              <a:rPr sz="1200" spc="25" dirty="0">
                <a:latin typeface="Lucida Sans Unicode"/>
                <a:cs typeface="Lucida Sans Unicode"/>
              </a:rPr>
              <a:t>  </a:t>
            </a:r>
            <a:r>
              <a:rPr sz="1200" spc="34" dirty="0">
                <a:latin typeface="Lucida Sans Unicode"/>
                <a:cs typeface="Lucida Sans Unicode"/>
              </a:rPr>
              <a:t>treated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spc="73" dirty="0">
                <a:latin typeface="Lucida Sans Unicode"/>
                <a:cs typeface="Lucida Sans Unicode"/>
              </a:rPr>
              <a:t>as</a:t>
            </a:r>
            <a:r>
              <a:rPr sz="1200" spc="22" dirty="0">
                <a:latin typeface="Lucida Sans Unicode"/>
                <a:cs typeface="Lucida Sans Unicode"/>
              </a:rPr>
              <a:t>  </a:t>
            </a:r>
            <a:r>
              <a:rPr sz="1200" spc="114" dirty="0">
                <a:latin typeface="Lucida Sans Unicode"/>
                <a:cs typeface="Lucida Sans Unicode"/>
              </a:rPr>
              <a:t>a </a:t>
            </a:r>
            <a:r>
              <a:rPr sz="1200" dirty="0">
                <a:latin typeface="Lucida Sans Unicode"/>
                <a:cs typeface="Lucida Sans Unicode"/>
              </a:rPr>
              <a:t>creditor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to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the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extent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his</a:t>
            </a:r>
            <a:r>
              <a:rPr sz="1200" spc="-53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/her</a:t>
            </a:r>
            <a:r>
              <a:rPr sz="1200" spc="-50" dirty="0">
                <a:latin typeface="Lucida Sans Unicode"/>
                <a:cs typeface="Lucida Sans Unicode"/>
              </a:rPr>
              <a:t> </a:t>
            </a:r>
            <a:r>
              <a:rPr sz="1200" spc="-6" dirty="0">
                <a:latin typeface="Lucida Sans Unicode"/>
                <a:cs typeface="Lucida Sans Unicode"/>
              </a:rPr>
              <a:t>capital.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10873" y="3017192"/>
            <a:ext cx="827405" cy="1013460"/>
          </a:xfrm>
          <a:custGeom>
            <a:avLst/>
            <a:gdLst/>
            <a:ahLst/>
            <a:cxnLst/>
            <a:rect l="l" t="t" r="r" b="b"/>
            <a:pathLst>
              <a:path w="1654809" h="1520189">
                <a:moveTo>
                  <a:pt x="827267" y="1519704"/>
                </a:moveTo>
                <a:lnTo>
                  <a:pt x="776872" y="1518317"/>
                </a:lnTo>
                <a:lnTo>
                  <a:pt x="727276" y="1514210"/>
                </a:lnTo>
                <a:lnTo>
                  <a:pt x="678565" y="1507461"/>
                </a:lnTo>
                <a:lnTo>
                  <a:pt x="630825" y="1498151"/>
                </a:lnTo>
                <a:lnTo>
                  <a:pt x="584144" y="1486360"/>
                </a:lnTo>
                <a:lnTo>
                  <a:pt x="538607" y="1472165"/>
                </a:lnTo>
                <a:lnTo>
                  <a:pt x="494301" y="1455648"/>
                </a:lnTo>
                <a:lnTo>
                  <a:pt x="451313" y="1436887"/>
                </a:lnTo>
                <a:lnTo>
                  <a:pt x="409729" y="1415961"/>
                </a:lnTo>
                <a:lnTo>
                  <a:pt x="369636" y="1392952"/>
                </a:lnTo>
                <a:lnTo>
                  <a:pt x="331121" y="1367937"/>
                </a:lnTo>
                <a:lnTo>
                  <a:pt x="294269" y="1340996"/>
                </a:lnTo>
                <a:lnTo>
                  <a:pt x="259168" y="1312209"/>
                </a:lnTo>
                <a:lnTo>
                  <a:pt x="225903" y="1281655"/>
                </a:lnTo>
                <a:lnTo>
                  <a:pt x="194563" y="1249414"/>
                </a:lnTo>
                <a:lnTo>
                  <a:pt x="165232" y="1215566"/>
                </a:lnTo>
                <a:lnTo>
                  <a:pt x="137997" y="1180189"/>
                </a:lnTo>
                <a:lnTo>
                  <a:pt x="112946" y="1143363"/>
                </a:lnTo>
                <a:lnTo>
                  <a:pt x="90164" y="1105168"/>
                </a:lnTo>
                <a:lnTo>
                  <a:pt x="69738" y="1065684"/>
                </a:lnTo>
                <a:lnTo>
                  <a:pt x="51755" y="1024988"/>
                </a:lnTo>
                <a:lnTo>
                  <a:pt x="36302" y="983162"/>
                </a:lnTo>
                <a:lnTo>
                  <a:pt x="23464" y="940285"/>
                </a:lnTo>
                <a:lnTo>
                  <a:pt x="13328" y="896436"/>
                </a:lnTo>
                <a:lnTo>
                  <a:pt x="5981" y="851694"/>
                </a:lnTo>
                <a:lnTo>
                  <a:pt x="1509" y="806140"/>
                </a:lnTo>
                <a:lnTo>
                  <a:pt x="0" y="759851"/>
                </a:lnTo>
                <a:lnTo>
                  <a:pt x="1509" y="713563"/>
                </a:lnTo>
                <a:lnTo>
                  <a:pt x="5981" y="668009"/>
                </a:lnTo>
                <a:lnTo>
                  <a:pt x="13328" y="623267"/>
                </a:lnTo>
                <a:lnTo>
                  <a:pt x="23464" y="579418"/>
                </a:lnTo>
                <a:lnTo>
                  <a:pt x="36302" y="536540"/>
                </a:lnTo>
                <a:lnTo>
                  <a:pt x="51755" y="494714"/>
                </a:lnTo>
                <a:lnTo>
                  <a:pt x="69738" y="454019"/>
                </a:lnTo>
                <a:lnTo>
                  <a:pt x="90164" y="414535"/>
                </a:lnTo>
                <a:lnTo>
                  <a:pt x="112946" y="376340"/>
                </a:lnTo>
                <a:lnTo>
                  <a:pt x="137997" y="339514"/>
                </a:lnTo>
                <a:lnTo>
                  <a:pt x="165232" y="304137"/>
                </a:lnTo>
                <a:lnTo>
                  <a:pt x="194563" y="270288"/>
                </a:lnTo>
                <a:lnTo>
                  <a:pt x="225903" y="238048"/>
                </a:lnTo>
                <a:lnTo>
                  <a:pt x="259168" y="207494"/>
                </a:lnTo>
                <a:lnTo>
                  <a:pt x="294269" y="178707"/>
                </a:lnTo>
                <a:lnTo>
                  <a:pt x="331121" y="151766"/>
                </a:lnTo>
                <a:lnTo>
                  <a:pt x="369636" y="126751"/>
                </a:lnTo>
                <a:lnTo>
                  <a:pt x="409729" y="103742"/>
                </a:lnTo>
                <a:lnTo>
                  <a:pt x="451313" y="82816"/>
                </a:lnTo>
                <a:lnTo>
                  <a:pt x="494301" y="64055"/>
                </a:lnTo>
                <a:lnTo>
                  <a:pt x="538607" y="47538"/>
                </a:lnTo>
                <a:lnTo>
                  <a:pt x="584144" y="33343"/>
                </a:lnTo>
                <a:lnTo>
                  <a:pt x="630825" y="21552"/>
                </a:lnTo>
                <a:lnTo>
                  <a:pt x="678565" y="12242"/>
                </a:lnTo>
                <a:lnTo>
                  <a:pt x="727276" y="5493"/>
                </a:lnTo>
                <a:lnTo>
                  <a:pt x="776872" y="1386"/>
                </a:lnTo>
                <a:lnTo>
                  <a:pt x="827267" y="0"/>
                </a:lnTo>
                <a:lnTo>
                  <a:pt x="877662" y="1386"/>
                </a:lnTo>
                <a:lnTo>
                  <a:pt x="927258" y="5493"/>
                </a:lnTo>
                <a:lnTo>
                  <a:pt x="975969" y="12242"/>
                </a:lnTo>
                <a:lnTo>
                  <a:pt x="1023709" y="21552"/>
                </a:lnTo>
                <a:lnTo>
                  <a:pt x="1070391" y="33343"/>
                </a:lnTo>
                <a:lnTo>
                  <a:pt x="1115927" y="47538"/>
                </a:lnTo>
                <a:lnTo>
                  <a:pt x="1160233" y="64055"/>
                </a:lnTo>
                <a:lnTo>
                  <a:pt x="1203221" y="82816"/>
                </a:lnTo>
                <a:lnTo>
                  <a:pt x="1244805" y="103742"/>
                </a:lnTo>
                <a:lnTo>
                  <a:pt x="1284898" y="126751"/>
                </a:lnTo>
                <a:lnTo>
                  <a:pt x="1323413" y="151766"/>
                </a:lnTo>
                <a:lnTo>
                  <a:pt x="1360265" y="178707"/>
                </a:lnTo>
                <a:lnTo>
                  <a:pt x="1395366" y="207494"/>
                </a:lnTo>
                <a:lnTo>
                  <a:pt x="1428631" y="238048"/>
                </a:lnTo>
                <a:lnTo>
                  <a:pt x="1459971" y="270288"/>
                </a:lnTo>
                <a:lnTo>
                  <a:pt x="1489302" y="304137"/>
                </a:lnTo>
                <a:lnTo>
                  <a:pt x="1516537" y="339514"/>
                </a:lnTo>
                <a:lnTo>
                  <a:pt x="1541588" y="376340"/>
                </a:lnTo>
                <a:lnTo>
                  <a:pt x="1564370" y="414535"/>
                </a:lnTo>
                <a:lnTo>
                  <a:pt x="1584795" y="454019"/>
                </a:lnTo>
                <a:lnTo>
                  <a:pt x="1602778" y="494714"/>
                </a:lnTo>
                <a:lnTo>
                  <a:pt x="1618232" y="536540"/>
                </a:lnTo>
                <a:lnTo>
                  <a:pt x="1631070" y="579418"/>
                </a:lnTo>
                <a:lnTo>
                  <a:pt x="1641206" y="623267"/>
                </a:lnTo>
                <a:lnTo>
                  <a:pt x="1648553" y="668009"/>
                </a:lnTo>
                <a:lnTo>
                  <a:pt x="1653025" y="713563"/>
                </a:lnTo>
                <a:lnTo>
                  <a:pt x="1654534" y="759851"/>
                </a:lnTo>
                <a:lnTo>
                  <a:pt x="1653025" y="806140"/>
                </a:lnTo>
                <a:lnTo>
                  <a:pt x="1648553" y="851694"/>
                </a:lnTo>
                <a:lnTo>
                  <a:pt x="1641206" y="896436"/>
                </a:lnTo>
                <a:lnTo>
                  <a:pt x="1631070" y="940285"/>
                </a:lnTo>
                <a:lnTo>
                  <a:pt x="1618232" y="983162"/>
                </a:lnTo>
                <a:lnTo>
                  <a:pt x="1602778" y="1024988"/>
                </a:lnTo>
                <a:lnTo>
                  <a:pt x="1584795" y="1065684"/>
                </a:lnTo>
                <a:lnTo>
                  <a:pt x="1564370" y="1105168"/>
                </a:lnTo>
                <a:lnTo>
                  <a:pt x="1541588" y="1143363"/>
                </a:lnTo>
                <a:lnTo>
                  <a:pt x="1516537" y="1180189"/>
                </a:lnTo>
                <a:lnTo>
                  <a:pt x="1489302" y="1215566"/>
                </a:lnTo>
                <a:lnTo>
                  <a:pt x="1459971" y="1249414"/>
                </a:lnTo>
                <a:lnTo>
                  <a:pt x="1428631" y="1281655"/>
                </a:lnTo>
                <a:lnTo>
                  <a:pt x="1395366" y="1312209"/>
                </a:lnTo>
                <a:lnTo>
                  <a:pt x="1360265" y="1340996"/>
                </a:lnTo>
                <a:lnTo>
                  <a:pt x="1323413" y="1367937"/>
                </a:lnTo>
                <a:lnTo>
                  <a:pt x="1284898" y="1392952"/>
                </a:lnTo>
                <a:lnTo>
                  <a:pt x="1244805" y="1415961"/>
                </a:lnTo>
                <a:lnTo>
                  <a:pt x="1203221" y="1436887"/>
                </a:lnTo>
                <a:lnTo>
                  <a:pt x="1160233" y="1455648"/>
                </a:lnTo>
                <a:lnTo>
                  <a:pt x="1115927" y="1472165"/>
                </a:lnTo>
                <a:lnTo>
                  <a:pt x="1070391" y="1486360"/>
                </a:lnTo>
                <a:lnTo>
                  <a:pt x="1023709" y="1498151"/>
                </a:lnTo>
                <a:lnTo>
                  <a:pt x="975969" y="1507461"/>
                </a:lnTo>
                <a:lnTo>
                  <a:pt x="927258" y="1514210"/>
                </a:lnTo>
                <a:lnTo>
                  <a:pt x="877662" y="1518317"/>
                </a:lnTo>
                <a:lnTo>
                  <a:pt x="827267" y="1519704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046186" y="3136908"/>
            <a:ext cx="356553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409" dirty="0">
                <a:latin typeface="Trebuchet MS"/>
                <a:cs typeface="Trebuchet MS"/>
              </a:rPr>
              <a:t>6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81623" y="4831896"/>
            <a:ext cx="798195" cy="1101513"/>
          </a:xfrm>
          <a:custGeom>
            <a:avLst/>
            <a:gdLst/>
            <a:ahLst/>
            <a:cxnLst/>
            <a:rect l="l" t="t" r="r" b="b"/>
            <a:pathLst>
              <a:path w="1596390" h="1652270">
                <a:moveTo>
                  <a:pt x="847221" y="1652145"/>
                </a:moveTo>
                <a:lnTo>
                  <a:pt x="748813" y="1652145"/>
                </a:lnTo>
                <a:lnTo>
                  <a:pt x="704951" y="1648194"/>
                </a:lnTo>
                <a:lnTo>
                  <a:pt x="659563" y="1641356"/>
                </a:lnTo>
                <a:lnTo>
                  <a:pt x="615039" y="1631918"/>
                </a:lnTo>
                <a:lnTo>
                  <a:pt x="571452" y="1619957"/>
                </a:lnTo>
                <a:lnTo>
                  <a:pt x="528878" y="1605551"/>
                </a:lnTo>
                <a:lnTo>
                  <a:pt x="487392" y="1588777"/>
                </a:lnTo>
                <a:lnTo>
                  <a:pt x="447069" y="1569712"/>
                </a:lnTo>
                <a:lnTo>
                  <a:pt x="407983" y="1548434"/>
                </a:lnTo>
                <a:lnTo>
                  <a:pt x="370209" y="1525022"/>
                </a:lnTo>
                <a:lnTo>
                  <a:pt x="333822" y="1499551"/>
                </a:lnTo>
                <a:lnTo>
                  <a:pt x="298898" y="1472101"/>
                </a:lnTo>
                <a:lnTo>
                  <a:pt x="265510" y="1442748"/>
                </a:lnTo>
                <a:lnTo>
                  <a:pt x="233733" y="1411570"/>
                </a:lnTo>
                <a:lnTo>
                  <a:pt x="203644" y="1378644"/>
                </a:lnTo>
                <a:lnTo>
                  <a:pt x="175315" y="1344049"/>
                </a:lnTo>
                <a:lnTo>
                  <a:pt x="148823" y="1307861"/>
                </a:lnTo>
                <a:lnTo>
                  <a:pt x="124241" y="1270158"/>
                </a:lnTo>
                <a:lnTo>
                  <a:pt x="101646" y="1231018"/>
                </a:lnTo>
                <a:lnTo>
                  <a:pt x="81111" y="1190519"/>
                </a:lnTo>
                <a:lnTo>
                  <a:pt x="62712" y="1148737"/>
                </a:lnTo>
                <a:lnTo>
                  <a:pt x="46523" y="1105750"/>
                </a:lnTo>
                <a:lnTo>
                  <a:pt x="32619" y="1061637"/>
                </a:lnTo>
                <a:lnTo>
                  <a:pt x="21076" y="1016474"/>
                </a:lnTo>
                <a:lnTo>
                  <a:pt x="11967" y="970339"/>
                </a:lnTo>
                <a:lnTo>
                  <a:pt x="5368" y="923310"/>
                </a:lnTo>
                <a:lnTo>
                  <a:pt x="1354" y="875464"/>
                </a:lnTo>
                <a:lnTo>
                  <a:pt x="0" y="826878"/>
                </a:lnTo>
                <a:lnTo>
                  <a:pt x="1354" y="778293"/>
                </a:lnTo>
                <a:lnTo>
                  <a:pt x="5368" y="730447"/>
                </a:lnTo>
                <a:lnTo>
                  <a:pt x="11967" y="683418"/>
                </a:lnTo>
                <a:lnTo>
                  <a:pt x="21076" y="637283"/>
                </a:lnTo>
                <a:lnTo>
                  <a:pt x="32619" y="592120"/>
                </a:lnTo>
                <a:lnTo>
                  <a:pt x="46523" y="548006"/>
                </a:lnTo>
                <a:lnTo>
                  <a:pt x="62712" y="505020"/>
                </a:lnTo>
                <a:lnTo>
                  <a:pt x="81111" y="463238"/>
                </a:lnTo>
                <a:lnTo>
                  <a:pt x="101646" y="422738"/>
                </a:lnTo>
                <a:lnTo>
                  <a:pt x="124241" y="383599"/>
                </a:lnTo>
                <a:lnTo>
                  <a:pt x="148823" y="345896"/>
                </a:lnTo>
                <a:lnTo>
                  <a:pt x="175315" y="309708"/>
                </a:lnTo>
                <a:lnTo>
                  <a:pt x="203644" y="275112"/>
                </a:lnTo>
                <a:lnTo>
                  <a:pt x="233733" y="242187"/>
                </a:lnTo>
                <a:lnTo>
                  <a:pt x="265510" y="211009"/>
                </a:lnTo>
                <a:lnTo>
                  <a:pt x="298898" y="181656"/>
                </a:lnTo>
                <a:lnTo>
                  <a:pt x="333822" y="154205"/>
                </a:lnTo>
                <a:lnTo>
                  <a:pt x="370209" y="128735"/>
                </a:lnTo>
                <a:lnTo>
                  <a:pt x="407983" y="105322"/>
                </a:lnTo>
                <a:lnTo>
                  <a:pt x="447069" y="84045"/>
                </a:lnTo>
                <a:lnTo>
                  <a:pt x="487392" y="64980"/>
                </a:lnTo>
                <a:lnTo>
                  <a:pt x="528878" y="48206"/>
                </a:lnTo>
                <a:lnTo>
                  <a:pt x="571452" y="33799"/>
                </a:lnTo>
                <a:lnTo>
                  <a:pt x="615039" y="21838"/>
                </a:lnTo>
                <a:lnTo>
                  <a:pt x="659563" y="12400"/>
                </a:lnTo>
                <a:lnTo>
                  <a:pt x="704951" y="5563"/>
                </a:lnTo>
                <a:lnTo>
                  <a:pt x="751127" y="1403"/>
                </a:lnTo>
                <a:lnTo>
                  <a:pt x="798017" y="0"/>
                </a:lnTo>
                <a:lnTo>
                  <a:pt x="844906" y="1403"/>
                </a:lnTo>
                <a:lnTo>
                  <a:pt x="891082" y="5563"/>
                </a:lnTo>
                <a:lnTo>
                  <a:pt x="936470" y="12400"/>
                </a:lnTo>
                <a:lnTo>
                  <a:pt x="980995" y="21838"/>
                </a:lnTo>
                <a:lnTo>
                  <a:pt x="1024581" y="33799"/>
                </a:lnTo>
                <a:lnTo>
                  <a:pt x="1067155" y="48206"/>
                </a:lnTo>
                <a:lnTo>
                  <a:pt x="1108641" y="64980"/>
                </a:lnTo>
                <a:lnTo>
                  <a:pt x="1148965" y="84045"/>
                </a:lnTo>
                <a:lnTo>
                  <a:pt x="1188051" y="105322"/>
                </a:lnTo>
                <a:lnTo>
                  <a:pt x="1225824" y="128735"/>
                </a:lnTo>
                <a:lnTo>
                  <a:pt x="1262211" y="154205"/>
                </a:lnTo>
                <a:lnTo>
                  <a:pt x="1297136" y="181656"/>
                </a:lnTo>
                <a:lnTo>
                  <a:pt x="1330524" y="211009"/>
                </a:lnTo>
                <a:lnTo>
                  <a:pt x="1362300" y="242187"/>
                </a:lnTo>
                <a:lnTo>
                  <a:pt x="1392390" y="275112"/>
                </a:lnTo>
                <a:lnTo>
                  <a:pt x="1420718" y="309708"/>
                </a:lnTo>
                <a:lnTo>
                  <a:pt x="1447211" y="345896"/>
                </a:lnTo>
                <a:lnTo>
                  <a:pt x="1471792" y="383599"/>
                </a:lnTo>
                <a:lnTo>
                  <a:pt x="1494388" y="422738"/>
                </a:lnTo>
                <a:lnTo>
                  <a:pt x="1514922" y="463238"/>
                </a:lnTo>
                <a:lnTo>
                  <a:pt x="1533322" y="505020"/>
                </a:lnTo>
                <a:lnTo>
                  <a:pt x="1549510" y="548006"/>
                </a:lnTo>
                <a:lnTo>
                  <a:pt x="1563414" y="592120"/>
                </a:lnTo>
                <a:lnTo>
                  <a:pt x="1574958" y="637283"/>
                </a:lnTo>
                <a:lnTo>
                  <a:pt x="1584066" y="683418"/>
                </a:lnTo>
                <a:lnTo>
                  <a:pt x="1590665" y="730447"/>
                </a:lnTo>
                <a:lnTo>
                  <a:pt x="1594679" y="778293"/>
                </a:lnTo>
                <a:lnTo>
                  <a:pt x="1596034" y="826878"/>
                </a:lnTo>
                <a:lnTo>
                  <a:pt x="1594679" y="875464"/>
                </a:lnTo>
                <a:lnTo>
                  <a:pt x="1590665" y="923310"/>
                </a:lnTo>
                <a:lnTo>
                  <a:pt x="1584066" y="970339"/>
                </a:lnTo>
                <a:lnTo>
                  <a:pt x="1574958" y="1016474"/>
                </a:lnTo>
                <a:lnTo>
                  <a:pt x="1563414" y="1061637"/>
                </a:lnTo>
                <a:lnTo>
                  <a:pt x="1549510" y="1105750"/>
                </a:lnTo>
                <a:lnTo>
                  <a:pt x="1533322" y="1148737"/>
                </a:lnTo>
                <a:lnTo>
                  <a:pt x="1514922" y="1190519"/>
                </a:lnTo>
                <a:lnTo>
                  <a:pt x="1494388" y="1231018"/>
                </a:lnTo>
                <a:lnTo>
                  <a:pt x="1471792" y="1270158"/>
                </a:lnTo>
                <a:lnTo>
                  <a:pt x="1447211" y="1307861"/>
                </a:lnTo>
                <a:lnTo>
                  <a:pt x="1420718" y="1344049"/>
                </a:lnTo>
                <a:lnTo>
                  <a:pt x="1392390" y="1378644"/>
                </a:lnTo>
                <a:lnTo>
                  <a:pt x="1362300" y="1411570"/>
                </a:lnTo>
                <a:lnTo>
                  <a:pt x="1330524" y="1442748"/>
                </a:lnTo>
                <a:lnTo>
                  <a:pt x="1297136" y="1472101"/>
                </a:lnTo>
                <a:lnTo>
                  <a:pt x="1262211" y="1499551"/>
                </a:lnTo>
                <a:lnTo>
                  <a:pt x="1225824" y="1525022"/>
                </a:lnTo>
                <a:lnTo>
                  <a:pt x="1188051" y="1548434"/>
                </a:lnTo>
                <a:lnTo>
                  <a:pt x="1148965" y="1569712"/>
                </a:lnTo>
                <a:lnTo>
                  <a:pt x="1108641" y="1588777"/>
                </a:lnTo>
                <a:lnTo>
                  <a:pt x="1067155" y="1605551"/>
                </a:lnTo>
                <a:lnTo>
                  <a:pt x="1024581" y="1619957"/>
                </a:lnTo>
                <a:lnTo>
                  <a:pt x="980995" y="1631918"/>
                </a:lnTo>
                <a:lnTo>
                  <a:pt x="936470" y="1641356"/>
                </a:lnTo>
                <a:lnTo>
                  <a:pt x="891082" y="1648194"/>
                </a:lnTo>
                <a:lnTo>
                  <a:pt x="847221" y="1652145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17184" y="5040981"/>
            <a:ext cx="356235" cy="684649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7112">
              <a:spcBef>
                <a:spcPts val="59"/>
              </a:spcBef>
            </a:pPr>
            <a:r>
              <a:rPr sz="4400" b="1" spc="409" dirty="0">
                <a:latin typeface="Trebuchet MS"/>
                <a:cs typeface="Trebuchet MS"/>
              </a:rPr>
              <a:t>7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114" y="5835367"/>
            <a:ext cx="854710" cy="1022773"/>
          </a:xfrm>
          <a:custGeom>
            <a:avLst/>
            <a:gdLst/>
            <a:ahLst/>
            <a:cxnLst/>
            <a:rect l="l" t="t" r="r" b="b"/>
            <a:pathLst>
              <a:path w="1709420" h="1534159">
                <a:moveTo>
                  <a:pt x="1188325" y="1533948"/>
                </a:moveTo>
                <a:lnTo>
                  <a:pt x="522424" y="1533948"/>
                </a:lnTo>
                <a:lnTo>
                  <a:pt x="479202" y="1515475"/>
                </a:lnTo>
                <a:lnTo>
                  <a:pt x="437307" y="1494933"/>
                </a:lnTo>
                <a:lnTo>
                  <a:pt x="396818" y="1472329"/>
                </a:lnTo>
                <a:lnTo>
                  <a:pt x="357816" y="1447739"/>
                </a:lnTo>
                <a:lnTo>
                  <a:pt x="320381" y="1421237"/>
                </a:lnTo>
                <a:lnTo>
                  <a:pt x="284593" y="1392898"/>
                </a:lnTo>
                <a:lnTo>
                  <a:pt x="250533" y="1362797"/>
                </a:lnTo>
                <a:lnTo>
                  <a:pt x="218280" y="1331009"/>
                </a:lnTo>
                <a:lnTo>
                  <a:pt x="187916" y="1297609"/>
                </a:lnTo>
                <a:lnTo>
                  <a:pt x="159519" y="1262672"/>
                </a:lnTo>
                <a:lnTo>
                  <a:pt x="133171" y="1226272"/>
                </a:lnTo>
                <a:lnTo>
                  <a:pt x="108952" y="1188484"/>
                </a:lnTo>
                <a:lnTo>
                  <a:pt x="86941" y="1149384"/>
                </a:lnTo>
                <a:lnTo>
                  <a:pt x="67219" y="1109046"/>
                </a:lnTo>
                <a:lnTo>
                  <a:pt x="49867" y="1067545"/>
                </a:lnTo>
                <a:lnTo>
                  <a:pt x="34964" y="1024955"/>
                </a:lnTo>
                <a:lnTo>
                  <a:pt x="22591" y="981353"/>
                </a:lnTo>
                <a:lnTo>
                  <a:pt x="12827" y="936812"/>
                </a:lnTo>
                <a:lnTo>
                  <a:pt x="5754" y="891408"/>
                </a:lnTo>
                <a:lnTo>
                  <a:pt x="1452" y="845215"/>
                </a:lnTo>
                <a:lnTo>
                  <a:pt x="0" y="798308"/>
                </a:lnTo>
                <a:lnTo>
                  <a:pt x="1452" y="751402"/>
                </a:lnTo>
                <a:lnTo>
                  <a:pt x="5754" y="705209"/>
                </a:lnTo>
                <a:lnTo>
                  <a:pt x="12827" y="659804"/>
                </a:lnTo>
                <a:lnTo>
                  <a:pt x="22591" y="615264"/>
                </a:lnTo>
                <a:lnTo>
                  <a:pt x="34964" y="571661"/>
                </a:lnTo>
                <a:lnTo>
                  <a:pt x="49867" y="529072"/>
                </a:lnTo>
                <a:lnTo>
                  <a:pt x="67219" y="487571"/>
                </a:lnTo>
                <a:lnTo>
                  <a:pt x="86941" y="447233"/>
                </a:lnTo>
                <a:lnTo>
                  <a:pt x="108952" y="408132"/>
                </a:lnTo>
                <a:lnTo>
                  <a:pt x="133171" y="370345"/>
                </a:lnTo>
                <a:lnTo>
                  <a:pt x="159519" y="333945"/>
                </a:lnTo>
                <a:lnTo>
                  <a:pt x="187916" y="299007"/>
                </a:lnTo>
                <a:lnTo>
                  <a:pt x="218280" y="265607"/>
                </a:lnTo>
                <a:lnTo>
                  <a:pt x="250533" y="233819"/>
                </a:lnTo>
                <a:lnTo>
                  <a:pt x="284593" y="203718"/>
                </a:lnTo>
                <a:lnTo>
                  <a:pt x="320381" y="175379"/>
                </a:lnTo>
                <a:lnTo>
                  <a:pt x="357816" y="148877"/>
                </a:lnTo>
                <a:lnTo>
                  <a:pt x="396818" y="124287"/>
                </a:lnTo>
                <a:lnTo>
                  <a:pt x="437307" y="101683"/>
                </a:lnTo>
                <a:lnTo>
                  <a:pt x="479202" y="81141"/>
                </a:lnTo>
                <a:lnTo>
                  <a:pt x="522424" y="62735"/>
                </a:lnTo>
                <a:lnTo>
                  <a:pt x="566892" y="46540"/>
                </a:lnTo>
                <a:lnTo>
                  <a:pt x="612525" y="32631"/>
                </a:lnTo>
                <a:lnTo>
                  <a:pt x="659245" y="21084"/>
                </a:lnTo>
                <a:lnTo>
                  <a:pt x="706970" y="11972"/>
                </a:lnTo>
                <a:lnTo>
                  <a:pt x="755620" y="5371"/>
                </a:lnTo>
                <a:lnTo>
                  <a:pt x="805115" y="1355"/>
                </a:lnTo>
                <a:lnTo>
                  <a:pt x="855374" y="0"/>
                </a:lnTo>
                <a:lnTo>
                  <a:pt x="905634" y="1355"/>
                </a:lnTo>
                <a:lnTo>
                  <a:pt x="955129" y="5371"/>
                </a:lnTo>
                <a:lnTo>
                  <a:pt x="1003779" y="11972"/>
                </a:lnTo>
                <a:lnTo>
                  <a:pt x="1051504" y="21084"/>
                </a:lnTo>
                <a:lnTo>
                  <a:pt x="1098223" y="32631"/>
                </a:lnTo>
                <a:lnTo>
                  <a:pt x="1143857" y="46540"/>
                </a:lnTo>
                <a:lnTo>
                  <a:pt x="1188325" y="62735"/>
                </a:lnTo>
                <a:lnTo>
                  <a:pt x="1231547" y="81141"/>
                </a:lnTo>
                <a:lnTo>
                  <a:pt x="1273442" y="101683"/>
                </a:lnTo>
                <a:lnTo>
                  <a:pt x="1313931" y="124287"/>
                </a:lnTo>
                <a:lnTo>
                  <a:pt x="1352933" y="148877"/>
                </a:lnTo>
                <a:lnTo>
                  <a:pt x="1390368" y="175379"/>
                </a:lnTo>
                <a:lnTo>
                  <a:pt x="1426155" y="203718"/>
                </a:lnTo>
                <a:lnTo>
                  <a:pt x="1460216" y="233819"/>
                </a:lnTo>
                <a:lnTo>
                  <a:pt x="1492468" y="265607"/>
                </a:lnTo>
                <a:lnTo>
                  <a:pt x="1522833" y="299007"/>
                </a:lnTo>
                <a:lnTo>
                  <a:pt x="1551229" y="333945"/>
                </a:lnTo>
                <a:lnTo>
                  <a:pt x="1577578" y="370345"/>
                </a:lnTo>
                <a:lnTo>
                  <a:pt x="1601797" y="408132"/>
                </a:lnTo>
                <a:lnTo>
                  <a:pt x="1623808" y="447233"/>
                </a:lnTo>
                <a:lnTo>
                  <a:pt x="1643530" y="487571"/>
                </a:lnTo>
                <a:lnTo>
                  <a:pt x="1660882" y="529072"/>
                </a:lnTo>
                <a:lnTo>
                  <a:pt x="1675785" y="571661"/>
                </a:lnTo>
                <a:lnTo>
                  <a:pt x="1688158" y="615264"/>
                </a:lnTo>
                <a:lnTo>
                  <a:pt x="1697921" y="659804"/>
                </a:lnTo>
                <a:lnTo>
                  <a:pt x="1704994" y="705209"/>
                </a:lnTo>
                <a:lnTo>
                  <a:pt x="1708879" y="746907"/>
                </a:lnTo>
                <a:lnTo>
                  <a:pt x="1708879" y="849709"/>
                </a:lnTo>
                <a:lnTo>
                  <a:pt x="1704994" y="891408"/>
                </a:lnTo>
                <a:lnTo>
                  <a:pt x="1697921" y="936812"/>
                </a:lnTo>
                <a:lnTo>
                  <a:pt x="1688158" y="981353"/>
                </a:lnTo>
                <a:lnTo>
                  <a:pt x="1675785" y="1024955"/>
                </a:lnTo>
                <a:lnTo>
                  <a:pt x="1660882" y="1067545"/>
                </a:lnTo>
                <a:lnTo>
                  <a:pt x="1643530" y="1109046"/>
                </a:lnTo>
                <a:lnTo>
                  <a:pt x="1623808" y="1149384"/>
                </a:lnTo>
                <a:lnTo>
                  <a:pt x="1601797" y="1188484"/>
                </a:lnTo>
                <a:lnTo>
                  <a:pt x="1577578" y="1226272"/>
                </a:lnTo>
                <a:lnTo>
                  <a:pt x="1551229" y="1262672"/>
                </a:lnTo>
                <a:lnTo>
                  <a:pt x="1522833" y="1297609"/>
                </a:lnTo>
                <a:lnTo>
                  <a:pt x="1492468" y="1331009"/>
                </a:lnTo>
                <a:lnTo>
                  <a:pt x="1460216" y="1362797"/>
                </a:lnTo>
                <a:lnTo>
                  <a:pt x="1426155" y="1392898"/>
                </a:lnTo>
                <a:lnTo>
                  <a:pt x="1390368" y="1421237"/>
                </a:lnTo>
                <a:lnTo>
                  <a:pt x="1352933" y="1447739"/>
                </a:lnTo>
                <a:lnTo>
                  <a:pt x="1313931" y="1472329"/>
                </a:lnTo>
                <a:lnTo>
                  <a:pt x="1273442" y="1494933"/>
                </a:lnTo>
                <a:lnTo>
                  <a:pt x="1231547" y="1515475"/>
                </a:lnTo>
                <a:lnTo>
                  <a:pt x="1188325" y="1533948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76215" y="4591695"/>
            <a:ext cx="410528" cy="1823423"/>
          </a:xfrm>
          <a:prstGeom prst="rect">
            <a:avLst/>
          </a:prstGeom>
        </p:spPr>
        <p:txBody>
          <a:bodyPr vert="horz" wrap="square" lIns="0" tIns="7468" rIns="0" bIns="0" rtlCol="0">
            <a:spAutoFit/>
          </a:bodyPr>
          <a:lstStyle/>
          <a:p>
            <a:pPr marL="80721">
              <a:spcBef>
                <a:spcPts val="59"/>
              </a:spcBef>
            </a:pPr>
            <a:r>
              <a:rPr sz="4400" b="1" spc="305" dirty="0">
                <a:latin typeface="Trebuchet MS"/>
                <a:cs typeface="Trebuchet MS"/>
              </a:rPr>
              <a:t>3</a:t>
            </a:r>
            <a:endParaRPr sz="4400">
              <a:latin typeface="Trebuchet MS"/>
              <a:cs typeface="Trebuchet MS"/>
            </a:endParaRPr>
          </a:p>
          <a:p>
            <a:pPr marL="7112">
              <a:spcBef>
                <a:spcPts val="3634"/>
              </a:spcBef>
            </a:pPr>
            <a:r>
              <a:rPr sz="4400" b="1" spc="305" dirty="0">
                <a:latin typeface="Trebuchet MS"/>
                <a:cs typeface="Trebuchet MS"/>
              </a:rPr>
              <a:t>4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32424" y="5856774"/>
            <a:ext cx="3842385" cy="649140"/>
          </a:xfrm>
          <a:prstGeom prst="rect">
            <a:avLst/>
          </a:prstGeom>
        </p:spPr>
        <p:txBody>
          <a:bodyPr vert="horz" wrap="square" lIns="0" tIns="6401" rIns="0" bIns="0" rtlCol="0">
            <a:spAutoFit/>
          </a:bodyPr>
          <a:lstStyle/>
          <a:p>
            <a:pPr marL="7112" marR="2845" algn="just">
              <a:lnSpc>
                <a:spcPct val="116100"/>
              </a:lnSpc>
              <a:spcBef>
                <a:spcPts val="50"/>
              </a:spcBef>
            </a:pPr>
            <a:r>
              <a:rPr sz="1200" dirty="0">
                <a:latin typeface="Arial Black"/>
                <a:cs typeface="Arial Black"/>
              </a:rPr>
              <a:t>Full</a:t>
            </a:r>
            <a:r>
              <a:rPr sz="1200" spc="-45" dirty="0">
                <a:latin typeface="Arial Black"/>
                <a:cs typeface="Arial Black"/>
              </a:rPr>
              <a:t>  </a:t>
            </a:r>
            <a:r>
              <a:rPr sz="1200" dirty="0">
                <a:latin typeface="Arial Black"/>
                <a:cs typeface="Arial Black"/>
              </a:rPr>
              <a:t>Disclosure</a:t>
            </a:r>
            <a:r>
              <a:rPr sz="1200" spc="-45" dirty="0">
                <a:latin typeface="Arial Black"/>
                <a:cs typeface="Arial Black"/>
              </a:rPr>
              <a:t>  </a:t>
            </a:r>
            <a:r>
              <a:rPr sz="1200" dirty="0">
                <a:latin typeface="Arial Black"/>
                <a:cs typeface="Arial Black"/>
              </a:rPr>
              <a:t>Principle:</a:t>
            </a:r>
            <a:r>
              <a:rPr sz="1200" spc="-45" dirty="0">
                <a:latin typeface="Arial Black"/>
                <a:cs typeface="Arial Black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Full</a:t>
            </a:r>
            <a:r>
              <a:rPr sz="1200" spc="3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disclosure</a:t>
            </a:r>
            <a:r>
              <a:rPr sz="1200" spc="3" dirty="0">
                <a:latin typeface="Lucida Sans Unicode"/>
                <a:cs typeface="Lucida Sans Unicode"/>
              </a:rPr>
              <a:t>  </a:t>
            </a:r>
            <a:r>
              <a:rPr sz="1200" spc="81" dirty="0">
                <a:latin typeface="Lucida Sans Unicode"/>
                <a:cs typeface="Lucida Sans Unicode"/>
              </a:rPr>
              <a:t>means</a:t>
            </a:r>
            <a:r>
              <a:rPr sz="1200" spc="3" dirty="0">
                <a:latin typeface="Lucida Sans Unicode"/>
                <a:cs typeface="Lucida Sans Unicode"/>
              </a:rPr>
              <a:t>  </a:t>
            </a:r>
            <a:r>
              <a:rPr sz="1200" spc="20" dirty="0">
                <a:latin typeface="Lucida Sans Unicode"/>
                <a:cs typeface="Lucida Sans Unicode"/>
              </a:rPr>
              <a:t>the </a:t>
            </a:r>
            <a:r>
              <a:rPr sz="1200" spc="31" dirty="0">
                <a:latin typeface="Lucida Sans Unicode"/>
                <a:cs typeface="Lucida Sans Unicode"/>
              </a:rPr>
              <a:t>presentation</a:t>
            </a:r>
            <a:r>
              <a:rPr sz="1200" spc="36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of</a:t>
            </a:r>
            <a:r>
              <a:rPr sz="1200" spc="39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all</a:t>
            </a:r>
            <a:r>
              <a:rPr sz="1200" spc="36" dirty="0">
                <a:latin typeface="Lucida Sans Unicode"/>
                <a:cs typeface="Lucida Sans Unicode"/>
              </a:rPr>
              <a:t>  relevant</a:t>
            </a:r>
            <a:r>
              <a:rPr sz="1200" spc="39" dirty="0">
                <a:latin typeface="Lucida Sans Unicode"/>
                <a:cs typeface="Lucida Sans Unicode"/>
              </a:rPr>
              <a:t>  </a:t>
            </a:r>
            <a:r>
              <a:rPr sz="1200" dirty="0">
                <a:latin typeface="Lucida Sans Unicode"/>
                <a:cs typeface="Lucida Sans Unicode"/>
              </a:rPr>
              <a:t>information</a:t>
            </a:r>
            <a:r>
              <a:rPr sz="1200" spc="39" dirty="0">
                <a:latin typeface="Lucida Sans Unicode"/>
                <a:cs typeface="Lucida Sans Unicode"/>
              </a:rPr>
              <a:t>  </a:t>
            </a:r>
            <a:r>
              <a:rPr sz="1200" spc="48" dirty="0">
                <a:latin typeface="Lucida Sans Unicode"/>
                <a:cs typeface="Lucida Sans Unicode"/>
              </a:rPr>
              <a:t>(relevant</a:t>
            </a:r>
            <a:r>
              <a:rPr sz="1200" spc="36" dirty="0">
                <a:latin typeface="Lucida Sans Unicode"/>
                <a:cs typeface="Lucida Sans Unicode"/>
              </a:rPr>
              <a:t>  </a:t>
            </a:r>
            <a:r>
              <a:rPr sz="1200" spc="-14" dirty="0">
                <a:latin typeface="Lucida Sans Unicode"/>
                <a:cs typeface="Lucida Sans Unicode"/>
              </a:rPr>
              <a:t>for </a:t>
            </a:r>
            <a:r>
              <a:rPr sz="1200" dirty="0">
                <a:latin typeface="Lucida Sans Unicode"/>
                <a:cs typeface="Lucida Sans Unicode"/>
              </a:rPr>
              <a:t>users‟</a:t>
            </a:r>
            <a:r>
              <a:rPr sz="1200" spc="31" dirty="0">
                <a:latin typeface="Lucida Sans Unicode"/>
                <a:cs typeface="Lucida Sans Unicode"/>
              </a:rPr>
              <a:t> </a:t>
            </a:r>
            <a:r>
              <a:rPr sz="1200" spc="20" dirty="0">
                <a:latin typeface="Lucida Sans Unicode"/>
                <a:cs typeface="Lucida Sans Unicode"/>
              </a:rPr>
              <a:t>decision).</a:t>
            </a:r>
            <a:endParaRPr sz="12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142230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Microsoft Office PowerPoint</Application>
  <PresentationFormat>On-screen Show (4:3)</PresentationFormat>
  <Paragraphs>124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Chapter One Introduction to  Accounting</vt:lpstr>
      <vt:lpstr>CHAPTER CONTENT</vt:lpstr>
      <vt:lpstr>1</vt:lpstr>
      <vt:lpstr>1</vt:lpstr>
      <vt:lpstr>Objectives G Necessity of Accounting</vt:lpstr>
      <vt:lpstr>Origin and Evaluation of Accounting</vt:lpstr>
      <vt:lpstr>Users of Accouting Information</vt:lpstr>
      <vt:lpstr>Classification of Accounting,</vt:lpstr>
      <vt:lpstr>FUNCTIONS OF ACCOUNTING</vt:lpstr>
      <vt:lpstr>PowerPoint Presentation</vt:lpstr>
      <vt:lpstr>BASIS OF ACCOUNTING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One Introduction to  Accounting</dc:title>
  <dc:creator>User</dc:creator>
  <cp:lastModifiedBy>User</cp:lastModifiedBy>
  <cp:revision>1</cp:revision>
  <dcterms:created xsi:type="dcterms:W3CDTF">2026-07-12T03:23:39Z</dcterms:created>
  <dcterms:modified xsi:type="dcterms:W3CDTF">2026-07-12T03:24:05Z</dcterms:modified>
</cp:coreProperties>
</file>