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Ideal (linear) scaling</c:v>
                </c:pt>
              </c:strCache>
            </c:strRef>
          </c:tx>
          <c:spPr>
            <a:solidFill>
              <a:srgbClr val="1F3B57"/>
            </a:solidFill>
            <a:ln w="31750" cap="flat">
              <a:solidFill>
                <a:srgbClr val="1F3B5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F3B57"/>
              </a:solidFill>
              <a:ln w="9525" cap="flat">
                <a:solidFill>
                  <a:srgbClr val="1F3B5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  <c:pt idx="4">
                    <c:v>16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50</c:v>
                </c:pt>
                <c:pt idx="2">
                  <c:v>100</c:v>
                </c:pt>
                <c:pt idx="3">
                  <c:v>200</c:v>
                </c:pt>
                <c:pt idx="4">
                  <c:v>400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 system (DB bottleneck)</c:v>
                </c:pt>
              </c:strCache>
            </c:strRef>
          </c:tx>
          <c:spPr>
            <a:solidFill>
              <a:srgbClr val="C0785A"/>
            </a:solidFill>
            <a:ln w="31750" cap="flat">
              <a:solidFill>
                <a:srgbClr val="C0785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C0785A"/>
              </a:solidFill>
              <a:ln w="9525" cap="flat">
                <a:solidFill>
                  <a:srgbClr val="C0785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  <c:pt idx="4">
                    <c:v>16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25</c:v>
                </c:pt>
                <c:pt idx="1">
                  <c:v>47</c:v>
                </c:pt>
                <c:pt idx="2">
                  <c:v>84</c:v>
                </c:pt>
                <c:pt idx="3">
                  <c:v>130</c:v>
                </c:pt>
                <c:pt idx="4">
                  <c:v>160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Servers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B2B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6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Requests/sec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B2B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from Day 1: we studied the mechanics of request-response and state. Today we zoom out to four measurable quality attributes that determine whether a Web system is actually good: performance, scalability, availability, and maintainability.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the five topics. Flag that these four attributes map directly onto non-functional requirements categories students will formalise next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all four before diving into each. Note these map to ISO/IEC 25010 quality characteristics, which some students may see again in a software quality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is the anchor for the rest of the session — each row gets its own deep-dive slide with formulas and a worked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percentiles over averages — a system with a 100ms average but a 3-second p99 has a real problem for 1% of requests that averages hide completely.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mirrors the Week 1 availability worked example format: state scenario, step through the math, then sanity-check. Ask students what would change the answer (e.g. slower database, caching layer).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Vertical scaling is what we did informally in Week 1's Client-Server discussion. Horizontal scaling requires the statelessness properties covered in Day 1 — that's why we needed to understand state management before scalability.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chart makes concrete why 'add more servers' eventually stops working — real systems hit a shared resource limit (usually the database), which is why scalability discussions always come back to data-tier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that each additional 9 typically requires a step change in engineering investment — redundancy, automated failover, multi-region deployment — not just 'trying harder'. Reference back to Week 1's MTBF/MTTR formula as the underlying math.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example shows two independent levers — MTBF (fail less often) and MTTR (recover faster) — and that hitting an SLA target is an engineering investment decision, not a one-line configuration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MTTR reappears here with a different meaning — mean time to repair a defect, not mean time to recover a failed server (Availability). Same abbreviation, different context — worth flagging explicitly to avoid confusion.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models real static-analysis workflows (e.g. CodeClimate, SonarQube 'hotspot' views) that cross-reference complexity and churn rather than looking at either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teaching point: quality attributes are not free to maximise simultaneously. Every architecture decision is really a trade-off decision among these four — good engineers make the trade-off explicit rather than pretending it doesn't exist.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case study shows the four attributes aren't independent silos — a well-chosen fix (like the cache) can improve performance and availability simultaneously, while a poor fix can trade one for another.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self-check before Week 3, which shifts to Requirements Engineering — where these quality attributes become formal non-functional requirements with acceptance criteria.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five key points. Bridge to Week 3: these quality attributes become the non-functional requirements formalised in Requirements Engineering.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331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97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1: Foundations &amp; Architecture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 2, Day 2 — Web Quality Attributes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2011680" cy="0"/>
          </a:xfrm>
          <a:prstGeom prst="line">
            <a:avLst/>
          </a:prstGeom>
          <a:noFill/>
          <a:ln w="19050">
            <a:solidFill>
              <a:srgbClr val="AFC2D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34340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0E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 measurable dimensions of Web system quality — performance, scalability, availability, and maintainability — with formulas and worked examples for each.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3A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and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WEEK 2 · DAY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Session at a Glance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6949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7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comparison matrix of the four core quality attributes</a:t>
            </a:r>
            <a:endParaRPr lang="en-US" sz="17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7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 — response time and throughput, with a worked example</a:t>
            </a:r>
            <a:endParaRPr lang="en-US" sz="17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7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Scalability — vertical vs. horizontal, with a worked example</a:t>
            </a:r>
            <a:endParaRPr lang="en-US" sz="17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7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Availability — the 'nines' table and downtime budgets</a:t>
            </a:r>
            <a:endParaRPr lang="en-US" sz="17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7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Maintainability — metrics, and where these attributes trade off against each other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680960" y="1371600"/>
            <a:ext cx="3017520" cy="4206240"/>
          </a:xfrm>
          <a:prstGeom prst="roundRect">
            <a:avLst>
              <a:gd name="adj" fmla="val 2424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82128" y="1499616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882128" y="1874520"/>
            <a:ext cx="2615184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four attributes reappear as explicit acceptance criteria in Week 3 (Requirements Engineering) as non-functional requirements, and drive architecture decisions in every module after this one.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2 · Web Quality Attributes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2.2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 Quality Attributes That Matter Most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499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874520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quickly the system responds and how much work it can do per unit time — the user-facing 'speed' of the system.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1371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81928" y="1499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281928" y="1874520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well the system handles growth in load — more users, more data, more transactions — without a proportional loss in performance.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3785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Availability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160520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fraction of time the system is up and usable — reliability from the user's point of view, expressed as a percentage.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0760" y="3657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81928" y="3785616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Maintainability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81928" y="4160520"/>
            <a:ext cx="49469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easily the system can be understood, fixed, and extended over time by engineers who did not originally build it.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2 · Web Quality Attributes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2.2 COMPARISON MATRIX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Quality Attributes — Structured Comparison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00400"/>
                <a:gridCol w="3017520"/>
                <a:gridCol w="274320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Attribute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Core Question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Key Metric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Typical Target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Performance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How fast does it respond?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Response time, throughput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&lt; 200 ms server response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Scalability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How well does it handle growth?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Requests/sec vs. resources added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Linear scaling to 10× load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Availability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How often is it usable?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Uptime percentage ("nines")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99.9%–99.99% uptime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Maintainability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How easily can it change?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Cyclomatic complexity, MTTR to fix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Low complexity, fast fixes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2 · Web Quality Attributes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2.2 PERFORMANCE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 — Response Time &amp; Throughput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2743200"/>
          </a:xfrm>
          <a:prstGeom prst="roundRect">
            <a:avLst>
              <a:gd name="adj" fmla="val 2667"/>
            </a:avLst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1907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RT = T_queue + T_process + T_network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0428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C2D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Response Time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78608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time from request sent to response received: time waiting in a queue, time doing actual work, and time on the network.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349240" cy="2743200"/>
          </a:xfrm>
          <a:prstGeom prst="roundRect">
            <a:avLst>
              <a:gd name="adj" fmla="val 2667"/>
            </a:avLst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1719072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 = completed requests / time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30428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C2D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Throughput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578608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rate at which the system completes work, typically measured in requests per second (RPS) at a given concurrency level.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" y="4700016"/>
            <a:ext cx="10661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Percentiles Matter More Than Averages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5074920"/>
            <a:ext cx="10661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single 'average response time' hides outliers. Engineers track p50 (median), p95, and p99 — the p99 figure shows what your slowest 1% of users actually experience, which is often what triggers complaints.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2 · Web Quality Attributes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Worked Example — Server Throughput Capacity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4241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Scenario — a single application server can process one request in an average of 40 ms (T_process), with negligible queueing at low load.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1 — theoretical max throughput per server: X = 1 / 0.040s = 25 requests/second.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2 — target peak load for the application is 220 requests/second.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3 — servers required: 220 / 25 ≈ 8.8 → round up to 9 servers, with headroom for traffic spikes.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4 — sanity-check: this assumes requests are independent and the database isn't the bottleneck — always verify against a load test, not just arithmetic.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2 · Web Quality Attributes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2.2 SCALABILITY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Scalability — Vertical vs. Horizontal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2834640"/>
          </a:xfrm>
          <a:prstGeom prst="roundRect">
            <a:avLst>
              <a:gd name="adj" fmla="val 1935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554480"/>
            <a:ext cx="497433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Vertical Scaling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3113532"/>
            <a:ext cx="497433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more CPU/RAM to a single server. Simple, but has a hard ceiling and a single point of failure.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0" y="1554480"/>
            <a:ext cx="5120640" cy="2834640"/>
          </a:xfrm>
          <a:prstGeom prst="roundRect">
            <a:avLst>
              <a:gd name="adj" fmla="val 1935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08192" y="1554480"/>
            <a:ext cx="497433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Horizontal Scaling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108192" y="3113532"/>
            <a:ext cx="497433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more servers behind a load balancer. No hard ceiling, but requires stateless design and coordination.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4873752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Speedup(n) = X(n) / X(1)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45896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C2D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Scalability Ratio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733288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Ideal (linear) scaling gives Speedup(n) = n. Real systems fall short due to shared bottlenecks — a database, a lock, a single cache.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2 · Web Quality Attributes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2.4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Throughput vs. Servers Added — Ideal vs. Real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63040"/>
          <a:ext cx="110642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6235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8EEF3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5751576"/>
            <a:ext cx="10661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Reading the Gap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6126480"/>
            <a:ext cx="1066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widening gap after 4 servers signals a shared bottleneck — commonly the database — that no amount of application-tier scaling can fix alone.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2 · Web Quality Attributes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2.2 AVAILABILITY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Availability — The "Nines" and Their Cost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= MTBF / (MTBF + MTTR) — recall from Week 1. Each additional '9' costs roughly 10× more downtime avoided.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2377440"/>
                <a:gridCol w="393192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Availability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Downtime / Year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Downtime / Month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Typical Use Case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99% ("two nines")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≈ 3.65 days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≈ 7.3 hours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Internal tools, dev environments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99.9% ("three nines")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≈ 8.77 hours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≈ 43.8 minutes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Standard business applications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99.99% ("four nines")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≈ 52.6 minutes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≈ 4.4 minutes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E-commerce, SaaS platforms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99.999% ("five nines")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≈ 5.3 minutes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≈ 26 seconds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Payment systems, telecom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2 · Web Quality Attributes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Worked Example — Choosing an SLA Target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4241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Scenario — a payment-processing feature currently has MTBF = 200 hours and MTTR = 2 hours between incidents.</a:t>
            </a:r>
            <a:endParaRPr lang="en-US" sz="15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1 — current availability: A = 200 / (200 + 2) = 200 / 202 ≈ 0.990 (99.0%, only 'two nines').</a:t>
            </a:r>
            <a:endParaRPr lang="en-US" sz="15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2 — target is 99.9% for a business-critical payment flow. Solve for the MTTR needed if MTBF stays at 200h: 0.999 = 200 / (200 + MTTR) → MTTR ≈ 0.2 hours (12 minutes).</a:t>
            </a:r>
            <a:endParaRPr lang="en-US" sz="15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3 — reducing MTTR from 2 hours to 12 minutes requires automated alerting, runbooks, and likely automated rollback — not just faster manual response.</a:t>
            </a:r>
            <a:endParaRPr lang="en-US" sz="15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4 — alternative: increase MTBF instead (fewer failures) via better testing and canary deployments, which may be cheaper than chasing MTTR alone.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2 · Web Quality Attributes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2.2 MAINTAINABILITY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Maintainability — What Makes Code Easy to Change?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572000"/>
                <a:gridCol w="37490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Metric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 It Measures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Rule of Thumb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Cyclomatic complexity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Number of independent paths through a function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Keep functions under ~10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Code churn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How often a file changes across commits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 churn + high complexity = risk hotspot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 coverage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Fraction of code exercised by automated tests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Higher coverage = safer refactors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MTTR (for bugs)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Mean time to diagnose and fix a defect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Shorter MTTR = more maintainable system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Coupling / cohesion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How entangled modules are with each other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Low coupling, high cohesion is the goal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2 · Web Quality Attributes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Worked Example — Spotting a Risk Hotspot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4241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Scenario — a code review tool reports two files in the checkout module: PaymentValidator.java (complexity 34, changed in 40% of recent commits) and Logger.java (complexity 6, changed in 3% of recent commits).</a:t>
            </a:r>
            <a:endParaRPr lang="en-US" sz="15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1 — cross-reference complexity with churn: high complexity alone isn't urgent if the file rarely changes; high churn alone isn't urgent if the logic is simple.</a:t>
            </a:r>
            <a:endParaRPr lang="en-US" sz="15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2 — PaymentValidator.java scores high on both axes — this is the classic 'hotspot' pattern: complex code that keeps needing to change.</a:t>
            </a:r>
            <a:endParaRPr lang="en-US" sz="15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3 — prioritise refactoring PaymentValidator.java first: break it into smaller functions, add characterisation tests before touching logic.</a:t>
            </a:r>
            <a:endParaRPr lang="en-US" sz="155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5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4 — Logger.java, despite low complexity, still needs no urgent action — deprioritise it.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2 · Web Quality Attributes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2.2 TRADE-OFFS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These Attributes Conflict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114800"/>
              </a:tblGrid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Tension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Why It Happens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Common Resolution</a:t>
                      </a:r>
                      <a:endParaRPr lang="en-US" sz="1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Performance vs. Maintainability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The fastest code is often the least readable (manual optimisation, caching hacks)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Optimise only proven hotspots; keep the rest simple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Availability vs. Cost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Each additional 'nine' requires redundant infrastructure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Match the SLA to actual business risk, not the maximum possible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Scalability vs. Consistency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Distributing data for horizontal scale can delay updates propagating everywhere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Choose eventual vs. strong consistency per use case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Maintainability vs. Delivery Speed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Thorough tests and clean abstractions take longer to write initially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Invest more in code that will change often; less in throwaway code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2 · Web Quality Attributes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PRACTICAL CONTEXT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Case in Point — Tuning an E-Commerce Checkout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4241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 — checkout p99 response time was 2.1s; adding a Redis cache for product pricing cut it to 340ms.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Scalability — Black Friday load testing revealed the checkout service scaled linearly to 8 instances, then flattened — the database connection pool was the bottleneck.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Availability — a payment-gateway timeout without a fallback caused a 47-minute outage; a circuit breaker with a queued-retry fallback was added afterward.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Maintainability — the checkout module had the highest cyclomatic complexity in the codebase; it was refactored into smaller validation, pricing, and payment services.</a:t>
            </a:r>
            <a:endParaRPr lang="en-US" sz="15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Outcome — all four attributes improved together because the fixes targeted root causes (a shared cache, a connection-pool limit, a missing fallback, tangled logic) rather than attribute in isolation.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2 · Web Quality Attributes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By the End of Today You Can…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5760" cy="36576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 quality attributes —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the structured matrix to contrast performance, scalability, availability, maintainability.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365760" cy="36576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194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 performance formulas —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Estimate throughput and required server counts for a target load.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365760" cy="36576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971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Reason about scalability —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Contrast vertical vs. horizontal scaling and interpret a real-vs-ideal scaling chart.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749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Compute availability targets —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Solve for the MTTR or MTBF needed to hit a given SLA.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365760" cy="365760"/>
          </a:xfrm>
          <a:prstGeom prst="ellipse">
            <a:avLst/>
          </a:prstGeom>
          <a:solidFill>
            <a:srgbClr val="1F3B57"/>
          </a:solidFill>
          <a:ln w="12700">
            <a:solidFill>
              <a:srgbClr val="1F3B5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572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Spot maintainability risk — </a:t>
            </a:r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Identify a 'hotspot' by cross-referencing complexity and churn.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2 · Web Quality Attributes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7A9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B5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4241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 is about response time and throughput — track percentiles (p95, p99), not just averages.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Scalability compares real throughput growth against ideal linear scaling — the gap reveals shared bottlenecks, usually the database.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Availability is quantified by MTBF and MTTR — each additional 'nine' of uptime is a real, escalating engineering cost.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Maintainability combines complexity and churn metrics to flag 'hotspots' worth refactoring first.</a:t>
            </a:r>
            <a:endParaRPr lang="en-US" sz="1600" dirty="0"/>
          </a:p>
          <a:p>
            <a:pPr marL="228600" indent="-228600">
              <a:spcAft>
                <a:spcPts val="1100"/>
              </a:spcAft>
              <a:buSzPct val="100000"/>
              <a:buChar char="▪"/>
            </a:pPr>
            <a:r>
              <a:rPr lang="en-US" sz="1600" dirty="0">
                <a:solidFill>
                  <a:srgbClr val="2B2B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four attributes trade off against each other — architecture is the art of choosing which trade-offs match the actual business need.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0613-2209 · Web Programming   |   Week 2 · Web Quality Attributes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0642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2026-09-02T09:29:10Z</dcterms:created>
  <dcterms:modified xsi:type="dcterms:W3CDTF">2026-09-02T09:29:10Z</dcterms:modified>
</cp:coreProperties>
</file>