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back for Day 2. Today we move from history/evaluation into structure: how Web systems are architected (client-server vs multi-tier) and how standards bodies (W3C, IETF) keep the Web interoperable across browsers and servers.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the five topics. Emphasise that architecture choice (Client-Server vs Multi-tier) is a recurring design decision revisited in Week 2 (Client-Server deep dive) and Week 10 (Java MVC).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architecture as a decision made early and expensive to reverse later. This sets up the Client-Server vs Multi-tier comparison on the next few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simplest architecture: one client tier, one combined server tier. Good for small to mid-size applications. Contrast with multi-tier on the next slide, where logic and data are split into separate tiers for independent scaling.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Some textbooks separate 'Application' and 'Business Logic' into one tier (3-tier: presentation, logic, data); others split further into 4 tiers as shown here. Emphasise the general principle: more tiers = more independent scaling, at the cost of latency and operational overhead.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table as the decision-support summary. The next slide grounds it in a real scenario — a course project team choosing between the two.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case study makes the trade-off concrete: small scope favours simplicity (Client-Server); anticipated growth favours planning for multi-tier, but doesn't require building it on day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term with a one-line real example: Client = Chrome; Server = an Apache Tomcat instance; Protocol = HTTP/1.1; Middleware = an auth filter; API = a REST endpoint like /api/courses.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distinction (tier = deployment, layer = logical) trips students up. An app can be deployed as 2 tiers but coded in 4 logical layers within the server tier — that's still fine and common.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Motivate standards with a concrete failure mode: a page that only works in one browser because it relied on non-standard behaviour. The next two slides detail W3C and IETF specifically.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W3C standards are the ones students touch directly every time they write HTML/CSS. Mention that the W3C process moves specs through Working Draft → Candidate Recommendation → Recommendation stages.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Despite the name, 'RFC' documents are the actual finalised specifications, not casual comments — that name is a historical artifact from the 1960s ARPANET era. Point out that HTTP and TLS numbers get revised over time (e.g. HTTP/1.1 was re-specified in RFC 9110/9112 in 2022).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ties W3C and IETF together rather than treating them as competitors — they operate at different layers of the same stack and both matter for every page load.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this forward then backward: request goes Presentation → Application → Data, response returns Data → Application → Presentation. This is the multi-tier analogue of the 5-step request/response cycle from Day 1, now split explicitly across tiers.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self-check before Week 2, which opens with a deep dive into Client-Server architecture specifically — request/response flow diagrams, latency/bandwidth trade-offs, and state management.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the five key points. Bridge to Week 2: Client-Server Architecture, where we expand today's two-tier diagram into full request-response flow diagrams and discuss state management in depth.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B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331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3C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97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1: Foundations &amp; Architecture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Week 1, Day 2 — Architecture &amp; Standards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4160520"/>
            <a:ext cx="2011680" cy="0"/>
          </a:xfrm>
          <a:prstGeom prst="line">
            <a:avLst/>
          </a:prstGeom>
          <a:noFill/>
          <a:ln w="19050">
            <a:solidFill>
              <a:srgbClr val="AFC2D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434340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E0E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architecture patterns for Web applications — Client-Server vs. Multi-tier — and the standards bodies that keep the Web interoperable.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126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3A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Computer Science and Engineering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WEEK 1 · DAY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Session at a Glance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69494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7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system architecture means for a Web application</a:t>
            </a:r>
            <a:endParaRPr lang="en-US" sz="17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7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Client-Server architecture — the two-tier foundation</a:t>
            </a:r>
            <a:endParaRPr lang="en-US" sz="17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7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Multi-tier architecture — separating presentation, logic, and data</a:t>
            </a:r>
            <a:endParaRPr lang="en-US" sz="17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7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Choosing between the two for a real project</a:t>
            </a:r>
            <a:endParaRPr lang="en-US" sz="17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7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Web standards bodies — the W3C and the IETF — and why they matter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680960" y="1371600"/>
            <a:ext cx="3017520" cy="4206240"/>
          </a:xfrm>
          <a:prstGeom prst="roundRect">
            <a:avLst>
              <a:gd name="adj" fmla="val 2424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82128" y="1499616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882128" y="1874520"/>
            <a:ext cx="2615184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 system we build for the rest of the course sits on top of one of these architectures. Standards are what let a page built to spec render correctly in any browser, on any device.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1 · Architecture &amp; Standards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1.2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Web System Architecture?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49961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Definition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1874520"/>
            <a:ext cx="49469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high-level structure of a Web system: how the client, server, and data storage are divided into parts, and how those parts communicate.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80760" y="137160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81928" y="149961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It's Decided Early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281928" y="1874520"/>
            <a:ext cx="49469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Architecture constrains almost everything downstream — scalability, deployment, team structure, and how easily the system can evolve.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378561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Core Trade-off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4160520"/>
            <a:ext cx="49469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More tiers add separation of concerns and scalability, but also add latency, operational complexity, and more moving parts to deploy and monitor.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80760" y="365760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81928" y="378561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We Cover Today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281928" y="4160520"/>
            <a:ext cx="49469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Two dominant patterns — Client-Server and Multi-tier — plus the standards that keep implementations of each interoperable across vendors.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1 · Architecture &amp; Standards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FIGURE 1.3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Client-Server Architecture (Two-Tier)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client handles presentation and interaction; the server handles logic and data in one combined tier.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97280" y="2194560"/>
            <a:ext cx="3108960" cy="1737360"/>
          </a:xfrm>
          <a:prstGeom prst="roundRect">
            <a:avLst>
              <a:gd name="adj" fmla="val 3158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70432" y="2194560"/>
            <a:ext cx="296265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Client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70432" y="3150108"/>
            <a:ext cx="296265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Browser: renders UI, handles user input, sends requests (HTML/CSS/JS)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0" y="2194560"/>
            <a:ext cx="3108960" cy="1737360"/>
          </a:xfrm>
          <a:prstGeom prst="roundRect">
            <a:avLst>
              <a:gd name="adj" fmla="val 3158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91072" y="2194560"/>
            <a:ext cx="296265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Server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291072" y="3150108"/>
            <a:ext cx="296265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Web/app server: business logic + data access combined; returns responses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06240" y="2889504"/>
            <a:ext cx="2011680" cy="0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4206240" y="2615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Request →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3410712"/>
            <a:ext cx="-2011680" cy="0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6217920" y="3136392"/>
            <a:ext cx="-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← Response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438912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9808" y="4517136"/>
            <a:ext cx="10661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Latency / Bandwidth Trade-off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49808" y="4892040"/>
            <a:ext cx="106619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Fewer network hops than multi-tier means lower latency per request — but combining logic and data on one server limits independent scaling: to handle more traffic, the whole server tier must scale, not just the bottleneck layer.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1 · Architecture &amp; Standards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FIGURE 1.4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Multi-tier Architecture (N-Tier)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Presentation, business logic, and data are split into independent, separately scalable tiers.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194560"/>
            <a:ext cx="2286000" cy="1737360"/>
          </a:xfrm>
          <a:prstGeom prst="roundRect">
            <a:avLst>
              <a:gd name="adj" fmla="val 3158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6112" y="2194560"/>
            <a:ext cx="213969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Presentation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3150108"/>
            <a:ext cx="2139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Browser / UI — renders views, captures input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11880" y="2194560"/>
            <a:ext cx="2286000" cy="1737360"/>
          </a:xfrm>
          <a:prstGeom prst="roundRect">
            <a:avLst>
              <a:gd name="adj" fmla="val 3158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85032" y="2194560"/>
            <a:ext cx="213969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Application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685032" y="3150108"/>
            <a:ext cx="2139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Web/app server — request routing, business rules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0" y="2194560"/>
            <a:ext cx="2286000" cy="1737360"/>
          </a:xfrm>
          <a:prstGeom prst="roundRect">
            <a:avLst>
              <a:gd name="adj" fmla="val 3158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73952" y="2194560"/>
            <a:ext cx="213969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Business Logic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73952" y="3150108"/>
            <a:ext cx="2139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Services layer — validation, workflow, calculations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189720" y="2194560"/>
            <a:ext cx="2286000" cy="1737360"/>
          </a:xfrm>
          <a:prstGeom prst="roundRect">
            <a:avLst>
              <a:gd name="adj" fmla="val 3158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262872" y="2194560"/>
            <a:ext cx="213969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9262872" y="3150108"/>
            <a:ext cx="2139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Database server — persistent storage &amp; queries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108960" y="3063240"/>
            <a:ext cx="502920" cy="0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897880" y="3063240"/>
            <a:ext cx="502920" cy="0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686800" y="3063240"/>
            <a:ext cx="502920" cy="0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48640" y="438912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9808" y="4517136"/>
            <a:ext cx="10661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Split Further Than Two Tiers?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49808" y="4892040"/>
            <a:ext cx="106619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Each tier can be developed, deployed, and scaled independently — e.g. adding application servers under load without touching the database tier. The cost is more network hops per request and more infrastructure to operate and monitor.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1 · Architecture &amp; Standards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1.2 COMPARISON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Client-Server vs. Multi-tier — At a Glance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389120"/>
                <a:gridCol w="438912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Dimension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Client-Server (2-Tier)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Multi-tier (N-Tier)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Structure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Client + one combined server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Client + separate logic and data tiers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Scaling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Scale the whole server tier at once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Scale each tier independently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Latency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Fewer network hops, typically lower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More hops between tiers, typically higher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Complexity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Simpler to build and deploy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More moving parts to develop and operate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Best fit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Small–medium apps, simple domains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Large systems, complex or evolving domains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1 · Architecture &amp; Standards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PRACTICAL CONTEXT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Case in Point — Choosing an Architecture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4241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6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Scenario — a three-person student team is building a course-registration app for 500 users, with a 6-week deadline.</a:t>
            </a:r>
            <a:endParaRPr lang="en-US" sz="16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6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Client-Server option — one Java server handles both business rules and database access; fastest to build, easiest to deploy on one host.</a:t>
            </a:r>
            <a:endParaRPr lang="en-US" sz="16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6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Multi-tier option — separate application and database tiers; better prepared for growth, but adds deployment and networking overhead the team must manage.</a:t>
            </a:r>
            <a:endParaRPr lang="en-US" sz="16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6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Decision — for this scope and timeline, Client-Server wins on delivery speed; the team documents a migration path to multi-tier if enrolment scale increases.</a:t>
            </a:r>
            <a:endParaRPr lang="en-US" sz="16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6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Takeaway — architecture choice should match current scale and team capacity, not the largest imaginable future load.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1 · Architecture &amp; Standards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1.2 DEFINITIONS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Technical Definitions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86800"/>
              </a:tblGrid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Term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Definition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Client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The program (typically a browser) that requests resources and renders them for the user.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Server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 program that listens for requests and returns responses — may be one process or many.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Protocol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An agreed message format and exchange sequence — e.g. HTTP for Web requests.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Middleware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Software that sits between tiers, handling cross-cutting concerns like auth, logging, or routing.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API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 defined interface through which one software component requests services from another.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1 · Architecture &amp; Standards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1.2 DEFINITIONS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State, Statelessness &amp; Tiers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State Management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5349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HTTP itself is stateless — each request is independent of the last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Sessions, cookies, or tokens re-introduce state across requests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Statelessness simplifies scaling: any server can handle any request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080760" y="141732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Tiers vs. Layers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80760" y="1828800"/>
            <a:ext cx="5349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tier is a physical/deployment boundary — a separate process or machine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layer is a logical boundary within code — e.g. controller, service, repository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3-tier deployment can still be organised into many logical layers per tier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1 · Architecture &amp; Standards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1.4 STANDARDS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Web Standards Matter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49961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Interoperability Problem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1874520"/>
            <a:ext cx="49469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Without shared specifications, a page built for one browser might break in another — standards define a common contract every implementation agrees to follow.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80760" y="137160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81928" y="149961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Who Writes Them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281928" y="1874520"/>
            <a:ext cx="49469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Two bodies dominate Web standards: the W3C (markup, styling, accessibility) and the IETF (network protocols, via RFCs).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378561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Standards Are Made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4160520"/>
            <a:ext cx="49469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Both bodies use open, consensus-driven processes: draft proposals are published, implemented experimentally, reviewed, and only then finalised.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80760" y="365760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81928" y="378561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This Means for You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281928" y="4160520"/>
            <a:ext cx="49469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Writing to the spec — not to 'whatever one browser happens to do' — is what keeps a page working across Chrome, Firefox, Safari, and beyond.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1 · Architecture &amp; Standards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1.4 W3C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W3C — Role and Key Standards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World Wide Web Consortium develops specifications for the Web's core building blocks — structure, style, and accessibility.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86800"/>
              </a:tblGrid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Standard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What It Governs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HTML5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Document structure and semantics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CSS3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Presentation, layout, and visual styling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WCAG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Accessibility requirements for Web content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DOM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The programmatic tree representation of a page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1 · Architecture &amp; Standards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1.4 IETF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IETF — Role and Key Standards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Internet Engineering Task Force publishes RFCs (Requests for Comments) — the specifications behind the Internet's core protocols.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138160"/>
              </a:tblGrid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RFC / Protocol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What It Governs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RFC 9110/9112 (HTTP/1.1)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Request/response semantics and message format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RFC 8446 (TLS 1.3)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Encryption and secure transport for HTTPS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RFC 1035 (DNS)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Domain name resolution to IP addresses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RFC 6455 (WebSocket)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Full-duplex communication over a single connection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1 · Architecture &amp; Standards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1.4 COMPARISON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W3C vs. IETF — Structured Summary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206240"/>
                <a:gridCol w="4480560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Aspect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W3C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IETF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Focus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Markup, styling, accessibility, DOM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Network &amp; transport protocols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Output format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Recommendations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RFCs (Requests for Comments)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Typical layer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Application content layer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Transport / network / application protocol layer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Example impact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How a &lt;table&gt; renders across browsers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How a browser and server negotiate TLS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02920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49808" y="5157216"/>
            <a:ext cx="10661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Working Together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49808" y="5532120"/>
            <a:ext cx="106619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single page load depends on both: IETF standards (DNS, TCP/TLS, HTTP) get the bytes there reliably and securely; W3C standards (HTML, CSS, DOM) determine what the browser does with those bytes once they arrive.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1 · Architecture &amp; Standards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Request's Journey Through a 3-Tier System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05840" y="2103120"/>
            <a:ext cx="2286000" cy="2377440"/>
          </a:xfrm>
          <a:prstGeom prst="roundRect">
            <a:avLst>
              <a:gd name="adj" fmla="val 3200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47672" y="1901952"/>
            <a:ext cx="402336" cy="402336"/>
          </a:xfrm>
          <a:prstGeom prst="ellipse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1901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23113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Presentation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15568" y="2606040"/>
            <a:ext cx="206654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Browser sends an HTTPS GET for /courses (IETF: HTTP + TLS)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931920" y="2103120"/>
            <a:ext cx="2286000" cy="2377440"/>
          </a:xfrm>
          <a:prstGeom prst="roundRect">
            <a:avLst>
              <a:gd name="adj" fmla="val 3200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73752" y="1901952"/>
            <a:ext cx="402336" cy="402336"/>
          </a:xfrm>
          <a:prstGeom prst="ellipse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73752" y="1901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223113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Application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041648" y="2606040"/>
            <a:ext cx="206654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Server routes the request, applies business rules, calls the data tier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0" y="2103120"/>
            <a:ext cx="2286000" cy="2377440"/>
          </a:xfrm>
          <a:prstGeom prst="roundRect">
            <a:avLst>
              <a:gd name="adj" fmla="val 3200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99832" y="1901952"/>
            <a:ext cx="402336" cy="402336"/>
          </a:xfrm>
          <a:prstGeom prst="ellipse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99832" y="1901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949440" y="223113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967728" y="2606040"/>
            <a:ext cx="206654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Database executes the query and returns rows to the application tier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291840" y="30175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30175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548640" y="484632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49808" y="4974336"/>
            <a:ext cx="10661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Then the Response Retraces the Path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49808" y="5349240"/>
            <a:ext cx="106619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flows back: Data → Application (assembled into a view model) → Presentation (rendered as HTML/CSS per W3C standards, painted by the browser).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1 · Architecture &amp; Standards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By the End of Today You Can…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65760" cy="365760"/>
          </a:xfrm>
          <a:prstGeom prst="ellipse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417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Define Web architecture — </a:t>
            </a:r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Explain what system architecture means for a Web application.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365760" cy="365760"/>
          </a:xfrm>
          <a:prstGeom prst="ellipse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1945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Diagram Client-Server — </a:t>
            </a:r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Sketch the two-tier pattern and its latency/bandwidth trade-offs.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365760" cy="365760"/>
          </a:xfrm>
          <a:prstGeom prst="ellipse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971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Diagram Multi-tier — </a:t>
            </a:r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Sketch presentation/application/data separation and why it scales differently.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365760" cy="365760"/>
          </a:xfrm>
          <a:prstGeom prst="ellipse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749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Choose an architecture — </a:t>
            </a:r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Weigh Client-Server against Multi-tier for a given project's scope.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572000"/>
            <a:ext cx="365760" cy="365760"/>
          </a:xfrm>
          <a:prstGeom prst="ellipse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572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526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Explain Web standards — </a:t>
            </a:r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Describe the roles of the W3C and IETF and how they work together.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1 · Architecture &amp; Standards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4241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6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Client-Server (two-tier) combines logic and data on one server tier — simple to build, but scales as a unit.</a:t>
            </a:r>
            <a:endParaRPr lang="en-US" sz="16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6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Multi-tier splits presentation, application, and data into independent tiers — more scalable, more operational overhead.</a:t>
            </a:r>
            <a:endParaRPr lang="en-US" sz="16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6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Choose architecture to match current scope and team capacity, with a documented path to scale up later.</a:t>
            </a:r>
            <a:endParaRPr lang="en-US" sz="16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6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W3C governs markup, styling, and accessibility standards (HTML5, CSS3, WCAG, DOM).</a:t>
            </a:r>
            <a:endParaRPr lang="en-US" sz="16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6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IETF governs network and transport protocols via RFCs (HTTP, TLS, DNS, WebSocket) — both bodies work together on every page load.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1 · Architecture &amp; Standards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2026-09-02T05:09:29Z</dcterms:created>
  <dcterms:modified xsi:type="dcterms:W3CDTF">2026-09-02T05:09:29Z</dcterms:modified>
</cp:coreProperties>
</file>