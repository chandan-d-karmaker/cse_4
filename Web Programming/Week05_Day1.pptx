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burndown</c:v>
                </c:pt>
              </c:strCache>
            </c:strRef>
          </c:tx>
          <c:spPr>
            <a:solidFill>
              <a:srgbClr val="9FB3C8"/>
            </a:solidFill>
            <a:ln w="31750" cap="flat">
              <a:solidFill>
                <a:srgbClr val="9FB3C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FB3C8"/>
              </a:solidFill>
              <a:ln w="9525" cap="flat">
                <a:solidFill>
                  <a:srgbClr val="9FB3C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Day 0</c:v>
                  </c:pt>
                  <c:pt idx="1">
                    <c:v>Day 1</c:v>
                  </c:pt>
                  <c:pt idx="2">
                    <c:v>Day 2</c:v>
                  </c:pt>
                  <c:pt idx="3">
                    <c:v>Day 3</c:v>
                  </c:pt>
                  <c:pt idx="4">
                    <c:v>Day 4</c:v>
                  </c:pt>
                  <c:pt idx="5">
                    <c:v>Day 5</c:v>
                  </c:pt>
                  <c:pt idx="6">
                    <c:v>Day 6</c:v>
                  </c:pt>
                  <c:pt idx="7">
                    <c:v>Day 7</c:v>
                  </c:pt>
                  <c:pt idx="8">
                    <c:v>Day 8</c:v>
                  </c:pt>
                  <c:pt idx="9">
                    <c:v>Day 9</c:v>
                  </c:pt>
                  <c:pt idx="10">
                    <c:v>Day 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50</c:v>
                </c:pt>
                <c:pt idx="1">
                  <c:v>45</c:v>
                </c:pt>
                <c:pt idx="2">
                  <c:v>40</c:v>
                </c:pt>
                <c:pt idx="3">
                  <c:v>35</c:v>
                </c:pt>
                <c:pt idx="4">
                  <c:v>30</c:v>
                </c:pt>
                <c:pt idx="5">
                  <c:v>25</c:v>
                </c:pt>
                <c:pt idx="6">
                  <c:v>20</c:v>
                </c:pt>
                <c:pt idx="7">
                  <c:v>15</c:v>
                </c:pt>
                <c:pt idx="8">
                  <c:v>10</c:v>
                </c:pt>
                <c:pt idx="9">
                  <c:v>5</c:v>
                </c:pt>
                <c:pt idx="1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burndown</c:v>
                </c:pt>
              </c:strCache>
            </c:strRef>
          </c:tx>
          <c:spPr>
            <a:solidFill>
              <a:srgbClr val="1F3B57"/>
            </a:solidFill>
            <a:ln w="31750" cap="flat">
              <a:solidFill>
                <a:srgbClr val="1F3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3B57"/>
              </a:solidFill>
              <a:ln w="9525" cap="flat">
                <a:solidFill>
                  <a:srgbClr val="1F3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Day 0</c:v>
                  </c:pt>
                  <c:pt idx="1">
                    <c:v>Day 1</c:v>
                  </c:pt>
                  <c:pt idx="2">
                    <c:v>Day 2</c:v>
                  </c:pt>
                  <c:pt idx="3">
                    <c:v>Day 3</c:v>
                  </c:pt>
                  <c:pt idx="4">
                    <c:v>Day 4</c:v>
                  </c:pt>
                  <c:pt idx="5">
                    <c:v>Day 5</c:v>
                  </c:pt>
                  <c:pt idx="6">
                    <c:v>Day 6</c:v>
                  </c:pt>
                  <c:pt idx="7">
                    <c:v>Day 7</c:v>
                  </c:pt>
                  <c:pt idx="8">
                    <c:v>Day 8</c:v>
                  </c:pt>
                  <c:pt idx="9">
                    <c:v>Day 9</c:v>
                  </c:pt>
                  <c:pt idx="10">
                    <c:v>Day 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50</c:v>
                </c:pt>
                <c:pt idx="1">
                  <c:v>48</c:v>
                </c:pt>
                <c:pt idx="2">
                  <c:v>46</c:v>
                </c:pt>
                <c:pt idx="3">
                  <c:v>44</c:v>
                </c:pt>
                <c:pt idx="4">
                  <c:v>40</c:v>
                </c:pt>
                <c:pt idx="5">
                  <c:v>38</c:v>
                </c:pt>
                <c:pt idx="6">
                  <c:v>30</c:v>
                </c:pt>
                <c:pt idx="7">
                  <c:v>22</c:v>
                </c:pt>
                <c:pt idx="8">
                  <c:v>14</c:v>
                </c:pt>
                <c:pt idx="9">
                  <c:v>6</c:v>
                </c:pt>
                <c:pt idx="1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Story points remaining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3. Bridge from Module 2: we've analysed requirements, design, security, and performance for an existing system. Now we shift to the process used to build a system in the first place — starting with four foundational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five topics. This session sets up Day 2 (Agile Rituals &amp; Spiral Risk), which goes deeper into two of today's four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session around one spectrum: up-front planning vs. adaptive discovery. Waterfall sits at one extreme, Agile near the other, with RAD and Spiral occupying different middle positions for different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'staircase' visual is intentional — each phase is complete and signed off before the next starts, which is exactly what makes late-discovered problems so expensive to fix under this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Waterfall's straight line, this is a closed loop repeated every sprint — the same five stages happen again and again, each time producing a working increment rather than a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 is distinct from Agile in emphasis: RAD prioritises speed to a working prototype (often with heavy code reuse/component libraries), while Agile prioritises adapting to changing requirements over many repeated cycles.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spiral literally gets larger each loop — early loops are cheap, small-scope explorations of risk; later loops involve progressively larger investment as risk is retired. This is the model covered in more depth on Day 2, alongside the Cost-of-Change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as the anchor recap for all four models — every row should let students recall the specific diagram from earlier in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shape: the team fell behind the ideal line through Day 6 (a classic mid-sprint lag), then burned down faster in the last three days to catch up — a pattern worth discussing at retro, since a late rush often means quality was rushed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turns the previous chart into a diagnostic tool — have students classify the previous slide's actual line against these four patterns (it matches the second pattern: work marked done late in the sprint).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practical tool students can literally apply to their own course project — read down the left column to find the row(s) that describe their project, then read across for the best-fit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explicit contrast in Step 4 reinforces that there's no universally 'best' model — the same decision matrix produces a different, equally correct answer depending on the project's actual risk profile and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real, well-documented, publicly reported case (U.S. GAO reports and press coverage are public record). The teaching point connects directly back to the decision matrix: this project sat in exactly the row where Waterfall is the poor fit, and the outcome bore that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pitfall here is the model's core strength turned into a weakness through poor discipline — Waterfall's structure becomes rigidity; Agile's flexibility becomes aimlessness; RAD's speed becomes recklessness; Spiral's risk focus becomes bureaucracy.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self-check before Day 2: Agile Rituals &amp; Spiral Risk, which goes deeper into two of today's models — the Spiral risk cycle in more detail, and Agile's specific ceremonies (standups, retros, sprint planning).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points. Bridge to Day 2: Agile Rituals &amp; Spiral Risk, which expands on two of today's four models in much greater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3: Methodology Deep Dive &amp; Relationship Analysis</a:t>
            </a:r>
            <a:endParaRPr lang="en-US" sz="1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5, Day 1 — Development Methodologies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Waterfall, Agile, RAD, and Spiral — compared side by side, with a burndown chart, a decision matrix, and a real $170M cautionary tale.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5 · DAY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Session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 development methodology is, and why the choice matters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models in depth — Waterfall, Agile, RAD, and Spiral — each with a diagram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structured comparison matrix across all four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a sprint burndown chart</a:t>
            </a:r>
            <a:endParaRPr lang="en-US" sz="16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decision matrix for picking the right model, applied to a real scenario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methodology you choose determines how requirements changes, risk, and feedback are handled — get it wrong, and even good requirements (Week 3) can produce a failed project, as today's case study shows.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Development Methodology?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structured approach to organising the activities of software development — when requirements are gathered, how design and coding proceed, and when testing and feedback happen.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Core Question Each Answers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much do we plan up front, versus how much do we discover and adjust as we go? Every methodology sits somewhere on this spectrum.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It's Not One-Size-Fits-All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methodology that fits a well-understood, stable-requirements project can fail badly on a project with evolving, unclear requirements — and vice versa.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Today's Four Models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Waterfall (fully sequential), Agile (iterative, adaptive), RAD (rapid prototyping), and Spiral (risk-driven, cyclical) — spanning the full planning-vs-adapting spectrum.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5.1 · WATERFALL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Waterfall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Strictly sequential phases — each one completes fully before the next begins.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92024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1056132" y="2240280"/>
            <a:ext cx="1828800" cy="5029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7440" y="224028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50592" y="224028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884932" y="2560320"/>
            <a:ext cx="1828800" cy="5029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256032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79392" y="256032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flipV="1">
            <a:off x="4713732" y="2880360"/>
            <a:ext cx="1828800" cy="5029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288036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08192" y="288036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6542532" y="3200400"/>
            <a:ext cx="1828800" cy="5029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63840" y="320040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36992" y="320040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8371332" y="3520440"/>
            <a:ext cx="1828800" cy="50292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92640" y="3520440"/>
            <a:ext cx="1691640" cy="822960"/>
          </a:xfrm>
          <a:prstGeom prst="roundRect">
            <a:avLst>
              <a:gd name="adj" fmla="val 6667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65792" y="3520440"/>
            <a:ext cx="1545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534009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715000"/>
            <a:ext cx="10661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Predictable and easy to manage on paper, but expensive to reverse — discovering a wrong requirement in Testing means walking back through Design and Implementation.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5.2 · AGILE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Agile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Short, repeating cycles that each deliver a working increment and gather feedback.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12080" y="244602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85232" y="244602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90478" y="3251609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3630" y="3251609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5780" y="4555081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8932" y="4555081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8380" y="4555081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1532" y="4555081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33682" y="3251609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6834" y="3251609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3611880"/>
            <a:ext cx="1188720" cy="640080"/>
          </a:xfrm>
          <a:prstGeom prst="ellipse">
            <a:avLst/>
          </a:prstGeom>
          <a:solidFill>
            <a:srgbClr val="F2F5F8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3611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(1-4 wks)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575157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6126480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Adapts quickly to changing requirements and surfaces problems early, but requires continuous stakeholder engagement and can lose sight of long-term architecture.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5.3 · RAD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RAD Model (Rapid Application Development)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Fast, iterative prototyping cycles built directly with user feedback, prioritising speed to a usable prototype.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97280" y="2514600"/>
            <a:ext cx="2103120" cy="1554480"/>
          </a:xfrm>
          <a:prstGeom prst="roundRect">
            <a:avLst>
              <a:gd name="adj" fmla="val 3529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70432" y="2514600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 Planning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336956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and technical scope agreed quickly with users present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14600"/>
            <a:ext cx="2103120" cy="1554480"/>
          </a:xfrm>
          <a:prstGeom prst="roundRect">
            <a:avLst>
              <a:gd name="adj" fmla="val 3529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514600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Design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36956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Users work directly with prototypes, refining screens live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514600"/>
            <a:ext cx="2103120" cy="1554480"/>
          </a:xfrm>
          <a:prstGeom prst="roundRect">
            <a:avLst>
              <a:gd name="adj" fmla="val 3529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16752" y="2514600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Rapid Construction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16752" y="336956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Prototype is built out into working software, often with reusable components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66760" y="2514600"/>
            <a:ext cx="2103120" cy="1554480"/>
          </a:xfrm>
          <a:prstGeom prst="roundRect">
            <a:avLst>
              <a:gd name="adj" fmla="val 3529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39912" y="2514600"/>
            <a:ext cx="1956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Cutover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39912" y="3369564"/>
            <a:ext cx="1956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is tested and transitioned into production use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3291840"/>
            <a:ext cx="320040" cy="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23560" y="3291840"/>
            <a:ext cx="320040" cy="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3291840"/>
            <a:ext cx="320040" cy="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4572000" y="2194560"/>
            <a:ext cx="0" cy="320040"/>
          </a:xfrm>
          <a:prstGeom prst="line">
            <a:avLst/>
          </a:prstGeom>
          <a:noFill/>
          <a:ln w="15875">
            <a:solidFill>
              <a:srgbClr val="AFC2D2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246120" y="18745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User Design ⟷ Construction until the prototype satisfies users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65429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029200"/>
            <a:ext cx="10661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Extremely fast for well-scoped applications with active user involvement, but risks skipping rigorous architecture and non-functional analysis in the rush toward a working prototype.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5.4 · SPIRAL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Spiral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loop repeats four activities, with an explicit risk-analysis step before committing further investment.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606040" y="24231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79192" y="242316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Objectives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79192" y="317754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Determine goals, alternatives, constraints for this loop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242316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1F3B57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36792" y="242316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Risk Analysis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6792" y="317754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alternatives; identify and resolve the biggest risks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416052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9192" y="416052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Engineering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49149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and verify the next-level product increment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416052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36792" y="416052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Planning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36792" y="491490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progress; plan the next loop around the spiral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3703320"/>
            <a:ext cx="10058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37033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7607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88873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6263640"/>
            <a:ext cx="10661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explicit risk-analysis step suits large, high-risk, high-cost projects well, but adds overhead that's hard to justify for smaller, lower-risk work.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 COMPARISON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Models — Structured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2286000"/>
                <a:gridCol w="2194560"/>
                <a:gridCol w="219456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Waterfall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Agile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Spiral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Planning style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Fully up-front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Just-in-time, per sprint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Light, evolves with prototype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Explicit, revisited each loop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Handles changing requirements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Poorly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Very well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Well, if scope is contained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Well, via risk reassessment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 management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Implicit / late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Ongoing via short cycles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Explicit, formal step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Stable, well-understood scope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Evolving, customer-driven scope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Small-to-mid apps, active users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Large, high-risk, high-cost projects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Documentation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Heavy, upfront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Light, just enough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Light, prototype-driven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 to heavy per loop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5.5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a Sprint Burndown Chart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remaining work (story points) against time — the gap between ideal and actual reveals whether a sprint is on track.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 BURNDOWN PATTERNS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Different Burndown Shapes Mean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661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Pattern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Suggests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Likely Action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Tracks the ideal line closely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Estimation and pace are well-calibrated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Keep the current sprint planning approach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Flat line for several days, then a steep drop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Work was batched and marked done late, not steadily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Break stories smaller; update status daily, not at the end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 trends upward mid-sprint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scope was added after the sprint started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Protect sprint scope; queue new requests for next sprint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Never reaches zero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Team consistently over-commits relative to real capacity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Recalibrate velocity using recent sprints, not optimism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 DECISION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Decision Matrix for Choosing a Model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1920240"/>
                <a:gridCol w="1920240"/>
                <a:gridCol w="201168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 your project has…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Waterfall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Agile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Spiral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Stable, fully understood requirements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Overkill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Overkill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Requirements likely to change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Poor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Small scope, active user involvement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Good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Overkill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 scope, high cost, high risk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OK at scale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Poor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Hard compliance / audit requirements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Good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OK with discipline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Poor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Good fit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Choosing a Model for a Real Scenario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 hospital needs a new patient-records system: requirements are largely fixed by regulation (HIPAA), the cost of a defect is high, and the system must pass a formal compliance audit before launch.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check the decision matrix rows: 'stable, fully understood requirements' → points to Waterfall; 'hard compliance / audit requirements' → points to Waterfall or Spiral.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— check project scale and risk: this is a large, high-cost, high-risk system (patient safety, legal liability) → the matrix's 'large scope, high risk' row points to Spiral.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— decision — Spiral is chosen: its explicit risk-analysis loops suit the compliance and safety risk, while still allowing incremental engineering rather than one long, all-or-nothing Waterfall pass.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 — contrast — a student team building a course-registration app (Week 2's earlier example) would read the matrix very differently: small scope, evolving requirements → Agile or RAD, not Spiral.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 · REAL INCIDENT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in Point — The FBI's $170M Virtual Case File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happened — from 2000-2005, the FBI contracted a single vendor to build a new case-management system using a rigid, Waterfall-style approach with requirements largely fixed up front.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 — requirements kept changing as the project proceeded (a common reality for a novel, large system), but the Waterfall structure made each change extremely costly to absorb.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outcome — after four years and over $170 million spent, the software was found 'incomplete, inadequate, and so poorly designed' that it was unusable, and the project was cancelled in April 2005.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lesson — this matches the decision matrix directly: evolving requirements is the exact condition where Waterfall performs poorly, regardless of budget or vendor quality.</a:t>
            </a:r>
            <a:endParaRPr lang="en-US" sz="14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aftermath — the FBI's replacement project (Sentinel) eventually succeeded by shifting toward smaller, incremental phases with closer user involvement — closer to the Agile end of the spectrum.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5.1 PITFALLS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Pitfalls by Model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38912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Common Pitfall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Fix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Waterfall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Treating an early sign-off as unchangeable, even when it's clearly wrong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 in a formal, lightweight change-request process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Agile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Sprints with no clear goal, becoming just 'two weeks of tasks'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sprint should have one clear, demoable objective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prototype becomes production code without a security/scalability review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Treat cutover as a real hardening phase, not just a demo-to-launch flip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Spiral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 analysis becomes a rubber-stamp exercise instead of genuine analysis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Require a named, specific risk and mitigation for each loop, not a checklist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all four models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Sketch Waterfall, Agile, RAD, and Spiral from memory.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them structurally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the comparison matrix to contrast planning style, risk handling, and best fit.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a burndown chart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Diagnose what a given ideal-vs-actual shape suggests about a sprint.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a decision matrix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the right model for a project based on its requirements stability and risk.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from a real failure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why Waterfall was a poor fit for the FBI's Virtual Case File.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Waterfall is fully sequential and predictable, but expensive to reverse once a phase is signed off — best for stable, well-understood requirements.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Agile iterates in short sprints, adapting continuously — best for evolving requirements with active stakeholder engagement.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 prioritises fast, user-driven prototyping — best for small-to-mid scope apps where speed to a working prototype matters most.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Spiral adds an explicit risk-analysis step to each cyclical loop — best for large, high-risk, high-cost projects.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FBI's Virtual Case File shows the real cost of mismatching model to project: $170 million spent using a rigid approach on a project with evolving requirements — exactly the condition the decision matrix flags as a poor fit.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5 · Development Methodologies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2026-09-02T21:21:00Z</dcterms:created>
  <dcterms:modified xsi:type="dcterms:W3CDTF">2026-09-02T21:21:00Z</dcterms:modified>
</cp:coreProperties>
</file>