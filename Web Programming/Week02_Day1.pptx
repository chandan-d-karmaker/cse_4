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Fibre Broadband (100 Mbps, 15 ms RTT)</c:v>
                </c:pt>
              </c:strCache>
            </c:strRef>
          </c:tx>
          <c:spPr>
            <a:solidFill>
              <a:srgbClr val="1F3B57"/>
            </a:solidFill>
            <a:ln w="31750" cap="flat">
              <a:solidFill>
                <a:srgbClr val="1F3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3B57"/>
              </a:solidFill>
              <a:ln w="9525" cap="flat">
                <a:solidFill>
                  <a:srgbClr val="1F3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100 KB</c:v>
                  </c:pt>
                  <c:pt idx="1">
                    <c:v>500 KB</c:v>
                  </c:pt>
                  <c:pt idx="2">
                    <c:v>1 MB</c:v>
                  </c:pt>
                  <c:pt idx="3">
                    <c:v>2 MB</c:v>
                  </c:pt>
                  <c:pt idx="4">
                    <c:v>5 MB</c:v>
                  </c:pt>
                  <c:pt idx="5">
                    <c:v>10 MB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</c:v>
                </c:pt>
                <c:pt idx="1">
                  <c:v>85</c:v>
                </c:pt>
                <c:pt idx="2">
                  <c:v>125</c:v>
                </c:pt>
                <c:pt idx="3">
                  <c:v>205</c:v>
                </c:pt>
                <c:pt idx="4">
                  <c:v>445</c:v>
                </c:pt>
                <c:pt idx="5">
                  <c:v>845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4G Mobile (25 Mbps, 60 ms RTT)</c:v>
                </c:pt>
              </c:strCache>
            </c:strRef>
          </c:tx>
          <c:spPr>
            <a:solidFill>
              <a:srgbClr val="5B8CB8"/>
            </a:solidFill>
            <a:ln w="31750" cap="flat">
              <a:solidFill>
                <a:srgbClr val="5B8C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B8CB8"/>
              </a:solidFill>
              <a:ln w="9525" cap="flat">
                <a:solidFill>
                  <a:srgbClr val="5B8C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100 KB</c:v>
                  </c:pt>
                  <c:pt idx="1">
                    <c:v>500 KB</c:v>
                  </c:pt>
                  <c:pt idx="2">
                    <c:v>1 MB</c:v>
                  </c:pt>
                  <c:pt idx="3">
                    <c:v>2 MB</c:v>
                  </c:pt>
                  <c:pt idx="4">
                    <c:v>5 MB</c:v>
                  </c:pt>
                  <c:pt idx="5">
                    <c:v>10 MB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212</c:v>
                </c:pt>
                <c:pt idx="1">
                  <c:v>340</c:v>
                </c:pt>
                <c:pt idx="2">
                  <c:v>500</c:v>
                </c:pt>
                <c:pt idx="3">
                  <c:v>820</c:v>
                </c:pt>
                <c:pt idx="4">
                  <c:v>1780</c:v>
                </c:pt>
                <c:pt idx="5">
                  <c:v>3380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Satellite (25 Mbps, 600 ms RTT)</c:v>
                </c:pt>
              </c:strCache>
            </c:strRef>
          </c:tx>
          <c:spPr>
            <a:solidFill>
              <a:srgbClr val="C0785A"/>
            </a:solidFill>
            <a:ln w="31750" cap="flat">
              <a:solidFill>
                <a:srgbClr val="C078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785A"/>
              </a:solidFill>
              <a:ln w="9525" cap="flat">
                <a:solidFill>
                  <a:srgbClr val="C078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100 KB</c:v>
                  </c:pt>
                  <c:pt idx="1">
                    <c:v>500 KB</c:v>
                  </c:pt>
                  <c:pt idx="2">
                    <c:v>1 MB</c:v>
                  </c:pt>
                  <c:pt idx="3">
                    <c:v>2 MB</c:v>
                  </c:pt>
                  <c:pt idx="4">
                    <c:v>5 MB</c:v>
                  </c:pt>
                  <c:pt idx="5">
                    <c:v>10 MB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1832</c:v>
                </c:pt>
                <c:pt idx="1">
                  <c:v>1960</c:v>
                </c:pt>
                <c:pt idx="2">
                  <c:v>2120</c:v>
                </c:pt>
                <c:pt idx="3">
                  <c:v>2440</c:v>
                </c:pt>
                <c:pt idx="4">
                  <c:v>3400</c:v>
                </c:pt>
                <c:pt idx="5">
                  <c:v>5000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6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Load time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Week 1 Day 2: we introduced Client-Server at a high level. Today we go deep on the mechanics — the exact steps in a request/response cycle, where time is actually spent (latency vs bandwidth), and how applications maintain state across a stateless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five topics. Flag that today's latency breakdown feeds directly into Week 4's performance metrics, and today's state-management techniques feed into Week 4's security discussion (cookie security, session hijacking).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expands the 5-step model from Week 1 into six explicit steps by splitting the connection setup into TCP and TLS handshakes. Emphasise that DNS and TCP/TLS setup can often be skipped on repeat visits due to caching and connection reuse (HTTP keep-alive).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DNS, TCP, and TLS costs are mostly fixed per-connection overhead — largely latency-bound, not bandwidth-bound. Only the final 'Transfer' step scales with payload size and available bandwidth. This distinction sets up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classic analogy: bandwidth is the width of a pipe; latency is the length of the pipe. A wider pipe doesn't help if the pipe is very long and you're sending one drop at a time — that's why round trips (not payload size) dominate on high-latency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arithmetic live. The key insight: satellite's total time is dominated by the 3 round trips at 600ms each (1,800ms), not by the slower 25Mbps bandwidth. This is why CDNs and connection reuse matter more than compression alone on high-latency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chart left to right: near the y-axis, the three lines are far apart — that gap is pure round-trip latency, present even for a tiny 100KB payload. As payload size grows, the slopes (bandwidth) start to matter more, but satellite's fixed latency penalty never goes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statelessness as a deliberate trade-off, not an oversight: it's what allows any server in a load-balanced pool to handle any request, which is essential for the multi-tier scaling discussed last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key distinction: cookies and tokens travel with every request automatically; localStorage does not (JavaScript must read and send it explicitly). This distinction matters again in Week 4 (security — cookies are vulnerable to CSRF; tokens to XSS if stored insecurely).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of thumb: anything the user shouldn't be able to tamper with (account balance, permissions, order totals) belongs server-side. Anything purely cosmetic or convenience-related (theme preference, draft text) is fine client-side.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back to the earlier chart: a CDN doesn't increase bandwidth so much as it collapses the RTT term in our formula, which is exactly the term that dominated the satellite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self-check before Week 2 Day 2, which shifts from mechanics to measurement — quality attributes like performance, scalability, availability, and maintainability, with worked formulas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points, then bridge to Day 2: Web Quality Attributes, where performance (today's topic) becomes one of four measurable quality dimensions alongside scalability, availability, and maintainability.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this left to right, top to bottom: login sends credentials once; the server replies with Set-Cookie; every subsequent request (like GET /cart) automatically replays that cookie, letting the stateless server look up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Quick-reference glossary. CSRF and JWT will reappear in Week 4 (Security Fundamentals) with deeper coverage of attack vectors and mitigations.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Foundations &amp; Architecture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2, Day 1 — Client-Server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19050">
            <a:solidFill>
              <a:srgbClr val="AFC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detailed look at the request-response cycle, where latency and bandwidth come from, and how state survives a stateless protocol.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2 · DAY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Session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detailed request-response flow diagram, step by step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latency comes from, and how it differs from bandwidth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numeric examples of latency/bandwidth trade-offs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HTTP is stateless, and how applications simulate state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Techniques for state management: cookies, sessions, tokens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82128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874520"/>
            <a:ext cx="26151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 and state management decisions shape almost every performance and security discussion for the rest of the course — including Week 4 (Performance) and Week 11 (JavaScript &amp; AJAX).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2.1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Request-Response Cycle in Detail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steps happen between a click and a rendered page — each one adds time to the total.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185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185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311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DNS Lookup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606040"/>
            <a:ext cx="1472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Resolve hostname to an IP address (often cached)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29184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76856" y="210312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1508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1508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68296" y="22311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TCP Handshake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386584" y="2606040"/>
            <a:ext cx="1472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 / SYN-ACK / ACK opens a connection to the server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968496" y="329184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96512" y="210312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1164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4116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187952" y="22311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TLS Handshake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2606040"/>
            <a:ext cx="1472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Negotiate encryption keys for HTTPS (if secure)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788152" y="329184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16168" y="210312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0820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082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007608" y="22311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 Request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025896" y="2606040"/>
            <a:ext cx="1472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sends method, headers, and any body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607808" y="329184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735824" y="210312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80476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80476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827264" y="22311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 Processing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845552" y="2606040"/>
            <a:ext cx="1472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 logic runs; data tier is queried if needed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427464" y="329184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555480" y="2103120"/>
            <a:ext cx="1691640" cy="2834640"/>
          </a:xfrm>
          <a:prstGeom prst="roundRect">
            <a:avLst>
              <a:gd name="adj" fmla="val 43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00132" y="1901952"/>
            <a:ext cx="402336" cy="402336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00132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9646920" y="22311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 &amp; Render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665208" y="2606040"/>
            <a:ext cx="14721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Bytes return; browser parses and paints the page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2.1 TIMING BREAKDOWN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Time Actually Go?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39496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Step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Typical Cost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 Be Skipped When…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DNS Lookup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20–120 ms (cold)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Hostname already cached by OS/browser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TCP Handshake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 round trip (~ RTT)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Connection reused via HTTP keep-alive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TLS Handshake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1–2 round trips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TLS session resumed from a prior visit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Server Processing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Highly variable (ms–seconds)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Result served from a cache/CDN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Transfer + Render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Depends on payload size / bandwidth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Assets are small and already cached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2.1 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 vs. Bandwidth — Not the Same Thing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time for one bit of data to travel from client to server (or back) — dominated by physical distance and the number of round trips a protocol requires. Measured in milliseconds.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Bandwidth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volume of data that can be transferred per second once the connection is established — dominated by the network link's capacity. Measured in Mbps or Gbps.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96849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the Distinction Matters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343400"/>
            <a:ext cx="10661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high-bandwidth, high-latency connection (e.g. satellite) can still feel slow for many small requests, because each one pays the full round-trip cost. A low-bandwidth, low-latency connection struggles instead with large payloads (images, video) regardless of round trips. Fixing the wrong one wastes engineering effort.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Comparing Two Connections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loading a 2 MB page over two connections: (A) fibre broadband — 100 Mbps, 15 ms RTT; (B) satellite — 25 Mbps, 600 ms RTT.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Transfer time alone — A: 2MB × 8 / 100Mbps ≈ 160 ms. B: 2MB × 8 / 25Mbps ≈ 640 ms.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connection overhead — a fresh HTTPS request costs roughly 3 round trips (TCP + TLS): A adds ≈ 45 ms; B adds ≈ 1,800 ms.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— A ≈ 205 ms. B ≈ 2,440 ms — nearly 12× slower, and most of that gap is round-trip latency, not raw bandwidth.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2793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 ≈ (RTT × trips) + (size × 8 / bandwidth)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86460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Load-Time Estimate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138928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trips = number of round trips before data flows (DNS + TCP + TLS ≈ 3 for a fresh HTTPS connection).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41148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81928" y="4242816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 Takeaway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81928" y="4617720"/>
            <a:ext cx="4581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high-latency links, reducing round trips (connection reuse, HTTP/2 multiplexing, fewer redirects) helps more than compressing payloads further.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2.2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 Time vs. Payload Size, by Connection Type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round-trip overhead means small payloads are latency-bound; large payloads become bandwidth-bound.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2.1 STATE MANAGEMENT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HTTP Is Stateless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Design Choice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HTTP request is handled independently — the server keeps no memory of prior requests from the same client by default. This was intentional: it keeps servers simple and easy to scale.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Practical Problem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 applications need memory — a shopping cart, a logged-in user, a multi-step form. Statelessness alone can't support that, so applications must add state back on top of HTTP.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87705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General Pattern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51960"/>
            <a:ext cx="10661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technique on the next slide follows the same idea: attach an identifier to each request (in a cookie, a URL parameter, or a request header) that lets the server — or the client itself — look up state associated with that identifier.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2.1 TECHNIQUES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 Management Techniques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3840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Technique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Where State Lives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Typical Use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Cookies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Sent by server, stored by browser, replayed on each request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Session IDs, small preferences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Server-side sessions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Server memory/store, keyed by a cookie ID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Login state, shopping cart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Tokens (e.g. JWT)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Encoded in the token itself, sent by client each request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Stateless authentication, APIs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localStorage / sessionStorage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Browser only — never sent to the server automatically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UI preferences, draft form data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URL parameters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Encoded directly in the URL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Shareable state, pagination, filters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2.1 CLIENT VS. SERVER STATE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Should State Live?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Client-Side State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49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to read — no network round trip needed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 for free — no server memory consumed per user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Visible and editable by the user — never trust it for security decisions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Lost if storage is cleared, or not shared across devices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080760" y="14173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Server-Side State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80760" y="1828800"/>
            <a:ext cx="5349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Trusted — the server controls it, so it's safe for permissions and balances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across devices and sessions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Costs server memory or storage per active user — a scaling factor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a lookup on every request that needs 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in Point — Cutting Latency with a CDN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an online store's main audience is 8,000 km from its single origin server, giving a baseline RTT of roughly 160 ms per round trip.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— the six-step request cycle (DNS, TCP, TLS, request, processing, transfer) pays that 160 ms RTT multiple times per asset — product images, CSS, JS.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 — a Content Delivery Network (CDN) caches static assets at edge locations near the user, cutting effective RTT to roughly 10–20 ms for cached content.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— pages that previously took 2+ seconds to paint meaningfully now paint in well under a second for repeat visitors.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Takeaway — this is the same latency-vs-bandwidth principle from the worked example, applied as a real system design decision.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 You Can…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Diagram the request-response cycle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all six steps from DNS lookup through render.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latency from bandwidth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which one dominates for small vs. large payloads.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Estimate load time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the round-trip + transfer-time formula to a scenario.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HTTP statelessness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why it exists and the problem it creates for applications.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a state technique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between cookies, sessions, tokens, and local storage for a given need.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request-response cycle has (at least) six steps: DNS, TCP, TLS, HTTP request, server processing, and response/render.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Latency (round-trip time) and bandwidth (transfer capacity) are independent — diagnosing which one is the bottleneck changes the fix.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payloads are latency-bound; large payloads become bandwidth-bound — the crossover point depends on the connection.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 is deliberately stateless, which is what allows Web servers to scale horizontally in a multi-tier system.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 re-introduce state via cookies, server-side sessions, tokens, or client-only storage — each with different trust and scaling trade-offs.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2.3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Sequence — Cookie-Based Login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 session cookie is issued, stored, and replayed across three requests.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210312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36192" y="210312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(Browser)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394960" y="210312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68112" y="2103120"/>
            <a:ext cx="23225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97480" y="2834640"/>
            <a:ext cx="0" cy="22860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629400" y="2834640"/>
            <a:ext cx="0" cy="228600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931920" y="3154680"/>
            <a:ext cx="1463040" cy="0"/>
          </a:xfrm>
          <a:prstGeom prst="line">
            <a:avLst/>
          </a:prstGeom>
          <a:noFill/>
          <a:ln w="15875">
            <a:solidFill>
              <a:srgbClr val="1F3B57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931920" y="2880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/login (credentials)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3703320"/>
            <a:ext cx="1463040" cy="0"/>
          </a:xfrm>
          <a:prstGeom prst="line">
            <a:avLst/>
          </a:prstGeom>
          <a:noFill/>
          <a:ln w="15875">
            <a:solidFill>
              <a:srgbClr val="1F3B57"/>
            </a:solidFill>
            <a:prstDash val="solid"/>
            <a:headEnd type="triangl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3931920" y="3429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Set-Cookie: session=abc123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4251960"/>
            <a:ext cx="1463040" cy="0"/>
          </a:xfrm>
          <a:prstGeom prst="line">
            <a:avLst/>
          </a:prstGeom>
          <a:noFill/>
          <a:ln w="15875">
            <a:solidFill>
              <a:srgbClr val="1F3B57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931920" y="3977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 /cart  (Cookie: session=abc123)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4800600"/>
            <a:ext cx="1463040" cy="0"/>
          </a:xfrm>
          <a:prstGeom prst="line">
            <a:avLst/>
          </a:prstGeom>
          <a:noFill/>
          <a:ln w="15875">
            <a:solidFill>
              <a:srgbClr val="1F3B57"/>
            </a:solidFill>
            <a:prstDash val="solid"/>
            <a:headEnd type="triangl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3931920" y="45262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 OK (cart contents for abc123)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Terms — Quick Glossary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412480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Term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Definition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RTT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Round-Trip Time — how long a signal takes to travel to the server and back.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Keep-Alive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 HTTP mechanism that reuses one TCP connection for multiple requests, avoiding repeat handshakes.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TLS Session Resumption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Reusing previously negotiated encryption parameters to skip a full TLS handshake.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CSRF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Cross-Site Request Forgery — an attack that abuses cookies automatically sent with every request.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JWT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JSON Web Token — a self-contained, signed token often used for stateless authentication.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Client-Server Architecture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2026-09-02T05:14:44Z</dcterms:created>
  <dcterms:modified xsi:type="dcterms:W3CDTF">2026-09-02T05:14:44Z</dcterms:modified>
</cp:coreProperties>
</file>