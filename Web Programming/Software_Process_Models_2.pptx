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2.xml" ContentType="application/vnd.ms-office.chartstyle+xml"/>
  <Override PartName="/ppt/charts/chart3.xml" ContentType="application/vnd.openxmlformats-officedocument.drawingml.chart+xml"/>
  <Override PartName="/ppt/charts/chart2.xml" ContentType="application/vnd.openxmlformats-officedocument.drawingml.chart+xml"/>
  <Override PartName="/ppt/charts/colors2.xml" ContentType="application/vnd.ms-office.chartcolorstyle+xml"/>
  <Override PartName="/ppt/charts/style3.xml" ContentType="application/vnd.ms-office.chartstyle+xml"/>
  <Override PartName="/ppt/charts/style1.xml" ContentType="application/vnd.ms-office.chartstyle+xml"/>
  <Override PartName="/ppt/charts/colors3.xml" ContentType="application/vnd.ms-office.chartcolorstyl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300" b="0" u="none" strike="noStrike">
                <a:solidFill>
                  <a:srgbClr val="000000"/>
                </a:solidFill>
                <a:uFillTx/>
                <a:latin typeface="Times New Roman"/>
              </a:rPr>
              <a:t>Illustrative cumulative cost by loop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Cumulative cost committed</c:v>
                </c:pt>
              </c:strCache>
            </c:strRef>
          </c:tx>
          <c:spPr>
            <a:solidFill>
              <a:srgbClr val="1F3B57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Times New Roman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Loop 1</c:v>
                </c:pt>
                <c:pt idx="1">
                  <c:v>Loop 2</c:v>
                </c:pt>
                <c:pt idx="2">
                  <c:v>Loop 3</c:v>
                </c:pt>
                <c:pt idx="3">
                  <c:v>Loop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1</c:v>
                </c:pt>
                <c:pt idx="1">
                  <c:v>2.4</c:v>
                </c:pt>
                <c:pt idx="2">
                  <c:v>4.5</c:v>
                </c:pt>
                <c:pt idx="3">
                  <c:v>7.2</c:v>
                </c:pt>
              </c:numCache>
            </c:numRef>
          </c:val>
        </c:ser>
        <c:gapWidth val="150"/>
        <c:overlap val="0"/>
        <c:axId val="54668073"/>
        <c:axId val="75876060"/>
      </c:barChart>
      <c:catAx>
        <c:axId val="5466807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Times New Roman"/>
              </a:defRPr>
            </a:pPr>
          </a:p>
        </c:txPr>
        <c:crossAx val="75876060"/>
        <c:crosses val="autoZero"/>
        <c:auto val="1"/>
        <c:lblAlgn val="ctr"/>
        <c:lblOffset val="100"/>
        <c:noMultiLvlLbl val="0"/>
      </c:catAx>
      <c:valAx>
        <c:axId val="75876060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Times New Roman"/>
              </a:defRPr>
            </a:pPr>
          </a:p>
        </c:txPr>
        <c:crossAx val="54668073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Requirements</c:v>
                </c:pt>
              </c:strCache>
            </c:strRef>
          </c:tx>
          <c:spPr>
            <a:solidFill>
              <a:srgbClr val="1F3B57"/>
            </a:solidFill>
            <a:ln w="28440">
              <a:solidFill>
                <a:srgbClr val="1F3B57"/>
              </a:solidFill>
              <a:round/>
            </a:ln>
          </c:spPr>
          <c:marker>
            <c:symbol val="circle"/>
            <c:size val="6"/>
            <c:spPr>
              <a:solidFill>
                <a:srgbClr val="1F3B57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Inception</c:v>
                </c:pt>
                <c:pt idx="1">
                  <c:v>Elaboration</c:v>
                </c:pt>
                <c:pt idx="2">
                  <c:v>Construction</c:v>
                </c:pt>
                <c:pt idx="3">
                  <c:v>Transition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</c:v>
                </c:pt>
                <c:pt idx="1">
                  <c:v>5</c:v>
                </c:pt>
                <c:pt idx="2">
                  <c:v>2</c:v>
                </c:pt>
                <c:pt idx="3">
                  <c:v>0.5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Design</c:v>
                </c:pt>
              </c:strCache>
            </c:strRef>
          </c:tx>
          <c:spPr>
            <a:solidFill>
              <a:srgbClr val="C77B26"/>
            </a:solidFill>
            <a:ln w="28440">
              <a:solidFill>
                <a:srgbClr val="C77B26"/>
              </a:solidFill>
              <a:round/>
            </a:ln>
          </c:spPr>
          <c:marker>
            <c:symbol val="circle"/>
            <c:size val="6"/>
            <c:spPr>
              <a:solidFill>
                <a:srgbClr val="C77B26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Inception</c:v>
                </c:pt>
                <c:pt idx="1">
                  <c:v>Elaboration</c:v>
                </c:pt>
                <c:pt idx="2">
                  <c:v>Construction</c:v>
                </c:pt>
                <c:pt idx="3">
                  <c:v>Transition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</c:v>
                </c:pt>
                <c:pt idx="1">
                  <c:v>8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Implementation</c:v>
                </c:pt>
              </c:strCache>
            </c:strRef>
          </c:tx>
          <c:spPr>
            <a:solidFill>
              <a:srgbClr val="6B8FA3"/>
            </a:solidFill>
            <a:ln w="28440">
              <a:solidFill>
                <a:srgbClr val="6B8FA3"/>
              </a:solidFill>
              <a:round/>
            </a:ln>
          </c:spPr>
          <c:marker>
            <c:symbol val="circle"/>
            <c:size val="6"/>
            <c:spPr>
              <a:solidFill>
                <a:srgbClr val="6B8FA3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Inception</c:v>
                </c:pt>
                <c:pt idx="1">
                  <c:v>Elaboration</c:v>
                </c:pt>
                <c:pt idx="2">
                  <c:v>Construction</c:v>
                </c:pt>
                <c:pt idx="3">
                  <c:v>Transition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0.5</c:v>
                </c:pt>
                <c:pt idx="1">
                  <c:v>3</c:v>
                </c:pt>
                <c:pt idx="2">
                  <c:v>9</c:v>
                </c:pt>
                <c:pt idx="3">
                  <c:v>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8C6BAE"/>
            </a:solidFill>
            <a:ln w="28440">
              <a:solidFill>
                <a:srgbClr val="8C6BAE"/>
              </a:solidFill>
              <a:round/>
            </a:ln>
          </c:spPr>
          <c:marker>
            <c:symbol val="circle"/>
            <c:size val="6"/>
            <c:spPr>
              <a:solidFill>
                <a:srgbClr val="8C6BAE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Inception</c:v>
                </c:pt>
                <c:pt idx="1">
                  <c:v>Elaboration</c:v>
                </c:pt>
                <c:pt idx="2">
                  <c:v>Construction</c:v>
                </c:pt>
                <c:pt idx="3">
                  <c:v>Transition</c:v>
                </c:pt>
              </c:strCache>
            </c:strRef>
          </c:cat>
          <c:val>
            <c:numRef>
              <c:f>3</c:f>
              <c:numCache>
                <c:formatCode>General</c:formatCode>
                <c:ptCount val="4"/>
                <c:pt idx="0">
                  <c:v>0.5</c:v>
                </c:pt>
                <c:pt idx="1">
                  <c:v>2</c:v>
                </c:pt>
                <c:pt idx="2">
                  <c:v>6</c:v>
                </c:pt>
                <c:pt idx="3">
                  <c:v>8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87391304"/>
        <c:axId val="99700452"/>
      </c:lineChart>
      <c:catAx>
        <c:axId val="8739130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Times New Roman"/>
              </a:defRPr>
            </a:pPr>
          </a:p>
        </c:txPr>
        <c:crossAx val="99700452"/>
        <c:crosses val="autoZero"/>
        <c:auto val="1"/>
        <c:lblAlgn val="ctr"/>
        <c:lblOffset val="100"/>
        <c:noMultiLvlLbl val="0"/>
      </c:catAx>
      <c:valAx>
        <c:axId val="99700452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Times New Roman"/>
              </a:defRPr>
            </a:pPr>
          </a:p>
        </c:txPr>
        <c:crossAx val="8739130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200" b="0" u="none" strike="noStrike">
              <a:solidFill>
                <a:srgbClr val="000000"/>
              </a:solidFill>
              <a:uFillTx/>
              <a:latin typeface="Times New Roman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Organic</c:v>
                </c:pt>
              </c:strCache>
            </c:strRef>
          </c:tx>
          <c:spPr>
            <a:solidFill>
              <a:srgbClr val="1F3B57"/>
            </a:solidFill>
            <a:ln w="28440">
              <a:solidFill>
                <a:srgbClr val="1F3B57"/>
              </a:solidFill>
              <a:round/>
            </a:ln>
          </c:spPr>
          <c:marker>
            <c:symbol val="circle"/>
            <c:size val="6"/>
            <c:spPr>
              <a:solidFill>
                <a:srgbClr val="1F3B57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  <c:pt idx="4">
                  <c:v>500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27</c:v>
                </c:pt>
                <c:pt idx="1">
                  <c:v>146</c:v>
                </c:pt>
                <c:pt idx="2">
                  <c:v>302</c:v>
                </c:pt>
                <c:pt idx="3">
                  <c:v>626</c:v>
                </c:pt>
                <c:pt idx="4">
                  <c:v>1640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Semi-detached</c:v>
                </c:pt>
              </c:strCache>
            </c:strRef>
          </c:tx>
          <c:spPr>
            <a:solidFill>
              <a:srgbClr val="C77B26"/>
            </a:solidFill>
            <a:ln w="28440">
              <a:solidFill>
                <a:srgbClr val="C77B26"/>
              </a:solidFill>
              <a:round/>
            </a:ln>
          </c:spPr>
          <c:marker>
            <c:symbol val="circle"/>
            <c:size val="6"/>
            <c:spPr>
              <a:solidFill>
                <a:srgbClr val="C77B26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  <c:pt idx="4">
                  <c:v>500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40</c:v>
                </c:pt>
                <c:pt idx="1">
                  <c:v>240</c:v>
                </c:pt>
                <c:pt idx="2">
                  <c:v>521</c:v>
                </c:pt>
                <c:pt idx="3">
                  <c:v>1132</c:v>
                </c:pt>
                <c:pt idx="4">
                  <c:v>3164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Embedded</c:v>
                </c:pt>
              </c:strCache>
            </c:strRef>
          </c:tx>
          <c:spPr>
            <a:solidFill>
              <a:srgbClr val="6B8FA3"/>
            </a:solidFill>
            <a:ln w="28440">
              <a:solidFill>
                <a:srgbClr val="6B8FA3"/>
              </a:solidFill>
              <a:round/>
            </a:ln>
          </c:spPr>
          <c:marker>
            <c:symbol val="circle"/>
            <c:size val="6"/>
            <c:spPr>
              <a:solidFill>
                <a:srgbClr val="6B8FA3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  <c:pt idx="4">
                  <c:v>500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5"/>
                <c:pt idx="0">
                  <c:v>57</c:v>
                </c:pt>
                <c:pt idx="1">
                  <c:v>394</c:v>
                </c:pt>
                <c:pt idx="2">
                  <c:v>904</c:v>
                </c:pt>
                <c:pt idx="3">
                  <c:v>2077</c:v>
                </c:pt>
                <c:pt idx="4">
                  <c:v>6228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22537878"/>
        <c:axId val="11292580"/>
      </c:lineChart>
      <c:catAx>
        <c:axId val="22537878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000" b="0" u="none" strike="noStrike">
                    <a:solidFill>
                      <a:srgbClr val="000000"/>
                    </a:solidFill>
                    <a:uFillTx/>
                    <a:latin typeface="Times New Roman"/>
                  </a:rPr>
                  <a:t>Size (KLOC)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Times New Roman"/>
              </a:defRPr>
            </a:pPr>
          </a:p>
        </c:txPr>
        <c:crossAx val="11292580"/>
        <c:crosses val="autoZero"/>
        <c:auto val="1"/>
        <c:lblAlgn val="ctr"/>
        <c:lblOffset val="100"/>
        <c:noMultiLvlLbl val="0"/>
      </c:catAx>
      <c:valAx>
        <c:axId val="11292580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000" b="0" u="none" strike="noStrike">
                    <a:solidFill>
                      <a:srgbClr val="000000"/>
                    </a:solidFill>
                    <a:uFillTx/>
                    <a:latin typeface="Times New Roman"/>
                  </a:rPr>
                  <a:t>Effort (person-months)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Times New Roman"/>
              </a:defRPr>
            </a:pPr>
          </a:p>
        </c:txPr>
        <c:crossAx val="22537878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200" b="0" u="none" strike="noStrike">
              <a:solidFill>
                <a:srgbClr val="000000"/>
              </a:solidFill>
              <a:uFillTx/>
              <a:latin typeface="Times New Roman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2DAD006-2937-4DA3-9B98-3358A0AB662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68C364-18F3-42C7-9F2E-12EFA49735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11FC04-97F1-4A09-A2BE-2075158B9E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43EB4C-3904-41A4-9459-DD540B8158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D75FFD-92EF-4D20-9F1F-8261D4245F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10EC5A-3368-4CE5-9060-88DFD6B4A7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8D6B2F-D7E8-4521-BF9F-5AC487B14C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CD1C39-AA11-45A1-A8B7-83ABE3A901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C18084-F9FF-473D-B6E7-BED694AB6C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E68753-5CD0-48F1-84D8-A1A494D13C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EE90A4-3F81-46D4-B8A6-9F7A64B294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CE85A5-B6F8-4242-BC01-35CB57D7C3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D9FFF7-A54C-4338-83AD-F1860C3947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ED799E-A9DE-46A7-986F-47E37068EE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56E85C-5AC9-4AFD-9E26-103FA06669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43E17E-FB91-4DD9-AE99-A63B6EBB01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AAF668-2A13-409E-A796-97B480AB14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00C994-2BF5-4121-9118-320D11E8C0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37CF48-CC56-4F3F-AE38-B9782F8A7D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731520" y="2011680"/>
            <a:ext cx="10698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Software Process Models II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731520" y="301752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D6E0EA"/>
                </a:solidFill>
                <a:effectLst/>
                <a:uFillTx/>
                <a:latin typeface="Times New Roman"/>
                <a:ea typeface="Times New Roman"/>
              </a:rPr>
              <a:t>Agile Methods &amp; Cost Estimation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731520" y="3749040"/>
            <a:ext cx="10698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AFC2D2"/>
                </a:solidFill>
                <a:effectLst/>
                <a:uFillTx/>
                <a:latin typeface="Times New Roman"/>
                <a:ea typeface="Times New Roman"/>
              </a:rPr>
              <a:t>Spiral Model  •  Agile  •  Unified Process  •  Choosing a Model  •  COCOMO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548640" y="41148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The Spiral Model — Overview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548640" y="1371600"/>
            <a:ext cx="11063880" cy="51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The Spiral Model is a risk-driven, cyclical process model: instead of one pass through development, the project loops through the same four activities repeatedly.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Each trip around the spiral (each loop) is one iteration; the system becomes more complete and less risky after every cycle.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The radius of the spiral represents cumulative project cost — each loop is more expensive than the last because more has already been built.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The number of loops is not fixed in advance — risk analysis in each cycle decides whether the project needs another spiral.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It is best suited to large, high-risk, high-cost projects where getting requirements wrong late would be catastrophic.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48640" y="41148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Spiral Model — Four Quadrants per Cycle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320040" y="1645920"/>
            <a:ext cx="2102760" cy="959760"/>
          </a:xfrm>
          <a:prstGeom prst="roundRect">
            <a:avLst>
              <a:gd name="adj" fmla="val 5714"/>
            </a:avLst>
          </a:prstGeom>
          <a:solidFill>
            <a:srgbClr val="E8EEF3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320040" y="1645920"/>
            <a:ext cx="2102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1. Objectives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Determine objectives,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alternatives, constraints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4709160" y="1645920"/>
            <a:ext cx="2102760" cy="959760"/>
          </a:xfrm>
          <a:prstGeom prst="roundRect">
            <a:avLst>
              <a:gd name="adj" fmla="val 5714"/>
            </a:avLst>
          </a:prstGeom>
          <a:solidFill>
            <a:srgbClr val="E8EEF3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4709160" y="1645920"/>
            <a:ext cx="2102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2. Risk Analysis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Evaluate alternatives,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identify &amp; resolve risks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320040" y="4892040"/>
            <a:ext cx="2102760" cy="959760"/>
          </a:xfrm>
          <a:prstGeom prst="roundRect">
            <a:avLst>
              <a:gd name="adj" fmla="val 5714"/>
            </a:avLst>
          </a:prstGeom>
          <a:solidFill>
            <a:srgbClr val="E8EEF3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320040" y="4892040"/>
            <a:ext cx="2102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4. Planning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Review progress, plan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the next spiral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7"/>
          <p:cNvSpPr/>
          <p:nvPr/>
        </p:nvSpPr>
        <p:spPr>
          <a:xfrm>
            <a:off x="4709160" y="4892040"/>
            <a:ext cx="2102760" cy="959760"/>
          </a:xfrm>
          <a:prstGeom prst="roundRect">
            <a:avLst>
              <a:gd name="adj" fmla="val 5714"/>
            </a:avLst>
          </a:prstGeom>
          <a:solidFill>
            <a:srgbClr val="E8EEF3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4709160" y="4892040"/>
            <a:ext cx="2102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3. Engineering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Develop and verify the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next-level product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9"/>
          <p:cNvSpPr/>
          <p:nvPr/>
        </p:nvSpPr>
        <p:spPr>
          <a:xfrm>
            <a:off x="2560320" y="2743200"/>
            <a:ext cx="2011320" cy="2011320"/>
          </a:xfrm>
          <a:prstGeom prst="ellipse">
            <a:avLst/>
          </a:prstGeom>
          <a:noFill/>
          <a:ln w="15875">
            <a:solidFill>
              <a:srgbClr val="3D5A7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0"/>
          <p:cNvSpPr/>
          <p:nvPr/>
        </p:nvSpPr>
        <p:spPr>
          <a:xfrm>
            <a:off x="2880360" y="3063240"/>
            <a:ext cx="1371240" cy="1371240"/>
          </a:xfrm>
          <a:prstGeom prst="ellipse">
            <a:avLst/>
          </a:prstGeom>
          <a:noFill/>
          <a:ln w="15875">
            <a:solidFill>
              <a:srgbClr val="3D5A7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1"/>
          <p:cNvSpPr/>
          <p:nvPr/>
        </p:nvSpPr>
        <p:spPr>
          <a:xfrm>
            <a:off x="3200400" y="3383280"/>
            <a:ext cx="731160" cy="731160"/>
          </a:xfrm>
          <a:prstGeom prst="ellipse">
            <a:avLst/>
          </a:prstGeom>
          <a:noFill/>
          <a:ln w="15875">
            <a:solidFill>
              <a:srgbClr val="3D5A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3200400" y="3584520"/>
            <a:ext cx="731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Start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7223760" y="1737360"/>
            <a:ext cx="43887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Each loop of the spiral is one iteration — the system grows more complete after every cycle.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The spiral's radius represents cumulative project cost; each loop costs more than the last.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The number of loops is not fixed — risk analysis (quadrant 2) decides whether another spiral is needed.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548640" y="41148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Spiral Model — Why It Controls Risk Better Than Waterfall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548640" y="128016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Risk analysis is not a one-time activity in Spiral — it happens explicitly every cycle, before more money is committed: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" name="Chart 0"/>
          <p:cNvGraphicFramePr/>
          <p:nvPr/>
        </p:nvGraphicFramePr>
        <p:xfrm>
          <a:off x="548640" y="1828800"/>
          <a:ext cx="5120280" cy="329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2" name="Text 2"/>
          <p:cNvSpPr/>
          <p:nvPr/>
        </p:nvSpPr>
        <p:spPr>
          <a:xfrm>
            <a:off x="5943600" y="1828800"/>
            <a:ext cx="56689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Risk found early — if a risk can't be resolved, the project can stop before the biggest costs are spent, unlike waterfall, which surfaces risk mainly at verification.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Prototype-and-check — the Engineering quadrant often builds a prototype specifically to test the riskiest assumption, not the whole system.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Explicit go/no-go — the Planning quadrant is a real decision point (continue, redirect, or cancel), repeated at every loop.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548640" y="41148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Agile Software Development — Core Values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548640" y="1371600"/>
            <a:ext cx="11063880" cy="51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These four value statements come from the Agile Manifesto (2001). Each says the left side is valued more — not that the right side is worthless.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Individuals and interactions over processes and tools.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Working software over comprehensive documentation.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Customer collaboration over contract negotiation.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Responding to change over following a rigid plan.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548640" y="41148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Beyond the Four Values — Supporting Principles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548640" y="1371600"/>
            <a:ext cx="11063880" cy="51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The Manifesto also lists 12 supporting principles. Key ones include: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Satisfy the customer through early and continuous delivery of valuable software.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Welcome changing requirements, even late in development.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Deliver working software frequently — in weeks, not months.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Business people and developers must work together daily throughout the project.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Reflect regularly as a team on how to become more effective, then tune and adjust behavior.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548640" y="41148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Scrum — Sprint Workflow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548640" y="128016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Scrum organizes work into fixed-length sprints (2–4 weeks). The same cycle repeats every sprint: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571680" y="2011680"/>
            <a:ext cx="1645560" cy="959760"/>
          </a:xfrm>
          <a:prstGeom prst="roundRect">
            <a:avLst>
              <a:gd name="adj" fmla="val 5714"/>
            </a:avLst>
          </a:prstGeom>
          <a:solidFill>
            <a:srgbClr val="E8EEF3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571680" y="2011680"/>
            <a:ext cx="16455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Product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Backlog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2217240" y="2491560"/>
            <a:ext cx="228600" cy="360"/>
          </a:xfrm>
          <a:prstGeom prst="line">
            <a:avLst/>
          </a:prstGeom>
          <a:ln w="25400">
            <a:solidFill>
              <a:srgbClr val="3D5A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5"/>
          <p:cNvSpPr/>
          <p:nvPr/>
        </p:nvSpPr>
        <p:spPr>
          <a:xfrm>
            <a:off x="2446200" y="2011680"/>
            <a:ext cx="1645560" cy="959760"/>
          </a:xfrm>
          <a:prstGeom prst="roundRect">
            <a:avLst>
              <a:gd name="adj" fmla="val 5714"/>
            </a:avLst>
          </a:prstGeom>
          <a:solidFill>
            <a:srgbClr val="E8EEF3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2446200" y="2011680"/>
            <a:ext cx="16455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Sprint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Planning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4091760" y="2491560"/>
            <a:ext cx="228600" cy="360"/>
          </a:xfrm>
          <a:prstGeom prst="line">
            <a:avLst/>
          </a:prstGeom>
          <a:ln w="25400">
            <a:solidFill>
              <a:srgbClr val="3D5A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8"/>
          <p:cNvSpPr/>
          <p:nvPr/>
        </p:nvSpPr>
        <p:spPr>
          <a:xfrm>
            <a:off x="4320720" y="2011680"/>
            <a:ext cx="1645560" cy="959760"/>
          </a:xfrm>
          <a:prstGeom prst="roundRect">
            <a:avLst>
              <a:gd name="adj" fmla="val 5714"/>
            </a:avLst>
          </a:prstGeom>
          <a:solidFill>
            <a:srgbClr val="E8EEF3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4320720" y="2011680"/>
            <a:ext cx="16455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Sprint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(2–4 wks)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5966280" y="2491560"/>
            <a:ext cx="228600" cy="360"/>
          </a:xfrm>
          <a:prstGeom prst="line">
            <a:avLst/>
          </a:prstGeom>
          <a:ln w="25400">
            <a:solidFill>
              <a:srgbClr val="3D5A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1"/>
          <p:cNvSpPr/>
          <p:nvPr/>
        </p:nvSpPr>
        <p:spPr>
          <a:xfrm>
            <a:off x="6195240" y="2011680"/>
            <a:ext cx="1645560" cy="959760"/>
          </a:xfrm>
          <a:prstGeom prst="roundRect">
            <a:avLst>
              <a:gd name="adj" fmla="val 5714"/>
            </a:avLst>
          </a:prstGeom>
          <a:solidFill>
            <a:srgbClr val="E8EEF3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6195240" y="2011680"/>
            <a:ext cx="16455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Daily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Stand-up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3"/>
          <p:cNvSpPr/>
          <p:nvPr/>
        </p:nvSpPr>
        <p:spPr>
          <a:xfrm>
            <a:off x="7840800" y="2491560"/>
            <a:ext cx="228600" cy="360"/>
          </a:xfrm>
          <a:prstGeom prst="line">
            <a:avLst/>
          </a:prstGeom>
          <a:ln w="25400">
            <a:solidFill>
              <a:srgbClr val="3D5A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4"/>
          <p:cNvSpPr/>
          <p:nvPr/>
        </p:nvSpPr>
        <p:spPr>
          <a:xfrm>
            <a:off x="8069760" y="2011680"/>
            <a:ext cx="1645560" cy="959760"/>
          </a:xfrm>
          <a:prstGeom prst="roundRect">
            <a:avLst>
              <a:gd name="adj" fmla="val 5714"/>
            </a:avLst>
          </a:prstGeom>
          <a:solidFill>
            <a:srgbClr val="E8EEF3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5"/>
          <p:cNvSpPr/>
          <p:nvPr/>
        </p:nvSpPr>
        <p:spPr>
          <a:xfrm>
            <a:off x="8069760" y="2011680"/>
            <a:ext cx="16455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Sprint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Review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6"/>
          <p:cNvSpPr/>
          <p:nvPr/>
        </p:nvSpPr>
        <p:spPr>
          <a:xfrm>
            <a:off x="9715320" y="2491560"/>
            <a:ext cx="228600" cy="360"/>
          </a:xfrm>
          <a:prstGeom prst="line">
            <a:avLst/>
          </a:prstGeom>
          <a:ln w="25400">
            <a:solidFill>
              <a:srgbClr val="3D5A7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7"/>
          <p:cNvSpPr/>
          <p:nvPr/>
        </p:nvSpPr>
        <p:spPr>
          <a:xfrm>
            <a:off x="9944280" y="2011680"/>
            <a:ext cx="1645560" cy="959760"/>
          </a:xfrm>
          <a:prstGeom prst="roundRect">
            <a:avLst>
              <a:gd name="adj" fmla="val 5714"/>
            </a:avLst>
          </a:prstGeom>
          <a:solidFill>
            <a:srgbClr val="E8EEF3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8"/>
          <p:cNvSpPr/>
          <p:nvPr/>
        </p:nvSpPr>
        <p:spPr>
          <a:xfrm>
            <a:off x="9944280" y="2011680"/>
            <a:ext cx="16455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Retrospective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9"/>
          <p:cNvSpPr/>
          <p:nvPr/>
        </p:nvSpPr>
        <p:spPr>
          <a:xfrm>
            <a:off x="4251960" y="32918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3D5A73"/>
                </a:solidFill>
                <a:effectLst/>
                <a:uFillTx/>
                <a:latin typeface="Times New Roman"/>
                <a:ea typeface="Times New Roman"/>
              </a:rPr>
              <a:t>Cycle repeats for the next sprint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7" name="Table 0"/>
          <p:cNvGraphicFramePr/>
          <p:nvPr/>
        </p:nvGraphicFramePr>
        <p:xfrm>
          <a:off x="548640" y="4114800"/>
          <a:ext cx="11063880" cy="1221120"/>
        </p:xfrm>
        <a:graphic>
          <a:graphicData uri="http://schemas.openxmlformats.org/drawingml/2006/table">
            <a:tbl>
              <a:tblPr/>
              <a:tblGrid>
                <a:gridCol w="2560320"/>
                <a:gridCol w="850392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Role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Responsibility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Product Owner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Owns and prioritizes the product backlog; represents customer / business value.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Scrum Master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Removes blockers, protects the team from disruption, coaches the Scrum process.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Development Team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Small, self-organizing, cross-functional group that builds the increment.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548640" y="41148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Extreme Programming (XP) — Core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548640" y="1371600"/>
            <a:ext cx="11063880" cy="51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Pair programming — two developers work together at one workstation, continuously reviewing each other's code.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Test-first development — the test is written before the code that makes it pass.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Continuous integration — code is merged and tested constantly, not saved up for a big merge.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Simple design — build only what is needed right now, avoiding speculative complexity.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Small releases with an on-site customer — short release cycles paired with direct, fast customer feedback.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548640" y="41148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Kanban — Visualizing Flow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548640" y="128016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Kanban visualizes workflow on a board, with columns representing stages and cards representing work items: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"/>
          <p:cNvSpPr/>
          <p:nvPr/>
        </p:nvSpPr>
        <p:spPr>
          <a:xfrm>
            <a:off x="457200" y="1965960"/>
            <a:ext cx="2605680" cy="639720"/>
          </a:xfrm>
          <a:prstGeom prst="roundRect">
            <a:avLst>
              <a:gd name="adj" fmla="val 8571"/>
            </a:avLst>
          </a:prstGeom>
          <a:solidFill>
            <a:srgbClr val="1F3B57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457200" y="1965960"/>
            <a:ext cx="2605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To Do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4"/>
          <p:cNvSpPr/>
          <p:nvPr/>
        </p:nvSpPr>
        <p:spPr>
          <a:xfrm>
            <a:off x="594360" y="2788920"/>
            <a:ext cx="2331360" cy="502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594360" y="278892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Item 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6"/>
          <p:cNvSpPr/>
          <p:nvPr/>
        </p:nvSpPr>
        <p:spPr>
          <a:xfrm>
            <a:off x="594360" y="3401640"/>
            <a:ext cx="2331360" cy="502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594360" y="340164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Item B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8"/>
          <p:cNvSpPr/>
          <p:nvPr/>
        </p:nvSpPr>
        <p:spPr>
          <a:xfrm>
            <a:off x="594360" y="4014360"/>
            <a:ext cx="2331360" cy="502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9"/>
          <p:cNvSpPr/>
          <p:nvPr/>
        </p:nvSpPr>
        <p:spPr>
          <a:xfrm>
            <a:off x="594360" y="401436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Item 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0"/>
          <p:cNvSpPr/>
          <p:nvPr/>
        </p:nvSpPr>
        <p:spPr>
          <a:xfrm>
            <a:off x="3337560" y="1965960"/>
            <a:ext cx="2605680" cy="639720"/>
          </a:xfrm>
          <a:prstGeom prst="roundRect">
            <a:avLst>
              <a:gd name="adj" fmla="val 8571"/>
            </a:avLst>
          </a:prstGeom>
          <a:solidFill>
            <a:srgbClr val="1F3B57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1"/>
          <p:cNvSpPr/>
          <p:nvPr/>
        </p:nvSpPr>
        <p:spPr>
          <a:xfrm>
            <a:off x="3337560" y="1965960"/>
            <a:ext cx="2605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In Progress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(WIP limit: 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2"/>
          <p:cNvSpPr/>
          <p:nvPr/>
        </p:nvSpPr>
        <p:spPr>
          <a:xfrm>
            <a:off x="3474720" y="2788920"/>
            <a:ext cx="2331360" cy="502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3"/>
          <p:cNvSpPr/>
          <p:nvPr/>
        </p:nvSpPr>
        <p:spPr>
          <a:xfrm>
            <a:off x="3474720" y="278892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Item 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4"/>
          <p:cNvSpPr/>
          <p:nvPr/>
        </p:nvSpPr>
        <p:spPr>
          <a:xfrm>
            <a:off x="3474720" y="3401640"/>
            <a:ext cx="2331360" cy="502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5"/>
          <p:cNvSpPr/>
          <p:nvPr/>
        </p:nvSpPr>
        <p:spPr>
          <a:xfrm>
            <a:off x="3474720" y="340164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Item 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6"/>
          <p:cNvSpPr/>
          <p:nvPr/>
        </p:nvSpPr>
        <p:spPr>
          <a:xfrm>
            <a:off x="6217920" y="1965960"/>
            <a:ext cx="2605680" cy="639720"/>
          </a:xfrm>
          <a:prstGeom prst="roundRect">
            <a:avLst>
              <a:gd name="adj" fmla="val 8571"/>
            </a:avLst>
          </a:prstGeom>
          <a:solidFill>
            <a:srgbClr val="1F3B57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7"/>
          <p:cNvSpPr/>
          <p:nvPr/>
        </p:nvSpPr>
        <p:spPr>
          <a:xfrm>
            <a:off x="6217920" y="1965960"/>
            <a:ext cx="2605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Review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8"/>
          <p:cNvSpPr/>
          <p:nvPr/>
        </p:nvSpPr>
        <p:spPr>
          <a:xfrm>
            <a:off x="6355080" y="2788920"/>
            <a:ext cx="2331360" cy="502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9"/>
          <p:cNvSpPr/>
          <p:nvPr/>
        </p:nvSpPr>
        <p:spPr>
          <a:xfrm>
            <a:off x="6355080" y="278892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Item F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0"/>
          <p:cNvSpPr/>
          <p:nvPr/>
        </p:nvSpPr>
        <p:spPr>
          <a:xfrm>
            <a:off x="9098280" y="1965960"/>
            <a:ext cx="2605680" cy="639720"/>
          </a:xfrm>
          <a:prstGeom prst="roundRect">
            <a:avLst>
              <a:gd name="adj" fmla="val 8571"/>
            </a:avLst>
          </a:prstGeom>
          <a:solidFill>
            <a:srgbClr val="1F3B57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1"/>
          <p:cNvSpPr/>
          <p:nvPr/>
        </p:nvSpPr>
        <p:spPr>
          <a:xfrm>
            <a:off x="9098280" y="1965960"/>
            <a:ext cx="2605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Done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2"/>
          <p:cNvSpPr/>
          <p:nvPr/>
        </p:nvSpPr>
        <p:spPr>
          <a:xfrm>
            <a:off x="9235440" y="2788920"/>
            <a:ext cx="2331360" cy="502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3"/>
          <p:cNvSpPr/>
          <p:nvPr/>
        </p:nvSpPr>
        <p:spPr>
          <a:xfrm>
            <a:off x="9235440" y="278892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Item 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4"/>
          <p:cNvSpPr/>
          <p:nvPr/>
        </p:nvSpPr>
        <p:spPr>
          <a:xfrm>
            <a:off x="9235440" y="3401640"/>
            <a:ext cx="2331360" cy="502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5"/>
          <p:cNvSpPr/>
          <p:nvPr/>
        </p:nvSpPr>
        <p:spPr>
          <a:xfrm>
            <a:off x="9235440" y="340164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Item 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6"/>
          <p:cNvSpPr/>
          <p:nvPr/>
        </p:nvSpPr>
        <p:spPr>
          <a:xfrm>
            <a:off x="548640" y="521208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"In Progress" is capped at 2 cards — that is the WIP (work-in-progress) limit in action, preventing the team from starting more than it can finish.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7"/>
          <p:cNvSpPr/>
          <p:nvPr/>
        </p:nvSpPr>
        <p:spPr>
          <a:xfrm>
            <a:off x="548640" y="580644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Kanban has no fixed sprints — work flows continuously as capacity allows, unlike Scrum's timeboxed sprints.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548640" y="41148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The Unified Process — Effort by Phase and Discipline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548640" y="1234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UP is use-case driven, architecture-centric, and both iterative and incremental. Relative effort shifts smoothly across phases (the classic “hump chart”):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0" name="Chart 0"/>
          <p:cNvGraphicFramePr/>
          <p:nvPr/>
        </p:nvGraphicFramePr>
        <p:xfrm>
          <a:off x="822960" y="2011680"/>
          <a:ext cx="10515240" cy="329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1" name="Text 2"/>
          <p:cNvSpPr/>
          <p:nvPr/>
        </p:nvSpPr>
        <p:spPr>
          <a:xfrm>
            <a:off x="548640" y="544068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Effort moves smoothly between disciplines rather than jumping in strict phases like waterfall — this is why UP is called iterative and incremental.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548640" y="41148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The Unified Process — Key Characteristics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548640" y="1371600"/>
            <a:ext cx="11063880" cy="51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Use-case driven — requirements are captured and tracked as use cases, which also drive design, implementation, and testing.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Architecture-centric — a stable architecture baseline is established early (during Elaboration) so later work builds on solid ground.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Iterative and incremental — each phase runs one or more iterations, and each iteration produces a usable, tested release, not just a document.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Combines best practices — iterative development, requirements management, component-based architecture, visual modeling, quality verification, and change control.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UP is closely associated with UML (Unified Modeling Language) — use-case, class, and sequence diagrams are its standard notation.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548640" y="41148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Choosing the Right Process Model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5" name="Table 0"/>
          <p:cNvGraphicFramePr/>
          <p:nvPr/>
        </p:nvGraphicFramePr>
        <p:xfrm>
          <a:off x="548640" y="1463040"/>
          <a:ext cx="11063880" cy="1922400"/>
        </p:xfrm>
        <a:graphic>
          <a:graphicData uri="http://schemas.openxmlformats.org/drawingml/2006/table">
            <a:tbl>
              <a:tblPr/>
              <a:tblGrid>
                <a:gridCol w="5943600"/>
                <a:gridCol w="512064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Project Situation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Recommended Model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Requirements well understood, stable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Waterfall / V-Model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Requirements unclear or evolving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Prototyping / Agile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Large system, limited early staffing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Incremental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High-risk, mission-critical project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Spiral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Fast delivery, modular, business system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RAD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548640" y="41148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COCOMO — Estimating Effort from Size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548640" y="1371600"/>
            <a:ext cx="11063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Effort = a × (KLOC)^b   person-months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KLOC = size in thousands of lines of code; a and b are mode-specific constants.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8" name="Table 0"/>
          <p:cNvGraphicFramePr/>
          <p:nvPr/>
        </p:nvGraphicFramePr>
        <p:xfrm>
          <a:off x="548640" y="2560320"/>
          <a:ext cx="5851800" cy="1221120"/>
        </p:xfrm>
        <a:graphic>
          <a:graphicData uri="http://schemas.openxmlformats.org/drawingml/2006/table">
            <a:tbl>
              <a:tblPr/>
              <a:tblGrid>
                <a:gridCol w="3840480"/>
                <a:gridCol w="1005840"/>
                <a:gridCol w="100584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Mode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a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b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Organic (small, familiar team)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2.4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1.05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Semi-detached (mixed experience)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3.0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1.12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Embedded (complex, tight constraints)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3.6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1.20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" name="Text 2"/>
          <p:cNvSpPr/>
          <p:nvPr/>
        </p:nvSpPr>
        <p:spPr>
          <a:xfrm>
            <a:off x="6675120" y="2560320"/>
            <a:ext cx="493740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Because b &gt; 1, effort grows faster than size: doubling the code more than doubles the work — large systems need disproportionately more coordination.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548640" y="41148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COCOMO — Effort vs. Size (KLOC)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1" name="Chart 0"/>
          <p:cNvGraphicFramePr/>
          <p:nvPr/>
        </p:nvGraphicFramePr>
        <p:xfrm>
          <a:off x="822960" y="1417320"/>
          <a:ext cx="10515240" cy="402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2" name="Text 1"/>
          <p:cNvSpPr/>
          <p:nvPr/>
        </p:nvSpPr>
        <p:spPr>
          <a:xfrm>
            <a:off x="548640" y="557784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Embedded-mode projects cost the most effort for the same size, because they carry the tightest constraints and complexity.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548640" y="41148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COCOMO — A Worked Example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548640" y="1371600"/>
            <a:ext cx="11063880" cy="51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Scenario: a small, experienced in-house team is building a 50 KLOC internal tool with few external constraints — a textbook Organic-mode project.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Step 1 — Identify the mode: small team, familiar domain, few constraints → Organic (a = 2.4, b = 1.05).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Step 2 — Plug into the formula: Effort = 2.4 × (50)^1.05 = 2.4 × 60.8 ≈ 146 person-months.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Step 3 — Convert to a schedule: with a 10-person team, Duration ≈ 146 ÷ 10 ≈ 14.6 months.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Step 4 — Sanity-check: COCOMO gives a starting estimate, not a guarantee — always cross-check against team velocity and past projects.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548640" y="41148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What Makes a Model “Agile”?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548640" y="1280160"/>
            <a:ext cx="110638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Agile is an umbrella term for iterative, incremental process models that deliver working software in short cycles, adapt readily to changing requirements, and favor direct communication over heavyweight process.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•  Not a single method — Scrum, XP, and Kanban are all agile.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•  The Agile Manifesto (2001) states values, not a fixed process.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•  Agility is a spectrum: teams can be more or less agile, not simply “agile or not.”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1783080" y="4137480"/>
            <a:ext cx="8595360" cy="360"/>
          </a:xfrm>
          <a:prstGeom prst="line">
            <a:avLst/>
          </a:prstGeom>
          <a:ln w="25400">
            <a:solidFill>
              <a:srgbClr val="3D5A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"/>
          <p:cNvSpPr/>
          <p:nvPr/>
        </p:nvSpPr>
        <p:spPr>
          <a:xfrm>
            <a:off x="822960" y="3749040"/>
            <a:ext cx="1919880" cy="776880"/>
          </a:xfrm>
          <a:prstGeom prst="roundRect">
            <a:avLst>
              <a:gd name="adj" fmla="val 7059"/>
            </a:avLst>
          </a:prstGeom>
          <a:solidFill>
            <a:srgbClr val="F4F1E8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822960" y="374904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Waterfall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5"/>
          <p:cNvSpPr/>
          <p:nvPr/>
        </p:nvSpPr>
        <p:spPr>
          <a:xfrm>
            <a:off x="2971800" y="3749040"/>
            <a:ext cx="1919880" cy="776880"/>
          </a:xfrm>
          <a:prstGeom prst="roundRect">
            <a:avLst>
              <a:gd name="adj" fmla="val 7059"/>
            </a:avLst>
          </a:prstGeom>
          <a:solidFill>
            <a:srgbClr val="E8EEF3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2971800" y="374904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Spiral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7"/>
          <p:cNvSpPr/>
          <p:nvPr/>
        </p:nvSpPr>
        <p:spPr>
          <a:xfrm>
            <a:off x="5120640" y="3749040"/>
            <a:ext cx="1919880" cy="776880"/>
          </a:xfrm>
          <a:prstGeom prst="roundRect">
            <a:avLst>
              <a:gd name="adj" fmla="val 7059"/>
            </a:avLst>
          </a:prstGeom>
          <a:solidFill>
            <a:srgbClr val="E8EEF3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8"/>
          <p:cNvSpPr/>
          <p:nvPr/>
        </p:nvSpPr>
        <p:spPr>
          <a:xfrm>
            <a:off x="5120640" y="374904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RUP / UP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9"/>
          <p:cNvSpPr/>
          <p:nvPr/>
        </p:nvSpPr>
        <p:spPr>
          <a:xfrm>
            <a:off x="7269480" y="3749040"/>
            <a:ext cx="1919880" cy="776880"/>
          </a:xfrm>
          <a:prstGeom prst="roundRect">
            <a:avLst>
              <a:gd name="adj" fmla="val 7059"/>
            </a:avLst>
          </a:prstGeom>
          <a:solidFill>
            <a:srgbClr val="E8EEF3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7269480" y="374904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Scrum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1"/>
          <p:cNvSpPr/>
          <p:nvPr/>
        </p:nvSpPr>
        <p:spPr>
          <a:xfrm>
            <a:off x="9418320" y="3749040"/>
            <a:ext cx="1919880" cy="776880"/>
          </a:xfrm>
          <a:prstGeom prst="roundRect">
            <a:avLst>
              <a:gd name="adj" fmla="val 7059"/>
            </a:avLst>
          </a:prstGeom>
          <a:solidFill>
            <a:srgbClr val="1F3B57"/>
          </a:solidFill>
          <a:ln w="15875">
            <a:solidFill>
              <a:srgbClr val="1F3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9418320" y="374904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XP / Kanban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822960" y="46634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3D5A73"/>
                </a:solidFill>
                <a:effectLst/>
                <a:uFillTx/>
                <a:latin typeface="Times New Roman"/>
                <a:ea typeface="Times New Roman"/>
              </a:rPr>
              <a:t>← less agile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4"/>
          <p:cNvSpPr/>
          <p:nvPr/>
        </p:nvSpPr>
        <p:spPr>
          <a:xfrm>
            <a:off x="9326880" y="46634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3D5A73"/>
                </a:solidFill>
                <a:effectLst/>
                <a:uFillTx/>
                <a:latin typeface="Times New Roman"/>
                <a:ea typeface="Times New Roman"/>
              </a:rPr>
              <a:t>more agile →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548640" y="41148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Agile vs. Spiral vs. Waterfall — Risk Handling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1" name="Table 0"/>
          <p:cNvGraphicFramePr/>
          <p:nvPr/>
        </p:nvGraphicFramePr>
        <p:xfrm>
          <a:off x="548640" y="1463040"/>
          <a:ext cx="11063880" cy="12816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Model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How Risk Is Handled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Waterfall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Risk addressed mostly upfront in planning; little built-in mechanism to revisit risk later.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Spiral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Explicit, formal risk analysis every single cycle; best for high-risk, high-cost, mission-critical systems.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Agile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Risk absorbed continuously through short iterations; fast feedback substitutes for formal risk analysis.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0"/>
                      </a:solidFill>
                      <a:prstDash val="solid"/>
                    </a:lnL>
                    <a:lnR w="12240">
                      <a:solidFill>
                        <a:srgbClr val="CBD5E0"/>
                      </a:solidFill>
                      <a:prstDash val="solid"/>
                    </a:lnR>
                    <a:lnT w="12240">
                      <a:solidFill>
                        <a:srgbClr val="CBD5E0"/>
                      </a:solidFill>
                      <a:prstDash val="solid"/>
                    </a:lnT>
                    <a:lnB w="1224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/>
          <p:nvPr/>
        </p:nvSpPr>
        <p:spPr>
          <a:xfrm>
            <a:off x="548640" y="41148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3B57"/>
                </a:solidFill>
                <a:effectLst/>
                <a:uFillTx/>
                <a:latin typeface="Times New Roman"/>
                <a:ea typeface="Times New Roman"/>
              </a:rPr>
              <a:t>Summary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548640" y="1371600"/>
            <a:ext cx="11063880" cy="51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Spiral: a risk-driven, cyclical model — objectives, risk analysis, engineering, and planning repeat every loop until risk is acceptably low.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Agile: an umbrella of iterative, incremental methods (Scrum, XP, Kanban) built on the Manifesto's four values and 12 principles.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Unified Process: use-case driven and architecture-centric, with effort shifting smoothly across Inception, Elaboration, Construction, and Transition.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Choosing a model depends on how well requirements are understood, project size, risk, and delivery speed needed.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Times New Roman"/>
                <a:ea typeface="Times New Roman"/>
              </a:rPr>
              <a:t>COCOMO turns a size estimate (KLOC) into an effort estimate (person-months) via Effort = a × (KLOC)^b, with constants set by project mode.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Application>LibreOffice/26.2.5.2$Linux_X86_64 LibreOffice_project/cd7284b4cbbfeb507e630c1aac019f4157393acb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2026-08-03T08:04:22Z</dcterms:created>
  <dc:creator>PptxGenJS</dc:creator>
  <dc:description/>
  <dc:language>en-US</dc:language>
  <cp:lastModifiedBy/>
  <dcterms:modified xsi:type="dcterms:W3CDTF">2026-08-09T12:38:27Z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