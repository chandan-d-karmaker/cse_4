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designed to be self-contained: every metric has a formula, a worked example, and an actionable fix, so students shouldn't need outside reading to apply it to their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five topics. This session revisits Week 2's performance formulas (response time, throughput) with page-load-specific detail: Core Web Vitals, waterfalls, and the backend/frontend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most widely cited, well-sourced performance statistics in the industry — reference them directly when justifying a performance budget to a stakeholder or in a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 replaced First Input Delay (FID) as the official Core Web Vital in 2024 — mention this if students find older resources still referencing FID. All three are measured from real user visits, not just lab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diagnostic order: LCP failures are often the highest-impact fix (compress/preload the hero image or font); CLS failures are often the cheapest fix (reserve width/height attributes on images and ad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exactly what a student sees in their browser's DevTools Network panel. Point out hero.jpg — it's the LCP element, and its 'Queue' phase (waiting for a free connection) is a common, fixable delay via resource prioritisation (fetchpriority='high' or &lt;link rel=preload&gt;).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direct action plan for the waterfall on the previous slide — for each phase that's unusually long, there's a specific, named fix. Encourage students to open DevTools on their own project and classify each slow request by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ties directly to Week 2's Client-Server latency discussion and Week 6's graph/database metrics — TTFB is where backend performance and frontend Core Web Vitals meet: a slow TTFB caps how fast LCP can possibly be, no matter how optimised the frontend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explanation for why 'render-blocking resources' show up as a common Lighthouse warning — connect it directly to the frontend optimisation checklist coming up (defer/async scripts, critical CSS inlining).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performance budgeting as arithmetic, not guesswork — the same reasoning students used for Week 2's load-time formula, now applied specifically to hitting an LCP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row's 'Targets' column ties directly back to the Core Web Vitals table from earlier — this checklist is meant to be run literally against a student's own project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directly back to Slide 8's TTFB worked example — 'add an index' is literally the fix shown there, now generalised into a checklist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a request only reaches the database cache if it misses every layer above it. This is the same 'reduce round trips' principle from Week 2's CDN case study, now generalised across all four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engineering metrics (LCP, TTFB) earlier and the business metrics (bounce rate, conversion rate) that a stakeholder actually cares about — use it to justify performance work in business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deliberately chains together every tool from this session: Core Web Vitals to diagnose, the waterfall to locate the cause, the two checklists to fix it, and analytics to confirm the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percentile pitfall directly echoes Week 2's performance formula discussion — averages were flagged as misleading there too; this reinforces it in the page-load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before Week 5, which shifts to Development Methodologies — comparing Waterfall, Agile, RAD, and Spiral as different processes for building the systems we've been analysing.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key points. Bridge to Week 5: Development Methodologies, which shifts from analysing an existing system's quality to choosing the process used to build one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548640" y="2331720"/>
            <a:ext cx="11064240" cy="365760"/>
          </a:xfrm>
          <a:prstGeom prst="rect">
            <a:avLst/>
          </a:prstGeom>
          <a:noFill/>
          <a:ln/>
        </p:spPr>
        <p:txBody>
          <a:bodyPr wrap="square" lIns="0" tIns="0" rIns="0" bIns="0" rtlCol="0" anchor="ctr"/>
          <a:lstStyle/>
          <a:p>
            <a:pPr indent="0" marL="0">
              <a:buNone/>
            </a:pPr>
            <a:r>
              <a:rPr lang="en-US" sz="1500" dirty="0">
                <a:solidFill>
                  <a:srgbClr val="9FB3C8"/>
                </a:solidFill>
                <a:latin typeface="Times New Roman" pitchFamily="34" charset="0"/>
                <a:ea typeface="Times New Roman" pitchFamily="34" charset="-122"/>
                <a:cs typeface="Times New Roman" pitchFamily="34" charset="-120"/>
              </a:rPr>
              <a:t>CSE 0613-2209 · Web Programming</a:t>
            </a:r>
            <a:endParaRPr lang="en-US" sz="1500" dirty="0"/>
          </a:p>
        </p:txBody>
      </p:sp>
      <p:sp>
        <p:nvSpPr>
          <p:cNvPr id="3" name="Text 1"/>
          <p:cNvSpPr txBox="1"/>
          <p:nvPr/>
        </p:nvSpPr>
        <p:spPr>
          <a:xfrm>
            <a:off x="548640" y="2697480"/>
            <a:ext cx="11064240" cy="502920"/>
          </a:xfrm>
          <a:prstGeom prst="rect">
            <a:avLst/>
          </a:prstGeom>
          <a:noFill/>
          <a:ln/>
        </p:spPr>
        <p:txBody>
          <a:bodyPr wrap="square" lIns="0" tIns="0" rIns="0" bIns="0" rtlCol="0" anchor="ctr"/>
          <a:lstStyle/>
          <a:p>
            <a:pPr indent="0" marL="0">
              <a:buNone/>
            </a:pPr>
            <a:r>
              <a:rPr lang="en-US" sz="2000" b="1" dirty="0">
                <a:solidFill>
                  <a:srgbClr val="CADCFC"/>
                </a:solidFill>
                <a:latin typeface="Times New Roman" pitchFamily="34" charset="0"/>
                <a:ea typeface="Times New Roman" pitchFamily="34" charset="-122"/>
                <a:cs typeface="Times New Roman" pitchFamily="34" charset="-120"/>
              </a:rPr>
              <a:t>Module 2: Methodologies &amp; Analysis</a:t>
            </a:r>
            <a:endParaRPr lang="en-US" sz="2000" dirty="0"/>
          </a:p>
        </p:txBody>
      </p:sp>
      <p:sp>
        <p:nvSpPr>
          <p:cNvPr id="4" name="Text 2"/>
          <p:cNvSpPr txBox="1"/>
          <p:nvPr/>
        </p:nvSpPr>
        <p:spPr>
          <a:xfrm>
            <a:off x="548640" y="320040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Times New Roman" pitchFamily="34" charset="0"/>
                <a:ea typeface="Times New Roman" pitchFamily="34" charset="-122"/>
                <a:cs typeface="Times New Roman" pitchFamily="34" charset="-120"/>
              </a:rPr>
              <a:t>Week 4, Day 2 — Web Performance &amp; Analytics</a:t>
            </a:r>
            <a:endParaRPr lang="en-US" sz="3200" dirty="0"/>
          </a:p>
        </p:txBody>
      </p:sp>
      <p:sp>
        <p:nvSpPr>
          <p:cNvPr id="5" name="Shape 3"/>
          <p:cNvSpPr/>
          <p:nvPr/>
        </p:nvSpPr>
        <p:spPr>
          <a:xfrm>
            <a:off x="548640" y="4160520"/>
            <a:ext cx="2011680" cy="0"/>
          </a:xfrm>
          <a:prstGeom prst="line">
            <a:avLst/>
          </a:prstGeom>
          <a:noFill/>
          <a:ln w="19050">
            <a:solidFill>
              <a:srgbClr val="AFC2D2"/>
            </a:solidFill>
            <a:prstDash val="solid"/>
          </a:ln>
        </p:spPr>
      </p:sp>
      <p:sp>
        <p:nvSpPr>
          <p:cNvPr id="6" name="Text 4"/>
          <p:cNvSpPr txBox="1"/>
          <p:nvPr/>
        </p:nvSpPr>
        <p:spPr>
          <a:xfrm>
            <a:off x="548640" y="4343400"/>
            <a:ext cx="9509760" cy="640080"/>
          </a:xfrm>
          <a:prstGeom prst="rect">
            <a:avLst/>
          </a:prstGeom>
          <a:noFill/>
          <a:ln/>
        </p:spPr>
        <p:txBody>
          <a:bodyPr wrap="square" lIns="0" tIns="0" rIns="0" bIns="0" rtlCol="0" anchor="ctr"/>
          <a:lstStyle/>
          <a:p>
            <a:pPr indent="0" marL="0">
              <a:buNone/>
            </a:pPr>
            <a:r>
              <a:rPr lang="en-US" sz="1500" dirty="0">
                <a:solidFill>
                  <a:srgbClr val="D6E0EA"/>
                </a:solidFill>
                <a:latin typeface="Times New Roman" pitchFamily="34" charset="0"/>
                <a:ea typeface="Times New Roman" pitchFamily="34" charset="-122"/>
                <a:cs typeface="Times New Roman" pitchFamily="34" charset="-120"/>
              </a:rPr>
              <a:t>Core Web Vitals, reading a real network waterfall, backend/frontend optimisation checklists, and the analytics formulas that measure it all.</a:t>
            </a:r>
            <a:endParaRPr lang="en-US" sz="1500" dirty="0"/>
          </a:p>
        </p:txBody>
      </p:sp>
      <p:sp>
        <p:nvSpPr>
          <p:cNvPr id="7" name="Text 5"/>
          <p:cNvSpPr txBox="1"/>
          <p:nvPr/>
        </p:nvSpPr>
        <p:spPr>
          <a:xfrm>
            <a:off x="548640" y="6126480"/>
            <a:ext cx="11064240" cy="320040"/>
          </a:xfrm>
          <a:prstGeom prst="rect">
            <a:avLst/>
          </a:prstGeom>
          <a:noFill/>
          <a:ln/>
        </p:spPr>
        <p:txBody>
          <a:bodyPr wrap="square" lIns="0" tIns="0" rIns="0" bIns="0" rtlCol="0" anchor="ctr"/>
          <a:lstStyle/>
          <a:p>
            <a:pPr indent="0" marL="0">
              <a:buNone/>
            </a:pPr>
            <a:r>
              <a:rPr lang="en-US" sz="1200" dirty="0">
                <a:solidFill>
                  <a:srgbClr val="7A93AC"/>
                </a:solidFill>
                <a:latin typeface="Times New Roman" pitchFamily="34" charset="0"/>
                <a:ea typeface="Times New Roman" pitchFamily="34" charset="-122"/>
                <a:cs typeface="Times New Roman" pitchFamily="34" charset="-120"/>
              </a:rPr>
              <a:t>Department of Computer Science and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WEEK 4 · DAY 2</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This Session at a Glance</a:t>
            </a:r>
            <a:endParaRPr lang="en-US" sz="2800" dirty="0"/>
          </a:p>
        </p:txBody>
      </p:sp>
      <p:sp>
        <p:nvSpPr>
          <p:cNvPr id="4" name="Text 2"/>
          <p:cNvSpPr txBox="1"/>
          <p:nvPr/>
        </p:nvSpPr>
        <p:spPr>
          <a:xfrm>
            <a:off x="548640" y="1371600"/>
            <a:ext cx="6949440" cy="4572000"/>
          </a:xfrm>
          <a:prstGeom prst="rect">
            <a:avLst/>
          </a:prstGeom>
          <a:noFill/>
          <a:ln/>
        </p:spPr>
        <p:txBody>
          <a:bodyPr wrap="square" lIns="0" tIns="0" rIns="0" bIns="0" rtlCol="0" anchor="t"/>
          <a:lstStyle/>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Why performance is a revenue metric, not just an engineering one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Core Web Vitals — the three metrics Google uses to score a page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Reading a real network waterfall chart, phase by phase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Backend metrics (TTFB) and frontend metrics (rendering path)</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Actionable optimisation checklists, caching layers, and analytics formulas</a:t>
            </a:r>
            <a:endParaRPr lang="en-US" sz="1650" dirty="0"/>
          </a:p>
        </p:txBody>
      </p:sp>
      <p:sp>
        <p:nvSpPr>
          <p:cNvPr id="5" name="Shape 3"/>
          <p:cNvSpPr/>
          <p:nvPr/>
        </p:nvSpPr>
        <p:spPr>
          <a:xfrm>
            <a:off x="7680960" y="1371600"/>
            <a:ext cx="3017520" cy="4206240"/>
          </a:xfrm>
          <a:prstGeom prst="roundRect">
            <a:avLst>
              <a:gd name="adj" fmla="val 2424"/>
            </a:avLst>
          </a:prstGeom>
          <a:solidFill>
            <a:srgbClr val="E8EEF3"/>
          </a:solidFill>
          <a:ln w="15875">
            <a:solidFill>
              <a:srgbClr val="1F3B57"/>
            </a:solidFill>
            <a:prstDash val="solid"/>
          </a:ln>
        </p:spPr>
      </p:sp>
      <p:sp>
        <p:nvSpPr>
          <p:cNvPr id="6" name="Text 4"/>
          <p:cNvSpPr txBox="1"/>
          <p:nvPr/>
        </p:nvSpPr>
        <p:spPr>
          <a:xfrm>
            <a:off x="7882128" y="1499616"/>
            <a:ext cx="261518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Why This Matters</a:t>
            </a:r>
            <a:endParaRPr lang="en-US" sz="1600" dirty="0"/>
          </a:p>
        </p:txBody>
      </p:sp>
      <p:sp>
        <p:nvSpPr>
          <p:cNvPr id="7" name="Text 5"/>
          <p:cNvSpPr txBox="1"/>
          <p:nvPr/>
        </p:nvSpPr>
        <p:spPr>
          <a:xfrm>
            <a:off x="7882128" y="1874520"/>
            <a:ext cx="2615184" cy="35661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Performance is the quality attribute from Week 2 with the clearest dollar value — every metric today comes with a formula and a real, cited statistic connecting it to revenue.</a:t>
            </a:r>
            <a:endParaRPr lang="en-US" sz="13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9" name="Text 7"/>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THE BUSINESS CASE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Why Performance Matters — Real, Cited Numbers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5852160"/>
                <a:gridCol w="3200400"/>
              </a:tblGrid>
              <a:tr h="68580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Company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Finding</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Source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Amazon (2006)</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Every 100ms of added latency cost 1% in sales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Greg Linden, Amazon engineer — 'Make Data Useful' talk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Google (2006)</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An extra 500ms in search page generation cut traffic by 20%</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Marissa Mayer, Google — public conference talk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Walmart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Every 1 second improvement in page load time increased conversions by 2%</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Walmart.com performance case study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Akamai (2017)</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 100ms delay can cut conversion rates by up to 7%</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Akamai/SOASTA State of Online Retail Performance Report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CORE WEB VITALS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Core Web Vitals — Google's Three Scoring Metrics</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The three metrics Google uses to score real-world page experience, each with a 'good' threshold.</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200400"/>
                <a:gridCol w="5577840"/>
                <a:gridCol w="2286000"/>
              </a:tblGrid>
              <a:tr h="77724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Metric</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What It Measures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"Good" Threshold</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LCP — Largest Contentful Paint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Time until the largest visible element (hero image, headline) renders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 2.5 seconds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INP — Interaction to Next Paint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Delay between a user's click/tap and the next visual update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 200 milliseconds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CLS — Cumulative Layout Shift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How much visible content unexpectedly shifts position while loading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 0.1 (unitless score)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7"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WORKED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Worked Example — Scoring a Real Page</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50" dirty="0">
                <a:solidFill>
                  <a:srgbClr val="2B2B2B"/>
                </a:solidFill>
                <a:latin typeface="Times New Roman" pitchFamily="34" charset="0"/>
                <a:ea typeface="Times New Roman" pitchFamily="34" charset="-122"/>
                <a:cs typeface="Times New Roman" pitchFamily="34" charset="-120"/>
              </a:rPr>
              <a:t>Scenario — a product page reports: LCP = 3.1s, INP = 180ms, CLS = 0.18.</a:t>
            </a:r>
            <a:endParaRPr lang="en-US" sz="1550" dirty="0"/>
          </a:p>
          <a:p>
            <a:pPr marL="228600" indent="-228600">
              <a:spcAft>
                <a:spcPts val="1100"/>
              </a:spcAft>
              <a:buSzPct val="100000"/>
              <a:buChar char="▪"/>
            </a:pPr>
            <a:r>
              <a:rPr lang="en-US" sz="1550" dirty="0">
                <a:solidFill>
                  <a:srgbClr val="2B2B2B"/>
                </a:solidFill>
                <a:latin typeface="Times New Roman" pitchFamily="34" charset="0"/>
                <a:ea typeface="Times New Roman" pitchFamily="34" charset="-122"/>
                <a:cs typeface="Times New Roman" pitchFamily="34" charset="-120"/>
              </a:rPr>
              <a:t>Step 1 — compare LCP against the threshold: 3.1s &gt; 2.5s → this metric fails ('Needs Improvement' or 'Poor').</a:t>
            </a:r>
            <a:endParaRPr lang="en-US" sz="1550" dirty="0"/>
          </a:p>
          <a:p>
            <a:pPr marL="228600" indent="-228600">
              <a:spcAft>
                <a:spcPts val="1100"/>
              </a:spcAft>
              <a:buSzPct val="100000"/>
              <a:buChar char="▪"/>
            </a:pPr>
            <a:r>
              <a:rPr lang="en-US" sz="1550" dirty="0">
                <a:solidFill>
                  <a:srgbClr val="2B2B2B"/>
                </a:solidFill>
                <a:latin typeface="Times New Roman" pitchFamily="34" charset="0"/>
                <a:ea typeface="Times New Roman" pitchFamily="34" charset="-122"/>
                <a:cs typeface="Times New Roman" pitchFamily="34" charset="-120"/>
              </a:rPr>
              <a:t>Step 2 — compare INP: 180ms ≤ 200ms → this metric passes.</a:t>
            </a:r>
            <a:endParaRPr lang="en-US" sz="1550" dirty="0"/>
          </a:p>
          <a:p>
            <a:pPr marL="228600" indent="-228600">
              <a:spcAft>
                <a:spcPts val="1100"/>
              </a:spcAft>
              <a:buSzPct val="100000"/>
              <a:buChar char="▪"/>
            </a:pPr>
            <a:r>
              <a:rPr lang="en-US" sz="1550" dirty="0">
                <a:solidFill>
                  <a:srgbClr val="2B2B2B"/>
                </a:solidFill>
                <a:latin typeface="Times New Roman" pitchFamily="34" charset="0"/>
                <a:ea typeface="Times New Roman" pitchFamily="34" charset="-122"/>
                <a:cs typeface="Times New Roman" pitchFamily="34" charset="-120"/>
              </a:rPr>
              <a:t>Step 3 — compare CLS: 0.18 &gt; 0.1 → this metric fails, likely due to images or ads loading without reserved space.</a:t>
            </a:r>
            <a:endParaRPr lang="en-US" sz="1550" dirty="0"/>
          </a:p>
          <a:p>
            <a:pPr marL="228600" indent="-228600">
              <a:spcAft>
                <a:spcPts val="1100"/>
              </a:spcAft>
              <a:buSzPct val="100000"/>
              <a:buChar char="▪"/>
            </a:pPr>
            <a:r>
              <a:rPr lang="en-US" sz="1550" dirty="0">
                <a:solidFill>
                  <a:srgbClr val="2B2B2B"/>
                </a:solidFill>
                <a:latin typeface="Times New Roman" pitchFamily="34" charset="0"/>
                <a:ea typeface="Times New Roman" pitchFamily="34" charset="-122"/>
                <a:cs typeface="Times New Roman" pitchFamily="34" charset="-120"/>
              </a:rPr>
              <a:t>Step 4 — prioritise fixes: two of three metrics fail, so this page needs work before it will rank well in Google's page-experience signal — start with LCP (usually the biggest win) and CLS (usually the cheapest fix).</a:t>
            </a:r>
            <a:endParaRPr lang="en-US" sz="155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4.3</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 Real Network Waterfall Chart</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2B2B2B"/>
                </a:solidFill>
                <a:latin typeface="Times New Roman" pitchFamily="34" charset="0"/>
                <a:ea typeface="Times New Roman" pitchFamily="34" charset="-122"/>
                <a:cs typeface="Times New Roman" pitchFamily="34" charset="-120"/>
              </a:rPr>
              <a:t>Each row is one resource request; each colored segment is a phase of that request, drawn to scale in time.</a:t>
            </a:r>
            <a:endParaRPr lang="en-US" sz="1300" dirty="0"/>
          </a:p>
        </p:txBody>
      </p:sp>
      <p:sp>
        <p:nvSpPr>
          <p:cNvPr id="5" name="Text 3"/>
          <p:cNvSpPr txBox="1"/>
          <p:nvPr/>
        </p:nvSpPr>
        <p:spPr>
          <a:xfrm>
            <a:off x="548640" y="1783080"/>
            <a:ext cx="1737360" cy="566928"/>
          </a:xfrm>
          <a:prstGeom prst="rect">
            <a:avLst/>
          </a:prstGeom>
          <a:noFill/>
          <a:ln/>
        </p:spPr>
        <p:txBody>
          <a:bodyPr wrap="square" lIns="0" tIns="0" rIns="0" bIns="0" rtlCol="0" anchor="ctr"/>
          <a:lstStyle/>
          <a:p>
            <a:pPr indent="0" marL="0">
              <a:buNone/>
            </a:pPr>
            <a:r>
              <a:rPr lang="en-US" sz="1100" dirty="0">
                <a:solidFill>
                  <a:srgbClr val="2B2B2B"/>
                </a:solidFill>
                <a:latin typeface="Times New Roman" pitchFamily="34" charset="0"/>
                <a:ea typeface="Times New Roman" pitchFamily="34" charset="-122"/>
                <a:cs typeface="Times New Roman" pitchFamily="34" charset="-120"/>
              </a:rPr>
              <a:t>index.html</a:t>
            </a:r>
            <a:endParaRPr lang="en-US" sz="1100" dirty="0"/>
          </a:p>
        </p:txBody>
      </p:sp>
      <p:sp>
        <p:nvSpPr>
          <p:cNvPr id="6" name="Shape 4"/>
          <p:cNvSpPr/>
          <p:nvPr/>
        </p:nvSpPr>
        <p:spPr>
          <a:xfrm>
            <a:off x="2377440" y="1868119"/>
            <a:ext cx="219456" cy="396850"/>
          </a:xfrm>
          <a:prstGeom prst="rect">
            <a:avLst/>
          </a:prstGeom>
          <a:solidFill>
            <a:srgbClr val="9FB3C8"/>
          </a:solidFill>
          <a:ln w="6350">
            <a:solidFill>
              <a:srgbClr val="FFFFFF"/>
            </a:solidFill>
            <a:prstDash val="solid"/>
          </a:ln>
        </p:spPr>
      </p:sp>
      <p:sp>
        <p:nvSpPr>
          <p:cNvPr id="7" name="Shape 5"/>
          <p:cNvSpPr/>
          <p:nvPr/>
        </p:nvSpPr>
        <p:spPr>
          <a:xfrm>
            <a:off x="2596896" y="1868119"/>
            <a:ext cx="219456" cy="396850"/>
          </a:xfrm>
          <a:prstGeom prst="rect">
            <a:avLst/>
          </a:prstGeom>
          <a:solidFill>
            <a:srgbClr val="5C7A96"/>
          </a:solidFill>
          <a:ln w="6350">
            <a:solidFill>
              <a:srgbClr val="FFFFFF"/>
            </a:solidFill>
            <a:prstDash val="solid"/>
          </a:ln>
        </p:spPr>
      </p:sp>
      <p:sp>
        <p:nvSpPr>
          <p:cNvPr id="8" name="Shape 6"/>
          <p:cNvSpPr/>
          <p:nvPr/>
        </p:nvSpPr>
        <p:spPr>
          <a:xfrm>
            <a:off x="2816352" y="1868119"/>
            <a:ext cx="329184" cy="396850"/>
          </a:xfrm>
          <a:prstGeom prst="rect">
            <a:avLst/>
          </a:prstGeom>
          <a:solidFill>
            <a:srgbClr val="3E5E7E"/>
          </a:solidFill>
          <a:ln w="6350">
            <a:solidFill>
              <a:srgbClr val="FFFFFF"/>
            </a:solidFill>
            <a:prstDash val="solid"/>
          </a:ln>
        </p:spPr>
      </p:sp>
      <p:sp>
        <p:nvSpPr>
          <p:cNvPr id="9" name="Shape 7"/>
          <p:cNvSpPr/>
          <p:nvPr/>
        </p:nvSpPr>
        <p:spPr>
          <a:xfrm>
            <a:off x="3145536" y="1868119"/>
            <a:ext cx="1645920" cy="396850"/>
          </a:xfrm>
          <a:prstGeom prst="rect">
            <a:avLst/>
          </a:prstGeom>
          <a:solidFill>
            <a:srgbClr val="1F3B57"/>
          </a:solidFill>
          <a:ln w="6350">
            <a:solidFill>
              <a:srgbClr val="FFFFFF"/>
            </a:solidFill>
            <a:prstDash val="solid"/>
          </a:ln>
        </p:spPr>
      </p:sp>
      <p:sp>
        <p:nvSpPr>
          <p:cNvPr id="10" name="Shape 8"/>
          <p:cNvSpPr/>
          <p:nvPr/>
        </p:nvSpPr>
        <p:spPr>
          <a:xfrm>
            <a:off x="4791456" y="1868119"/>
            <a:ext cx="438912" cy="396850"/>
          </a:xfrm>
          <a:prstGeom prst="rect">
            <a:avLst/>
          </a:prstGeom>
          <a:solidFill>
            <a:srgbClr val="6FA88A"/>
          </a:solidFill>
          <a:ln w="6350">
            <a:solidFill>
              <a:srgbClr val="FFFFFF"/>
            </a:solidFill>
            <a:prstDash val="solid"/>
          </a:ln>
        </p:spPr>
      </p:sp>
      <p:sp>
        <p:nvSpPr>
          <p:cNvPr id="11" name="Text 9"/>
          <p:cNvSpPr txBox="1"/>
          <p:nvPr/>
        </p:nvSpPr>
        <p:spPr>
          <a:xfrm>
            <a:off x="548640" y="2459736"/>
            <a:ext cx="1737360" cy="566928"/>
          </a:xfrm>
          <a:prstGeom prst="rect">
            <a:avLst/>
          </a:prstGeom>
          <a:noFill/>
          <a:ln/>
        </p:spPr>
        <p:txBody>
          <a:bodyPr wrap="square" lIns="0" tIns="0" rIns="0" bIns="0" rtlCol="0" anchor="ctr"/>
          <a:lstStyle/>
          <a:p>
            <a:pPr indent="0" marL="0">
              <a:buNone/>
            </a:pPr>
            <a:r>
              <a:rPr lang="en-US" sz="1100" dirty="0">
                <a:solidFill>
                  <a:srgbClr val="2B2B2B"/>
                </a:solidFill>
                <a:latin typeface="Times New Roman" pitchFamily="34" charset="0"/>
                <a:ea typeface="Times New Roman" pitchFamily="34" charset="-122"/>
                <a:cs typeface="Times New Roman" pitchFamily="34" charset="-120"/>
              </a:rPr>
              <a:t>styles.css</a:t>
            </a:r>
            <a:endParaRPr lang="en-US" sz="1100" dirty="0"/>
          </a:p>
        </p:txBody>
      </p:sp>
      <p:sp>
        <p:nvSpPr>
          <p:cNvPr id="12" name="Shape 10"/>
          <p:cNvSpPr/>
          <p:nvPr/>
        </p:nvSpPr>
        <p:spPr>
          <a:xfrm>
            <a:off x="5230368" y="2544775"/>
            <a:ext cx="109728" cy="396850"/>
          </a:xfrm>
          <a:prstGeom prst="rect">
            <a:avLst/>
          </a:prstGeom>
          <a:solidFill>
            <a:srgbClr val="D8DEE4"/>
          </a:solidFill>
          <a:ln w="6350">
            <a:solidFill>
              <a:srgbClr val="FFFFFF"/>
            </a:solidFill>
            <a:prstDash val="solid"/>
          </a:ln>
        </p:spPr>
      </p:sp>
      <p:sp>
        <p:nvSpPr>
          <p:cNvPr id="13" name="Shape 11"/>
          <p:cNvSpPr/>
          <p:nvPr/>
        </p:nvSpPr>
        <p:spPr>
          <a:xfrm>
            <a:off x="5340096" y="2544775"/>
            <a:ext cx="219456" cy="396850"/>
          </a:xfrm>
          <a:prstGeom prst="rect">
            <a:avLst/>
          </a:prstGeom>
          <a:solidFill>
            <a:srgbClr val="5C7A96"/>
          </a:solidFill>
          <a:ln w="6350">
            <a:solidFill>
              <a:srgbClr val="FFFFFF"/>
            </a:solidFill>
            <a:prstDash val="solid"/>
          </a:ln>
        </p:spPr>
      </p:sp>
      <p:sp>
        <p:nvSpPr>
          <p:cNvPr id="14" name="Shape 12"/>
          <p:cNvSpPr/>
          <p:nvPr/>
        </p:nvSpPr>
        <p:spPr>
          <a:xfrm>
            <a:off x="5559552" y="2544775"/>
            <a:ext cx="548640" cy="396850"/>
          </a:xfrm>
          <a:prstGeom prst="rect">
            <a:avLst/>
          </a:prstGeom>
          <a:solidFill>
            <a:srgbClr val="1F3B57"/>
          </a:solidFill>
          <a:ln w="6350">
            <a:solidFill>
              <a:srgbClr val="FFFFFF"/>
            </a:solidFill>
            <a:prstDash val="solid"/>
          </a:ln>
        </p:spPr>
      </p:sp>
      <p:sp>
        <p:nvSpPr>
          <p:cNvPr id="15" name="Shape 13"/>
          <p:cNvSpPr/>
          <p:nvPr/>
        </p:nvSpPr>
        <p:spPr>
          <a:xfrm>
            <a:off x="6108192" y="2544775"/>
            <a:ext cx="219456" cy="396850"/>
          </a:xfrm>
          <a:prstGeom prst="rect">
            <a:avLst/>
          </a:prstGeom>
          <a:solidFill>
            <a:srgbClr val="6FA88A"/>
          </a:solidFill>
          <a:ln w="6350">
            <a:solidFill>
              <a:srgbClr val="FFFFFF"/>
            </a:solidFill>
            <a:prstDash val="solid"/>
          </a:ln>
        </p:spPr>
      </p:sp>
      <p:sp>
        <p:nvSpPr>
          <p:cNvPr id="16" name="Text 14"/>
          <p:cNvSpPr txBox="1"/>
          <p:nvPr/>
        </p:nvSpPr>
        <p:spPr>
          <a:xfrm>
            <a:off x="548640" y="3136392"/>
            <a:ext cx="1737360" cy="566928"/>
          </a:xfrm>
          <a:prstGeom prst="rect">
            <a:avLst/>
          </a:prstGeom>
          <a:noFill/>
          <a:ln/>
        </p:spPr>
        <p:txBody>
          <a:bodyPr wrap="square" lIns="0" tIns="0" rIns="0" bIns="0" rtlCol="0" anchor="ctr"/>
          <a:lstStyle/>
          <a:p>
            <a:pPr indent="0" marL="0">
              <a:buNone/>
            </a:pPr>
            <a:r>
              <a:rPr lang="en-US" sz="1100" dirty="0">
                <a:solidFill>
                  <a:srgbClr val="2B2B2B"/>
                </a:solidFill>
                <a:latin typeface="Times New Roman" pitchFamily="34" charset="0"/>
                <a:ea typeface="Times New Roman" pitchFamily="34" charset="-122"/>
                <a:cs typeface="Times New Roman" pitchFamily="34" charset="-120"/>
              </a:rPr>
              <a:t>app.js</a:t>
            </a:r>
            <a:endParaRPr lang="en-US" sz="1100" dirty="0"/>
          </a:p>
        </p:txBody>
      </p:sp>
      <p:sp>
        <p:nvSpPr>
          <p:cNvPr id="17" name="Shape 15"/>
          <p:cNvSpPr/>
          <p:nvPr/>
        </p:nvSpPr>
        <p:spPr>
          <a:xfrm>
            <a:off x="5230368" y="3221431"/>
            <a:ext cx="438912" cy="396850"/>
          </a:xfrm>
          <a:prstGeom prst="rect">
            <a:avLst/>
          </a:prstGeom>
          <a:solidFill>
            <a:srgbClr val="D8DEE4"/>
          </a:solidFill>
          <a:ln w="6350">
            <a:solidFill>
              <a:srgbClr val="FFFFFF"/>
            </a:solidFill>
            <a:prstDash val="solid"/>
          </a:ln>
        </p:spPr>
      </p:sp>
      <p:sp>
        <p:nvSpPr>
          <p:cNvPr id="18" name="Shape 16"/>
          <p:cNvSpPr/>
          <p:nvPr/>
        </p:nvSpPr>
        <p:spPr>
          <a:xfrm>
            <a:off x="5669280" y="3221431"/>
            <a:ext cx="1316736" cy="396850"/>
          </a:xfrm>
          <a:prstGeom prst="rect">
            <a:avLst/>
          </a:prstGeom>
          <a:solidFill>
            <a:srgbClr val="1F3B57"/>
          </a:solidFill>
          <a:ln w="6350">
            <a:solidFill>
              <a:srgbClr val="FFFFFF"/>
            </a:solidFill>
            <a:prstDash val="solid"/>
          </a:ln>
        </p:spPr>
      </p:sp>
      <p:sp>
        <p:nvSpPr>
          <p:cNvPr id="19" name="Shape 17"/>
          <p:cNvSpPr/>
          <p:nvPr/>
        </p:nvSpPr>
        <p:spPr>
          <a:xfrm>
            <a:off x="6986016" y="3221431"/>
            <a:ext cx="658368" cy="396850"/>
          </a:xfrm>
          <a:prstGeom prst="rect">
            <a:avLst/>
          </a:prstGeom>
          <a:solidFill>
            <a:srgbClr val="6FA88A"/>
          </a:solidFill>
          <a:ln w="6350">
            <a:solidFill>
              <a:srgbClr val="FFFFFF"/>
            </a:solidFill>
            <a:prstDash val="solid"/>
          </a:ln>
        </p:spPr>
      </p:sp>
      <p:sp>
        <p:nvSpPr>
          <p:cNvPr id="20" name="Text 18"/>
          <p:cNvSpPr txBox="1"/>
          <p:nvPr/>
        </p:nvSpPr>
        <p:spPr>
          <a:xfrm>
            <a:off x="548640" y="3813048"/>
            <a:ext cx="1737360" cy="566928"/>
          </a:xfrm>
          <a:prstGeom prst="rect">
            <a:avLst/>
          </a:prstGeom>
          <a:noFill/>
          <a:ln/>
        </p:spPr>
        <p:txBody>
          <a:bodyPr wrap="square" lIns="0" tIns="0" rIns="0" bIns="0" rtlCol="0" anchor="ctr"/>
          <a:lstStyle/>
          <a:p>
            <a:pPr indent="0" marL="0">
              <a:buNone/>
            </a:pPr>
            <a:r>
              <a:rPr lang="en-US" sz="1100" dirty="0">
                <a:solidFill>
                  <a:srgbClr val="2B2B2B"/>
                </a:solidFill>
                <a:latin typeface="Times New Roman" pitchFamily="34" charset="0"/>
                <a:ea typeface="Times New Roman" pitchFamily="34" charset="-122"/>
                <a:cs typeface="Times New Roman" pitchFamily="34" charset="-120"/>
              </a:rPr>
              <a:t>hero.jpg (LCP)</a:t>
            </a:r>
            <a:endParaRPr lang="en-US" sz="1100" dirty="0"/>
          </a:p>
        </p:txBody>
      </p:sp>
      <p:sp>
        <p:nvSpPr>
          <p:cNvPr id="21" name="Shape 19"/>
          <p:cNvSpPr/>
          <p:nvPr/>
        </p:nvSpPr>
        <p:spPr>
          <a:xfrm>
            <a:off x="5340096" y="3898087"/>
            <a:ext cx="987552" cy="396850"/>
          </a:xfrm>
          <a:prstGeom prst="rect">
            <a:avLst/>
          </a:prstGeom>
          <a:solidFill>
            <a:srgbClr val="D8DEE4"/>
          </a:solidFill>
          <a:ln w="6350">
            <a:solidFill>
              <a:srgbClr val="FFFFFF"/>
            </a:solidFill>
            <a:prstDash val="solid"/>
          </a:ln>
        </p:spPr>
      </p:sp>
      <p:sp>
        <p:nvSpPr>
          <p:cNvPr id="22" name="Shape 20"/>
          <p:cNvSpPr/>
          <p:nvPr/>
        </p:nvSpPr>
        <p:spPr>
          <a:xfrm>
            <a:off x="6327648" y="3898087"/>
            <a:ext cx="1097280" cy="396850"/>
          </a:xfrm>
          <a:prstGeom prst="rect">
            <a:avLst/>
          </a:prstGeom>
          <a:solidFill>
            <a:srgbClr val="1F3B57"/>
          </a:solidFill>
          <a:ln w="6350">
            <a:solidFill>
              <a:srgbClr val="FFFFFF"/>
            </a:solidFill>
            <a:prstDash val="solid"/>
          </a:ln>
        </p:spPr>
      </p:sp>
      <p:sp>
        <p:nvSpPr>
          <p:cNvPr id="23" name="Shape 21"/>
          <p:cNvSpPr/>
          <p:nvPr/>
        </p:nvSpPr>
        <p:spPr>
          <a:xfrm>
            <a:off x="7424928" y="3898087"/>
            <a:ext cx="2633472" cy="396850"/>
          </a:xfrm>
          <a:prstGeom prst="rect">
            <a:avLst/>
          </a:prstGeom>
          <a:solidFill>
            <a:srgbClr val="6FA88A"/>
          </a:solidFill>
          <a:ln w="6350">
            <a:solidFill>
              <a:srgbClr val="FFFFFF"/>
            </a:solidFill>
            <a:prstDash val="solid"/>
          </a:ln>
        </p:spPr>
      </p:sp>
      <p:sp>
        <p:nvSpPr>
          <p:cNvPr id="24" name="Text 22"/>
          <p:cNvSpPr txBox="1"/>
          <p:nvPr/>
        </p:nvSpPr>
        <p:spPr>
          <a:xfrm>
            <a:off x="548640" y="4489704"/>
            <a:ext cx="1737360" cy="566928"/>
          </a:xfrm>
          <a:prstGeom prst="rect">
            <a:avLst/>
          </a:prstGeom>
          <a:noFill/>
          <a:ln/>
        </p:spPr>
        <p:txBody>
          <a:bodyPr wrap="square" lIns="0" tIns="0" rIns="0" bIns="0" rtlCol="0" anchor="ctr"/>
          <a:lstStyle/>
          <a:p>
            <a:pPr indent="0" marL="0">
              <a:buNone/>
            </a:pPr>
            <a:r>
              <a:rPr lang="en-US" sz="1100" dirty="0">
                <a:solidFill>
                  <a:srgbClr val="2B2B2B"/>
                </a:solidFill>
                <a:latin typeface="Times New Roman" pitchFamily="34" charset="0"/>
                <a:ea typeface="Times New Roman" pitchFamily="34" charset="-122"/>
                <a:cs typeface="Times New Roman" pitchFamily="34" charset="-120"/>
              </a:rPr>
              <a:t>analytics.js</a:t>
            </a:r>
            <a:endParaRPr lang="en-US" sz="1100" dirty="0"/>
          </a:p>
        </p:txBody>
      </p:sp>
      <p:sp>
        <p:nvSpPr>
          <p:cNvPr id="25" name="Shape 23"/>
          <p:cNvSpPr/>
          <p:nvPr/>
        </p:nvSpPr>
        <p:spPr>
          <a:xfrm>
            <a:off x="7644384" y="4574743"/>
            <a:ext cx="1316736" cy="396850"/>
          </a:xfrm>
          <a:prstGeom prst="rect">
            <a:avLst/>
          </a:prstGeom>
          <a:solidFill>
            <a:srgbClr val="D8DEE4"/>
          </a:solidFill>
          <a:ln w="6350">
            <a:solidFill>
              <a:srgbClr val="FFFFFF"/>
            </a:solidFill>
            <a:prstDash val="solid"/>
          </a:ln>
        </p:spPr>
      </p:sp>
      <p:sp>
        <p:nvSpPr>
          <p:cNvPr id="26" name="Shape 24"/>
          <p:cNvSpPr/>
          <p:nvPr/>
        </p:nvSpPr>
        <p:spPr>
          <a:xfrm>
            <a:off x="8961120" y="4574743"/>
            <a:ext cx="877824" cy="396850"/>
          </a:xfrm>
          <a:prstGeom prst="rect">
            <a:avLst/>
          </a:prstGeom>
          <a:solidFill>
            <a:srgbClr val="1F3B57"/>
          </a:solidFill>
          <a:ln w="6350">
            <a:solidFill>
              <a:srgbClr val="FFFFFF"/>
            </a:solidFill>
            <a:prstDash val="solid"/>
          </a:ln>
        </p:spPr>
      </p:sp>
      <p:sp>
        <p:nvSpPr>
          <p:cNvPr id="27" name="Shape 25"/>
          <p:cNvSpPr/>
          <p:nvPr/>
        </p:nvSpPr>
        <p:spPr>
          <a:xfrm>
            <a:off x="9838944" y="4574743"/>
            <a:ext cx="438912" cy="396850"/>
          </a:xfrm>
          <a:prstGeom prst="rect">
            <a:avLst/>
          </a:prstGeom>
          <a:solidFill>
            <a:srgbClr val="6FA88A"/>
          </a:solidFill>
          <a:ln w="6350">
            <a:solidFill>
              <a:srgbClr val="FFFFFF"/>
            </a:solidFill>
            <a:prstDash val="solid"/>
          </a:ln>
        </p:spPr>
      </p:sp>
      <p:sp>
        <p:nvSpPr>
          <p:cNvPr id="28" name="Shape 26"/>
          <p:cNvSpPr/>
          <p:nvPr/>
        </p:nvSpPr>
        <p:spPr>
          <a:xfrm>
            <a:off x="2377440" y="5212080"/>
            <a:ext cx="8778240" cy="0"/>
          </a:xfrm>
          <a:prstGeom prst="line">
            <a:avLst/>
          </a:prstGeom>
          <a:noFill/>
          <a:ln w="12700">
            <a:solidFill>
              <a:srgbClr val="AFC2D2"/>
            </a:solidFill>
            <a:prstDash val="solid"/>
          </a:ln>
        </p:spPr>
      </p:sp>
      <p:sp>
        <p:nvSpPr>
          <p:cNvPr id="29" name="Text 27"/>
          <p:cNvSpPr txBox="1"/>
          <p:nvPr/>
        </p:nvSpPr>
        <p:spPr>
          <a:xfrm>
            <a:off x="2103120" y="5257800"/>
            <a:ext cx="548640" cy="228600"/>
          </a:xfrm>
          <a:prstGeom prst="rect">
            <a:avLst/>
          </a:prstGeom>
          <a:noFill/>
          <a:ln/>
        </p:spPr>
        <p:txBody>
          <a:bodyPr wrap="square" lIns="0" tIns="0" rIns="0" bIns="0" rtlCol="0" anchor="ctr"/>
          <a:lstStyle/>
          <a:p>
            <a:pPr algn="ctr" indent="0" marL="0">
              <a:buNone/>
            </a:pPr>
            <a:r>
              <a:rPr lang="en-US" sz="900" dirty="0">
                <a:solidFill>
                  <a:srgbClr val="2B2B2B"/>
                </a:solidFill>
                <a:latin typeface="Times New Roman" pitchFamily="34" charset="0"/>
                <a:ea typeface="Times New Roman" pitchFamily="34" charset="-122"/>
                <a:cs typeface="Times New Roman" pitchFamily="34" charset="-120"/>
              </a:rPr>
              <a:t>0ms</a:t>
            </a:r>
            <a:endParaRPr lang="en-US" sz="900" dirty="0"/>
          </a:p>
        </p:txBody>
      </p:sp>
      <p:sp>
        <p:nvSpPr>
          <p:cNvPr id="30" name="Text 28"/>
          <p:cNvSpPr txBox="1"/>
          <p:nvPr/>
        </p:nvSpPr>
        <p:spPr>
          <a:xfrm>
            <a:off x="4297680" y="5257800"/>
            <a:ext cx="548640" cy="228600"/>
          </a:xfrm>
          <a:prstGeom prst="rect">
            <a:avLst/>
          </a:prstGeom>
          <a:noFill/>
          <a:ln/>
        </p:spPr>
        <p:txBody>
          <a:bodyPr wrap="square" lIns="0" tIns="0" rIns="0" bIns="0" rtlCol="0" anchor="ctr"/>
          <a:lstStyle/>
          <a:p>
            <a:pPr algn="ctr" indent="0" marL="0">
              <a:buNone/>
            </a:pPr>
            <a:r>
              <a:rPr lang="en-US" sz="900" dirty="0">
                <a:solidFill>
                  <a:srgbClr val="2B2B2B"/>
                </a:solidFill>
                <a:latin typeface="Times New Roman" pitchFamily="34" charset="0"/>
                <a:ea typeface="Times New Roman" pitchFamily="34" charset="-122"/>
                <a:cs typeface="Times New Roman" pitchFamily="34" charset="-120"/>
              </a:rPr>
              <a:t>200ms</a:t>
            </a:r>
            <a:endParaRPr lang="en-US" sz="900" dirty="0"/>
          </a:p>
        </p:txBody>
      </p:sp>
      <p:sp>
        <p:nvSpPr>
          <p:cNvPr id="31" name="Text 29"/>
          <p:cNvSpPr txBox="1"/>
          <p:nvPr/>
        </p:nvSpPr>
        <p:spPr>
          <a:xfrm>
            <a:off x="6492240" y="5257800"/>
            <a:ext cx="548640" cy="228600"/>
          </a:xfrm>
          <a:prstGeom prst="rect">
            <a:avLst/>
          </a:prstGeom>
          <a:noFill/>
          <a:ln/>
        </p:spPr>
        <p:txBody>
          <a:bodyPr wrap="square" lIns="0" tIns="0" rIns="0" bIns="0" rtlCol="0" anchor="ctr"/>
          <a:lstStyle/>
          <a:p>
            <a:pPr algn="ctr" indent="0" marL="0">
              <a:buNone/>
            </a:pPr>
            <a:r>
              <a:rPr lang="en-US" sz="900" dirty="0">
                <a:solidFill>
                  <a:srgbClr val="2B2B2B"/>
                </a:solidFill>
                <a:latin typeface="Times New Roman" pitchFamily="34" charset="0"/>
                <a:ea typeface="Times New Roman" pitchFamily="34" charset="-122"/>
                <a:cs typeface="Times New Roman" pitchFamily="34" charset="-120"/>
              </a:rPr>
              <a:t>400ms</a:t>
            </a:r>
            <a:endParaRPr lang="en-US" sz="900" dirty="0"/>
          </a:p>
        </p:txBody>
      </p:sp>
      <p:sp>
        <p:nvSpPr>
          <p:cNvPr id="32" name="Text 30"/>
          <p:cNvSpPr txBox="1"/>
          <p:nvPr/>
        </p:nvSpPr>
        <p:spPr>
          <a:xfrm>
            <a:off x="8686800" y="5257800"/>
            <a:ext cx="548640" cy="228600"/>
          </a:xfrm>
          <a:prstGeom prst="rect">
            <a:avLst/>
          </a:prstGeom>
          <a:noFill/>
          <a:ln/>
        </p:spPr>
        <p:txBody>
          <a:bodyPr wrap="square" lIns="0" tIns="0" rIns="0" bIns="0" rtlCol="0" anchor="ctr"/>
          <a:lstStyle/>
          <a:p>
            <a:pPr algn="ctr" indent="0" marL="0">
              <a:buNone/>
            </a:pPr>
            <a:r>
              <a:rPr lang="en-US" sz="900" dirty="0">
                <a:solidFill>
                  <a:srgbClr val="2B2B2B"/>
                </a:solidFill>
                <a:latin typeface="Times New Roman" pitchFamily="34" charset="0"/>
                <a:ea typeface="Times New Roman" pitchFamily="34" charset="-122"/>
                <a:cs typeface="Times New Roman" pitchFamily="34" charset="-120"/>
              </a:rPr>
              <a:t>600ms</a:t>
            </a:r>
            <a:endParaRPr lang="en-US" sz="900" dirty="0"/>
          </a:p>
        </p:txBody>
      </p:sp>
      <p:sp>
        <p:nvSpPr>
          <p:cNvPr id="33" name="Text 31"/>
          <p:cNvSpPr txBox="1"/>
          <p:nvPr/>
        </p:nvSpPr>
        <p:spPr>
          <a:xfrm>
            <a:off x="10881360" y="5257800"/>
            <a:ext cx="548640" cy="228600"/>
          </a:xfrm>
          <a:prstGeom prst="rect">
            <a:avLst/>
          </a:prstGeom>
          <a:noFill/>
          <a:ln/>
        </p:spPr>
        <p:txBody>
          <a:bodyPr wrap="square" lIns="0" tIns="0" rIns="0" bIns="0" rtlCol="0" anchor="ctr"/>
          <a:lstStyle/>
          <a:p>
            <a:pPr algn="ctr" indent="0" marL="0">
              <a:buNone/>
            </a:pPr>
            <a:r>
              <a:rPr lang="en-US" sz="900" dirty="0">
                <a:solidFill>
                  <a:srgbClr val="2B2B2B"/>
                </a:solidFill>
                <a:latin typeface="Times New Roman" pitchFamily="34" charset="0"/>
                <a:ea typeface="Times New Roman" pitchFamily="34" charset="-122"/>
                <a:cs typeface="Times New Roman" pitchFamily="34" charset="-120"/>
              </a:rPr>
              <a:t>800ms</a:t>
            </a:r>
            <a:endParaRPr lang="en-US" sz="900" dirty="0"/>
          </a:p>
        </p:txBody>
      </p:sp>
      <p:sp>
        <p:nvSpPr>
          <p:cNvPr id="34" name="Shape 32"/>
          <p:cNvSpPr/>
          <p:nvPr/>
        </p:nvSpPr>
        <p:spPr>
          <a:xfrm>
            <a:off x="548640" y="5623560"/>
            <a:ext cx="201168" cy="201168"/>
          </a:xfrm>
          <a:prstGeom prst="rect">
            <a:avLst/>
          </a:prstGeom>
          <a:solidFill>
            <a:srgbClr val="D8DEE4"/>
          </a:solidFill>
          <a:ln/>
        </p:spPr>
      </p:sp>
      <p:sp>
        <p:nvSpPr>
          <p:cNvPr id="35" name="Text 33"/>
          <p:cNvSpPr txBox="1"/>
          <p:nvPr/>
        </p:nvSpPr>
        <p:spPr>
          <a:xfrm>
            <a:off x="804672" y="5577840"/>
            <a:ext cx="1554480" cy="274320"/>
          </a:xfrm>
          <a:prstGeom prst="rect">
            <a:avLst/>
          </a:prstGeom>
          <a:noFill/>
          <a:ln/>
        </p:spPr>
        <p:txBody>
          <a:bodyPr wrap="square" lIns="0" tIns="0" rIns="0" bIns="0" rtlCol="0" anchor="ctr"/>
          <a:lstStyle/>
          <a:p>
            <a:pPr indent="0" marL="0">
              <a:buNone/>
            </a:pPr>
            <a:r>
              <a:rPr lang="en-US" sz="950" dirty="0">
                <a:solidFill>
                  <a:srgbClr val="2B2B2B"/>
                </a:solidFill>
                <a:latin typeface="Times New Roman" pitchFamily="34" charset="0"/>
                <a:ea typeface="Times New Roman" pitchFamily="34" charset="-122"/>
                <a:cs typeface="Times New Roman" pitchFamily="34" charset="-120"/>
              </a:rPr>
              <a:t>Queue</a:t>
            </a:r>
            <a:endParaRPr lang="en-US" sz="950" dirty="0"/>
          </a:p>
        </p:txBody>
      </p:sp>
      <p:sp>
        <p:nvSpPr>
          <p:cNvPr id="36" name="Shape 34"/>
          <p:cNvSpPr/>
          <p:nvPr/>
        </p:nvSpPr>
        <p:spPr>
          <a:xfrm>
            <a:off x="2697480" y="5623560"/>
            <a:ext cx="201168" cy="201168"/>
          </a:xfrm>
          <a:prstGeom prst="rect">
            <a:avLst/>
          </a:prstGeom>
          <a:solidFill>
            <a:srgbClr val="5C7A96"/>
          </a:solidFill>
          <a:ln/>
        </p:spPr>
      </p:sp>
      <p:sp>
        <p:nvSpPr>
          <p:cNvPr id="37" name="Text 35"/>
          <p:cNvSpPr txBox="1"/>
          <p:nvPr/>
        </p:nvSpPr>
        <p:spPr>
          <a:xfrm>
            <a:off x="2953512" y="5577840"/>
            <a:ext cx="1554480" cy="274320"/>
          </a:xfrm>
          <a:prstGeom prst="rect">
            <a:avLst/>
          </a:prstGeom>
          <a:noFill/>
          <a:ln/>
        </p:spPr>
        <p:txBody>
          <a:bodyPr wrap="square" lIns="0" tIns="0" rIns="0" bIns="0" rtlCol="0" anchor="ctr"/>
          <a:lstStyle/>
          <a:p>
            <a:pPr indent="0" marL="0">
              <a:buNone/>
            </a:pPr>
            <a:r>
              <a:rPr lang="en-US" sz="950" dirty="0">
                <a:solidFill>
                  <a:srgbClr val="2B2B2B"/>
                </a:solidFill>
                <a:latin typeface="Times New Roman" pitchFamily="34" charset="0"/>
                <a:ea typeface="Times New Roman" pitchFamily="34" charset="-122"/>
                <a:cs typeface="Times New Roman" pitchFamily="34" charset="-120"/>
              </a:rPr>
              <a:t>Connect/TLS</a:t>
            </a:r>
            <a:endParaRPr lang="en-US" sz="950" dirty="0"/>
          </a:p>
        </p:txBody>
      </p:sp>
      <p:sp>
        <p:nvSpPr>
          <p:cNvPr id="38" name="Shape 36"/>
          <p:cNvSpPr/>
          <p:nvPr/>
        </p:nvSpPr>
        <p:spPr>
          <a:xfrm>
            <a:off x="4846320" y="5623560"/>
            <a:ext cx="201168" cy="201168"/>
          </a:xfrm>
          <a:prstGeom prst="rect">
            <a:avLst/>
          </a:prstGeom>
          <a:solidFill>
            <a:srgbClr val="1F3B57"/>
          </a:solidFill>
          <a:ln/>
        </p:spPr>
      </p:sp>
      <p:sp>
        <p:nvSpPr>
          <p:cNvPr id="39" name="Text 37"/>
          <p:cNvSpPr txBox="1"/>
          <p:nvPr/>
        </p:nvSpPr>
        <p:spPr>
          <a:xfrm>
            <a:off x="5102352" y="5577840"/>
            <a:ext cx="1554480" cy="274320"/>
          </a:xfrm>
          <a:prstGeom prst="rect">
            <a:avLst/>
          </a:prstGeom>
          <a:noFill/>
          <a:ln/>
        </p:spPr>
        <p:txBody>
          <a:bodyPr wrap="square" lIns="0" tIns="0" rIns="0" bIns="0" rtlCol="0" anchor="ctr"/>
          <a:lstStyle/>
          <a:p>
            <a:pPr indent="0" marL="0">
              <a:buNone/>
            </a:pPr>
            <a:r>
              <a:rPr lang="en-US" sz="950" dirty="0">
                <a:solidFill>
                  <a:srgbClr val="2B2B2B"/>
                </a:solidFill>
                <a:latin typeface="Times New Roman" pitchFamily="34" charset="0"/>
                <a:ea typeface="Times New Roman" pitchFamily="34" charset="-122"/>
                <a:cs typeface="Times New Roman" pitchFamily="34" charset="-120"/>
              </a:rPr>
              <a:t>Wait (TTFB)</a:t>
            </a:r>
            <a:endParaRPr lang="en-US" sz="950" dirty="0"/>
          </a:p>
        </p:txBody>
      </p:sp>
      <p:sp>
        <p:nvSpPr>
          <p:cNvPr id="40" name="Shape 38"/>
          <p:cNvSpPr/>
          <p:nvPr/>
        </p:nvSpPr>
        <p:spPr>
          <a:xfrm>
            <a:off x="6995160" y="5623560"/>
            <a:ext cx="201168" cy="201168"/>
          </a:xfrm>
          <a:prstGeom prst="rect">
            <a:avLst/>
          </a:prstGeom>
          <a:solidFill>
            <a:srgbClr val="6FA88A"/>
          </a:solidFill>
          <a:ln/>
        </p:spPr>
      </p:sp>
      <p:sp>
        <p:nvSpPr>
          <p:cNvPr id="41" name="Text 39"/>
          <p:cNvSpPr txBox="1"/>
          <p:nvPr/>
        </p:nvSpPr>
        <p:spPr>
          <a:xfrm>
            <a:off x="7251192" y="5577840"/>
            <a:ext cx="1554480" cy="274320"/>
          </a:xfrm>
          <a:prstGeom prst="rect">
            <a:avLst/>
          </a:prstGeom>
          <a:noFill/>
          <a:ln/>
        </p:spPr>
        <p:txBody>
          <a:bodyPr wrap="square" lIns="0" tIns="0" rIns="0" bIns="0" rtlCol="0" anchor="ctr"/>
          <a:lstStyle/>
          <a:p>
            <a:pPr indent="0" marL="0">
              <a:buNone/>
            </a:pPr>
            <a:r>
              <a:rPr lang="en-US" sz="950" dirty="0">
                <a:solidFill>
                  <a:srgbClr val="2B2B2B"/>
                </a:solidFill>
                <a:latin typeface="Times New Roman" pitchFamily="34" charset="0"/>
                <a:ea typeface="Times New Roman" pitchFamily="34" charset="-122"/>
                <a:cs typeface="Times New Roman" pitchFamily="34" charset="-120"/>
              </a:rPr>
              <a:t>Download</a:t>
            </a:r>
            <a:endParaRPr lang="en-US" sz="950" dirty="0"/>
          </a:p>
        </p:txBody>
      </p:sp>
      <p:sp>
        <p:nvSpPr>
          <p:cNvPr id="42" name="Text 4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43" name="Text 41"/>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READING THE WATERFALL</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What Each Waterfall Phase Means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4480560"/>
                <a:gridCol w="4480560"/>
              </a:tblGrid>
              <a:tr h="65836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Phase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What's Happening</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Common Fix if Slow</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65836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Queue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Browser is waiting for a free connection or higher-priority resource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Reduce total requests; use HTTP/2 multiplexing; set fetch priority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5836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DNS + Connect + TLS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Resolving the hostname and establishing a secure connection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Reuse connections; use a CDN with edge presence near users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65836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Wait (TTFB)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Server is processing the request and generating a response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Server-side caching, database indexing, faster backend logic</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5836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Download</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Bytes are transferred to the browser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Compression (gzip/Brotli), smaller images, code splitting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BACKEND PERFORMANCE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Time to First Byte (TTFB)</a:t>
            </a:r>
            <a:endParaRPr lang="en-US" sz="2800" dirty="0"/>
          </a:p>
        </p:txBody>
      </p:sp>
      <p:sp>
        <p:nvSpPr>
          <p:cNvPr id="4" name="Shape 2"/>
          <p:cNvSpPr/>
          <p:nvPr/>
        </p:nvSpPr>
        <p:spPr>
          <a:xfrm>
            <a:off x="548640" y="1554480"/>
            <a:ext cx="11064240" cy="1554480"/>
          </a:xfrm>
          <a:prstGeom prst="roundRect">
            <a:avLst>
              <a:gd name="adj" fmla="val 4706"/>
            </a:avLst>
          </a:prstGeom>
          <a:solidFill>
            <a:srgbClr val="1F3B57"/>
          </a:solidFill>
          <a:ln w="12700">
            <a:solidFill>
              <a:srgbClr val="1F3B57"/>
            </a:solidFill>
            <a:prstDash val="solid"/>
          </a:ln>
        </p:spPr>
      </p:sp>
      <p:sp>
        <p:nvSpPr>
          <p:cNvPr id="5" name="Text 3"/>
          <p:cNvSpPr txBox="1"/>
          <p:nvPr/>
        </p:nvSpPr>
        <p:spPr>
          <a:xfrm>
            <a:off x="731520" y="1719072"/>
            <a:ext cx="10698480" cy="457200"/>
          </a:xfrm>
          <a:prstGeom prst="rect">
            <a:avLst/>
          </a:prstGeom>
          <a:noFill/>
          <a:ln/>
        </p:spPr>
        <p:txBody>
          <a:bodyPr wrap="square" lIns="0" tIns="0" rIns="0" bIns="0" rtlCol="0" anchor="ctr"/>
          <a:lstStyle/>
          <a:p>
            <a:pPr algn="l" indent="0" marL="0">
              <a:buNone/>
            </a:pPr>
            <a:r>
              <a:rPr lang="en-US" sz="1700" b="1" dirty="0">
                <a:solidFill>
                  <a:srgbClr val="FFFFFF"/>
                </a:solidFill>
                <a:latin typeface="Times New Roman" pitchFamily="34" charset="0"/>
                <a:ea typeface="Times New Roman" pitchFamily="34" charset="-122"/>
                <a:cs typeface="Times New Roman" pitchFamily="34" charset="-120"/>
              </a:rPr>
              <a:t>TTFB = T(request sent) → T(first response byte received)</a:t>
            </a:r>
            <a:endParaRPr lang="en-US" sz="1700" dirty="0"/>
          </a:p>
        </p:txBody>
      </p:sp>
      <p:sp>
        <p:nvSpPr>
          <p:cNvPr id="6" name="Text 4"/>
          <p:cNvSpPr txBox="1"/>
          <p:nvPr/>
        </p:nvSpPr>
        <p:spPr>
          <a:xfrm>
            <a:off x="731520" y="2304288"/>
            <a:ext cx="10698480" cy="274320"/>
          </a:xfrm>
          <a:prstGeom prst="rect">
            <a:avLst/>
          </a:prstGeom>
          <a:noFill/>
          <a:ln/>
        </p:spPr>
        <p:txBody>
          <a:bodyPr wrap="square" lIns="0" tIns="0" rIns="0" bIns="0" rtlCol="0" anchor="ctr"/>
          <a:lstStyle/>
          <a:p>
            <a:pPr indent="0" marL="0">
              <a:buNone/>
            </a:pPr>
            <a:r>
              <a:rPr lang="en-US" sz="1300" i="1" dirty="0">
                <a:solidFill>
                  <a:srgbClr val="AFC2D2"/>
                </a:solidFill>
                <a:latin typeface="Times New Roman" pitchFamily="34" charset="0"/>
                <a:ea typeface="Times New Roman" pitchFamily="34" charset="-122"/>
                <a:cs typeface="Times New Roman" pitchFamily="34" charset="-120"/>
              </a:rPr>
              <a:t>Server Response Time</a:t>
            </a:r>
            <a:endParaRPr lang="en-US" sz="1300" dirty="0"/>
          </a:p>
        </p:txBody>
      </p:sp>
      <p:sp>
        <p:nvSpPr>
          <p:cNvPr id="7" name="Text 5"/>
          <p:cNvSpPr txBox="1"/>
          <p:nvPr/>
        </p:nvSpPr>
        <p:spPr>
          <a:xfrm>
            <a:off x="731520" y="2578608"/>
            <a:ext cx="10698480" cy="411480"/>
          </a:xfrm>
          <a:prstGeom prst="rect">
            <a:avLst/>
          </a:prstGeom>
          <a:noFill/>
          <a:ln/>
        </p:spPr>
        <p:txBody>
          <a:bodyPr wrap="square" lIns="0" tIns="0" rIns="0" bIns="0" rtlCol="0" anchor="t"/>
          <a:lstStyle/>
          <a:p>
            <a:pPr indent="0" marL="0">
              <a:buNone/>
            </a:pPr>
            <a:r>
              <a:rPr lang="en-US" sz="1150" dirty="0">
                <a:solidFill>
                  <a:srgbClr val="FFFFFF"/>
                </a:solidFill>
                <a:latin typeface="Times New Roman" pitchFamily="34" charset="0"/>
                <a:ea typeface="Times New Roman" pitchFamily="34" charset="-122"/>
                <a:cs typeface="Times New Roman" pitchFamily="34" charset="-120"/>
              </a:rPr>
              <a:t>Includes server-side processing, database queries, and any server-side rendering — everything before the browser has any bytes to work with.</a:t>
            </a:r>
            <a:endParaRPr lang="en-US" sz="1150" dirty="0"/>
          </a:p>
        </p:txBody>
      </p:sp>
      <p:sp>
        <p:nvSpPr>
          <p:cNvPr id="8" name="Text 6"/>
          <p:cNvSpPr txBox="1"/>
          <p:nvPr/>
        </p:nvSpPr>
        <p:spPr>
          <a:xfrm>
            <a:off x="548640" y="3383280"/>
            <a:ext cx="10424160" cy="274320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Worked example — a product page's TTFB is measured at 850ms, well above the recommended 200ms target.</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Diagnose — server logs show 780ms of the 850ms is spent in a single database query fetching product reviews.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Fix — add a database index on the reviews table's product_id column (an application-tier fix, not a network fix), cutting the query to 40ms.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Result — TTFB drops to roughly 110ms, directly improving LCP since nothing can render until the first byte arrives.</a:t>
            </a:r>
            <a:endParaRPr lang="en-US" sz="1500" dirty="0"/>
          </a:p>
        </p:txBody>
      </p:sp>
      <p:sp>
        <p:nvSpPr>
          <p:cNvPr id="9" name="Text 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10" name="Text 8"/>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4.4</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Critical Rendering Path</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What the browser must do, in order, before it can paint anything to the screen.</a:t>
            </a:r>
            <a:endParaRPr lang="en-US" sz="1350" dirty="0"/>
          </a:p>
        </p:txBody>
      </p:sp>
      <p:sp>
        <p:nvSpPr>
          <p:cNvPr id="5" name="Shape 3"/>
          <p:cNvSpPr/>
          <p:nvPr/>
        </p:nvSpPr>
        <p:spPr>
          <a:xfrm>
            <a:off x="548640" y="2103120"/>
            <a:ext cx="1965960" cy="1554480"/>
          </a:xfrm>
          <a:prstGeom prst="roundRect">
            <a:avLst>
              <a:gd name="adj" fmla="val 4706"/>
            </a:avLst>
          </a:prstGeom>
          <a:solidFill>
            <a:srgbClr val="E8EEF3"/>
          </a:solidFill>
          <a:ln w="15875">
            <a:solidFill>
              <a:srgbClr val="1F3B57"/>
            </a:solidFill>
            <a:prstDash val="solid"/>
          </a:ln>
        </p:spPr>
      </p:sp>
      <p:sp>
        <p:nvSpPr>
          <p:cNvPr id="6" name="Shape 4"/>
          <p:cNvSpPr/>
          <p:nvPr/>
        </p:nvSpPr>
        <p:spPr>
          <a:xfrm>
            <a:off x="1330452" y="1901952"/>
            <a:ext cx="402336" cy="402336"/>
          </a:xfrm>
          <a:prstGeom prst="ellipse">
            <a:avLst/>
          </a:prstGeom>
          <a:solidFill>
            <a:srgbClr val="1F3B57"/>
          </a:solidFill>
          <a:ln w="12700">
            <a:solidFill>
              <a:srgbClr val="1F3B57"/>
            </a:solidFill>
            <a:prstDash val="solid"/>
          </a:ln>
        </p:spPr>
      </p:sp>
      <p:sp>
        <p:nvSpPr>
          <p:cNvPr id="7" name="Text 5"/>
          <p:cNvSpPr txBox="1"/>
          <p:nvPr/>
        </p:nvSpPr>
        <p:spPr>
          <a:xfrm>
            <a:off x="1330452" y="19019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1</a:t>
            </a:r>
            <a:endParaRPr lang="en-US" sz="1600" dirty="0"/>
          </a:p>
        </p:txBody>
      </p:sp>
      <p:sp>
        <p:nvSpPr>
          <p:cNvPr id="8" name="Text 6"/>
          <p:cNvSpPr txBox="1"/>
          <p:nvPr/>
        </p:nvSpPr>
        <p:spPr>
          <a:xfrm>
            <a:off x="640080" y="2231136"/>
            <a:ext cx="1783080" cy="365760"/>
          </a:xfrm>
          <a:prstGeom prst="rect">
            <a:avLst/>
          </a:prstGeom>
          <a:noFill/>
          <a:ln/>
        </p:spPr>
        <p:txBody>
          <a:bodyPr wrap="square" lIns="0" tIns="0" rIns="0" bIns="0" rtlCol="0" anchor="ctr"/>
          <a:lstStyle/>
          <a:p>
            <a:pPr algn="ctr" indent="0" marL="0">
              <a:buNone/>
            </a:pPr>
            <a:r>
              <a:rPr lang="en-US" sz="1200" b="1" dirty="0">
                <a:solidFill>
                  <a:srgbClr val="1F3B57"/>
                </a:solidFill>
                <a:latin typeface="Times New Roman" pitchFamily="34" charset="0"/>
                <a:ea typeface="Times New Roman" pitchFamily="34" charset="-122"/>
                <a:cs typeface="Times New Roman" pitchFamily="34" charset="-120"/>
              </a:rPr>
              <a:t>Parse HTML</a:t>
            </a:r>
            <a:endParaRPr lang="en-US" sz="1200" dirty="0"/>
          </a:p>
        </p:txBody>
      </p:sp>
      <p:sp>
        <p:nvSpPr>
          <p:cNvPr id="9" name="Text 7"/>
          <p:cNvSpPr txBox="1"/>
          <p:nvPr/>
        </p:nvSpPr>
        <p:spPr>
          <a:xfrm>
            <a:off x="658368" y="2606040"/>
            <a:ext cx="1746504" cy="960120"/>
          </a:xfrm>
          <a:prstGeom prst="rect">
            <a:avLst/>
          </a:prstGeom>
          <a:noFill/>
          <a:ln/>
        </p:spPr>
        <p:txBody>
          <a:bodyPr wrap="square" lIns="0" tIns="0" rIns="0" bIns="0" rtlCol="0" anchor="t"/>
          <a:lstStyle/>
          <a:p>
            <a:pPr algn="ctr" indent="0" marL="0">
              <a:buNone/>
            </a:pPr>
            <a:r>
              <a:rPr lang="en-US" sz="1000" dirty="0">
                <a:solidFill>
                  <a:srgbClr val="2B2B2B"/>
                </a:solidFill>
                <a:latin typeface="Times New Roman" pitchFamily="34" charset="0"/>
                <a:ea typeface="Times New Roman" pitchFamily="34" charset="-122"/>
                <a:cs typeface="Times New Roman" pitchFamily="34" charset="-120"/>
              </a:rPr>
              <a:t>Builds the DOM tree from markup</a:t>
            </a:r>
            <a:endParaRPr lang="en-US" sz="1000" dirty="0"/>
          </a:p>
        </p:txBody>
      </p:sp>
      <p:sp>
        <p:nvSpPr>
          <p:cNvPr id="10" name="Shape 8"/>
          <p:cNvSpPr/>
          <p:nvPr/>
        </p:nvSpPr>
        <p:spPr>
          <a:xfrm>
            <a:off x="2788920" y="2103120"/>
            <a:ext cx="1965960" cy="1554480"/>
          </a:xfrm>
          <a:prstGeom prst="roundRect">
            <a:avLst>
              <a:gd name="adj" fmla="val 4706"/>
            </a:avLst>
          </a:prstGeom>
          <a:solidFill>
            <a:srgbClr val="E8EEF3"/>
          </a:solidFill>
          <a:ln w="15875">
            <a:solidFill>
              <a:srgbClr val="1F3B57"/>
            </a:solidFill>
            <a:prstDash val="solid"/>
          </a:ln>
        </p:spPr>
      </p:sp>
      <p:sp>
        <p:nvSpPr>
          <p:cNvPr id="11" name="Shape 9"/>
          <p:cNvSpPr/>
          <p:nvPr/>
        </p:nvSpPr>
        <p:spPr>
          <a:xfrm>
            <a:off x="3570732" y="1901952"/>
            <a:ext cx="402336" cy="402336"/>
          </a:xfrm>
          <a:prstGeom prst="ellipse">
            <a:avLst/>
          </a:prstGeom>
          <a:solidFill>
            <a:srgbClr val="1F3B57"/>
          </a:solidFill>
          <a:ln w="12700">
            <a:solidFill>
              <a:srgbClr val="1F3B57"/>
            </a:solidFill>
            <a:prstDash val="solid"/>
          </a:ln>
        </p:spPr>
      </p:sp>
      <p:sp>
        <p:nvSpPr>
          <p:cNvPr id="12" name="Text 10"/>
          <p:cNvSpPr txBox="1"/>
          <p:nvPr/>
        </p:nvSpPr>
        <p:spPr>
          <a:xfrm>
            <a:off x="3570732" y="19019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2</a:t>
            </a:r>
            <a:endParaRPr lang="en-US" sz="1600" dirty="0"/>
          </a:p>
        </p:txBody>
      </p:sp>
      <p:sp>
        <p:nvSpPr>
          <p:cNvPr id="13" name="Text 11"/>
          <p:cNvSpPr txBox="1"/>
          <p:nvPr/>
        </p:nvSpPr>
        <p:spPr>
          <a:xfrm>
            <a:off x="2880360" y="2231136"/>
            <a:ext cx="1783080" cy="365760"/>
          </a:xfrm>
          <a:prstGeom prst="rect">
            <a:avLst/>
          </a:prstGeom>
          <a:noFill/>
          <a:ln/>
        </p:spPr>
        <p:txBody>
          <a:bodyPr wrap="square" lIns="0" tIns="0" rIns="0" bIns="0" rtlCol="0" anchor="ctr"/>
          <a:lstStyle/>
          <a:p>
            <a:pPr algn="ctr" indent="0" marL="0">
              <a:buNone/>
            </a:pPr>
            <a:r>
              <a:rPr lang="en-US" sz="1200" b="1" dirty="0">
                <a:solidFill>
                  <a:srgbClr val="1F3B57"/>
                </a:solidFill>
                <a:latin typeface="Times New Roman" pitchFamily="34" charset="0"/>
                <a:ea typeface="Times New Roman" pitchFamily="34" charset="-122"/>
                <a:cs typeface="Times New Roman" pitchFamily="34" charset="-120"/>
              </a:rPr>
              <a:t>Parse CSS</a:t>
            </a:r>
            <a:endParaRPr lang="en-US" sz="1200" dirty="0"/>
          </a:p>
        </p:txBody>
      </p:sp>
      <p:sp>
        <p:nvSpPr>
          <p:cNvPr id="14" name="Text 12"/>
          <p:cNvSpPr txBox="1"/>
          <p:nvPr/>
        </p:nvSpPr>
        <p:spPr>
          <a:xfrm>
            <a:off x="2898648" y="2606040"/>
            <a:ext cx="1746504" cy="960120"/>
          </a:xfrm>
          <a:prstGeom prst="rect">
            <a:avLst/>
          </a:prstGeom>
          <a:noFill/>
          <a:ln/>
        </p:spPr>
        <p:txBody>
          <a:bodyPr wrap="square" lIns="0" tIns="0" rIns="0" bIns="0" rtlCol="0" anchor="t"/>
          <a:lstStyle/>
          <a:p>
            <a:pPr algn="ctr" indent="0" marL="0">
              <a:buNone/>
            </a:pPr>
            <a:r>
              <a:rPr lang="en-US" sz="1000" dirty="0">
                <a:solidFill>
                  <a:srgbClr val="2B2B2B"/>
                </a:solidFill>
                <a:latin typeface="Times New Roman" pitchFamily="34" charset="0"/>
                <a:ea typeface="Times New Roman" pitchFamily="34" charset="-122"/>
                <a:cs typeface="Times New Roman" pitchFamily="34" charset="-120"/>
              </a:rPr>
              <a:t>Builds the CSSOM from stylesheets</a:t>
            </a:r>
            <a:endParaRPr lang="en-US" sz="1000" dirty="0"/>
          </a:p>
        </p:txBody>
      </p:sp>
      <p:sp>
        <p:nvSpPr>
          <p:cNvPr id="15" name="Shape 13"/>
          <p:cNvSpPr/>
          <p:nvPr/>
        </p:nvSpPr>
        <p:spPr>
          <a:xfrm>
            <a:off x="5029200" y="2103120"/>
            <a:ext cx="1965960" cy="1554480"/>
          </a:xfrm>
          <a:prstGeom prst="roundRect">
            <a:avLst>
              <a:gd name="adj" fmla="val 4706"/>
            </a:avLst>
          </a:prstGeom>
          <a:solidFill>
            <a:srgbClr val="E8EEF3"/>
          </a:solidFill>
          <a:ln w="15875">
            <a:solidFill>
              <a:srgbClr val="1F3B57"/>
            </a:solidFill>
            <a:prstDash val="solid"/>
          </a:ln>
        </p:spPr>
      </p:sp>
      <p:sp>
        <p:nvSpPr>
          <p:cNvPr id="16" name="Shape 14"/>
          <p:cNvSpPr/>
          <p:nvPr/>
        </p:nvSpPr>
        <p:spPr>
          <a:xfrm>
            <a:off x="5811012" y="1901952"/>
            <a:ext cx="402336" cy="402336"/>
          </a:xfrm>
          <a:prstGeom prst="ellipse">
            <a:avLst/>
          </a:prstGeom>
          <a:solidFill>
            <a:srgbClr val="1F3B57"/>
          </a:solidFill>
          <a:ln w="12700">
            <a:solidFill>
              <a:srgbClr val="1F3B57"/>
            </a:solidFill>
            <a:prstDash val="solid"/>
          </a:ln>
        </p:spPr>
      </p:sp>
      <p:sp>
        <p:nvSpPr>
          <p:cNvPr id="17" name="Text 15"/>
          <p:cNvSpPr txBox="1"/>
          <p:nvPr/>
        </p:nvSpPr>
        <p:spPr>
          <a:xfrm>
            <a:off x="5811012" y="19019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3</a:t>
            </a:r>
            <a:endParaRPr lang="en-US" sz="1600" dirty="0"/>
          </a:p>
        </p:txBody>
      </p:sp>
      <p:sp>
        <p:nvSpPr>
          <p:cNvPr id="18" name="Text 16"/>
          <p:cNvSpPr txBox="1"/>
          <p:nvPr/>
        </p:nvSpPr>
        <p:spPr>
          <a:xfrm>
            <a:off x="5120640" y="2231136"/>
            <a:ext cx="1783080" cy="365760"/>
          </a:xfrm>
          <a:prstGeom prst="rect">
            <a:avLst/>
          </a:prstGeom>
          <a:noFill/>
          <a:ln/>
        </p:spPr>
        <p:txBody>
          <a:bodyPr wrap="square" lIns="0" tIns="0" rIns="0" bIns="0" rtlCol="0" anchor="ctr"/>
          <a:lstStyle/>
          <a:p>
            <a:pPr algn="ctr" indent="0" marL="0">
              <a:buNone/>
            </a:pPr>
            <a:r>
              <a:rPr lang="en-US" sz="1200" b="1" dirty="0">
                <a:solidFill>
                  <a:srgbClr val="1F3B57"/>
                </a:solidFill>
                <a:latin typeface="Times New Roman" pitchFamily="34" charset="0"/>
                <a:ea typeface="Times New Roman" pitchFamily="34" charset="-122"/>
                <a:cs typeface="Times New Roman" pitchFamily="34" charset="-120"/>
              </a:rPr>
              <a:t>Render Tree</a:t>
            </a:r>
            <a:endParaRPr lang="en-US" sz="1200" dirty="0"/>
          </a:p>
        </p:txBody>
      </p:sp>
      <p:sp>
        <p:nvSpPr>
          <p:cNvPr id="19" name="Text 17"/>
          <p:cNvSpPr txBox="1"/>
          <p:nvPr/>
        </p:nvSpPr>
        <p:spPr>
          <a:xfrm>
            <a:off x="5138928" y="2606040"/>
            <a:ext cx="1746504" cy="960120"/>
          </a:xfrm>
          <a:prstGeom prst="rect">
            <a:avLst/>
          </a:prstGeom>
          <a:noFill/>
          <a:ln/>
        </p:spPr>
        <p:txBody>
          <a:bodyPr wrap="square" lIns="0" tIns="0" rIns="0" bIns="0" rtlCol="0" anchor="t"/>
          <a:lstStyle/>
          <a:p>
            <a:pPr algn="ctr" indent="0" marL="0">
              <a:buNone/>
            </a:pPr>
            <a:r>
              <a:rPr lang="en-US" sz="1000" dirty="0">
                <a:solidFill>
                  <a:srgbClr val="2B2B2B"/>
                </a:solidFill>
                <a:latin typeface="Times New Roman" pitchFamily="34" charset="0"/>
                <a:ea typeface="Times New Roman" pitchFamily="34" charset="-122"/>
                <a:cs typeface="Times New Roman" pitchFamily="34" charset="-120"/>
              </a:rPr>
              <a:t>Combines DOM + CSSOM into what will be visible</a:t>
            </a:r>
            <a:endParaRPr lang="en-US" sz="1000" dirty="0"/>
          </a:p>
        </p:txBody>
      </p:sp>
      <p:sp>
        <p:nvSpPr>
          <p:cNvPr id="20" name="Shape 18"/>
          <p:cNvSpPr/>
          <p:nvPr/>
        </p:nvSpPr>
        <p:spPr>
          <a:xfrm>
            <a:off x="7269480" y="2103120"/>
            <a:ext cx="1965960" cy="1554480"/>
          </a:xfrm>
          <a:prstGeom prst="roundRect">
            <a:avLst>
              <a:gd name="adj" fmla="val 4706"/>
            </a:avLst>
          </a:prstGeom>
          <a:solidFill>
            <a:srgbClr val="E8EEF3"/>
          </a:solidFill>
          <a:ln w="15875">
            <a:solidFill>
              <a:srgbClr val="1F3B57"/>
            </a:solidFill>
            <a:prstDash val="solid"/>
          </a:ln>
        </p:spPr>
      </p:sp>
      <p:sp>
        <p:nvSpPr>
          <p:cNvPr id="21" name="Shape 19"/>
          <p:cNvSpPr/>
          <p:nvPr/>
        </p:nvSpPr>
        <p:spPr>
          <a:xfrm>
            <a:off x="8051292" y="1901952"/>
            <a:ext cx="402336" cy="402336"/>
          </a:xfrm>
          <a:prstGeom prst="ellipse">
            <a:avLst/>
          </a:prstGeom>
          <a:solidFill>
            <a:srgbClr val="1F3B57"/>
          </a:solidFill>
          <a:ln w="12700">
            <a:solidFill>
              <a:srgbClr val="1F3B57"/>
            </a:solidFill>
            <a:prstDash val="solid"/>
          </a:ln>
        </p:spPr>
      </p:sp>
      <p:sp>
        <p:nvSpPr>
          <p:cNvPr id="22" name="Text 20"/>
          <p:cNvSpPr txBox="1"/>
          <p:nvPr/>
        </p:nvSpPr>
        <p:spPr>
          <a:xfrm>
            <a:off x="8051292" y="19019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4</a:t>
            </a:r>
            <a:endParaRPr lang="en-US" sz="1600" dirty="0"/>
          </a:p>
        </p:txBody>
      </p:sp>
      <p:sp>
        <p:nvSpPr>
          <p:cNvPr id="23" name="Text 21"/>
          <p:cNvSpPr txBox="1"/>
          <p:nvPr/>
        </p:nvSpPr>
        <p:spPr>
          <a:xfrm>
            <a:off x="7360920" y="2231136"/>
            <a:ext cx="1783080" cy="365760"/>
          </a:xfrm>
          <a:prstGeom prst="rect">
            <a:avLst/>
          </a:prstGeom>
          <a:noFill/>
          <a:ln/>
        </p:spPr>
        <p:txBody>
          <a:bodyPr wrap="square" lIns="0" tIns="0" rIns="0" bIns="0" rtlCol="0" anchor="ctr"/>
          <a:lstStyle/>
          <a:p>
            <a:pPr algn="ctr" indent="0" marL="0">
              <a:buNone/>
            </a:pPr>
            <a:r>
              <a:rPr lang="en-US" sz="1200" b="1" dirty="0">
                <a:solidFill>
                  <a:srgbClr val="1F3B57"/>
                </a:solidFill>
                <a:latin typeface="Times New Roman" pitchFamily="34" charset="0"/>
                <a:ea typeface="Times New Roman" pitchFamily="34" charset="-122"/>
                <a:cs typeface="Times New Roman" pitchFamily="34" charset="-120"/>
              </a:rPr>
              <a:t>Layout</a:t>
            </a:r>
            <a:endParaRPr lang="en-US" sz="1200" dirty="0"/>
          </a:p>
        </p:txBody>
      </p:sp>
      <p:sp>
        <p:nvSpPr>
          <p:cNvPr id="24" name="Text 22"/>
          <p:cNvSpPr txBox="1"/>
          <p:nvPr/>
        </p:nvSpPr>
        <p:spPr>
          <a:xfrm>
            <a:off x="7379208" y="2606040"/>
            <a:ext cx="1746504" cy="960120"/>
          </a:xfrm>
          <a:prstGeom prst="rect">
            <a:avLst/>
          </a:prstGeom>
          <a:noFill/>
          <a:ln/>
        </p:spPr>
        <p:txBody>
          <a:bodyPr wrap="square" lIns="0" tIns="0" rIns="0" bIns="0" rtlCol="0" anchor="t"/>
          <a:lstStyle/>
          <a:p>
            <a:pPr algn="ctr" indent="0" marL="0">
              <a:buNone/>
            </a:pPr>
            <a:r>
              <a:rPr lang="en-US" sz="1000" dirty="0">
                <a:solidFill>
                  <a:srgbClr val="2B2B2B"/>
                </a:solidFill>
                <a:latin typeface="Times New Roman" pitchFamily="34" charset="0"/>
                <a:ea typeface="Times New Roman" pitchFamily="34" charset="-122"/>
                <a:cs typeface="Times New Roman" pitchFamily="34" charset="-120"/>
              </a:rPr>
              <a:t>Calculates exact position/size of every element</a:t>
            </a:r>
            <a:endParaRPr lang="en-US" sz="1000" dirty="0"/>
          </a:p>
        </p:txBody>
      </p:sp>
      <p:sp>
        <p:nvSpPr>
          <p:cNvPr id="25" name="Shape 23"/>
          <p:cNvSpPr/>
          <p:nvPr/>
        </p:nvSpPr>
        <p:spPr>
          <a:xfrm>
            <a:off x="9509760" y="2103120"/>
            <a:ext cx="1965960" cy="1554480"/>
          </a:xfrm>
          <a:prstGeom prst="roundRect">
            <a:avLst>
              <a:gd name="adj" fmla="val 4706"/>
            </a:avLst>
          </a:prstGeom>
          <a:solidFill>
            <a:srgbClr val="E8EEF3"/>
          </a:solidFill>
          <a:ln w="15875">
            <a:solidFill>
              <a:srgbClr val="1F3B57"/>
            </a:solidFill>
            <a:prstDash val="solid"/>
          </a:ln>
        </p:spPr>
      </p:sp>
      <p:sp>
        <p:nvSpPr>
          <p:cNvPr id="26" name="Shape 24"/>
          <p:cNvSpPr/>
          <p:nvPr/>
        </p:nvSpPr>
        <p:spPr>
          <a:xfrm>
            <a:off x="10291572" y="1901952"/>
            <a:ext cx="402336" cy="402336"/>
          </a:xfrm>
          <a:prstGeom prst="ellipse">
            <a:avLst/>
          </a:prstGeom>
          <a:solidFill>
            <a:srgbClr val="1F3B57"/>
          </a:solidFill>
          <a:ln w="12700">
            <a:solidFill>
              <a:srgbClr val="1F3B57"/>
            </a:solidFill>
            <a:prstDash val="solid"/>
          </a:ln>
        </p:spPr>
      </p:sp>
      <p:sp>
        <p:nvSpPr>
          <p:cNvPr id="27" name="Text 25"/>
          <p:cNvSpPr txBox="1"/>
          <p:nvPr/>
        </p:nvSpPr>
        <p:spPr>
          <a:xfrm>
            <a:off x="10291572" y="19019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5</a:t>
            </a:r>
            <a:endParaRPr lang="en-US" sz="1600" dirty="0"/>
          </a:p>
        </p:txBody>
      </p:sp>
      <p:sp>
        <p:nvSpPr>
          <p:cNvPr id="28" name="Text 26"/>
          <p:cNvSpPr txBox="1"/>
          <p:nvPr/>
        </p:nvSpPr>
        <p:spPr>
          <a:xfrm>
            <a:off x="9601200" y="2231136"/>
            <a:ext cx="1783080" cy="365760"/>
          </a:xfrm>
          <a:prstGeom prst="rect">
            <a:avLst/>
          </a:prstGeom>
          <a:noFill/>
          <a:ln/>
        </p:spPr>
        <p:txBody>
          <a:bodyPr wrap="square" lIns="0" tIns="0" rIns="0" bIns="0" rtlCol="0" anchor="ctr"/>
          <a:lstStyle/>
          <a:p>
            <a:pPr algn="ctr" indent="0" marL="0">
              <a:buNone/>
            </a:pPr>
            <a:r>
              <a:rPr lang="en-US" sz="1200" b="1" dirty="0">
                <a:solidFill>
                  <a:srgbClr val="1F3B57"/>
                </a:solidFill>
                <a:latin typeface="Times New Roman" pitchFamily="34" charset="0"/>
                <a:ea typeface="Times New Roman" pitchFamily="34" charset="-122"/>
                <a:cs typeface="Times New Roman" pitchFamily="34" charset="-120"/>
              </a:rPr>
              <a:t>Paint</a:t>
            </a:r>
            <a:endParaRPr lang="en-US" sz="1200" dirty="0"/>
          </a:p>
        </p:txBody>
      </p:sp>
      <p:sp>
        <p:nvSpPr>
          <p:cNvPr id="29" name="Text 27"/>
          <p:cNvSpPr txBox="1"/>
          <p:nvPr/>
        </p:nvSpPr>
        <p:spPr>
          <a:xfrm>
            <a:off x="9619488" y="2606040"/>
            <a:ext cx="1746504" cy="960120"/>
          </a:xfrm>
          <a:prstGeom prst="rect">
            <a:avLst/>
          </a:prstGeom>
          <a:noFill/>
          <a:ln/>
        </p:spPr>
        <p:txBody>
          <a:bodyPr wrap="square" lIns="0" tIns="0" rIns="0" bIns="0" rtlCol="0" anchor="t"/>
          <a:lstStyle/>
          <a:p>
            <a:pPr algn="ctr" indent="0" marL="0">
              <a:buNone/>
            </a:pPr>
            <a:r>
              <a:rPr lang="en-US" sz="1000" dirty="0">
                <a:solidFill>
                  <a:srgbClr val="2B2B2B"/>
                </a:solidFill>
                <a:latin typeface="Times New Roman" pitchFamily="34" charset="0"/>
                <a:ea typeface="Times New Roman" pitchFamily="34" charset="-122"/>
                <a:cs typeface="Times New Roman" pitchFamily="34" charset="-120"/>
              </a:rPr>
              <a:t>Pixels are drawn to the screen</a:t>
            </a:r>
            <a:endParaRPr lang="en-US" sz="1000" dirty="0"/>
          </a:p>
        </p:txBody>
      </p:sp>
      <p:sp>
        <p:nvSpPr>
          <p:cNvPr id="30" name="Shape 28"/>
          <p:cNvSpPr/>
          <p:nvPr/>
        </p:nvSpPr>
        <p:spPr>
          <a:xfrm>
            <a:off x="548640" y="4114800"/>
            <a:ext cx="11064240" cy="1463040"/>
          </a:xfrm>
          <a:prstGeom prst="roundRect">
            <a:avLst>
              <a:gd name="adj" fmla="val 5000"/>
            </a:avLst>
          </a:prstGeom>
          <a:solidFill>
            <a:srgbClr val="E8EEF3"/>
          </a:solidFill>
          <a:ln w="15875">
            <a:solidFill>
              <a:srgbClr val="1F3B57"/>
            </a:solidFill>
            <a:prstDash val="solid"/>
          </a:ln>
        </p:spPr>
      </p:sp>
      <p:sp>
        <p:nvSpPr>
          <p:cNvPr id="31" name="Text 29"/>
          <p:cNvSpPr txBox="1"/>
          <p:nvPr/>
        </p:nvSpPr>
        <p:spPr>
          <a:xfrm>
            <a:off x="749808" y="4242816"/>
            <a:ext cx="10661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Why Blocking Resources Hurt</a:t>
            </a:r>
            <a:endParaRPr lang="en-US" sz="1600" dirty="0"/>
          </a:p>
        </p:txBody>
      </p:sp>
      <p:sp>
        <p:nvSpPr>
          <p:cNvPr id="32" name="Text 30"/>
          <p:cNvSpPr txBox="1"/>
          <p:nvPr/>
        </p:nvSpPr>
        <p:spPr>
          <a:xfrm>
            <a:off x="749808" y="4617720"/>
            <a:ext cx="10661904" cy="8229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A &lt;script&gt; tag without 'defer' or 'async' pauses HTML parsing entirely until the script downloads and runs. A &lt;link&gt; stylesheet blocks rendering until CSS is fully parsed, because the browser cannot safely paint without knowing the final styles.</a:t>
            </a:r>
            <a:endParaRPr lang="en-US" sz="1300" dirty="0"/>
          </a:p>
        </p:txBody>
      </p:sp>
      <p:sp>
        <p:nvSpPr>
          <p:cNvPr id="33" name="Text 31"/>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34" name="Text 32"/>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WORKED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Worked Example — Setting a Performance Budget</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Goal — hit LCP ≤ 2.5s on a 4G connection (assume ~130ms RTT, ~9 Mbps effective throughput, per typical 4G benchmarks).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Step 1 — reserve time for TTFB: with caching and an indexed database, budget 300ms.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Step 2 — reserve time for critical CSS + HTML parse: budget 200ms for a lean, render-blocking-free document.</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Step 3 — remaining budget for the LCP image itself: 2,500ms − 300ms − 200ms = 2,000ms available for connection + download.</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Step 4 — at 9 Mbps, 2,000ms allows roughly 2.25 MB — so the hero image must be compressed and sized to fit well under that, leaving margin for real-world variance.</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FRONTEND OPTIMISATION</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Actionable Frontend Checklist</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4572000"/>
                <a:gridCol w="2651760"/>
              </a:tblGrid>
              <a:tr h="56692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Action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Why It Helps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Targets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Add defer/async to &lt;script&gt; tags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Stops JS from blocking HTML parsing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LCP, INP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Inline critical CSS; defer the rest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Removes render-blocking stylesheet delay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LCP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Compress and correctly size images (WebP/AVIF)</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Smaller downloads finish faster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LCP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Reserve width/height on images and ad slots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Prevents content jumping as it loads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CLS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Code-split JavaScript bundles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Browser downloads only what the current page needs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LCP, INP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Debounce expensive event handlers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Keeps the main thread free to respond to input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INP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BACKEND OPTIMISATION</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Actionable Backend Checklist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4572000"/>
                <a:gridCol w="2651760"/>
              </a:tblGrid>
              <a:tr h="566928">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Action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Why It Helps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Targets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Add indexes on frequently queried columns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Turns slow table scans into fast lookups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Cache expensive query results (e.g. Redis)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Skips repeated identical database work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Use connection pooling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Avoids the cost of opening a new DB connection per request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Paginate large result sets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Server does less work and sends less data per request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TTFB, Download</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Compress responses (gzip/Brotli)</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Smaller payloads transfer faster over the network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Download</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Move slow, non-critical work to a background job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The user-facing response returns before slow work finishes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4.5</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Caching — Four Layers, One Goal</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Every layer below tries to avoid repeating the same work as the one after it.</a:t>
            </a:r>
            <a:endParaRPr lang="en-US" sz="1350" dirty="0"/>
          </a:p>
        </p:txBody>
      </p:sp>
      <p:sp>
        <p:nvSpPr>
          <p:cNvPr id="5" name="Shape 3"/>
          <p:cNvSpPr/>
          <p:nvPr/>
        </p:nvSpPr>
        <p:spPr>
          <a:xfrm>
            <a:off x="1920240" y="1828800"/>
            <a:ext cx="8321040" cy="822960"/>
          </a:xfrm>
          <a:prstGeom prst="roundRect">
            <a:avLst>
              <a:gd name="adj" fmla="val 6667"/>
            </a:avLst>
          </a:prstGeom>
          <a:solidFill>
            <a:srgbClr val="1F3B57"/>
          </a:solidFill>
          <a:ln w="15875">
            <a:solidFill>
              <a:srgbClr val="1F3B57"/>
            </a:solidFill>
            <a:prstDash val="solid"/>
          </a:ln>
        </p:spPr>
      </p:sp>
      <p:sp>
        <p:nvSpPr>
          <p:cNvPr id="6" name="Text 4"/>
          <p:cNvSpPr txBox="1"/>
          <p:nvPr/>
        </p:nvSpPr>
        <p:spPr>
          <a:xfrm>
            <a:off x="1993392" y="1828800"/>
            <a:ext cx="8174736" cy="493776"/>
          </a:xfrm>
          <a:prstGeom prst="rect">
            <a:avLst/>
          </a:prstGeom>
          <a:noFill/>
          <a:ln/>
        </p:spPr>
        <p:txBody>
          <a:bodyPr wrap="square" lIns="0" tIns="0" rIns="0" bIns="0" rtlCol="0" anchor="ctr"/>
          <a:lstStyle/>
          <a:p>
            <a:pPr algn="ctr" indent="0" marL="0">
              <a:buNone/>
            </a:pPr>
            <a:r>
              <a:rPr lang="en-US" sz="1350" b="1" dirty="0">
                <a:solidFill>
                  <a:srgbClr val="FFFFFF"/>
                </a:solidFill>
                <a:latin typeface="Times New Roman" pitchFamily="34" charset="0"/>
                <a:ea typeface="Times New Roman" pitchFamily="34" charset="-122"/>
                <a:cs typeface="Times New Roman" pitchFamily="34" charset="-120"/>
              </a:rPr>
              <a:t>Browser Cache</a:t>
            </a:r>
            <a:endParaRPr lang="en-US" sz="1350" dirty="0"/>
          </a:p>
        </p:txBody>
      </p:sp>
      <p:sp>
        <p:nvSpPr>
          <p:cNvPr id="7" name="Text 5"/>
          <p:cNvSpPr txBox="1"/>
          <p:nvPr/>
        </p:nvSpPr>
        <p:spPr>
          <a:xfrm>
            <a:off x="1993392" y="2281428"/>
            <a:ext cx="8174736" cy="329184"/>
          </a:xfrm>
          <a:prstGeom prst="rect">
            <a:avLst/>
          </a:prstGeom>
          <a:noFill/>
          <a:ln/>
        </p:spPr>
        <p:txBody>
          <a:bodyPr wrap="square" lIns="0" tIns="0" rIns="0" bIns="0" rtlCol="0" anchor="t"/>
          <a:lstStyle/>
          <a:p>
            <a:pPr algn="ctr" indent="0" marL="0">
              <a:buNone/>
            </a:pPr>
            <a:r>
              <a:rPr lang="en-US" sz="1050" dirty="0">
                <a:solidFill>
                  <a:srgbClr val="D6E0EA"/>
                </a:solidFill>
                <a:latin typeface="Times New Roman" pitchFamily="34" charset="0"/>
                <a:ea typeface="Times New Roman" pitchFamily="34" charset="-122"/>
                <a:cs typeface="Times New Roman" pitchFamily="34" charset="-120"/>
              </a:rPr>
              <a:t>Static assets (JS/CSS/images) stored on the user's device — zero network trips on repeat visits</a:t>
            </a:r>
            <a:endParaRPr lang="en-US" sz="1050" dirty="0"/>
          </a:p>
        </p:txBody>
      </p:sp>
      <p:sp>
        <p:nvSpPr>
          <p:cNvPr id="8" name="Shape 6"/>
          <p:cNvSpPr/>
          <p:nvPr/>
        </p:nvSpPr>
        <p:spPr>
          <a:xfrm>
            <a:off x="2514600" y="2788920"/>
            <a:ext cx="7132320" cy="822960"/>
          </a:xfrm>
          <a:prstGeom prst="roundRect">
            <a:avLst>
              <a:gd name="adj" fmla="val 6667"/>
            </a:avLst>
          </a:prstGeom>
          <a:solidFill>
            <a:srgbClr val="E8EEF3"/>
          </a:solidFill>
          <a:ln w="15875">
            <a:solidFill>
              <a:srgbClr val="1F3B57"/>
            </a:solidFill>
            <a:prstDash val="solid"/>
          </a:ln>
        </p:spPr>
      </p:sp>
      <p:sp>
        <p:nvSpPr>
          <p:cNvPr id="9" name="Text 7"/>
          <p:cNvSpPr txBox="1"/>
          <p:nvPr/>
        </p:nvSpPr>
        <p:spPr>
          <a:xfrm>
            <a:off x="2587752" y="2788920"/>
            <a:ext cx="6986016" cy="493776"/>
          </a:xfrm>
          <a:prstGeom prst="rect">
            <a:avLst/>
          </a:prstGeom>
          <a:noFill/>
          <a:ln/>
        </p:spPr>
        <p:txBody>
          <a:bodyPr wrap="square" lIns="0" tIns="0" rIns="0" bIns="0" rtlCol="0" anchor="ctr"/>
          <a:lstStyle/>
          <a:p>
            <a:pPr algn="ctr" indent="0" marL="0">
              <a:buNone/>
            </a:pPr>
            <a:r>
              <a:rPr lang="en-US" sz="1350" b="1" dirty="0">
                <a:solidFill>
                  <a:srgbClr val="1F3B57"/>
                </a:solidFill>
                <a:latin typeface="Times New Roman" pitchFamily="34" charset="0"/>
                <a:ea typeface="Times New Roman" pitchFamily="34" charset="-122"/>
                <a:cs typeface="Times New Roman" pitchFamily="34" charset="-120"/>
              </a:rPr>
              <a:t>CDN / Edge Cache</a:t>
            </a:r>
            <a:endParaRPr lang="en-US" sz="1350" dirty="0"/>
          </a:p>
        </p:txBody>
      </p:sp>
      <p:sp>
        <p:nvSpPr>
          <p:cNvPr id="10" name="Text 8"/>
          <p:cNvSpPr txBox="1"/>
          <p:nvPr/>
        </p:nvSpPr>
        <p:spPr>
          <a:xfrm>
            <a:off x="2587752" y="3241548"/>
            <a:ext cx="6986016" cy="329184"/>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Cached copies served from a location near the user — skips the trip to origin entirely</a:t>
            </a:r>
            <a:endParaRPr lang="en-US" sz="1050" dirty="0"/>
          </a:p>
        </p:txBody>
      </p:sp>
      <p:sp>
        <p:nvSpPr>
          <p:cNvPr id="11" name="Shape 9"/>
          <p:cNvSpPr/>
          <p:nvPr/>
        </p:nvSpPr>
        <p:spPr>
          <a:xfrm>
            <a:off x="3108960" y="3749040"/>
            <a:ext cx="5943600" cy="822960"/>
          </a:xfrm>
          <a:prstGeom prst="roundRect">
            <a:avLst>
              <a:gd name="adj" fmla="val 6667"/>
            </a:avLst>
          </a:prstGeom>
          <a:solidFill>
            <a:srgbClr val="E8EEF3"/>
          </a:solidFill>
          <a:ln w="15875">
            <a:solidFill>
              <a:srgbClr val="1F3B57"/>
            </a:solidFill>
            <a:prstDash val="solid"/>
          </a:ln>
        </p:spPr>
      </p:sp>
      <p:sp>
        <p:nvSpPr>
          <p:cNvPr id="12" name="Text 10"/>
          <p:cNvSpPr txBox="1"/>
          <p:nvPr/>
        </p:nvSpPr>
        <p:spPr>
          <a:xfrm>
            <a:off x="3182112" y="3749040"/>
            <a:ext cx="5797296" cy="493776"/>
          </a:xfrm>
          <a:prstGeom prst="rect">
            <a:avLst/>
          </a:prstGeom>
          <a:noFill/>
          <a:ln/>
        </p:spPr>
        <p:txBody>
          <a:bodyPr wrap="square" lIns="0" tIns="0" rIns="0" bIns="0" rtlCol="0" anchor="ctr"/>
          <a:lstStyle/>
          <a:p>
            <a:pPr algn="ctr" indent="0" marL="0">
              <a:buNone/>
            </a:pPr>
            <a:r>
              <a:rPr lang="en-US" sz="1350" b="1" dirty="0">
                <a:solidFill>
                  <a:srgbClr val="1F3B57"/>
                </a:solidFill>
                <a:latin typeface="Times New Roman" pitchFamily="34" charset="0"/>
                <a:ea typeface="Times New Roman" pitchFamily="34" charset="-122"/>
                <a:cs typeface="Times New Roman" pitchFamily="34" charset="-120"/>
              </a:rPr>
              <a:t>Application Cache</a:t>
            </a:r>
            <a:endParaRPr lang="en-US" sz="1350" dirty="0"/>
          </a:p>
        </p:txBody>
      </p:sp>
      <p:sp>
        <p:nvSpPr>
          <p:cNvPr id="13" name="Text 11"/>
          <p:cNvSpPr txBox="1"/>
          <p:nvPr/>
        </p:nvSpPr>
        <p:spPr>
          <a:xfrm>
            <a:off x="3182112" y="4201668"/>
            <a:ext cx="5797296" cy="329184"/>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In-memory cache (e.g. Redis) for computed results and session data — skips re-computation</a:t>
            </a:r>
            <a:endParaRPr lang="en-US" sz="1050" dirty="0"/>
          </a:p>
        </p:txBody>
      </p:sp>
      <p:sp>
        <p:nvSpPr>
          <p:cNvPr id="14" name="Shape 12"/>
          <p:cNvSpPr/>
          <p:nvPr/>
        </p:nvSpPr>
        <p:spPr>
          <a:xfrm>
            <a:off x="3703320" y="4709160"/>
            <a:ext cx="4754880" cy="822960"/>
          </a:xfrm>
          <a:prstGeom prst="roundRect">
            <a:avLst>
              <a:gd name="adj" fmla="val 6667"/>
            </a:avLst>
          </a:prstGeom>
          <a:solidFill>
            <a:srgbClr val="E8EEF3"/>
          </a:solidFill>
          <a:ln w="15875">
            <a:solidFill>
              <a:srgbClr val="1F3B57"/>
            </a:solidFill>
            <a:prstDash val="solid"/>
          </a:ln>
        </p:spPr>
      </p:sp>
      <p:sp>
        <p:nvSpPr>
          <p:cNvPr id="15" name="Text 13"/>
          <p:cNvSpPr txBox="1"/>
          <p:nvPr/>
        </p:nvSpPr>
        <p:spPr>
          <a:xfrm>
            <a:off x="3776472" y="4709160"/>
            <a:ext cx="4608576" cy="493776"/>
          </a:xfrm>
          <a:prstGeom prst="rect">
            <a:avLst/>
          </a:prstGeom>
          <a:noFill/>
          <a:ln/>
        </p:spPr>
        <p:txBody>
          <a:bodyPr wrap="square" lIns="0" tIns="0" rIns="0" bIns="0" rtlCol="0" anchor="ctr"/>
          <a:lstStyle/>
          <a:p>
            <a:pPr algn="ctr" indent="0" marL="0">
              <a:buNone/>
            </a:pPr>
            <a:r>
              <a:rPr lang="en-US" sz="1350" b="1" dirty="0">
                <a:solidFill>
                  <a:srgbClr val="1F3B57"/>
                </a:solidFill>
                <a:latin typeface="Times New Roman" pitchFamily="34" charset="0"/>
                <a:ea typeface="Times New Roman" pitchFamily="34" charset="-122"/>
                <a:cs typeface="Times New Roman" pitchFamily="34" charset="-120"/>
              </a:rPr>
              <a:t>Database Cache</a:t>
            </a:r>
            <a:endParaRPr lang="en-US" sz="1350" dirty="0"/>
          </a:p>
        </p:txBody>
      </p:sp>
      <p:sp>
        <p:nvSpPr>
          <p:cNvPr id="16" name="Text 14"/>
          <p:cNvSpPr txBox="1"/>
          <p:nvPr/>
        </p:nvSpPr>
        <p:spPr>
          <a:xfrm>
            <a:off x="3776472" y="5161788"/>
            <a:ext cx="4608576" cy="329184"/>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Query result and index caching inside the database engine — skips disk I/O</a:t>
            </a:r>
            <a:endParaRPr lang="en-US" sz="105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18" name="Text 16"/>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WEB ANALYTICS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Analytics Formulas That Connect to Performance</a:t>
            </a:r>
            <a:endParaRPr lang="en-US" sz="2800" dirty="0"/>
          </a:p>
        </p:txBody>
      </p:sp>
      <p:sp>
        <p:nvSpPr>
          <p:cNvPr id="4" name="Shape 2"/>
          <p:cNvSpPr/>
          <p:nvPr/>
        </p:nvSpPr>
        <p:spPr>
          <a:xfrm>
            <a:off x="548640" y="1554480"/>
            <a:ext cx="5349240" cy="1920240"/>
          </a:xfrm>
          <a:prstGeom prst="roundRect">
            <a:avLst>
              <a:gd name="adj" fmla="val 3810"/>
            </a:avLst>
          </a:prstGeom>
          <a:solidFill>
            <a:srgbClr val="1F3B57"/>
          </a:solidFill>
          <a:ln w="12700">
            <a:solidFill>
              <a:srgbClr val="1F3B57"/>
            </a:solidFill>
            <a:prstDash val="solid"/>
          </a:ln>
        </p:spPr>
      </p:sp>
      <p:sp>
        <p:nvSpPr>
          <p:cNvPr id="5" name="Text 3"/>
          <p:cNvSpPr txBox="1"/>
          <p:nvPr/>
        </p:nvSpPr>
        <p:spPr>
          <a:xfrm>
            <a:off x="731520" y="1719072"/>
            <a:ext cx="4983480" cy="457200"/>
          </a:xfrm>
          <a:prstGeom prst="rect">
            <a:avLst/>
          </a:prstGeom>
          <a:noFill/>
          <a:ln/>
        </p:spPr>
        <p:txBody>
          <a:bodyPr wrap="square" lIns="0" tIns="0" rIns="0" bIns="0" rtlCol="0" anchor="ctr"/>
          <a:lstStyle/>
          <a:p>
            <a:pPr algn="l" indent="0" marL="0">
              <a:buNone/>
            </a:pPr>
            <a:r>
              <a:rPr lang="en-US" sz="1700" b="1" dirty="0">
                <a:solidFill>
                  <a:srgbClr val="FFFFFF"/>
                </a:solidFill>
                <a:latin typeface="Times New Roman" pitchFamily="34" charset="0"/>
                <a:ea typeface="Times New Roman" pitchFamily="34" charset="-122"/>
                <a:cs typeface="Times New Roman" pitchFamily="34" charset="-120"/>
              </a:rPr>
              <a:t>Bounce Rate = single-page sessions / total sessions</a:t>
            </a:r>
            <a:endParaRPr lang="en-US" sz="1700" dirty="0"/>
          </a:p>
        </p:txBody>
      </p:sp>
      <p:sp>
        <p:nvSpPr>
          <p:cNvPr id="6" name="Text 4"/>
          <p:cNvSpPr txBox="1"/>
          <p:nvPr/>
        </p:nvSpPr>
        <p:spPr>
          <a:xfrm>
            <a:off x="731520" y="2304288"/>
            <a:ext cx="4983480" cy="274320"/>
          </a:xfrm>
          <a:prstGeom prst="rect">
            <a:avLst/>
          </a:prstGeom>
          <a:noFill/>
          <a:ln/>
        </p:spPr>
        <p:txBody>
          <a:bodyPr wrap="square" lIns="0" tIns="0" rIns="0" bIns="0" rtlCol="0" anchor="ctr"/>
          <a:lstStyle/>
          <a:p>
            <a:pPr indent="0" marL="0">
              <a:buNone/>
            </a:pPr>
            <a:r>
              <a:rPr lang="en-US" sz="1300" i="1" dirty="0">
                <a:solidFill>
                  <a:srgbClr val="AFC2D2"/>
                </a:solidFill>
                <a:latin typeface="Times New Roman" pitchFamily="34" charset="0"/>
                <a:ea typeface="Times New Roman" pitchFamily="34" charset="-122"/>
                <a:cs typeface="Times New Roman" pitchFamily="34" charset="-120"/>
              </a:rPr>
              <a:t>Bounce Rate</a:t>
            </a:r>
            <a:endParaRPr lang="en-US" sz="1300" dirty="0"/>
          </a:p>
        </p:txBody>
      </p:sp>
      <p:sp>
        <p:nvSpPr>
          <p:cNvPr id="7" name="Text 5"/>
          <p:cNvSpPr txBox="1"/>
          <p:nvPr/>
        </p:nvSpPr>
        <p:spPr>
          <a:xfrm>
            <a:off x="731520" y="2578608"/>
            <a:ext cx="4983480" cy="777240"/>
          </a:xfrm>
          <a:prstGeom prst="rect">
            <a:avLst/>
          </a:prstGeom>
          <a:noFill/>
          <a:ln/>
        </p:spPr>
        <p:txBody>
          <a:bodyPr wrap="square" lIns="0" tIns="0" rIns="0" bIns="0" rtlCol="0" anchor="t"/>
          <a:lstStyle/>
          <a:p>
            <a:pPr indent="0" marL="0">
              <a:buNone/>
            </a:pPr>
            <a:r>
              <a:rPr lang="en-US" sz="1150" dirty="0">
                <a:solidFill>
                  <a:srgbClr val="FFFFFF"/>
                </a:solidFill>
                <a:latin typeface="Times New Roman" pitchFamily="34" charset="0"/>
                <a:ea typeface="Times New Roman" pitchFamily="34" charset="-122"/>
                <a:cs typeface="Times New Roman" pitchFamily="34" charset="-120"/>
              </a:rPr>
              <a:t>A visitor who leaves after one page, often within seconds — frequently correlated with slow LCP or a confusing first impression.</a:t>
            </a:r>
            <a:endParaRPr lang="en-US" sz="1150" dirty="0"/>
          </a:p>
        </p:txBody>
      </p:sp>
      <p:sp>
        <p:nvSpPr>
          <p:cNvPr id="8" name="Shape 6"/>
          <p:cNvSpPr/>
          <p:nvPr/>
        </p:nvSpPr>
        <p:spPr>
          <a:xfrm>
            <a:off x="6263640" y="1554480"/>
            <a:ext cx="5349240" cy="1920240"/>
          </a:xfrm>
          <a:prstGeom prst="roundRect">
            <a:avLst>
              <a:gd name="adj" fmla="val 3810"/>
            </a:avLst>
          </a:prstGeom>
          <a:solidFill>
            <a:srgbClr val="1F3B57"/>
          </a:solidFill>
          <a:ln w="12700">
            <a:solidFill>
              <a:srgbClr val="1F3B57"/>
            </a:solidFill>
            <a:prstDash val="solid"/>
          </a:ln>
        </p:spPr>
      </p:sp>
      <p:sp>
        <p:nvSpPr>
          <p:cNvPr id="9" name="Text 7"/>
          <p:cNvSpPr txBox="1"/>
          <p:nvPr/>
        </p:nvSpPr>
        <p:spPr>
          <a:xfrm>
            <a:off x="6446520" y="1719072"/>
            <a:ext cx="4983480" cy="457200"/>
          </a:xfrm>
          <a:prstGeom prst="rect">
            <a:avLst/>
          </a:prstGeom>
          <a:noFill/>
          <a:ln/>
        </p:spPr>
        <p:txBody>
          <a:bodyPr wrap="square" lIns="0" tIns="0" rIns="0" bIns="0" rtlCol="0" anchor="ctr"/>
          <a:lstStyle/>
          <a:p>
            <a:pPr algn="l" indent="0" marL="0">
              <a:buNone/>
            </a:pPr>
            <a:r>
              <a:rPr lang="en-US" sz="1700" b="1" dirty="0">
                <a:solidFill>
                  <a:srgbClr val="FFFFFF"/>
                </a:solidFill>
                <a:latin typeface="Times New Roman" pitchFamily="34" charset="0"/>
                <a:ea typeface="Times New Roman" pitchFamily="34" charset="-122"/>
                <a:cs typeface="Times New Roman" pitchFamily="34" charset="-120"/>
              </a:rPr>
              <a:t>CR = conversions / total sessions × 100</a:t>
            </a:r>
            <a:endParaRPr lang="en-US" sz="1700" dirty="0"/>
          </a:p>
        </p:txBody>
      </p:sp>
      <p:sp>
        <p:nvSpPr>
          <p:cNvPr id="10" name="Text 8"/>
          <p:cNvSpPr txBox="1"/>
          <p:nvPr/>
        </p:nvSpPr>
        <p:spPr>
          <a:xfrm>
            <a:off x="6446520" y="2304288"/>
            <a:ext cx="4983480" cy="274320"/>
          </a:xfrm>
          <a:prstGeom prst="rect">
            <a:avLst/>
          </a:prstGeom>
          <a:noFill/>
          <a:ln/>
        </p:spPr>
        <p:txBody>
          <a:bodyPr wrap="square" lIns="0" tIns="0" rIns="0" bIns="0" rtlCol="0" anchor="ctr"/>
          <a:lstStyle/>
          <a:p>
            <a:pPr indent="0" marL="0">
              <a:buNone/>
            </a:pPr>
            <a:r>
              <a:rPr lang="en-US" sz="1300" i="1" dirty="0">
                <a:solidFill>
                  <a:srgbClr val="AFC2D2"/>
                </a:solidFill>
                <a:latin typeface="Times New Roman" pitchFamily="34" charset="0"/>
                <a:ea typeface="Times New Roman" pitchFamily="34" charset="-122"/>
                <a:cs typeface="Times New Roman" pitchFamily="34" charset="-120"/>
              </a:rPr>
              <a:t>Conversion Rate</a:t>
            </a:r>
            <a:endParaRPr lang="en-US" sz="1300" dirty="0"/>
          </a:p>
        </p:txBody>
      </p:sp>
      <p:sp>
        <p:nvSpPr>
          <p:cNvPr id="11" name="Text 9"/>
          <p:cNvSpPr txBox="1"/>
          <p:nvPr/>
        </p:nvSpPr>
        <p:spPr>
          <a:xfrm>
            <a:off x="6446520" y="2578608"/>
            <a:ext cx="4983480" cy="777240"/>
          </a:xfrm>
          <a:prstGeom prst="rect">
            <a:avLst/>
          </a:prstGeom>
          <a:noFill/>
          <a:ln/>
        </p:spPr>
        <p:txBody>
          <a:bodyPr wrap="square" lIns="0" tIns="0" rIns="0" bIns="0" rtlCol="0" anchor="t"/>
          <a:lstStyle/>
          <a:p>
            <a:pPr indent="0" marL="0">
              <a:buNone/>
            </a:pPr>
            <a:r>
              <a:rPr lang="en-US" sz="1150" dirty="0">
                <a:solidFill>
                  <a:srgbClr val="FFFFFF"/>
                </a:solidFill>
                <a:latin typeface="Times New Roman" pitchFamily="34" charset="0"/>
                <a:ea typeface="Times New Roman" pitchFamily="34" charset="-122"/>
                <a:cs typeface="Times New Roman" pitchFamily="34" charset="-120"/>
              </a:rPr>
              <a:t>The percentage of visits that complete a target action (purchase, signup) — the metric the Walmart/Amazon statistics earlier directly move.</a:t>
            </a:r>
            <a:endParaRPr lang="en-US" sz="1150" dirty="0"/>
          </a:p>
        </p:txBody>
      </p:sp>
      <p:sp>
        <p:nvSpPr>
          <p:cNvPr id="12" name="Shape 10"/>
          <p:cNvSpPr/>
          <p:nvPr/>
        </p:nvSpPr>
        <p:spPr>
          <a:xfrm>
            <a:off x="548640" y="3794760"/>
            <a:ext cx="11064240" cy="1828800"/>
          </a:xfrm>
          <a:prstGeom prst="roundRect">
            <a:avLst>
              <a:gd name="adj" fmla="val 4000"/>
            </a:avLst>
          </a:prstGeom>
          <a:solidFill>
            <a:srgbClr val="E8EEF3"/>
          </a:solidFill>
          <a:ln w="15875">
            <a:solidFill>
              <a:srgbClr val="1F3B57"/>
            </a:solidFill>
            <a:prstDash val="solid"/>
          </a:ln>
        </p:spPr>
      </p:sp>
      <p:sp>
        <p:nvSpPr>
          <p:cNvPr id="13" name="Text 11"/>
          <p:cNvSpPr txBox="1"/>
          <p:nvPr/>
        </p:nvSpPr>
        <p:spPr>
          <a:xfrm>
            <a:off x="749808" y="3922776"/>
            <a:ext cx="1066190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Connecting the Two</a:t>
            </a:r>
            <a:endParaRPr lang="en-US" sz="1600" dirty="0"/>
          </a:p>
        </p:txBody>
      </p:sp>
      <p:sp>
        <p:nvSpPr>
          <p:cNvPr id="14" name="Text 12"/>
          <p:cNvSpPr txBox="1"/>
          <p:nvPr/>
        </p:nvSpPr>
        <p:spPr>
          <a:xfrm>
            <a:off x="749808" y="4297680"/>
            <a:ext cx="10661904" cy="11887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A page with a high bounce rate and a slow LCP is a strong candidate for a performance fix before a content or design fix — the Akamai and Amazon statistics from Slide 3 suggest speed alone can move both numbers measurably.</a:t>
            </a:r>
            <a:endParaRPr lang="en-US" sz="1300" dirty="0"/>
          </a:p>
        </p:txBody>
      </p:sp>
      <p:sp>
        <p:nvSpPr>
          <p:cNvPr id="15" name="Text 1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16" name="Text 1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PRACTICAL CONTEXT</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Case in Point — Diagnosing a Slow Product Page</a:t>
            </a:r>
            <a:endParaRPr lang="en-US" sz="2800" dirty="0"/>
          </a:p>
        </p:txBody>
      </p:sp>
      <p:sp>
        <p:nvSpPr>
          <p:cNvPr id="4" name="Text 2"/>
          <p:cNvSpPr txBox="1"/>
          <p:nvPr/>
        </p:nvSpPr>
        <p:spPr>
          <a:xfrm>
            <a:off x="548640" y="1463040"/>
            <a:ext cx="10424160" cy="4389120"/>
          </a:xfrm>
          <a:prstGeom prst="rect">
            <a:avLst/>
          </a:prstGeom>
          <a:noFill/>
          <a:ln/>
        </p:spPr>
        <p:txBody>
          <a:bodyPr wrap="square" lIns="0" tIns="0" rIns="0" bIns="0" rtlCol="0" anchor="t"/>
          <a:lstStyle/>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Symptom — analytics show a 68% bounce rate on the product page, well above the site's 40% average.</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Step 1 (Core Web Vitals) — field data shows LCP = 4.2s (Poor) and CLS = 0.24 (Poor); INP is fine.</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Step 2 (Waterfall) — DevTools shows TTFB = 900ms (database query bottleneck) and the hero image downloading after two render-blocking scripts.</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Step 3 (Fixes applied) — added a database index (backend checklist), added defer to both scripts, and reserved image dimensions (frontend checklist).</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Result — TTFB dropped to 120ms, LCP improved to 2.1s, CLS dropped to 0.02, and bounce rate fell to 44% over the following two weeks — directly illustrating the Akamai/Amazon statistics from Slide 3 in a single, traceable example.</a:t>
            </a:r>
            <a:endParaRPr lang="en-US" sz="145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4.2 PITFALLS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Common Performance Pitfalls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383280"/>
                <a:gridCol w="4114800"/>
                <a:gridCol w="3566160"/>
              </a:tblGrid>
              <a:tr h="77724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Pitfall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Why It's a Problem</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Fix</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Optimising only in the lab, never with real users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Lab tests miss real device/network variance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Track field data (Core Web Vitals report, real-user monitoring)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Chasing averages instead of percentiles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The average hides the slowest, most-affected users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Track p75/p95 for every metric, as in Week 2</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Fixing frontend before checking TTFB</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 slow backend caps how fast the frontend can possibly render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Diagnose with the waterfall before optimising blindly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Adding a cache without an invalidation plan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Stale cached data becomes a correctness bug, not just a performance one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Define a clear expiry or invalidation trigger for every cache layer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RECAP</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By the End of Today You Can…</a:t>
            </a:r>
            <a:endParaRPr lang="en-US" sz="2800" dirty="0"/>
          </a:p>
        </p:txBody>
      </p:sp>
      <p:sp>
        <p:nvSpPr>
          <p:cNvPr id="4" name="Shape 2"/>
          <p:cNvSpPr/>
          <p:nvPr/>
        </p:nvSpPr>
        <p:spPr>
          <a:xfrm>
            <a:off x="548640" y="1463040"/>
            <a:ext cx="365760" cy="365760"/>
          </a:xfrm>
          <a:prstGeom prst="ellipse">
            <a:avLst/>
          </a:prstGeom>
          <a:solidFill>
            <a:srgbClr val="1F3B57"/>
          </a:solidFill>
          <a:ln w="12700">
            <a:solidFill>
              <a:srgbClr val="1F3B57"/>
            </a:solidFill>
            <a:prstDash val="solid"/>
          </a:ln>
        </p:spPr>
      </p:sp>
      <p:sp>
        <p:nvSpPr>
          <p:cNvPr id="5" name="Text 3"/>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4"/>
          <p:cNvSpPr txBox="1"/>
          <p:nvPr/>
        </p:nvSpPr>
        <p:spPr>
          <a:xfrm>
            <a:off x="1097280" y="141732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Explain the business case — </a:t>
            </a:r>
            <a:pPr indent="0" marL="0">
              <a:buNone/>
            </a:pPr>
            <a:r>
              <a:rPr lang="en-US" sz="1500" dirty="0">
                <a:solidFill>
                  <a:srgbClr val="2B2B2B"/>
                </a:solidFill>
                <a:latin typeface="Times New Roman" pitchFamily="34" charset="0"/>
                <a:ea typeface="Times New Roman" pitchFamily="34" charset="-122"/>
                <a:cs typeface="Times New Roman" pitchFamily="34" charset="-120"/>
              </a:rPr>
              <a:t>Cite real, sourced statistics linking latency to revenue and bounce rate.</a:t>
            </a:r>
            <a:endParaRPr lang="en-US" sz="1500" dirty="0"/>
          </a:p>
        </p:txBody>
      </p:sp>
      <p:sp>
        <p:nvSpPr>
          <p:cNvPr id="7" name="Shape 5"/>
          <p:cNvSpPr/>
          <p:nvPr/>
        </p:nvSpPr>
        <p:spPr>
          <a:xfrm>
            <a:off x="548640" y="2240280"/>
            <a:ext cx="365760" cy="365760"/>
          </a:xfrm>
          <a:prstGeom prst="ellipse">
            <a:avLst/>
          </a:prstGeom>
          <a:solidFill>
            <a:srgbClr val="1F3B57"/>
          </a:solidFill>
          <a:ln w="12700">
            <a:solidFill>
              <a:srgbClr val="1F3B57"/>
            </a:solidFill>
            <a:prstDash val="solid"/>
          </a:ln>
        </p:spPr>
      </p:sp>
      <p:sp>
        <p:nvSpPr>
          <p:cNvPr id="8" name="Text 6"/>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9" name="Text 7"/>
          <p:cNvSpPr txBox="1"/>
          <p:nvPr/>
        </p:nvSpPr>
        <p:spPr>
          <a:xfrm>
            <a:off x="1097280" y="219456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Score Core Web Vitals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Evaluate LCP, INP, and CLS against their 'good' thresholds.</a:t>
            </a:r>
            <a:endParaRPr lang="en-US" sz="1500" dirty="0"/>
          </a:p>
        </p:txBody>
      </p:sp>
      <p:sp>
        <p:nvSpPr>
          <p:cNvPr id="10" name="Shape 8"/>
          <p:cNvSpPr/>
          <p:nvPr/>
        </p:nvSpPr>
        <p:spPr>
          <a:xfrm>
            <a:off x="548640" y="3017520"/>
            <a:ext cx="365760" cy="365760"/>
          </a:xfrm>
          <a:prstGeom prst="ellipse">
            <a:avLst/>
          </a:prstGeom>
          <a:solidFill>
            <a:srgbClr val="1F3B57"/>
          </a:solidFill>
          <a:ln w="12700">
            <a:solidFill>
              <a:srgbClr val="1F3B57"/>
            </a:solidFill>
            <a:prstDash val="solid"/>
          </a:ln>
        </p:spPr>
      </p:sp>
      <p:sp>
        <p:nvSpPr>
          <p:cNvPr id="11" name="Text 9"/>
          <p:cNvSpPr txBox="1"/>
          <p:nvPr/>
        </p:nvSpPr>
        <p:spPr>
          <a:xfrm>
            <a:off x="548640" y="3017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2" name="Text 10"/>
          <p:cNvSpPr txBox="1"/>
          <p:nvPr/>
        </p:nvSpPr>
        <p:spPr>
          <a:xfrm>
            <a:off x="1097280" y="297180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Read a waterfall chart — </a:t>
            </a:r>
            <a:pPr indent="0" marL="0">
              <a:buNone/>
            </a:pPr>
            <a:r>
              <a:rPr lang="en-US" sz="1500" dirty="0">
                <a:solidFill>
                  <a:srgbClr val="2B2B2B"/>
                </a:solidFill>
                <a:latin typeface="Times New Roman" pitchFamily="34" charset="0"/>
                <a:ea typeface="Times New Roman" pitchFamily="34" charset="-122"/>
                <a:cs typeface="Times New Roman" pitchFamily="34" charset="-120"/>
              </a:rPr>
              <a:t>Identify Queue, Connect, Wait, and Download phases and their fixes.</a:t>
            </a:r>
            <a:endParaRPr lang="en-US" sz="1500" dirty="0"/>
          </a:p>
        </p:txBody>
      </p:sp>
      <p:sp>
        <p:nvSpPr>
          <p:cNvPr id="13" name="Shape 11"/>
          <p:cNvSpPr/>
          <p:nvPr/>
        </p:nvSpPr>
        <p:spPr>
          <a:xfrm>
            <a:off x="548640" y="3794760"/>
            <a:ext cx="365760" cy="365760"/>
          </a:xfrm>
          <a:prstGeom prst="ellipse">
            <a:avLst/>
          </a:prstGeom>
          <a:solidFill>
            <a:srgbClr val="1F3B57"/>
          </a:solidFill>
          <a:ln w="12700">
            <a:solidFill>
              <a:srgbClr val="1F3B57"/>
            </a:solidFill>
            <a:prstDash val="solid"/>
          </a:ln>
        </p:spPr>
      </p:sp>
      <p:sp>
        <p:nvSpPr>
          <p:cNvPr id="14" name="Text 12"/>
          <p:cNvSpPr txBox="1"/>
          <p:nvPr/>
        </p:nvSpPr>
        <p:spPr>
          <a:xfrm>
            <a:off x="548640" y="3794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5" name="Text 13"/>
          <p:cNvSpPr txBox="1"/>
          <p:nvPr/>
        </p:nvSpPr>
        <p:spPr>
          <a:xfrm>
            <a:off x="1097280" y="374904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Apply optimisation checklists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Choose specific frontend and backend fixes for a diagnosed bottleneck.</a:t>
            </a:r>
            <a:endParaRPr lang="en-US" sz="1500" dirty="0"/>
          </a:p>
        </p:txBody>
      </p:sp>
      <p:sp>
        <p:nvSpPr>
          <p:cNvPr id="16" name="Shape 14"/>
          <p:cNvSpPr/>
          <p:nvPr/>
        </p:nvSpPr>
        <p:spPr>
          <a:xfrm>
            <a:off x="548640" y="4572000"/>
            <a:ext cx="365760" cy="365760"/>
          </a:xfrm>
          <a:prstGeom prst="ellipse">
            <a:avLst/>
          </a:prstGeom>
          <a:solidFill>
            <a:srgbClr val="1F3B57"/>
          </a:solidFill>
          <a:ln w="12700">
            <a:solidFill>
              <a:srgbClr val="1F3B57"/>
            </a:solidFill>
            <a:prstDash val="solid"/>
          </a:ln>
        </p:spPr>
      </p:sp>
      <p:sp>
        <p:nvSpPr>
          <p:cNvPr id="17" name="Text 15"/>
          <p:cNvSpPr txBox="1"/>
          <p:nvPr/>
        </p:nvSpPr>
        <p:spPr>
          <a:xfrm>
            <a:off x="548640" y="4572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18" name="Text 16"/>
          <p:cNvSpPr txBox="1"/>
          <p:nvPr/>
        </p:nvSpPr>
        <p:spPr>
          <a:xfrm>
            <a:off x="1097280" y="452628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Connect performance to analytics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Relate bounce rate and conversion rate formulas to a performance fix.</a:t>
            </a:r>
            <a:endParaRPr lang="en-US" sz="150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20" name="Text 18"/>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SUMMARY</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Key Takeaways</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Performance has a proven, cited dollar value — Amazon (100ms = 1% sales), Google (500ms = 20% traffic), Walmart (1s = 2% conversions).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Core Web Vitals — LCP (≤2.5s), INP (≤200ms), CLS (≤0.1) — are Google's real-user-based scoring metrics for page experience.</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A waterfall chart's Queue, Connect, Wait (TTFB), and Download phases each point to a specific, different fix.</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Backend fixes (indexing, caching, pooling) and frontend fixes (defer scripts, image sizing, code-splitting) target different metrics — diagnose before optimising.</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Bounce rate and conversion rate are the business-facing metrics that performance work ultimately moves — use them to justify the engineering investment.</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4 · Web Performance &amp; Analytics</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2026-09-02T21:12:39Z</dcterms:created>
  <dcterms:modified xsi:type="dcterms:W3CDTF">2026-09-02T21:12:39Z</dcterms:modified>
</cp:coreProperties>
</file>