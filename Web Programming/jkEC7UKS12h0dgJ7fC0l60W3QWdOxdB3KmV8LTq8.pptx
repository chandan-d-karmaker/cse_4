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313" r:id="rId19"/>
    <p:sldId id="273" r:id="rId20"/>
    <p:sldId id="274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08" r:id="rId75"/>
    <p:sldId id="309" r:id="rId76"/>
    <p:sldId id="310" r:id="rId77"/>
    <p:sldId id="311" r:id="rId78"/>
    <p:sldId id="312" r:id="rId7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7279" y="-59689"/>
            <a:ext cx="340944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359" y="1077213"/>
            <a:ext cx="7955280" cy="4418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113" y="0"/>
            <a:ext cx="47440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20" dirty="0">
                <a:solidFill>
                  <a:srgbClr val="006FC0"/>
                </a:solidFill>
                <a:latin typeface="Carlito"/>
                <a:cs typeface="Carlito"/>
              </a:rPr>
              <a:t>JavaScript</a:t>
            </a:r>
            <a:r>
              <a:rPr b="0" spc="-15" dirty="0">
                <a:solidFill>
                  <a:srgbClr val="006FC0"/>
                </a:solidFill>
                <a:latin typeface="Carlito"/>
                <a:cs typeface="Carlito"/>
              </a:rPr>
              <a:t> 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633729"/>
            <a:ext cx="7996555" cy="5805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was </a:t>
            </a:r>
            <a:r>
              <a:rPr sz="2400" spc="-5" dirty="0">
                <a:latin typeface="Carlito"/>
                <a:cs typeface="Carlito"/>
              </a:rPr>
              <a:t>designed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add </a:t>
            </a:r>
            <a:r>
              <a:rPr sz="2400" spc="-10" dirty="0">
                <a:latin typeface="Carlito"/>
                <a:cs typeface="Carlito"/>
              </a:rPr>
              <a:t>interactivity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HTML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pages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dirty="0">
                <a:latin typeface="Carlito"/>
                <a:cs typeface="Carlito"/>
              </a:rPr>
              <a:t>is a </a:t>
            </a:r>
            <a:r>
              <a:rPr sz="2400" spc="-5" dirty="0">
                <a:latin typeface="Carlito"/>
                <a:cs typeface="Carlito"/>
              </a:rPr>
              <a:t>scripting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scripting language </a:t>
            </a:r>
            <a:r>
              <a:rPr sz="2400" dirty="0">
                <a:latin typeface="Carlito"/>
                <a:cs typeface="Carlito"/>
              </a:rPr>
              <a:t>is a </a:t>
            </a:r>
            <a:r>
              <a:rPr sz="2400" spc="-10" dirty="0">
                <a:latin typeface="Carlito"/>
                <a:cs typeface="Carlito"/>
              </a:rPr>
              <a:t>lightweight programming</a:t>
            </a:r>
            <a:r>
              <a:rPr sz="2400" spc="-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usually </a:t>
            </a:r>
            <a:r>
              <a:rPr sz="2400" dirty="0">
                <a:latin typeface="Carlito"/>
                <a:cs typeface="Carlito"/>
              </a:rPr>
              <a:t>embedded </a:t>
            </a:r>
            <a:r>
              <a:rPr sz="2400" spc="-5" dirty="0">
                <a:latin typeface="Carlito"/>
                <a:cs typeface="Carlito"/>
              </a:rPr>
              <a:t>directly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HTML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pages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ts val="2300"/>
              </a:lnSpc>
              <a:spcBef>
                <a:spcPts val="560"/>
              </a:spcBef>
              <a:buFont typeface="Arial"/>
              <a:buChar char="•"/>
              <a:tabLst>
                <a:tab pos="355600" algn="l"/>
                <a:tab pos="356235" algn="l"/>
                <a:tab pos="1745614" algn="l"/>
                <a:tab pos="2099310" algn="l"/>
                <a:tab pos="2571750" algn="l"/>
                <a:tab pos="4146550" algn="l"/>
                <a:tab pos="5429885" algn="l"/>
                <a:tab pos="6507480" algn="l"/>
                <a:tab pos="7181215" algn="l"/>
              </a:tabLst>
            </a:pPr>
            <a:r>
              <a:rPr sz="2400" dirty="0">
                <a:latin typeface="Carlito"/>
                <a:cs typeface="Carlito"/>
              </a:rPr>
              <a:t>J</a:t>
            </a:r>
            <a:r>
              <a:rPr sz="2400" spc="-35" dirty="0">
                <a:latin typeface="Carlito"/>
                <a:cs typeface="Carlito"/>
              </a:rPr>
              <a:t>a</a:t>
            </a:r>
            <a:r>
              <a:rPr sz="2400" spc="-4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aScri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	</a:t>
            </a:r>
            <a:r>
              <a:rPr sz="2400" spc="-15" dirty="0">
                <a:latin typeface="Carlito"/>
                <a:cs typeface="Carlito"/>
              </a:rPr>
              <a:t>i</a:t>
            </a:r>
            <a:r>
              <a:rPr sz="2400" dirty="0">
                <a:latin typeface="Carlito"/>
                <a:cs typeface="Carlito"/>
              </a:rPr>
              <a:t>s	an	i</a:t>
            </a:r>
            <a:r>
              <a:rPr sz="2400" spc="-25" dirty="0">
                <a:latin typeface="Carlito"/>
                <a:cs typeface="Carlito"/>
              </a:rPr>
              <a:t>nt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5" dirty="0">
                <a:latin typeface="Carlito"/>
                <a:cs typeface="Carlito"/>
              </a:rPr>
              <a:t>r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3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ed	lang</a:t>
            </a:r>
            <a:r>
              <a:rPr sz="2400" spc="-15" dirty="0">
                <a:latin typeface="Carlito"/>
                <a:cs typeface="Carlito"/>
              </a:rPr>
              <a:t>u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g</a:t>
            </a:r>
            <a:r>
              <a:rPr sz="2400" dirty="0">
                <a:latin typeface="Carlito"/>
                <a:cs typeface="Carlito"/>
              </a:rPr>
              <a:t>e	</a:t>
            </a:r>
            <a:r>
              <a:rPr sz="2400" spc="-5" dirty="0">
                <a:latin typeface="Carlito"/>
                <a:cs typeface="Carlito"/>
              </a:rPr>
              <a:t>(mean</a:t>
            </a:r>
            <a:r>
              <a:rPr sz="2400" dirty="0">
                <a:latin typeface="Carlito"/>
                <a:cs typeface="Carlito"/>
              </a:rPr>
              <a:t>s	th</a:t>
            </a:r>
            <a:r>
              <a:rPr sz="2400" spc="-25" dirty="0">
                <a:latin typeface="Carlito"/>
                <a:cs typeface="Carlito"/>
              </a:rPr>
              <a:t>a</a:t>
            </a:r>
            <a:r>
              <a:rPr sz="2400" dirty="0">
                <a:latin typeface="Carlito"/>
                <a:cs typeface="Carlito"/>
              </a:rPr>
              <a:t>t	</a:t>
            </a:r>
            <a:r>
              <a:rPr sz="2400" spc="-15" dirty="0">
                <a:latin typeface="Carlito"/>
                <a:cs typeface="Carlito"/>
              </a:rPr>
              <a:t>s</a:t>
            </a:r>
            <a:r>
              <a:rPr sz="2400" dirty="0">
                <a:latin typeface="Carlito"/>
                <a:cs typeface="Carlito"/>
              </a:rPr>
              <a:t>cr</a:t>
            </a:r>
            <a:r>
              <a:rPr sz="2400" spc="5" dirty="0">
                <a:latin typeface="Carlito"/>
                <a:cs typeface="Carlito"/>
              </a:rPr>
              <a:t>i</a:t>
            </a:r>
            <a:r>
              <a:rPr sz="2400" spc="-15" dirty="0">
                <a:latin typeface="Carlito"/>
                <a:cs typeface="Carlito"/>
              </a:rPr>
              <a:t>pt</a:t>
            </a:r>
            <a:r>
              <a:rPr sz="2400" dirty="0">
                <a:latin typeface="Carlito"/>
                <a:cs typeface="Carlito"/>
              </a:rPr>
              <a:t>s  </a:t>
            </a:r>
            <a:r>
              <a:rPr sz="2400" spc="-20" dirty="0">
                <a:latin typeface="Carlito"/>
                <a:cs typeface="Carlito"/>
              </a:rPr>
              <a:t>execute </a:t>
            </a:r>
            <a:r>
              <a:rPr sz="2400" dirty="0">
                <a:latin typeface="Carlito"/>
                <a:cs typeface="Carlito"/>
              </a:rPr>
              <a:t>without </a:t>
            </a:r>
            <a:r>
              <a:rPr sz="2400" spc="-5" dirty="0">
                <a:latin typeface="Carlito"/>
                <a:cs typeface="Carlito"/>
              </a:rPr>
              <a:t>preliminary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compilation)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Developed </a:t>
            </a:r>
            <a:r>
              <a:rPr sz="2400" spc="-10" dirty="0">
                <a:latin typeface="Carlito"/>
                <a:cs typeface="Carlito"/>
              </a:rPr>
              <a:t>by </a:t>
            </a:r>
            <a:r>
              <a:rPr sz="2400" spc="-5" dirty="0">
                <a:latin typeface="Carlito"/>
                <a:cs typeface="Carlito"/>
              </a:rPr>
              <a:t>Netscape </a:t>
            </a:r>
            <a:r>
              <a:rPr sz="2400" spc="-10" dirty="0">
                <a:latin typeface="Carlito"/>
                <a:cs typeface="Carlito"/>
              </a:rPr>
              <a:t>Corporation </a:t>
            </a:r>
            <a:r>
              <a:rPr sz="2400" spc="-5" dirty="0">
                <a:latin typeface="Carlito"/>
                <a:cs typeface="Carlito"/>
              </a:rPr>
              <a:t>known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0" dirty="0">
                <a:latin typeface="Carlito"/>
                <a:cs typeface="Carlito"/>
              </a:rPr>
              <a:t>“Live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5" dirty="0">
                <a:latin typeface="Carlito"/>
                <a:cs typeface="Carlito"/>
              </a:rPr>
              <a:t>Script”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ts val="2595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It</a:t>
            </a:r>
            <a:r>
              <a:rPr sz="2400" spc="9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was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later</a:t>
            </a:r>
            <a:r>
              <a:rPr sz="2400" spc="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renamed</a:t>
            </a:r>
            <a:r>
              <a:rPr sz="2400" spc="9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9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its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present</a:t>
            </a:r>
            <a:r>
              <a:rPr sz="2400" spc="10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name</a:t>
            </a:r>
            <a:r>
              <a:rPr sz="2400" spc="114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Netscape,</a:t>
            </a:r>
            <a:r>
              <a:rPr sz="2400" spc="1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which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ts val="2595"/>
              </a:lnSpc>
            </a:pPr>
            <a:r>
              <a:rPr sz="2400" spc="-5" dirty="0">
                <a:latin typeface="Carlito"/>
                <a:cs typeface="Carlito"/>
              </a:rPr>
              <a:t>had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joint </a:t>
            </a:r>
            <a:r>
              <a:rPr sz="2400" spc="-15" dirty="0">
                <a:latin typeface="Carlito"/>
                <a:cs typeface="Carlito"/>
              </a:rPr>
              <a:t>venture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Sun </a:t>
            </a:r>
            <a:r>
              <a:rPr sz="2400" spc="-15" dirty="0">
                <a:latin typeface="Carlito"/>
                <a:cs typeface="Carlito"/>
              </a:rPr>
              <a:t>Microsystems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  <a:tab pos="1788160" algn="l"/>
                <a:tab pos="3082290" algn="l"/>
                <a:tab pos="4659630" algn="l"/>
                <a:tab pos="5928360" algn="l"/>
                <a:tab pos="6702425" algn="l"/>
              </a:tabLst>
            </a:pPr>
            <a:r>
              <a:rPr sz="2400" dirty="0">
                <a:latin typeface="Carlito"/>
                <a:cs typeface="Carlito"/>
              </a:rPr>
              <a:t>J</a:t>
            </a:r>
            <a:r>
              <a:rPr sz="2400" spc="-35" dirty="0">
                <a:latin typeface="Carlito"/>
                <a:cs typeface="Carlito"/>
              </a:rPr>
              <a:t>a</a:t>
            </a:r>
            <a:r>
              <a:rPr sz="2400" spc="-4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aScri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	</a:t>
            </a:r>
            <a:r>
              <a:rPr sz="2400" spc="-15" dirty="0">
                <a:latin typeface="Carlito"/>
                <a:cs typeface="Carlito"/>
              </a:rPr>
              <a:t>s</a:t>
            </a:r>
            <a:r>
              <a:rPr sz="2400" spc="-5" dirty="0">
                <a:latin typeface="Carlito"/>
                <a:cs typeface="Carlito"/>
              </a:rPr>
              <a:t>upport</a:t>
            </a:r>
            <a:r>
              <a:rPr sz="2400" dirty="0">
                <a:latin typeface="Carlito"/>
                <a:cs typeface="Carlito"/>
              </a:rPr>
              <a:t>s	</a:t>
            </a:r>
            <a:r>
              <a:rPr sz="2400" spc="-5" dirty="0">
                <a:latin typeface="Carlito"/>
                <a:cs typeface="Carlito"/>
              </a:rPr>
              <a:t>se</a:t>
            </a:r>
            <a:r>
              <a:rPr sz="2400" spc="25" dirty="0">
                <a:latin typeface="Carlito"/>
                <a:cs typeface="Carlito"/>
              </a:rPr>
              <a:t>r</a:t>
            </a:r>
            <a:r>
              <a:rPr sz="2400" spc="-3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1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-sid</a:t>
            </a:r>
            <a:r>
              <a:rPr sz="2400" dirty="0">
                <a:latin typeface="Carlito"/>
                <a:cs typeface="Carlito"/>
              </a:rPr>
              <a:t>e	</a:t>
            </a:r>
            <a:r>
              <a:rPr sz="2400" spc="-5" dirty="0">
                <a:latin typeface="Carlito"/>
                <a:cs typeface="Carlito"/>
              </a:rPr>
              <a:t>scri</a:t>
            </a:r>
            <a:r>
              <a:rPr sz="2400" spc="-10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ting	als</a:t>
            </a:r>
            <a:r>
              <a:rPr sz="2400" spc="-55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,	</a:t>
            </a:r>
            <a:r>
              <a:rPr sz="2400" spc="-5" dirty="0">
                <a:latin typeface="Carlito"/>
                <a:cs typeface="Carlito"/>
              </a:rPr>
              <a:t>sepa</a:t>
            </a:r>
            <a:r>
              <a:rPr sz="2400" spc="-45" dirty="0">
                <a:latin typeface="Carlito"/>
                <a:cs typeface="Carlito"/>
              </a:rPr>
              <a:t>r</a:t>
            </a:r>
            <a:r>
              <a:rPr sz="2400" spc="-25" dirty="0">
                <a:latin typeface="Carlito"/>
                <a:cs typeface="Carlito"/>
              </a:rPr>
              <a:t>at</a:t>
            </a:r>
            <a:r>
              <a:rPr sz="2400" dirty="0">
                <a:latin typeface="Carlito"/>
                <a:cs typeface="Carlito"/>
              </a:rPr>
              <a:t>ely  </a:t>
            </a:r>
            <a:r>
              <a:rPr sz="2400" spc="-5" dirty="0">
                <a:latin typeface="Carlito"/>
                <a:cs typeface="Carlito"/>
              </a:rPr>
              <a:t>known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Livewire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First </a:t>
            </a:r>
            <a:r>
              <a:rPr sz="2400" spc="-10" dirty="0">
                <a:latin typeface="Carlito"/>
                <a:cs typeface="Carlito"/>
              </a:rPr>
              <a:t>supported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Netscape </a:t>
            </a:r>
            <a:r>
              <a:rPr sz="2400" spc="-20" dirty="0">
                <a:latin typeface="Carlito"/>
                <a:cs typeface="Carlito"/>
              </a:rPr>
              <a:t>Navigator </a:t>
            </a:r>
            <a:r>
              <a:rPr sz="2400" spc="-5" dirty="0">
                <a:latin typeface="Carlito"/>
                <a:cs typeface="Carlito"/>
              </a:rPr>
              <a:t>2.0.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Now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0" dirty="0">
                <a:latin typeface="Carlito"/>
                <a:cs typeface="Carlito"/>
              </a:rPr>
              <a:t>Internet Explorer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Microsoft, </a:t>
            </a:r>
            <a:r>
              <a:rPr sz="2400" spc="-15" dirty="0">
                <a:latin typeface="Carlito"/>
                <a:cs typeface="Carlito"/>
              </a:rPr>
              <a:t>Personal</a:t>
            </a:r>
            <a:r>
              <a:rPr sz="2400" spc="265" dirty="0">
                <a:latin typeface="Carlito"/>
                <a:cs typeface="Carlito"/>
              </a:rPr>
              <a:t> </a:t>
            </a:r>
            <a:r>
              <a:rPr sz="2400" spc="-30" dirty="0">
                <a:latin typeface="Carlito"/>
                <a:cs typeface="Carlito"/>
              </a:rPr>
              <a:t>Web </a:t>
            </a:r>
            <a:r>
              <a:rPr sz="2400" spc="-10" dirty="0">
                <a:latin typeface="Carlito"/>
                <a:cs typeface="Carlito"/>
              </a:rPr>
              <a:t>Client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ts val="2590"/>
              </a:lnSpc>
            </a:pPr>
            <a:r>
              <a:rPr sz="2400" spc="-5" dirty="0">
                <a:latin typeface="Carlito"/>
                <a:cs typeface="Carlito"/>
              </a:rPr>
              <a:t>3.0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5" dirty="0">
                <a:latin typeface="Carlito"/>
                <a:cs typeface="Carlito"/>
              </a:rPr>
              <a:t>Lotus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Mosaic 2.0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so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on.</a:t>
            </a:r>
            <a:endParaRPr sz="24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spc="-15" dirty="0">
                <a:latin typeface="Carlito"/>
                <a:cs typeface="Carlito"/>
              </a:rPr>
              <a:t>was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20" dirty="0">
                <a:latin typeface="Carlito"/>
                <a:cs typeface="Carlito"/>
              </a:rPr>
              <a:t>referred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15" dirty="0">
                <a:latin typeface="Carlito"/>
                <a:cs typeface="Carlito"/>
              </a:rPr>
              <a:t>ECMA </a:t>
            </a:r>
            <a:r>
              <a:rPr sz="2400" spc="-5" dirty="0">
                <a:latin typeface="Carlito"/>
                <a:cs typeface="Carlito"/>
              </a:rPr>
              <a:t>Script. </a:t>
            </a:r>
            <a:r>
              <a:rPr sz="2400" spc="-10" dirty="0">
                <a:latin typeface="Carlito"/>
                <a:cs typeface="Carlito"/>
              </a:rPr>
              <a:t>ECMA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the  short </a:t>
            </a:r>
            <a:r>
              <a:rPr sz="2400" spc="-15" dirty="0">
                <a:latin typeface="Carlito"/>
                <a:cs typeface="Carlito"/>
              </a:rPr>
              <a:t>form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European Computer Manufacturer’s  </a:t>
            </a:r>
            <a:r>
              <a:rPr sz="2400" spc="-5" dirty="0">
                <a:latin typeface="Carlito"/>
                <a:cs typeface="Carlito"/>
              </a:rPr>
              <a:t>Association.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2520" y="0"/>
            <a:ext cx="53803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latin typeface="Carlito"/>
                <a:cs typeface="Carlito"/>
              </a:rPr>
              <a:t>What can </a:t>
            </a:r>
            <a:r>
              <a:rPr b="0" spc="-5" dirty="0">
                <a:latin typeface="Carlito"/>
                <a:cs typeface="Carlito"/>
              </a:rPr>
              <a:t>a </a:t>
            </a:r>
            <a:r>
              <a:rPr b="0" spc="-20" dirty="0">
                <a:latin typeface="Carlito"/>
                <a:cs typeface="Carlito"/>
              </a:rPr>
              <a:t>JavaScript</a:t>
            </a:r>
            <a:r>
              <a:rPr b="0" spc="-25" dirty="0">
                <a:latin typeface="Carlito"/>
                <a:cs typeface="Carlito"/>
              </a:rPr>
              <a:t> </a:t>
            </a:r>
            <a:r>
              <a:rPr b="0" spc="-10" dirty="0">
                <a:latin typeface="Carlito"/>
                <a:cs typeface="Carlito"/>
              </a:rPr>
              <a:t>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28445"/>
            <a:ext cx="7997190" cy="53308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5715" indent="-343535" algn="just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gives HTML </a:t>
            </a:r>
            <a:r>
              <a:rPr sz="2000" b="1" spc="-5" dirty="0">
                <a:latin typeface="Carlito"/>
                <a:cs typeface="Carlito"/>
              </a:rPr>
              <a:t>designers </a:t>
            </a:r>
            <a:r>
              <a:rPr sz="2000" b="1" dirty="0">
                <a:latin typeface="Carlito"/>
                <a:cs typeface="Carlito"/>
              </a:rPr>
              <a:t>a </a:t>
            </a:r>
            <a:r>
              <a:rPr sz="2000" b="1" spc="-10" dirty="0">
                <a:latin typeface="Carlito"/>
                <a:cs typeface="Carlito"/>
              </a:rPr>
              <a:t>programming tool </a:t>
            </a:r>
            <a:r>
              <a:rPr sz="2000" b="1" dirty="0">
                <a:latin typeface="Carlito"/>
                <a:cs typeface="Carlito"/>
              </a:rPr>
              <a:t>- </a:t>
            </a:r>
            <a:r>
              <a:rPr sz="2000" spc="-5" dirty="0">
                <a:latin typeface="Carlito"/>
                <a:cs typeface="Carlito"/>
              </a:rPr>
              <a:t>HTML </a:t>
            </a:r>
            <a:r>
              <a:rPr sz="2000" spc="-10" dirty="0">
                <a:latin typeface="Carlito"/>
                <a:cs typeface="Carlito"/>
              </a:rPr>
              <a:t>authors are  </a:t>
            </a:r>
            <a:r>
              <a:rPr sz="2000" spc="-5" dirty="0">
                <a:latin typeface="Carlito"/>
                <a:cs typeface="Carlito"/>
              </a:rPr>
              <a:t>normally not </a:t>
            </a:r>
            <a:r>
              <a:rPr sz="2000" spc="-15" dirty="0">
                <a:latin typeface="Carlito"/>
                <a:cs typeface="Carlito"/>
              </a:rPr>
              <a:t>programmers, </a:t>
            </a:r>
            <a:r>
              <a:rPr sz="2000" dirty="0">
                <a:latin typeface="Carlito"/>
                <a:cs typeface="Carlito"/>
              </a:rPr>
              <a:t>but </a:t>
            </a:r>
            <a:r>
              <a:rPr sz="2000" spc="-10" dirty="0">
                <a:latin typeface="Carlito"/>
                <a:cs typeface="Carlito"/>
              </a:rPr>
              <a:t>JavaScript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dirty="0">
                <a:latin typeface="Carlito"/>
                <a:cs typeface="Carlito"/>
              </a:rPr>
              <a:t>a scripting </a:t>
            </a:r>
            <a:r>
              <a:rPr sz="2000" spc="-5" dirty="0">
                <a:latin typeface="Carlito"/>
                <a:cs typeface="Carlito"/>
              </a:rPr>
              <a:t>language with </a:t>
            </a:r>
            <a:r>
              <a:rPr sz="2000" dirty="0">
                <a:latin typeface="Carlito"/>
                <a:cs typeface="Carlito"/>
              </a:rPr>
              <a:t>a  </a:t>
            </a:r>
            <a:r>
              <a:rPr sz="2000" spc="-10" dirty="0">
                <a:latin typeface="Carlito"/>
                <a:cs typeface="Carlito"/>
              </a:rPr>
              <a:t>very </a:t>
            </a:r>
            <a:r>
              <a:rPr sz="2000" spc="-5" dirty="0">
                <a:latin typeface="Carlito"/>
                <a:cs typeface="Carlito"/>
              </a:rPr>
              <a:t>simple </a:t>
            </a:r>
            <a:r>
              <a:rPr sz="2000" spc="-20" dirty="0">
                <a:latin typeface="Carlito"/>
                <a:cs typeface="Carlito"/>
              </a:rPr>
              <a:t>syntax! </a:t>
            </a:r>
            <a:r>
              <a:rPr sz="2000" spc="-5" dirty="0">
                <a:latin typeface="Carlito"/>
                <a:cs typeface="Carlito"/>
              </a:rPr>
              <a:t>Almost </a:t>
            </a:r>
            <a:r>
              <a:rPr sz="2000" spc="-15" dirty="0">
                <a:latin typeface="Carlito"/>
                <a:cs typeface="Carlito"/>
              </a:rPr>
              <a:t>anyone </a:t>
            </a:r>
            <a:r>
              <a:rPr sz="2000" spc="-5" dirty="0">
                <a:latin typeface="Carlito"/>
                <a:cs typeface="Carlito"/>
              </a:rPr>
              <a:t>can </a:t>
            </a:r>
            <a:r>
              <a:rPr sz="2000" dirty="0">
                <a:latin typeface="Carlito"/>
                <a:cs typeface="Carlito"/>
              </a:rPr>
              <a:t>put small "snippets" </a:t>
            </a:r>
            <a:r>
              <a:rPr sz="2000" spc="-5" dirty="0">
                <a:latin typeface="Carlito"/>
                <a:cs typeface="Carlito"/>
              </a:rPr>
              <a:t>of code </a:t>
            </a:r>
            <a:r>
              <a:rPr sz="2000" spc="-15" dirty="0">
                <a:latin typeface="Carlito"/>
                <a:cs typeface="Carlito"/>
              </a:rPr>
              <a:t>into  </a:t>
            </a:r>
            <a:r>
              <a:rPr sz="2000" dirty="0">
                <a:latin typeface="Carlito"/>
                <a:cs typeface="Carlito"/>
              </a:rPr>
              <a:t>their HTML</a:t>
            </a:r>
            <a:r>
              <a:rPr sz="2000" spc="-5" dirty="0">
                <a:latin typeface="Carlito"/>
                <a:cs typeface="Carlito"/>
              </a:rPr>
              <a:t> pages</a:t>
            </a:r>
            <a:endParaRPr sz="2000">
              <a:latin typeface="Carlito"/>
              <a:cs typeface="Carlito"/>
            </a:endParaRPr>
          </a:p>
          <a:p>
            <a:pPr marL="355600" marR="6985" indent="-343535" algn="just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</a:t>
            </a:r>
            <a:r>
              <a:rPr sz="2000" b="1" spc="-5" dirty="0">
                <a:latin typeface="Carlito"/>
                <a:cs typeface="Carlito"/>
              </a:rPr>
              <a:t>can </a:t>
            </a:r>
            <a:r>
              <a:rPr sz="2000" b="1" dirty="0">
                <a:latin typeface="Carlito"/>
                <a:cs typeface="Carlito"/>
              </a:rPr>
              <a:t>put dynamic </a:t>
            </a:r>
            <a:r>
              <a:rPr sz="2000" b="1" spc="-15" dirty="0">
                <a:latin typeface="Carlito"/>
                <a:cs typeface="Carlito"/>
              </a:rPr>
              <a:t>text into </a:t>
            </a:r>
            <a:r>
              <a:rPr sz="2000" b="1" spc="-5" dirty="0">
                <a:latin typeface="Carlito"/>
                <a:cs typeface="Carlito"/>
              </a:rPr>
              <a:t>an </a:t>
            </a:r>
            <a:r>
              <a:rPr sz="2000" b="1" dirty="0">
                <a:latin typeface="Carlito"/>
                <a:cs typeface="Carlito"/>
              </a:rPr>
              <a:t>HTML </a:t>
            </a:r>
            <a:r>
              <a:rPr sz="2000" b="1" spc="-10" dirty="0">
                <a:latin typeface="Carlito"/>
                <a:cs typeface="Carlito"/>
              </a:rPr>
              <a:t>page </a:t>
            </a:r>
            <a:r>
              <a:rPr sz="2000" b="1" dirty="0">
                <a:latin typeface="Carlito"/>
                <a:cs typeface="Carlito"/>
              </a:rPr>
              <a:t>-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JavaScript  </a:t>
            </a:r>
            <a:r>
              <a:rPr sz="2000" spc="-15" dirty="0">
                <a:latin typeface="Carlito"/>
                <a:cs typeface="Carlito"/>
              </a:rPr>
              <a:t>statement like </a:t>
            </a:r>
            <a:r>
              <a:rPr sz="2000" dirty="0">
                <a:latin typeface="Carlito"/>
                <a:cs typeface="Carlito"/>
              </a:rPr>
              <a:t>this: </a:t>
            </a:r>
            <a:r>
              <a:rPr sz="2000" spc="-10" dirty="0">
                <a:latin typeface="Carlito"/>
                <a:cs typeface="Carlito"/>
              </a:rPr>
              <a:t>document.write("&lt;h1&gt;" </a:t>
            </a:r>
            <a:r>
              <a:rPr sz="2000" dirty="0">
                <a:latin typeface="Carlito"/>
                <a:cs typeface="Carlito"/>
              </a:rPr>
              <a:t>+ </a:t>
            </a:r>
            <a:r>
              <a:rPr sz="2000" spc="-5" dirty="0">
                <a:latin typeface="Carlito"/>
                <a:cs typeface="Carlito"/>
              </a:rPr>
              <a:t>name </a:t>
            </a:r>
            <a:r>
              <a:rPr sz="2000" dirty="0">
                <a:latin typeface="Carlito"/>
                <a:cs typeface="Carlito"/>
              </a:rPr>
              <a:t>+ </a:t>
            </a:r>
            <a:r>
              <a:rPr sz="2000" spc="-5" dirty="0">
                <a:latin typeface="Carlito"/>
                <a:cs typeface="Carlito"/>
              </a:rPr>
              <a:t>"&lt;/h1&gt;") can </a:t>
            </a:r>
            <a:r>
              <a:rPr sz="2000" spc="-10" dirty="0">
                <a:latin typeface="Carlito"/>
                <a:cs typeface="Carlito"/>
              </a:rPr>
              <a:t>write 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variable </a:t>
            </a:r>
            <a:r>
              <a:rPr sz="2000" spc="-20" dirty="0">
                <a:latin typeface="Carlito"/>
                <a:cs typeface="Carlito"/>
              </a:rPr>
              <a:t>text </a:t>
            </a:r>
            <a:r>
              <a:rPr sz="2000" spc="-10" dirty="0">
                <a:latin typeface="Carlito"/>
                <a:cs typeface="Carlito"/>
              </a:rPr>
              <a:t>into </a:t>
            </a: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HTML</a:t>
            </a:r>
            <a:r>
              <a:rPr sz="2000" spc="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</a:t>
            </a:r>
            <a:r>
              <a:rPr sz="2000" b="1" spc="-5" dirty="0">
                <a:latin typeface="Carlito"/>
                <a:cs typeface="Carlito"/>
              </a:rPr>
              <a:t>can </a:t>
            </a:r>
            <a:r>
              <a:rPr sz="2000" b="1" spc="-10" dirty="0">
                <a:latin typeface="Carlito"/>
                <a:cs typeface="Carlito"/>
              </a:rPr>
              <a:t>react </a:t>
            </a:r>
            <a:r>
              <a:rPr sz="2000" b="1" spc="-20" dirty="0">
                <a:latin typeface="Carlito"/>
                <a:cs typeface="Carlito"/>
              </a:rPr>
              <a:t>to </a:t>
            </a:r>
            <a:r>
              <a:rPr sz="2000" b="1" spc="-10" dirty="0">
                <a:latin typeface="Carlito"/>
                <a:cs typeface="Carlito"/>
              </a:rPr>
              <a:t>events </a:t>
            </a:r>
            <a:r>
              <a:rPr sz="2000" b="1" dirty="0">
                <a:latin typeface="Carlito"/>
                <a:cs typeface="Carlito"/>
              </a:rPr>
              <a:t>-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JavaScript </a:t>
            </a:r>
            <a:r>
              <a:rPr sz="2000" spc="-5" dirty="0">
                <a:latin typeface="Carlito"/>
                <a:cs typeface="Carlito"/>
              </a:rPr>
              <a:t>can </a:t>
            </a:r>
            <a:r>
              <a:rPr sz="2000" dirty="0">
                <a:latin typeface="Carlito"/>
                <a:cs typeface="Carlito"/>
              </a:rPr>
              <a:t>be </a:t>
            </a:r>
            <a:r>
              <a:rPr sz="2000" spc="-10" dirty="0">
                <a:latin typeface="Carlito"/>
                <a:cs typeface="Carlito"/>
              </a:rPr>
              <a:t>set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20" dirty="0">
                <a:latin typeface="Carlito"/>
                <a:cs typeface="Carlito"/>
              </a:rPr>
              <a:t>execute </a:t>
            </a:r>
            <a:r>
              <a:rPr sz="2000" spc="-10" dirty="0">
                <a:latin typeface="Carlito"/>
                <a:cs typeface="Carlito"/>
              </a:rPr>
              <a:t>when  </a:t>
            </a:r>
            <a:r>
              <a:rPr sz="2000" spc="-5" dirty="0">
                <a:latin typeface="Carlito"/>
                <a:cs typeface="Carlito"/>
              </a:rPr>
              <a:t>something happens, </a:t>
            </a:r>
            <a:r>
              <a:rPr sz="2000" spc="-20" dirty="0">
                <a:latin typeface="Carlito"/>
                <a:cs typeface="Carlito"/>
              </a:rPr>
              <a:t>like </a:t>
            </a:r>
            <a:r>
              <a:rPr sz="2000" spc="-5" dirty="0">
                <a:latin typeface="Carlito"/>
                <a:cs typeface="Carlito"/>
              </a:rPr>
              <a:t>when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page has finished loading </a:t>
            </a:r>
            <a:r>
              <a:rPr sz="2000" dirty="0">
                <a:latin typeface="Carlito"/>
                <a:cs typeface="Carlito"/>
              </a:rPr>
              <a:t>or </a:t>
            </a:r>
            <a:r>
              <a:rPr sz="2000" spc="-5" dirty="0">
                <a:latin typeface="Carlito"/>
                <a:cs typeface="Carlito"/>
              </a:rPr>
              <a:t>when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user  clicks on </a:t>
            </a: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HTML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element</a:t>
            </a:r>
            <a:endParaRPr sz="2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</a:t>
            </a:r>
            <a:r>
              <a:rPr sz="2000" b="1" spc="-5" dirty="0">
                <a:latin typeface="Carlito"/>
                <a:cs typeface="Carlito"/>
              </a:rPr>
              <a:t>can </a:t>
            </a:r>
            <a:r>
              <a:rPr sz="2000" b="1" spc="-10" dirty="0">
                <a:latin typeface="Carlito"/>
                <a:cs typeface="Carlito"/>
              </a:rPr>
              <a:t>read </a:t>
            </a:r>
            <a:r>
              <a:rPr sz="2000" b="1" dirty="0">
                <a:latin typeface="Carlito"/>
                <a:cs typeface="Carlito"/>
              </a:rPr>
              <a:t>and </a:t>
            </a:r>
            <a:r>
              <a:rPr sz="2000" b="1" spc="-10" dirty="0">
                <a:latin typeface="Carlito"/>
                <a:cs typeface="Carlito"/>
              </a:rPr>
              <a:t>write </a:t>
            </a:r>
            <a:r>
              <a:rPr sz="2000" b="1" spc="-5" dirty="0">
                <a:latin typeface="Carlito"/>
                <a:cs typeface="Carlito"/>
              </a:rPr>
              <a:t>HTML </a:t>
            </a:r>
            <a:r>
              <a:rPr sz="2000" b="1" spc="-10" dirty="0">
                <a:latin typeface="Carlito"/>
                <a:cs typeface="Carlito"/>
              </a:rPr>
              <a:t>elements </a:t>
            </a:r>
            <a:r>
              <a:rPr sz="2000" b="1" dirty="0">
                <a:latin typeface="Carlito"/>
                <a:cs typeface="Carlito"/>
              </a:rPr>
              <a:t>-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JavaScript </a:t>
            </a:r>
            <a:r>
              <a:rPr sz="2000" spc="-5" dirty="0">
                <a:latin typeface="Carlito"/>
                <a:cs typeface="Carlito"/>
              </a:rPr>
              <a:t>can read and  </a:t>
            </a:r>
            <a:r>
              <a:rPr sz="2000" dirty="0">
                <a:latin typeface="Carlito"/>
                <a:cs typeface="Carlito"/>
              </a:rPr>
              <a:t>change the </a:t>
            </a:r>
            <a:r>
              <a:rPr sz="2000" spc="-15" dirty="0">
                <a:latin typeface="Carlito"/>
                <a:cs typeface="Carlito"/>
              </a:rPr>
              <a:t>content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HTML</a:t>
            </a:r>
            <a:r>
              <a:rPr sz="2000" spc="-4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element</a:t>
            </a:r>
            <a:endParaRPr sz="20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192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</a:t>
            </a:r>
            <a:r>
              <a:rPr sz="2000" b="1" spc="-5" dirty="0">
                <a:latin typeface="Carlito"/>
                <a:cs typeface="Carlito"/>
              </a:rPr>
              <a:t>can </a:t>
            </a:r>
            <a:r>
              <a:rPr sz="2000" b="1" dirty="0">
                <a:latin typeface="Carlito"/>
                <a:cs typeface="Carlito"/>
              </a:rPr>
              <a:t>be </a:t>
            </a:r>
            <a:r>
              <a:rPr sz="2000" b="1" spc="-5" dirty="0">
                <a:latin typeface="Carlito"/>
                <a:cs typeface="Carlito"/>
              </a:rPr>
              <a:t>used </a:t>
            </a:r>
            <a:r>
              <a:rPr sz="2000" b="1" spc="-15" dirty="0">
                <a:latin typeface="Carlito"/>
                <a:cs typeface="Carlito"/>
              </a:rPr>
              <a:t>to validate data </a:t>
            </a:r>
            <a:r>
              <a:rPr sz="2000" b="1" dirty="0">
                <a:latin typeface="Carlito"/>
                <a:cs typeface="Carlito"/>
              </a:rPr>
              <a:t>-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JavaScript </a:t>
            </a:r>
            <a:r>
              <a:rPr sz="2000" spc="-5" dirty="0">
                <a:latin typeface="Carlito"/>
                <a:cs typeface="Carlito"/>
              </a:rPr>
              <a:t>can </a:t>
            </a:r>
            <a:r>
              <a:rPr sz="2000" dirty="0">
                <a:latin typeface="Carlito"/>
                <a:cs typeface="Carlito"/>
              </a:rPr>
              <a:t>be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spc="-25" dirty="0">
                <a:latin typeface="Carlito"/>
                <a:cs typeface="Carlito"/>
              </a:rPr>
              <a:t>to  </a:t>
            </a:r>
            <a:r>
              <a:rPr sz="2000" spc="-10" dirty="0">
                <a:latin typeface="Carlito"/>
                <a:cs typeface="Carlito"/>
              </a:rPr>
              <a:t>validate </a:t>
            </a:r>
            <a:r>
              <a:rPr sz="2000" spc="-15" dirty="0">
                <a:latin typeface="Carlito"/>
                <a:cs typeface="Carlito"/>
              </a:rPr>
              <a:t>form data </a:t>
            </a:r>
            <a:r>
              <a:rPr sz="2000" spc="-20" dirty="0">
                <a:latin typeface="Carlito"/>
                <a:cs typeface="Carlito"/>
              </a:rPr>
              <a:t>before </a:t>
            </a:r>
            <a:r>
              <a:rPr sz="2000" spc="-5" dirty="0">
                <a:latin typeface="Carlito"/>
                <a:cs typeface="Carlito"/>
              </a:rPr>
              <a:t>it </a:t>
            </a:r>
            <a:r>
              <a:rPr sz="2000" spc="-10" dirty="0">
                <a:latin typeface="Carlito"/>
                <a:cs typeface="Carlito"/>
              </a:rPr>
              <a:t>is submitted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35" dirty="0">
                <a:latin typeface="Carlito"/>
                <a:cs typeface="Carlito"/>
              </a:rPr>
              <a:t>server. </a:t>
            </a:r>
            <a:r>
              <a:rPr sz="2000" spc="-5" dirty="0">
                <a:latin typeface="Carlito"/>
                <a:cs typeface="Carlito"/>
              </a:rPr>
              <a:t>This </a:t>
            </a:r>
            <a:r>
              <a:rPr sz="2000" spc="-15" dirty="0">
                <a:latin typeface="Carlito"/>
                <a:cs typeface="Carlito"/>
              </a:rPr>
              <a:t>saves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server  </a:t>
            </a:r>
            <a:r>
              <a:rPr sz="2000" spc="-15" dirty="0">
                <a:latin typeface="Carlito"/>
                <a:cs typeface="Carlito"/>
              </a:rPr>
              <a:t>from </a:t>
            </a:r>
            <a:r>
              <a:rPr sz="2000" spc="-20" dirty="0">
                <a:latin typeface="Carlito"/>
                <a:cs typeface="Carlito"/>
              </a:rPr>
              <a:t>extra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processing</a:t>
            </a:r>
            <a:endParaRPr sz="20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 </a:t>
            </a:r>
            <a:r>
              <a:rPr sz="2000" b="1" spc="-5" dirty="0">
                <a:latin typeface="Carlito"/>
                <a:cs typeface="Carlito"/>
              </a:rPr>
              <a:t>can </a:t>
            </a:r>
            <a:r>
              <a:rPr sz="2000" b="1" dirty="0">
                <a:latin typeface="Carlito"/>
                <a:cs typeface="Carlito"/>
              </a:rPr>
              <a:t>be used </a:t>
            </a:r>
            <a:r>
              <a:rPr sz="2000" b="1" spc="-20" dirty="0">
                <a:latin typeface="Carlito"/>
                <a:cs typeface="Carlito"/>
              </a:rPr>
              <a:t>to </a:t>
            </a:r>
            <a:r>
              <a:rPr sz="2000" b="1" spc="-10" dirty="0">
                <a:latin typeface="Carlito"/>
                <a:cs typeface="Carlito"/>
              </a:rPr>
              <a:t>detect </a:t>
            </a:r>
            <a:r>
              <a:rPr sz="2000" b="1" dirty="0">
                <a:latin typeface="Carlito"/>
                <a:cs typeface="Carlito"/>
              </a:rPr>
              <a:t>the </a:t>
            </a:r>
            <a:r>
              <a:rPr sz="2000" b="1" spc="-10" dirty="0">
                <a:latin typeface="Carlito"/>
                <a:cs typeface="Carlito"/>
              </a:rPr>
              <a:t>visitor's </a:t>
            </a:r>
            <a:r>
              <a:rPr sz="2000" b="1" spc="-5" dirty="0">
                <a:latin typeface="Carlito"/>
                <a:cs typeface="Carlito"/>
              </a:rPr>
              <a:t>browser </a:t>
            </a:r>
            <a:r>
              <a:rPr sz="2000" dirty="0">
                <a:latin typeface="Carlito"/>
                <a:cs typeface="Carlito"/>
              </a:rPr>
              <a:t>- A </a:t>
            </a:r>
            <a:r>
              <a:rPr sz="2000" spc="-10" dirty="0">
                <a:latin typeface="Carlito"/>
                <a:cs typeface="Carlito"/>
              </a:rPr>
              <a:t>JavaScript can  </a:t>
            </a:r>
            <a:r>
              <a:rPr sz="2000" dirty="0">
                <a:latin typeface="Carlito"/>
                <a:cs typeface="Carlito"/>
              </a:rPr>
              <a:t>be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0" dirty="0">
                <a:latin typeface="Carlito"/>
                <a:cs typeface="Carlito"/>
              </a:rPr>
              <a:t>detect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visitor's </a:t>
            </a:r>
            <a:r>
              <a:rPr sz="2000" spc="-35" dirty="0">
                <a:latin typeface="Carlito"/>
                <a:cs typeface="Carlito"/>
              </a:rPr>
              <a:t>browser, </a:t>
            </a:r>
            <a:r>
              <a:rPr sz="2000" dirty="0">
                <a:latin typeface="Carlito"/>
                <a:cs typeface="Carlito"/>
              </a:rPr>
              <a:t>and - </a:t>
            </a:r>
            <a:r>
              <a:rPr sz="2000" spc="-5" dirty="0">
                <a:latin typeface="Carlito"/>
                <a:cs typeface="Carlito"/>
              </a:rPr>
              <a:t>depending </a:t>
            </a:r>
            <a:r>
              <a:rPr sz="2000" spc="-10" dirty="0">
                <a:latin typeface="Carlito"/>
                <a:cs typeface="Carlito"/>
              </a:rPr>
              <a:t>on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browser </a:t>
            </a:r>
            <a:r>
              <a:rPr sz="2000" dirty="0">
                <a:latin typeface="Carlito"/>
                <a:cs typeface="Carlito"/>
              </a:rPr>
              <a:t>-  load another </a:t>
            </a:r>
            <a:r>
              <a:rPr sz="2000" spc="-5" dirty="0">
                <a:latin typeface="Carlito"/>
                <a:cs typeface="Carlito"/>
              </a:rPr>
              <a:t>page specifically designed </a:t>
            </a:r>
            <a:r>
              <a:rPr sz="2000" spc="-15" dirty="0">
                <a:latin typeface="Carlito"/>
                <a:cs typeface="Carlito"/>
              </a:rPr>
              <a:t>for </a:t>
            </a:r>
            <a:r>
              <a:rPr sz="2000" spc="-5" dirty="0">
                <a:latin typeface="Carlito"/>
                <a:cs typeface="Carlito"/>
              </a:rPr>
              <a:t>that</a:t>
            </a:r>
            <a:r>
              <a:rPr sz="2000" spc="-15" dirty="0">
                <a:latin typeface="Carlito"/>
                <a:cs typeface="Carlito"/>
              </a:rPr>
              <a:t> browser</a:t>
            </a:r>
            <a:endParaRPr sz="2000">
              <a:latin typeface="Carlito"/>
              <a:cs typeface="Carlito"/>
            </a:endParaRPr>
          </a:p>
          <a:p>
            <a:pPr marL="355600" indent="-343535" algn="just">
              <a:lnSpc>
                <a:spcPts val="2160"/>
              </a:lnSpc>
              <a:buFont typeface="Arial"/>
              <a:buChar char="•"/>
              <a:tabLst>
                <a:tab pos="356235" algn="l"/>
              </a:tabLst>
            </a:pPr>
            <a:r>
              <a:rPr sz="2000" b="1" spc="-10" dirty="0">
                <a:latin typeface="Carlito"/>
                <a:cs typeface="Carlito"/>
              </a:rPr>
              <a:t>JavaScript</a:t>
            </a:r>
            <a:r>
              <a:rPr sz="2000" b="1" spc="265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can</a:t>
            </a:r>
            <a:r>
              <a:rPr sz="2000" b="1" spc="260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be</a:t>
            </a:r>
            <a:r>
              <a:rPr sz="2000" b="1" spc="265" dirty="0">
                <a:latin typeface="Carlito"/>
                <a:cs typeface="Carlito"/>
              </a:rPr>
              <a:t> </a:t>
            </a:r>
            <a:r>
              <a:rPr sz="2000" b="1" dirty="0">
                <a:latin typeface="Carlito"/>
                <a:cs typeface="Carlito"/>
              </a:rPr>
              <a:t>used</a:t>
            </a:r>
            <a:r>
              <a:rPr sz="2000" b="1" spc="280" dirty="0">
                <a:latin typeface="Carlito"/>
                <a:cs typeface="Carlito"/>
              </a:rPr>
              <a:t> </a:t>
            </a:r>
            <a:r>
              <a:rPr sz="2000" b="1" spc="-20" dirty="0">
                <a:latin typeface="Carlito"/>
                <a:cs typeface="Carlito"/>
              </a:rPr>
              <a:t>to</a:t>
            </a:r>
            <a:r>
              <a:rPr sz="2000" b="1" spc="270" dirty="0">
                <a:latin typeface="Carlito"/>
                <a:cs typeface="Carlito"/>
              </a:rPr>
              <a:t> </a:t>
            </a:r>
            <a:r>
              <a:rPr sz="2000" b="1" spc="-15" dirty="0">
                <a:latin typeface="Carlito"/>
                <a:cs typeface="Carlito"/>
              </a:rPr>
              <a:t>create</a:t>
            </a:r>
            <a:r>
              <a:rPr sz="2000" b="1" spc="275" dirty="0">
                <a:latin typeface="Carlito"/>
                <a:cs typeface="Carlito"/>
              </a:rPr>
              <a:t> </a:t>
            </a:r>
            <a:r>
              <a:rPr sz="2000" b="1" spc="-5" dirty="0">
                <a:latin typeface="Carlito"/>
                <a:cs typeface="Carlito"/>
              </a:rPr>
              <a:t>cookies</a:t>
            </a:r>
            <a:r>
              <a:rPr sz="2000" b="1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-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27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JavaScript</a:t>
            </a:r>
            <a:r>
              <a:rPr sz="2000" spc="27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can</a:t>
            </a:r>
            <a:r>
              <a:rPr sz="2000" spc="27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be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used</a:t>
            </a:r>
            <a:r>
              <a:rPr sz="2000" spc="270" dirty="0">
                <a:latin typeface="Carlito"/>
                <a:cs typeface="Carlito"/>
              </a:rPr>
              <a:t> </a:t>
            </a:r>
            <a:r>
              <a:rPr sz="2000" spc="-25" dirty="0">
                <a:latin typeface="Carlito"/>
                <a:cs typeface="Carlito"/>
              </a:rPr>
              <a:t>to</a:t>
            </a:r>
            <a:endParaRPr sz="2000">
              <a:latin typeface="Carlito"/>
              <a:cs typeface="Carlito"/>
            </a:endParaRPr>
          </a:p>
          <a:p>
            <a:pPr marL="355600" algn="just">
              <a:lnSpc>
                <a:spcPts val="2160"/>
              </a:lnSpc>
            </a:pPr>
            <a:r>
              <a:rPr sz="2000" spc="-20" dirty="0">
                <a:latin typeface="Carlito"/>
                <a:cs typeface="Carlito"/>
              </a:rPr>
              <a:t>store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15" dirty="0">
                <a:latin typeface="Carlito"/>
                <a:cs typeface="Carlito"/>
              </a:rPr>
              <a:t>retrieve </a:t>
            </a:r>
            <a:r>
              <a:rPr sz="2000" spc="-10" dirty="0">
                <a:latin typeface="Carlito"/>
                <a:cs typeface="Carlito"/>
              </a:rPr>
              <a:t>information </a:t>
            </a:r>
            <a:r>
              <a:rPr sz="2000" dirty="0">
                <a:latin typeface="Carlito"/>
                <a:cs typeface="Carlito"/>
              </a:rPr>
              <a:t>on the </a:t>
            </a:r>
            <a:r>
              <a:rPr sz="2000" spc="-5" dirty="0">
                <a:latin typeface="Carlito"/>
                <a:cs typeface="Carlito"/>
              </a:rPr>
              <a:t>visitor's</a:t>
            </a:r>
            <a:r>
              <a:rPr sz="2000" spc="7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computer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6885" y="0"/>
            <a:ext cx="56476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Limitations with</a:t>
            </a:r>
            <a:r>
              <a:rPr spc="-35" dirty="0"/>
              <a:t> </a:t>
            </a:r>
            <a:r>
              <a:rPr spc="-20"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540765"/>
            <a:ext cx="7998459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Client-side </a:t>
            </a:r>
            <a:r>
              <a:rPr sz="3200" spc="-10" dirty="0">
                <a:latin typeface="Carlito"/>
                <a:cs typeface="Carlito"/>
              </a:rPr>
              <a:t>JavaScript </a:t>
            </a:r>
            <a:r>
              <a:rPr sz="3200" spc="-5" dirty="0">
                <a:latin typeface="Carlito"/>
                <a:cs typeface="Carlito"/>
              </a:rPr>
              <a:t>does </a:t>
            </a:r>
            <a:r>
              <a:rPr sz="3200" dirty="0">
                <a:latin typeface="Carlito"/>
                <a:cs typeface="Carlito"/>
              </a:rPr>
              <a:t>not </a:t>
            </a:r>
            <a:r>
              <a:rPr sz="3200" spc="-5" dirty="0">
                <a:latin typeface="Carlito"/>
                <a:cs typeface="Carlito"/>
              </a:rPr>
              <a:t>allow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0" dirty="0">
                <a:latin typeface="Carlito"/>
                <a:cs typeface="Carlito"/>
              </a:rPr>
              <a:t>reading </a:t>
            </a:r>
            <a:r>
              <a:rPr sz="3200" dirty="0">
                <a:latin typeface="Carlito"/>
                <a:cs typeface="Carlito"/>
              </a:rPr>
              <a:t>or writing of </a:t>
            </a:r>
            <a:r>
              <a:rPr sz="3200" spc="-5" dirty="0">
                <a:latin typeface="Carlito"/>
                <a:cs typeface="Carlito"/>
              </a:rPr>
              <a:t>files. </a:t>
            </a:r>
            <a:r>
              <a:rPr sz="3200" dirty="0">
                <a:latin typeface="Carlito"/>
                <a:cs typeface="Carlito"/>
              </a:rPr>
              <a:t>This </a:t>
            </a:r>
            <a:r>
              <a:rPr sz="3200" spc="-5" dirty="0">
                <a:latin typeface="Carlito"/>
                <a:cs typeface="Carlito"/>
              </a:rPr>
              <a:t>has been </a:t>
            </a:r>
            <a:r>
              <a:rPr sz="3200" spc="-35" dirty="0">
                <a:latin typeface="Carlito"/>
                <a:cs typeface="Carlito"/>
              </a:rPr>
              <a:t>kept 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5" dirty="0">
                <a:latin typeface="Carlito"/>
                <a:cs typeface="Carlito"/>
              </a:rPr>
              <a:t>security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reason.</a:t>
            </a:r>
            <a:endParaRPr sz="3200">
              <a:latin typeface="Carlito"/>
              <a:cs typeface="Carlito"/>
            </a:endParaRPr>
          </a:p>
          <a:p>
            <a:pPr marL="355600" marR="762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JavaScript can </a:t>
            </a:r>
            <a:r>
              <a:rPr sz="3200" dirty="0">
                <a:latin typeface="Carlito"/>
                <a:cs typeface="Carlito"/>
              </a:rPr>
              <a:t>not </a:t>
            </a:r>
            <a:r>
              <a:rPr sz="3200" spc="-5" dirty="0">
                <a:latin typeface="Carlito"/>
                <a:cs typeface="Carlito"/>
              </a:rPr>
              <a:t>be used </a:t>
            </a:r>
            <a:r>
              <a:rPr sz="3200" spc="-30" dirty="0">
                <a:latin typeface="Carlito"/>
                <a:cs typeface="Carlito"/>
              </a:rPr>
              <a:t>for </a:t>
            </a:r>
            <a:r>
              <a:rPr sz="3200" spc="-10" dirty="0">
                <a:latin typeface="Carlito"/>
                <a:cs typeface="Carlito"/>
              </a:rPr>
              <a:t>Networking  </a:t>
            </a:r>
            <a:r>
              <a:rPr sz="3200" spc="-5" dirty="0">
                <a:latin typeface="Carlito"/>
                <a:cs typeface="Carlito"/>
              </a:rPr>
              <a:t>applications because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5" dirty="0">
                <a:latin typeface="Carlito"/>
                <a:cs typeface="Carlito"/>
              </a:rPr>
              <a:t>is no such </a:t>
            </a:r>
            <a:r>
              <a:rPr sz="3200" dirty="0">
                <a:latin typeface="Carlito"/>
                <a:cs typeface="Carlito"/>
              </a:rPr>
              <a:t>support  </a:t>
            </a:r>
            <a:r>
              <a:rPr sz="3200" spc="-10" dirty="0">
                <a:latin typeface="Carlito"/>
                <a:cs typeface="Carlito"/>
              </a:rPr>
              <a:t>available.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JavaScript </a:t>
            </a:r>
            <a:r>
              <a:rPr sz="3200" spc="-5" dirty="0">
                <a:latin typeface="Carlito"/>
                <a:cs typeface="Carlito"/>
              </a:rPr>
              <a:t>doesn't </a:t>
            </a:r>
            <a:r>
              <a:rPr sz="3200" spc="-20" dirty="0">
                <a:latin typeface="Carlito"/>
                <a:cs typeface="Carlito"/>
              </a:rPr>
              <a:t>have </a:t>
            </a:r>
            <a:r>
              <a:rPr sz="3200" spc="-15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multithreading </a:t>
            </a:r>
            <a:r>
              <a:rPr sz="3200" dirty="0">
                <a:latin typeface="Carlito"/>
                <a:cs typeface="Carlito"/>
              </a:rPr>
              <a:t>or  </a:t>
            </a:r>
            <a:r>
              <a:rPr sz="3200" spc="-10" dirty="0">
                <a:latin typeface="Carlito"/>
                <a:cs typeface="Carlito"/>
              </a:rPr>
              <a:t>multiprocess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capabilities.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7385" y="0"/>
            <a:ext cx="37299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90" dirty="0"/>
              <a:t>Vs</a:t>
            </a:r>
            <a:r>
              <a:rPr spc="-25" dirty="0"/>
              <a:t> </a:t>
            </a:r>
            <a:r>
              <a:rPr spc="-40" dirty="0"/>
              <a:t>Java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984628"/>
            <a:ext cx="7998459" cy="505523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1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JavaScript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spc="-10" dirty="0">
                <a:latin typeface="Carlito"/>
                <a:cs typeface="Carlito"/>
              </a:rPr>
              <a:t>nothing </a:t>
            </a:r>
            <a:r>
              <a:rPr sz="3000" spc="-15" dirty="0">
                <a:latin typeface="Carlito"/>
                <a:cs typeface="Carlito"/>
              </a:rPr>
              <a:t>to </a:t>
            </a:r>
            <a:r>
              <a:rPr sz="3000" spc="-5" dirty="0">
                <a:latin typeface="Carlito"/>
                <a:cs typeface="Carlito"/>
              </a:rPr>
              <a:t>do </a:t>
            </a:r>
            <a:r>
              <a:rPr sz="3000" dirty="0">
                <a:latin typeface="Carlito"/>
                <a:cs typeface="Carlito"/>
              </a:rPr>
              <a:t>with </a:t>
            </a:r>
            <a:r>
              <a:rPr sz="3000" spc="-25" dirty="0">
                <a:latin typeface="Carlito"/>
                <a:cs typeface="Carlito"/>
              </a:rPr>
              <a:t>Java</a:t>
            </a:r>
            <a:r>
              <a:rPr sz="3000" spc="1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language</a:t>
            </a:r>
            <a:endParaRPr sz="30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25" dirty="0">
                <a:latin typeface="Carlito"/>
                <a:cs typeface="Carlito"/>
              </a:rPr>
              <a:t>Java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0" dirty="0">
                <a:latin typeface="Carlito"/>
                <a:cs typeface="Carlito"/>
              </a:rPr>
              <a:t>purely </a:t>
            </a:r>
            <a:r>
              <a:rPr sz="3000" dirty="0">
                <a:latin typeface="Carlito"/>
                <a:cs typeface="Carlito"/>
              </a:rPr>
              <a:t>an </a:t>
            </a:r>
            <a:r>
              <a:rPr sz="3000" spc="-10" dirty="0">
                <a:latin typeface="Carlito"/>
                <a:cs typeface="Carlito"/>
              </a:rPr>
              <a:t>object-oriented </a:t>
            </a:r>
            <a:r>
              <a:rPr sz="3000" spc="-5" dirty="0">
                <a:latin typeface="Carlito"/>
                <a:cs typeface="Carlito"/>
              </a:rPr>
              <a:t>language,  </a:t>
            </a:r>
            <a:r>
              <a:rPr sz="3000" spc="-15" dirty="0">
                <a:latin typeface="Carlito"/>
                <a:cs typeface="Carlito"/>
              </a:rPr>
              <a:t>JavaScript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spc="-15" dirty="0">
                <a:latin typeface="Carlito"/>
                <a:cs typeface="Carlito"/>
              </a:rPr>
              <a:t>just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5" dirty="0">
                <a:latin typeface="Carlito"/>
                <a:cs typeface="Carlito"/>
              </a:rPr>
              <a:t>scripting</a:t>
            </a:r>
            <a:r>
              <a:rPr sz="3000" spc="-10" dirty="0">
                <a:latin typeface="Carlito"/>
                <a:cs typeface="Carlito"/>
              </a:rPr>
              <a:t> tool</a:t>
            </a:r>
            <a:endParaRPr sz="30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JavaScript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is not </a:t>
            </a:r>
            <a:r>
              <a:rPr sz="3000" spc="-10" dirty="0">
                <a:latin typeface="Carlito"/>
                <a:cs typeface="Carlito"/>
              </a:rPr>
              <a:t>compiled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25" dirty="0">
                <a:latin typeface="Carlito"/>
                <a:cs typeface="Carlito"/>
              </a:rPr>
              <a:t>executed; </a:t>
            </a:r>
            <a:r>
              <a:rPr sz="3000" spc="-5" dirty="0">
                <a:latin typeface="Carlito"/>
                <a:cs typeface="Carlito"/>
              </a:rPr>
              <a:t>the  </a:t>
            </a:r>
            <a:r>
              <a:rPr sz="3000" spc="-10" dirty="0">
                <a:latin typeface="Carlito"/>
                <a:cs typeface="Carlito"/>
              </a:rPr>
              <a:t>client directly </a:t>
            </a:r>
            <a:r>
              <a:rPr sz="3000" spc="-15" dirty="0">
                <a:latin typeface="Carlito"/>
                <a:cs typeface="Carlito"/>
              </a:rPr>
              <a:t>interprets</a:t>
            </a:r>
            <a:r>
              <a:rPr sz="300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it</a:t>
            </a:r>
            <a:endParaRPr sz="3000">
              <a:latin typeface="Carlito"/>
              <a:cs typeface="Carlito"/>
            </a:endParaRPr>
          </a:p>
          <a:p>
            <a:pPr marL="355600" marR="7620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JavaScript</a:t>
            </a:r>
            <a:r>
              <a:rPr sz="3000" spc="64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freely  </a:t>
            </a:r>
            <a:r>
              <a:rPr sz="3000" dirty="0">
                <a:latin typeface="Carlito"/>
                <a:cs typeface="Carlito"/>
              </a:rPr>
              <a:t>typed </a:t>
            </a:r>
            <a:r>
              <a:rPr sz="3000" spc="-5" dirty="0">
                <a:latin typeface="Carlito"/>
                <a:cs typeface="Carlito"/>
              </a:rPr>
              <a:t>language </a:t>
            </a:r>
            <a:r>
              <a:rPr sz="3000" spc="-10" dirty="0">
                <a:latin typeface="Carlito"/>
                <a:cs typeface="Carlito"/>
              </a:rPr>
              <a:t>whereas  </a:t>
            </a:r>
            <a:r>
              <a:rPr sz="3000" spc="-25" dirty="0">
                <a:latin typeface="Carlito"/>
                <a:cs typeface="Carlito"/>
              </a:rPr>
              <a:t>Java </a:t>
            </a:r>
            <a:r>
              <a:rPr sz="3000" spc="-5" dirty="0">
                <a:latin typeface="Carlito"/>
                <a:cs typeface="Carlito"/>
              </a:rPr>
              <a:t>is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strongly </a:t>
            </a:r>
            <a:r>
              <a:rPr sz="3000" dirty="0">
                <a:latin typeface="Carlito"/>
                <a:cs typeface="Carlito"/>
              </a:rPr>
              <a:t>typed</a:t>
            </a:r>
            <a:r>
              <a:rPr sz="3000" spc="20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one</a:t>
            </a:r>
            <a:endParaRPr sz="3000">
              <a:latin typeface="Carlito"/>
              <a:cs typeface="Carlito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Object </a:t>
            </a:r>
            <a:r>
              <a:rPr sz="3000" spc="-25" dirty="0">
                <a:latin typeface="Carlito"/>
                <a:cs typeface="Carlito"/>
              </a:rPr>
              <a:t>references </a:t>
            </a:r>
            <a:r>
              <a:rPr sz="3000" spc="-10" dirty="0">
                <a:latin typeface="Carlito"/>
                <a:cs typeface="Carlito"/>
              </a:rPr>
              <a:t>must </a:t>
            </a:r>
            <a:r>
              <a:rPr sz="3000" spc="-25" dirty="0">
                <a:latin typeface="Carlito"/>
                <a:cs typeface="Carlito"/>
              </a:rPr>
              <a:t>exist </a:t>
            </a:r>
            <a:r>
              <a:rPr sz="3000" spc="-20" dirty="0">
                <a:latin typeface="Carlito"/>
                <a:cs typeface="Carlito"/>
              </a:rPr>
              <a:t>at </a:t>
            </a:r>
            <a:r>
              <a:rPr sz="3000" spc="-5" dirty="0">
                <a:latin typeface="Carlito"/>
                <a:cs typeface="Carlito"/>
              </a:rPr>
              <a:t>compile-time in  </a:t>
            </a:r>
            <a:r>
              <a:rPr sz="3000" spc="-25" dirty="0">
                <a:latin typeface="Carlito"/>
                <a:cs typeface="Carlito"/>
              </a:rPr>
              <a:t>Java </a:t>
            </a:r>
            <a:r>
              <a:rPr sz="3000" spc="-20" dirty="0">
                <a:latin typeface="Carlito"/>
                <a:cs typeface="Carlito"/>
              </a:rPr>
              <a:t>(static </a:t>
            </a:r>
            <a:r>
              <a:rPr sz="3000" spc="-10" dirty="0">
                <a:latin typeface="Carlito"/>
                <a:cs typeface="Carlito"/>
              </a:rPr>
              <a:t>binding) whereas they </a:t>
            </a:r>
            <a:r>
              <a:rPr sz="3000" spc="-20" dirty="0">
                <a:latin typeface="Carlito"/>
                <a:cs typeface="Carlito"/>
              </a:rPr>
              <a:t>are checked  </a:t>
            </a:r>
            <a:r>
              <a:rPr sz="3000" spc="-5" dirty="0">
                <a:latin typeface="Carlito"/>
                <a:cs typeface="Carlito"/>
              </a:rPr>
              <a:t>only </a:t>
            </a:r>
            <a:r>
              <a:rPr sz="3000" spc="-15" dirty="0">
                <a:latin typeface="Carlito"/>
                <a:cs typeface="Carlito"/>
              </a:rPr>
              <a:t>at </a:t>
            </a:r>
            <a:r>
              <a:rPr sz="3000" spc="-5" dirty="0">
                <a:latin typeface="Carlito"/>
                <a:cs typeface="Carlito"/>
              </a:rPr>
              <a:t>runtime in </a:t>
            </a:r>
            <a:r>
              <a:rPr sz="3000" spc="-15" dirty="0">
                <a:latin typeface="Carlito"/>
                <a:cs typeface="Carlito"/>
              </a:rPr>
              <a:t>JavaScript </a:t>
            </a:r>
            <a:r>
              <a:rPr sz="3000" spc="-5" dirty="0">
                <a:latin typeface="Carlito"/>
                <a:cs typeface="Carlito"/>
              </a:rPr>
              <a:t>(dynamic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binding)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5673" y="0"/>
            <a:ext cx="52311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Advantages </a:t>
            </a:r>
            <a:r>
              <a:rPr spc="-5" dirty="0"/>
              <a:t>of</a:t>
            </a:r>
            <a:r>
              <a:rPr spc="25" dirty="0"/>
              <a:t> </a:t>
            </a:r>
            <a:r>
              <a:rPr spc="-25" dirty="0"/>
              <a:t>JavaScript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568197"/>
            <a:ext cx="7997190" cy="585152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marR="5715" indent="-343535" algn="just">
              <a:lnSpc>
                <a:spcPts val="2020"/>
              </a:lnSpc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b="1" dirty="0">
                <a:latin typeface="Carlito"/>
                <a:cs typeface="Carlito"/>
              </a:rPr>
              <a:t>Less </a:t>
            </a:r>
            <a:r>
              <a:rPr sz="2100" b="1" spc="-5" dirty="0">
                <a:latin typeface="Carlito"/>
                <a:cs typeface="Carlito"/>
              </a:rPr>
              <a:t>server </a:t>
            </a:r>
            <a:r>
              <a:rPr sz="2100" b="1" spc="-10" dirty="0">
                <a:latin typeface="Carlito"/>
                <a:cs typeface="Carlito"/>
              </a:rPr>
              <a:t>interaction: </a:t>
            </a:r>
            <a:r>
              <a:rPr sz="2100" spc="-60" dirty="0">
                <a:latin typeface="Carlito"/>
                <a:cs typeface="Carlito"/>
              </a:rPr>
              <a:t>You </a:t>
            </a:r>
            <a:r>
              <a:rPr sz="2100" spc="-10" dirty="0">
                <a:latin typeface="Carlito"/>
                <a:cs typeface="Carlito"/>
              </a:rPr>
              <a:t>can </a:t>
            </a:r>
            <a:r>
              <a:rPr sz="2100" spc="-15" dirty="0">
                <a:latin typeface="Carlito"/>
                <a:cs typeface="Carlito"/>
              </a:rPr>
              <a:t>validate </a:t>
            </a:r>
            <a:r>
              <a:rPr sz="2100" spc="-10" dirty="0">
                <a:latin typeface="Carlito"/>
                <a:cs typeface="Carlito"/>
              </a:rPr>
              <a:t>user </a:t>
            </a:r>
            <a:r>
              <a:rPr sz="2100" dirty="0">
                <a:latin typeface="Carlito"/>
                <a:cs typeface="Carlito"/>
              </a:rPr>
              <a:t>input </a:t>
            </a:r>
            <a:r>
              <a:rPr sz="2100" spc="-20" dirty="0">
                <a:latin typeface="Carlito"/>
                <a:cs typeface="Carlito"/>
              </a:rPr>
              <a:t>before </a:t>
            </a:r>
            <a:r>
              <a:rPr sz="2100" spc="-5" dirty="0">
                <a:latin typeface="Carlito"/>
                <a:cs typeface="Carlito"/>
              </a:rPr>
              <a:t>sending </a:t>
            </a:r>
            <a:r>
              <a:rPr sz="2100" dirty="0">
                <a:latin typeface="Carlito"/>
                <a:cs typeface="Carlito"/>
              </a:rPr>
              <a:t>the  </a:t>
            </a:r>
            <a:r>
              <a:rPr sz="2100" spc="-10" dirty="0">
                <a:latin typeface="Carlito"/>
                <a:cs typeface="Carlito"/>
              </a:rPr>
              <a:t>page </a:t>
            </a:r>
            <a:r>
              <a:rPr sz="2100" spc="-15" dirty="0">
                <a:latin typeface="Carlito"/>
                <a:cs typeface="Carlito"/>
              </a:rPr>
              <a:t>off </a:t>
            </a:r>
            <a:r>
              <a:rPr sz="2100" spc="-10" dirty="0">
                <a:latin typeface="Carlito"/>
                <a:cs typeface="Carlito"/>
              </a:rPr>
              <a:t>to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35" dirty="0">
                <a:latin typeface="Carlito"/>
                <a:cs typeface="Carlito"/>
              </a:rPr>
              <a:t>server. </a:t>
            </a:r>
            <a:r>
              <a:rPr sz="2100" dirty="0">
                <a:latin typeface="Carlito"/>
                <a:cs typeface="Carlito"/>
              </a:rPr>
              <a:t>This </a:t>
            </a:r>
            <a:r>
              <a:rPr sz="2100" spc="-15" dirty="0">
                <a:latin typeface="Carlito"/>
                <a:cs typeface="Carlito"/>
              </a:rPr>
              <a:t>saves </a:t>
            </a:r>
            <a:r>
              <a:rPr sz="2100" dirty="0">
                <a:latin typeface="Carlito"/>
                <a:cs typeface="Carlito"/>
              </a:rPr>
              <a:t>server </a:t>
            </a:r>
            <a:r>
              <a:rPr sz="2100" spc="-15" dirty="0">
                <a:latin typeface="Carlito"/>
                <a:cs typeface="Carlito"/>
              </a:rPr>
              <a:t>traffic, </a:t>
            </a:r>
            <a:r>
              <a:rPr sz="2100" dirty="0">
                <a:latin typeface="Carlito"/>
                <a:cs typeface="Carlito"/>
              </a:rPr>
              <a:t>which means less load  </a:t>
            </a:r>
            <a:r>
              <a:rPr sz="2100" spc="-5" dirty="0">
                <a:latin typeface="Carlito"/>
                <a:cs typeface="Carlito"/>
              </a:rPr>
              <a:t>on </a:t>
            </a:r>
            <a:r>
              <a:rPr sz="2100" spc="-10" dirty="0">
                <a:latin typeface="Carlito"/>
                <a:cs typeface="Carlito"/>
              </a:rPr>
              <a:t>your</a:t>
            </a:r>
            <a:r>
              <a:rPr sz="2100" spc="5" dirty="0">
                <a:latin typeface="Carlito"/>
                <a:cs typeface="Carlito"/>
              </a:rPr>
              <a:t> </a:t>
            </a:r>
            <a:r>
              <a:rPr sz="2100" spc="-35" dirty="0">
                <a:latin typeface="Carlito"/>
                <a:cs typeface="Carlito"/>
              </a:rPr>
              <a:t>server.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ts val="2270"/>
              </a:lnSpc>
              <a:spcBef>
                <a:spcPts val="10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b="1" spc="-10" dirty="0">
                <a:latin typeface="Carlito"/>
                <a:cs typeface="Carlito"/>
              </a:rPr>
              <a:t>Immediate feedback to the visitors: </a:t>
            </a:r>
            <a:r>
              <a:rPr sz="2100" spc="-10" dirty="0">
                <a:latin typeface="Carlito"/>
                <a:cs typeface="Carlito"/>
              </a:rPr>
              <a:t>They </a:t>
            </a:r>
            <a:r>
              <a:rPr sz="2100" spc="-5" dirty="0">
                <a:latin typeface="Carlito"/>
                <a:cs typeface="Carlito"/>
              </a:rPr>
              <a:t>don't </a:t>
            </a:r>
            <a:r>
              <a:rPr sz="2100" spc="-20" dirty="0">
                <a:latin typeface="Carlito"/>
                <a:cs typeface="Carlito"/>
              </a:rPr>
              <a:t>have </a:t>
            </a:r>
            <a:r>
              <a:rPr sz="2100" spc="-10" dirty="0">
                <a:latin typeface="Carlito"/>
                <a:cs typeface="Carlito"/>
              </a:rPr>
              <a:t>to wait </a:t>
            </a:r>
            <a:r>
              <a:rPr sz="2100" spc="-20" dirty="0">
                <a:latin typeface="Carlito"/>
                <a:cs typeface="Carlito"/>
              </a:rPr>
              <a:t>for</a:t>
            </a:r>
            <a:r>
              <a:rPr sz="2100" spc="-180" dirty="0">
                <a:latin typeface="Carlito"/>
                <a:cs typeface="Carlito"/>
              </a:rPr>
              <a:t> </a:t>
            </a:r>
            <a:r>
              <a:rPr sz="2100" dirty="0">
                <a:latin typeface="Carlito"/>
                <a:cs typeface="Carlito"/>
              </a:rPr>
              <a:t>a</a:t>
            </a:r>
            <a:endParaRPr sz="2100">
              <a:latin typeface="Carlito"/>
              <a:cs typeface="Carlito"/>
            </a:endParaRPr>
          </a:p>
          <a:p>
            <a:pPr marL="355600" algn="just">
              <a:lnSpc>
                <a:spcPts val="2270"/>
              </a:lnSpc>
            </a:pPr>
            <a:r>
              <a:rPr sz="2100" spc="-10" dirty="0">
                <a:latin typeface="Carlito"/>
                <a:cs typeface="Carlito"/>
              </a:rPr>
              <a:t>page reload </a:t>
            </a:r>
            <a:r>
              <a:rPr sz="2100" spc="-15" dirty="0">
                <a:latin typeface="Carlito"/>
                <a:cs typeface="Carlito"/>
              </a:rPr>
              <a:t>to </a:t>
            </a:r>
            <a:r>
              <a:rPr sz="2100" spc="-5" dirty="0">
                <a:latin typeface="Carlito"/>
                <a:cs typeface="Carlito"/>
              </a:rPr>
              <a:t>see if they </a:t>
            </a:r>
            <a:r>
              <a:rPr sz="2100" spc="-20" dirty="0">
                <a:latin typeface="Carlito"/>
                <a:cs typeface="Carlito"/>
              </a:rPr>
              <a:t>have forgotten </a:t>
            </a:r>
            <a:r>
              <a:rPr sz="2100" spc="-15" dirty="0">
                <a:latin typeface="Carlito"/>
                <a:cs typeface="Carlito"/>
              </a:rPr>
              <a:t>to </a:t>
            </a:r>
            <a:r>
              <a:rPr sz="2100" spc="-10" dirty="0">
                <a:latin typeface="Carlito"/>
                <a:cs typeface="Carlito"/>
              </a:rPr>
              <a:t>enter</a:t>
            </a:r>
            <a:r>
              <a:rPr sz="2100" spc="11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something.</a:t>
            </a:r>
            <a:endParaRPr sz="2100">
              <a:latin typeface="Carlito"/>
              <a:cs typeface="Carlito"/>
            </a:endParaRPr>
          </a:p>
          <a:p>
            <a:pPr marL="355600" marR="5715" indent="-343535" algn="just">
              <a:lnSpc>
                <a:spcPts val="2020"/>
              </a:lnSpc>
              <a:spcBef>
                <a:spcPts val="484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b="1" spc="-5" dirty="0">
                <a:latin typeface="Carlito"/>
                <a:cs typeface="Carlito"/>
              </a:rPr>
              <a:t>Increased </a:t>
            </a:r>
            <a:r>
              <a:rPr sz="2100" b="1" spc="-10" dirty="0">
                <a:latin typeface="Carlito"/>
                <a:cs typeface="Carlito"/>
              </a:rPr>
              <a:t>interactivity: </a:t>
            </a:r>
            <a:r>
              <a:rPr sz="2100" spc="-60" dirty="0">
                <a:latin typeface="Carlito"/>
                <a:cs typeface="Carlito"/>
              </a:rPr>
              <a:t>You </a:t>
            </a:r>
            <a:r>
              <a:rPr sz="2100" spc="-10" dirty="0">
                <a:latin typeface="Carlito"/>
                <a:cs typeface="Carlito"/>
              </a:rPr>
              <a:t>can </a:t>
            </a:r>
            <a:r>
              <a:rPr sz="2100" spc="-15" dirty="0">
                <a:latin typeface="Carlito"/>
                <a:cs typeface="Carlito"/>
              </a:rPr>
              <a:t>create </a:t>
            </a:r>
            <a:r>
              <a:rPr sz="2100" spc="-10" dirty="0">
                <a:latin typeface="Carlito"/>
                <a:cs typeface="Carlito"/>
              </a:rPr>
              <a:t>interfaces </a:t>
            </a:r>
            <a:r>
              <a:rPr sz="2100" spc="-5" dirty="0">
                <a:latin typeface="Carlito"/>
                <a:cs typeface="Carlito"/>
              </a:rPr>
              <a:t>that react </a:t>
            </a:r>
            <a:r>
              <a:rPr sz="2100" dirty="0">
                <a:latin typeface="Carlito"/>
                <a:cs typeface="Carlito"/>
              </a:rPr>
              <a:t>when </a:t>
            </a:r>
            <a:r>
              <a:rPr sz="2100" spc="-10" dirty="0">
                <a:latin typeface="Carlito"/>
                <a:cs typeface="Carlito"/>
              </a:rPr>
              <a:t>the  </a:t>
            </a:r>
            <a:r>
              <a:rPr sz="2100" spc="-5" dirty="0">
                <a:latin typeface="Carlito"/>
                <a:cs typeface="Carlito"/>
              </a:rPr>
              <a:t>user </a:t>
            </a:r>
            <a:r>
              <a:rPr sz="2100" spc="-10" dirty="0">
                <a:latin typeface="Carlito"/>
                <a:cs typeface="Carlito"/>
              </a:rPr>
              <a:t>hovers over </a:t>
            </a:r>
            <a:r>
              <a:rPr sz="2100" dirty="0">
                <a:latin typeface="Carlito"/>
                <a:cs typeface="Carlito"/>
              </a:rPr>
              <a:t>them with a mouse </a:t>
            </a:r>
            <a:r>
              <a:rPr sz="2100" spc="-5" dirty="0">
                <a:latin typeface="Carlito"/>
                <a:cs typeface="Carlito"/>
              </a:rPr>
              <a:t>or </a:t>
            </a:r>
            <a:r>
              <a:rPr sz="2100" spc="-10" dirty="0">
                <a:latin typeface="Carlito"/>
                <a:cs typeface="Carlito"/>
              </a:rPr>
              <a:t>activates </a:t>
            </a:r>
            <a:r>
              <a:rPr sz="2100" dirty="0">
                <a:latin typeface="Carlito"/>
                <a:cs typeface="Carlito"/>
              </a:rPr>
              <a:t>them via </a:t>
            </a:r>
            <a:r>
              <a:rPr sz="2100" spc="-10" dirty="0">
                <a:latin typeface="Carlito"/>
                <a:cs typeface="Carlito"/>
              </a:rPr>
              <a:t>the  </a:t>
            </a:r>
            <a:r>
              <a:rPr sz="2100" spc="-15" dirty="0">
                <a:latin typeface="Carlito"/>
                <a:cs typeface="Carlito"/>
              </a:rPr>
              <a:t>keyboard.</a:t>
            </a:r>
            <a:endParaRPr sz="21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15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b="1" dirty="0">
                <a:latin typeface="Carlito"/>
                <a:cs typeface="Carlito"/>
              </a:rPr>
              <a:t>Richer </a:t>
            </a:r>
            <a:r>
              <a:rPr sz="2100" b="1" spc="-10" dirty="0">
                <a:latin typeface="Carlito"/>
                <a:cs typeface="Carlito"/>
              </a:rPr>
              <a:t>interfaces: </a:t>
            </a:r>
            <a:r>
              <a:rPr sz="2100" spc="-60" dirty="0">
                <a:latin typeface="Carlito"/>
                <a:cs typeface="Carlito"/>
              </a:rPr>
              <a:t>You </a:t>
            </a:r>
            <a:r>
              <a:rPr sz="2100" spc="-5" dirty="0">
                <a:latin typeface="Carlito"/>
                <a:cs typeface="Carlito"/>
              </a:rPr>
              <a:t>can use </a:t>
            </a:r>
            <a:r>
              <a:rPr sz="2100" spc="-10" dirty="0">
                <a:latin typeface="Carlito"/>
                <a:cs typeface="Carlito"/>
              </a:rPr>
              <a:t>JavaScript to </a:t>
            </a:r>
            <a:r>
              <a:rPr sz="2100" dirty="0">
                <a:latin typeface="Carlito"/>
                <a:cs typeface="Carlito"/>
              </a:rPr>
              <a:t>include </a:t>
            </a:r>
            <a:r>
              <a:rPr sz="2100" spc="-5" dirty="0">
                <a:latin typeface="Carlito"/>
                <a:cs typeface="Carlito"/>
              </a:rPr>
              <a:t>such items </a:t>
            </a:r>
            <a:r>
              <a:rPr sz="2100" spc="10" dirty="0">
                <a:latin typeface="Carlito"/>
                <a:cs typeface="Carlito"/>
              </a:rPr>
              <a:t>as  </a:t>
            </a:r>
            <a:r>
              <a:rPr sz="2100" spc="-15" dirty="0">
                <a:latin typeface="Carlito"/>
                <a:cs typeface="Carlito"/>
              </a:rPr>
              <a:t>drag-and-drop </a:t>
            </a:r>
            <a:r>
              <a:rPr sz="2100" spc="-10" dirty="0">
                <a:latin typeface="Carlito"/>
                <a:cs typeface="Carlito"/>
              </a:rPr>
              <a:t>components </a:t>
            </a:r>
            <a:r>
              <a:rPr sz="2100" dirty="0">
                <a:latin typeface="Carlito"/>
                <a:cs typeface="Carlito"/>
              </a:rPr>
              <a:t>and </a:t>
            </a:r>
            <a:r>
              <a:rPr sz="2100" spc="-5" dirty="0">
                <a:latin typeface="Carlito"/>
                <a:cs typeface="Carlito"/>
              </a:rPr>
              <a:t>sliders </a:t>
            </a:r>
            <a:r>
              <a:rPr sz="2100" spc="-15" dirty="0">
                <a:latin typeface="Carlito"/>
                <a:cs typeface="Carlito"/>
              </a:rPr>
              <a:t>to </a:t>
            </a:r>
            <a:r>
              <a:rPr sz="2100" spc="-10" dirty="0">
                <a:latin typeface="Carlito"/>
                <a:cs typeface="Carlito"/>
              </a:rPr>
              <a:t>give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5" dirty="0">
                <a:latin typeface="Carlito"/>
                <a:cs typeface="Carlito"/>
              </a:rPr>
              <a:t>Rich </a:t>
            </a:r>
            <a:r>
              <a:rPr sz="2100" spc="-15" dirty="0">
                <a:latin typeface="Carlito"/>
                <a:cs typeface="Carlito"/>
              </a:rPr>
              <a:t>Interface to your  </a:t>
            </a:r>
            <a:r>
              <a:rPr sz="2100" spc="-10" dirty="0">
                <a:latin typeface="Carlito"/>
                <a:cs typeface="Carlito"/>
              </a:rPr>
              <a:t>site</a:t>
            </a:r>
            <a:r>
              <a:rPr sz="2100" spc="10" dirty="0">
                <a:latin typeface="Carlito"/>
                <a:cs typeface="Carlito"/>
              </a:rPr>
              <a:t> </a:t>
            </a:r>
            <a:r>
              <a:rPr sz="2100" spc="-15" dirty="0">
                <a:latin typeface="Carlito"/>
                <a:cs typeface="Carlito"/>
              </a:rPr>
              <a:t>visitors.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100" spc="-15" dirty="0">
                <a:latin typeface="Carlito"/>
                <a:cs typeface="Carlito"/>
              </a:rPr>
              <a:t>Control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5" dirty="0">
                <a:latin typeface="Carlito"/>
                <a:cs typeface="Carlito"/>
              </a:rPr>
              <a:t>frame</a:t>
            </a:r>
            <a:r>
              <a:rPr sz="2100" spc="30" dirty="0">
                <a:latin typeface="Carlito"/>
                <a:cs typeface="Carlito"/>
              </a:rPr>
              <a:t> </a:t>
            </a:r>
            <a:r>
              <a:rPr sz="2100" spc="-15" dirty="0">
                <a:latin typeface="Carlito"/>
                <a:cs typeface="Carlito"/>
              </a:rPr>
              <a:t>navigation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100" dirty="0">
                <a:latin typeface="Carlito"/>
                <a:cs typeface="Carlito"/>
              </a:rPr>
              <a:t>Include a </a:t>
            </a:r>
            <a:r>
              <a:rPr sz="2100" spc="-5" dirty="0">
                <a:latin typeface="Carlito"/>
                <a:cs typeface="Carlito"/>
              </a:rPr>
              <a:t>plug-in or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20" dirty="0">
                <a:latin typeface="Carlito"/>
                <a:cs typeface="Carlito"/>
              </a:rPr>
              <a:t>java </a:t>
            </a:r>
            <a:r>
              <a:rPr sz="2100" spc="-5" dirty="0">
                <a:latin typeface="Carlito"/>
                <a:cs typeface="Carlito"/>
              </a:rPr>
              <a:t>applet inside </a:t>
            </a:r>
            <a:r>
              <a:rPr sz="2100" dirty="0">
                <a:latin typeface="Carlito"/>
                <a:cs typeface="Carlito"/>
              </a:rPr>
              <a:t>a</a:t>
            </a:r>
            <a:r>
              <a:rPr sz="2100" spc="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page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ts val="2270"/>
              </a:lnSpc>
              <a:buFont typeface="Wingdings"/>
              <a:buChar char=""/>
              <a:tabLst>
                <a:tab pos="356235" algn="l"/>
              </a:tabLst>
            </a:pPr>
            <a:r>
              <a:rPr sz="2100" spc="-10" dirty="0">
                <a:latin typeface="Carlito"/>
                <a:cs typeface="Carlito"/>
              </a:rPr>
              <a:t>Form validation </a:t>
            </a:r>
            <a:r>
              <a:rPr sz="2100" dirty="0">
                <a:latin typeface="Carlito"/>
                <a:cs typeface="Carlito"/>
              </a:rPr>
              <a:t>in the </a:t>
            </a:r>
            <a:r>
              <a:rPr sz="2100" spc="-15" dirty="0">
                <a:latin typeface="Carlito"/>
                <a:cs typeface="Carlito"/>
              </a:rPr>
              <a:t>client’s </a:t>
            </a:r>
            <a:r>
              <a:rPr sz="2100" spc="-5" dirty="0">
                <a:latin typeface="Carlito"/>
                <a:cs typeface="Carlito"/>
              </a:rPr>
              <a:t>place </a:t>
            </a:r>
            <a:r>
              <a:rPr sz="2100" spc="-20" dirty="0">
                <a:latin typeface="Carlito"/>
                <a:cs typeface="Carlito"/>
              </a:rPr>
              <a:t>itself, </a:t>
            </a:r>
            <a:r>
              <a:rPr sz="2100" spc="-10" dirty="0">
                <a:latin typeface="Carlito"/>
                <a:cs typeface="Carlito"/>
              </a:rPr>
              <a:t>thereby </a:t>
            </a:r>
            <a:r>
              <a:rPr sz="2100" spc="-5" dirty="0">
                <a:latin typeface="Carlito"/>
                <a:cs typeface="Carlito"/>
              </a:rPr>
              <a:t>reducing</a:t>
            </a:r>
            <a:r>
              <a:rPr sz="2100" spc="85" dirty="0">
                <a:latin typeface="Carlito"/>
                <a:cs typeface="Carlito"/>
              </a:rPr>
              <a:t> </a:t>
            </a:r>
            <a:r>
              <a:rPr sz="2100" dirty="0">
                <a:latin typeface="Carlito"/>
                <a:cs typeface="Carlito"/>
              </a:rPr>
              <a:t>the</a:t>
            </a:r>
            <a:endParaRPr sz="2100">
              <a:latin typeface="Carlito"/>
              <a:cs typeface="Carlito"/>
            </a:endParaRPr>
          </a:p>
          <a:p>
            <a:pPr marL="355600" algn="just">
              <a:lnSpc>
                <a:spcPts val="2270"/>
              </a:lnSpc>
            </a:pPr>
            <a:r>
              <a:rPr sz="2100" spc="-10" dirty="0">
                <a:latin typeface="Carlito"/>
                <a:cs typeface="Carlito"/>
              </a:rPr>
              <a:t>burden </a:t>
            </a:r>
            <a:r>
              <a:rPr sz="2100" spc="-5" dirty="0">
                <a:latin typeface="Carlito"/>
                <a:cs typeface="Carlito"/>
              </a:rPr>
              <a:t>on </a:t>
            </a:r>
            <a:r>
              <a:rPr sz="2100" dirty="0">
                <a:latin typeface="Carlito"/>
                <a:cs typeface="Carlito"/>
              </a:rPr>
              <a:t>the</a:t>
            </a:r>
            <a:r>
              <a:rPr sz="2100" spc="-10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server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spc="-5" dirty="0">
                <a:latin typeface="Carlito"/>
                <a:cs typeface="Carlito"/>
              </a:rPr>
              <a:t>Images can </a:t>
            </a:r>
            <a:r>
              <a:rPr sz="2100" spc="-15" dirty="0">
                <a:latin typeface="Carlito"/>
                <a:cs typeface="Carlito"/>
              </a:rPr>
              <a:t>swap </a:t>
            </a:r>
            <a:r>
              <a:rPr sz="2100" dirty="0">
                <a:latin typeface="Carlito"/>
                <a:cs typeface="Carlito"/>
              </a:rPr>
              <a:t>when the </a:t>
            </a:r>
            <a:r>
              <a:rPr sz="2100" spc="-5" dirty="0">
                <a:latin typeface="Carlito"/>
                <a:cs typeface="Carlito"/>
              </a:rPr>
              <a:t>user </a:t>
            </a:r>
            <a:r>
              <a:rPr sz="2100" spc="-10" dirty="0">
                <a:latin typeface="Carlito"/>
                <a:cs typeface="Carlito"/>
              </a:rPr>
              <a:t>moves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5" dirty="0">
                <a:latin typeface="Carlito"/>
                <a:cs typeface="Carlito"/>
              </a:rPr>
              <a:t>mouse </a:t>
            </a:r>
            <a:r>
              <a:rPr sz="2100" spc="-15" dirty="0">
                <a:latin typeface="Carlito"/>
                <a:cs typeface="Carlito"/>
              </a:rPr>
              <a:t>over</a:t>
            </a:r>
            <a:r>
              <a:rPr sz="2100" spc="65" dirty="0">
                <a:latin typeface="Carlito"/>
                <a:cs typeface="Carlito"/>
              </a:rPr>
              <a:t> </a:t>
            </a:r>
            <a:r>
              <a:rPr sz="2100" dirty="0">
                <a:latin typeface="Carlito"/>
                <a:cs typeface="Carlito"/>
              </a:rPr>
              <a:t>them,</a:t>
            </a:r>
            <a:endParaRPr sz="2100">
              <a:latin typeface="Carlito"/>
              <a:cs typeface="Carlito"/>
            </a:endParaRPr>
          </a:p>
          <a:p>
            <a:pPr marL="416559" indent="-404495" algn="just">
              <a:lnSpc>
                <a:spcPct val="100000"/>
              </a:lnSpc>
              <a:buFont typeface="Wingdings"/>
              <a:buChar char=""/>
              <a:tabLst>
                <a:tab pos="417195" algn="l"/>
              </a:tabLst>
            </a:pPr>
            <a:r>
              <a:rPr sz="2100" spc="-5" dirty="0">
                <a:latin typeface="Carlito"/>
                <a:cs typeface="Carlito"/>
              </a:rPr>
              <a:t>Calculations can be </a:t>
            </a:r>
            <a:r>
              <a:rPr sz="2100" dirty="0">
                <a:latin typeface="Carlito"/>
                <a:cs typeface="Carlito"/>
              </a:rPr>
              <a:t>made without </a:t>
            </a:r>
            <a:r>
              <a:rPr sz="2100" spc="-10" dirty="0">
                <a:latin typeface="Carlito"/>
                <a:cs typeface="Carlito"/>
              </a:rPr>
              <a:t>having to resort to </a:t>
            </a:r>
            <a:r>
              <a:rPr sz="2100" dirty="0">
                <a:latin typeface="Carlito"/>
                <a:cs typeface="Carlito"/>
              </a:rPr>
              <a:t>a cgi</a:t>
            </a:r>
            <a:r>
              <a:rPr sz="2100" spc="15" dirty="0">
                <a:latin typeface="Carlito"/>
                <a:cs typeface="Carlito"/>
              </a:rPr>
              <a:t> </a:t>
            </a:r>
            <a:r>
              <a:rPr sz="2100" spc="-10" dirty="0">
                <a:latin typeface="Carlito"/>
                <a:cs typeface="Carlito"/>
              </a:rPr>
              <a:t>script</a:t>
            </a:r>
            <a:endParaRPr sz="2100">
              <a:latin typeface="Carlito"/>
              <a:cs typeface="Carlito"/>
            </a:endParaRPr>
          </a:p>
          <a:p>
            <a:pPr marL="355600" marR="70485" indent="-343535" algn="just">
              <a:lnSpc>
                <a:spcPct val="80000"/>
              </a:lnSpc>
              <a:spcBef>
                <a:spcPts val="500"/>
              </a:spcBef>
              <a:buFont typeface="Wingdings"/>
              <a:buChar char=""/>
              <a:tabLst>
                <a:tab pos="356235" algn="l"/>
              </a:tabLst>
            </a:pPr>
            <a:r>
              <a:rPr sz="2100" spc="-10" dirty="0">
                <a:latin typeface="Carlito"/>
                <a:cs typeface="Carlito"/>
              </a:rPr>
              <a:t>Javascript </a:t>
            </a:r>
            <a:r>
              <a:rPr sz="2100" dirty="0">
                <a:latin typeface="Carlito"/>
                <a:cs typeface="Carlito"/>
              </a:rPr>
              <a:t>timer </a:t>
            </a:r>
            <a:r>
              <a:rPr sz="2100" spc="-5" dirty="0">
                <a:latin typeface="Carlito"/>
                <a:cs typeface="Carlito"/>
              </a:rPr>
              <a:t>on </a:t>
            </a:r>
            <a:r>
              <a:rPr sz="2100" dirty="0">
                <a:latin typeface="Carlito"/>
                <a:cs typeface="Carlito"/>
              </a:rPr>
              <a:t>the </a:t>
            </a:r>
            <a:r>
              <a:rPr sz="2100" spc="-10" dirty="0">
                <a:latin typeface="Carlito"/>
                <a:cs typeface="Carlito"/>
              </a:rPr>
              <a:t>client to </a:t>
            </a:r>
            <a:r>
              <a:rPr sz="2100" dirty="0">
                <a:latin typeface="Carlito"/>
                <a:cs typeface="Carlito"/>
              </a:rPr>
              <a:t>check </a:t>
            </a:r>
            <a:r>
              <a:rPr sz="2100" spc="-10" dirty="0">
                <a:latin typeface="Carlito"/>
                <a:cs typeface="Carlito"/>
              </a:rPr>
              <a:t>how </a:t>
            </a:r>
            <a:r>
              <a:rPr sz="2100" dirty="0">
                <a:latin typeface="Carlito"/>
                <a:cs typeface="Carlito"/>
              </a:rPr>
              <a:t>much time </a:t>
            </a:r>
            <a:r>
              <a:rPr sz="2100" spc="-10" dirty="0">
                <a:latin typeface="Carlito"/>
                <a:cs typeface="Carlito"/>
              </a:rPr>
              <a:t>he/she </a:t>
            </a:r>
            <a:r>
              <a:rPr sz="2100" spc="-20" dirty="0">
                <a:latin typeface="Carlito"/>
                <a:cs typeface="Carlito"/>
              </a:rPr>
              <a:t>takes </a:t>
            </a:r>
            <a:r>
              <a:rPr sz="2100" spc="-10" dirty="0">
                <a:latin typeface="Carlito"/>
                <a:cs typeface="Carlito"/>
              </a:rPr>
              <a:t>to  </a:t>
            </a:r>
            <a:r>
              <a:rPr sz="2100" spc="-5" dirty="0">
                <a:latin typeface="Carlito"/>
                <a:cs typeface="Carlito"/>
              </a:rPr>
              <a:t>fill </a:t>
            </a:r>
            <a:r>
              <a:rPr sz="2100" dirty="0">
                <a:latin typeface="Carlito"/>
                <a:cs typeface="Carlito"/>
              </a:rPr>
              <a:t>a </a:t>
            </a:r>
            <a:r>
              <a:rPr sz="2100" spc="-15" dirty="0">
                <a:latin typeface="Carlito"/>
                <a:cs typeface="Carlito"/>
              </a:rPr>
              <a:t>form.</a:t>
            </a:r>
            <a:endParaRPr sz="21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buFont typeface="Wingdings"/>
              <a:buChar char=""/>
              <a:tabLst>
                <a:tab pos="356235" algn="l"/>
              </a:tabLst>
            </a:pPr>
            <a:r>
              <a:rPr sz="2100" dirty="0">
                <a:latin typeface="Carlito"/>
                <a:cs typeface="Carlito"/>
              </a:rPr>
              <a:t>Apart </a:t>
            </a:r>
            <a:r>
              <a:rPr sz="2100" spc="-15" dirty="0">
                <a:latin typeface="Carlito"/>
                <a:cs typeface="Carlito"/>
              </a:rPr>
              <a:t>from </a:t>
            </a:r>
            <a:r>
              <a:rPr sz="2100" dirty="0">
                <a:latin typeface="Carlito"/>
                <a:cs typeface="Carlito"/>
              </a:rPr>
              <a:t>all </a:t>
            </a:r>
            <a:r>
              <a:rPr sz="2100" spc="-5" dirty="0">
                <a:latin typeface="Carlito"/>
                <a:cs typeface="Carlito"/>
              </a:rPr>
              <a:t>these </a:t>
            </a:r>
            <a:r>
              <a:rPr sz="2100" spc="-10" dirty="0">
                <a:latin typeface="Carlito"/>
                <a:cs typeface="Carlito"/>
              </a:rPr>
              <a:t>advantages, </a:t>
            </a:r>
            <a:r>
              <a:rPr sz="2100" spc="-15" dirty="0">
                <a:latin typeface="Carlito"/>
                <a:cs typeface="Carlito"/>
              </a:rPr>
              <a:t>javascript </a:t>
            </a:r>
            <a:r>
              <a:rPr sz="2100" dirty="0">
                <a:latin typeface="Carlito"/>
                <a:cs typeface="Carlito"/>
              </a:rPr>
              <a:t>is </a:t>
            </a:r>
            <a:r>
              <a:rPr sz="2100" spc="-10" dirty="0">
                <a:latin typeface="Carlito"/>
                <a:cs typeface="Carlito"/>
              </a:rPr>
              <a:t>very </a:t>
            </a:r>
            <a:r>
              <a:rPr sz="2100" spc="-15" dirty="0">
                <a:latin typeface="Carlito"/>
                <a:cs typeface="Carlito"/>
              </a:rPr>
              <a:t>easy </a:t>
            </a:r>
            <a:r>
              <a:rPr sz="2100" spc="-10" dirty="0">
                <a:latin typeface="Carlito"/>
                <a:cs typeface="Carlito"/>
              </a:rPr>
              <a:t>to</a:t>
            </a:r>
            <a:r>
              <a:rPr sz="2100" spc="75" dirty="0">
                <a:latin typeface="Carlito"/>
                <a:cs typeface="Carlito"/>
              </a:rPr>
              <a:t> </a:t>
            </a:r>
            <a:r>
              <a:rPr sz="2100" spc="-5" dirty="0">
                <a:latin typeface="Carlito"/>
                <a:cs typeface="Carlito"/>
              </a:rPr>
              <a:t>learn.</a:t>
            </a:r>
            <a:endParaRPr sz="21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154" y="207010"/>
            <a:ext cx="3629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35" dirty="0">
                <a:solidFill>
                  <a:srgbClr val="006FC0"/>
                </a:solidFill>
              </a:rPr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74165"/>
            <a:ext cx="7930515" cy="5099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8415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JavaScript consists </a:t>
            </a:r>
            <a:r>
              <a:rPr sz="3200" dirty="0">
                <a:latin typeface="Carlito"/>
                <a:cs typeface="Carlito"/>
              </a:rPr>
              <a:t>of </a:t>
            </a:r>
            <a:r>
              <a:rPr sz="3200" spc="-10" dirty="0">
                <a:latin typeface="Carlito"/>
                <a:cs typeface="Carlito"/>
              </a:rPr>
              <a:t>JavaScript </a:t>
            </a:r>
            <a:r>
              <a:rPr sz="3200" spc="-20" dirty="0">
                <a:latin typeface="Carlito"/>
                <a:cs typeface="Carlito"/>
              </a:rPr>
              <a:t>statements 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placed </a:t>
            </a:r>
            <a:r>
              <a:rPr sz="3200" dirty="0">
                <a:latin typeface="Carlito"/>
                <a:cs typeface="Carlito"/>
              </a:rPr>
              <a:t>within the </a:t>
            </a:r>
            <a:r>
              <a:rPr sz="3200" spc="-5" dirty="0">
                <a:latin typeface="Carlito"/>
                <a:cs typeface="Carlito"/>
              </a:rPr>
              <a:t>&lt;script&gt;... </a:t>
            </a:r>
            <a:r>
              <a:rPr sz="3200" spc="-15" dirty="0">
                <a:latin typeface="Carlito"/>
                <a:cs typeface="Carlito"/>
              </a:rPr>
              <a:t>&lt;/script&gt;  </a:t>
            </a:r>
            <a:r>
              <a:rPr sz="3200" spc="-5" dirty="0">
                <a:latin typeface="Carlito"/>
                <a:cs typeface="Carlito"/>
              </a:rPr>
              <a:t>HTML </a:t>
            </a:r>
            <a:r>
              <a:rPr sz="3200" spc="-10" dirty="0">
                <a:latin typeface="Carlito"/>
                <a:cs typeface="Carlito"/>
              </a:rPr>
              <a:t>tags </a:t>
            </a:r>
            <a:r>
              <a:rPr sz="3200" dirty="0">
                <a:latin typeface="Carlito"/>
                <a:cs typeface="Carlito"/>
              </a:rPr>
              <a:t>in a </a:t>
            </a:r>
            <a:r>
              <a:rPr sz="3200" spc="-10" dirty="0">
                <a:latin typeface="Carlito"/>
                <a:cs typeface="Carlito"/>
              </a:rPr>
              <a:t>web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page.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8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can place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&lt;script&gt; </a:t>
            </a:r>
            <a:r>
              <a:rPr sz="3200" spc="-15" dirty="0">
                <a:latin typeface="Carlito"/>
                <a:cs typeface="Carlito"/>
              </a:rPr>
              <a:t>tag </a:t>
            </a:r>
            <a:r>
              <a:rPr sz="3200" spc="-10" dirty="0">
                <a:latin typeface="Carlito"/>
                <a:cs typeface="Carlito"/>
              </a:rPr>
              <a:t>containing </a:t>
            </a:r>
            <a:r>
              <a:rPr sz="3200" spc="-15" dirty="0">
                <a:latin typeface="Carlito"/>
                <a:cs typeface="Carlito"/>
              </a:rPr>
              <a:t>your  </a:t>
            </a:r>
            <a:r>
              <a:rPr sz="3200" spc="-10" dirty="0">
                <a:latin typeface="Carlito"/>
                <a:cs typeface="Carlito"/>
              </a:rPr>
              <a:t>JavaScript anywhere </a:t>
            </a:r>
            <a:r>
              <a:rPr sz="3200" spc="-5" dirty="0">
                <a:latin typeface="Carlito"/>
                <a:cs typeface="Carlito"/>
              </a:rPr>
              <a:t>within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web </a:t>
            </a:r>
            <a:r>
              <a:rPr sz="3200" spc="-10" dirty="0">
                <a:latin typeface="Carlito"/>
                <a:cs typeface="Carlito"/>
              </a:rPr>
              <a:t>page </a:t>
            </a:r>
            <a:r>
              <a:rPr sz="3200" spc="-5" dirty="0">
                <a:latin typeface="Carlito"/>
                <a:cs typeface="Carlito"/>
              </a:rPr>
              <a:t>but  </a:t>
            </a:r>
            <a:r>
              <a:rPr sz="3200" dirty="0">
                <a:latin typeface="Carlito"/>
                <a:cs typeface="Carlito"/>
              </a:rPr>
              <a:t>it is </a:t>
            </a:r>
            <a:r>
              <a:rPr sz="3200" spc="-25" dirty="0">
                <a:latin typeface="Carlito"/>
                <a:cs typeface="Carlito"/>
              </a:rPr>
              <a:t>preferred </a:t>
            </a:r>
            <a:r>
              <a:rPr sz="3200" spc="-30" dirty="0">
                <a:latin typeface="Carlito"/>
                <a:cs typeface="Carlito"/>
              </a:rPr>
              <a:t>way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30" dirty="0">
                <a:latin typeface="Carlito"/>
                <a:cs typeface="Carlito"/>
              </a:rPr>
              <a:t>keep </a:t>
            </a:r>
            <a:r>
              <a:rPr sz="3200" dirty="0">
                <a:latin typeface="Carlito"/>
                <a:cs typeface="Carlito"/>
              </a:rPr>
              <a:t>it </a:t>
            </a:r>
            <a:r>
              <a:rPr sz="3200" spc="-5" dirty="0">
                <a:latin typeface="Carlito"/>
                <a:cs typeface="Carlito"/>
              </a:rPr>
              <a:t>within</a:t>
            </a:r>
            <a:r>
              <a:rPr sz="3200" spc="8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the</a:t>
            </a:r>
            <a:endParaRPr sz="3200">
              <a:latin typeface="Carlito"/>
              <a:cs typeface="Carlito"/>
            </a:endParaRPr>
          </a:p>
          <a:p>
            <a:pPr marL="355600" algn="just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&lt;head&gt;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tags.</a:t>
            </a:r>
            <a:endParaRPr sz="3200">
              <a:latin typeface="Carlito"/>
              <a:cs typeface="Carlito"/>
            </a:endParaRPr>
          </a:p>
          <a:p>
            <a:pPr marL="355600" marR="46355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&lt;script&gt; </a:t>
            </a:r>
            <a:r>
              <a:rPr sz="3200" spc="-15" dirty="0">
                <a:latin typeface="Carlito"/>
                <a:cs typeface="Carlito"/>
              </a:rPr>
              <a:t>tag </a:t>
            </a:r>
            <a:r>
              <a:rPr sz="3200" dirty="0">
                <a:latin typeface="Carlito"/>
                <a:cs typeface="Carlito"/>
              </a:rPr>
              <a:t>alert the </a:t>
            </a:r>
            <a:r>
              <a:rPr sz="3200" spc="-15" dirty="0">
                <a:latin typeface="Carlito"/>
                <a:cs typeface="Carlito"/>
              </a:rPr>
              <a:t>browser </a:t>
            </a:r>
            <a:r>
              <a:rPr sz="3200" spc="-20" dirty="0">
                <a:latin typeface="Carlito"/>
                <a:cs typeface="Carlito"/>
              </a:rPr>
              <a:t>program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begin </a:t>
            </a:r>
            <a:r>
              <a:rPr sz="3200" spc="-15" dirty="0">
                <a:latin typeface="Carlito"/>
                <a:cs typeface="Carlito"/>
              </a:rPr>
              <a:t>interpreting </a:t>
            </a:r>
            <a:r>
              <a:rPr sz="3200" dirty="0">
                <a:latin typeface="Carlito"/>
                <a:cs typeface="Carlito"/>
              </a:rPr>
              <a:t>all the </a:t>
            </a:r>
            <a:r>
              <a:rPr sz="3200" spc="-20" dirty="0">
                <a:latin typeface="Carlito"/>
                <a:cs typeface="Carlito"/>
              </a:rPr>
              <a:t>text </a:t>
            </a:r>
            <a:r>
              <a:rPr sz="3200" spc="-10" dirty="0">
                <a:latin typeface="Carlito"/>
                <a:cs typeface="Carlito"/>
              </a:rPr>
              <a:t>between </a:t>
            </a:r>
            <a:r>
              <a:rPr sz="3200" spc="-5" dirty="0">
                <a:latin typeface="Carlito"/>
                <a:cs typeface="Carlito"/>
              </a:rPr>
              <a:t>these  </a:t>
            </a:r>
            <a:r>
              <a:rPr sz="3200" spc="-10" dirty="0">
                <a:latin typeface="Carlito"/>
                <a:cs typeface="Carlito"/>
              </a:rPr>
              <a:t>tags </a:t>
            </a:r>
            <a:r>
              <a:rPr sz="3200" dirty="0">
                <a:latin typeface="Carlito"/>
                <a:cs typeface="Carlito"/>
              </a:rPr>
              <a:t>as a </a:t>
            </a:r>
            <a:r>
              <a:rPr sz="3200" spc="-5" dirty="0">
                <a:latin typeface="Carlito"/>
                <a:cs typeface="Carlito"/>
              </a:rPr>
              <a:t>script. So simple </a:t>
            </a:r>
            <a:r>
              <a:rPr sz="3200" spc="-25" dirty="0">
                <a:latin typeface="Carlito"/>
                <a:cs typeface="Carlito"/>
              </a:rPr>
              <a:t>syntax </a:t>
            </a:r>
            <a:r>
              <a:rPr sz="3200" spc="-5" dirty="0">
                <a:latin typeface="Carlito"/>
                <a:cs typeface="Carlito"/>
              </a:rPr>
              <a:t>of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75" dirty="0">
                <a:latin typeface="Carlito"/>
                <a:cs typeface="Carlito"/>
              </a:rPr>
              <a:t>your.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6154" y="207010"/>
            <a:ext cx="3629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</a:t>
            </a:r>
            <a:r>
              <a:rPr spc="-50" dirty="0">
                <a:solidFill>
                  <a:srgbClr val="006FC0"/>
                </a:solidFill>
              </a:rPr>
              <a:t> </a:t>
            </a:r>
            <a:r>
              <a:rPr spc="-35" dirty="0">
                <a:solidFill>
                  <a:srgbClr val="006FC0"/>
                </a:solidFill>
              </a:rPr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991638"/>
            <a:ext cx="7997190" cy="41224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0" dirty="0">
                <a:latin typeface="Carlito"/>
                <a:cs typeface="Carlito"/>
              </a:rPr>
              <a:t>The script </a:t>
            </a:r>
            <a:r>
              <a:rPr sz="2800" spc="-15" dirty="0">
                <a:latin typeface="Carlito"/>
                <a:cs typeface="Carlito"/>
              </a:rPr>
              <a:t>tag </a:t>
            </a:r>
            <a:r>
              <a:rPr sz="2800" spc="-30" dirty="0">
                <a:latin typeface="Carlito"/>
                <a:cs typeface="Carlito"/>
              </a:rPr>
              <a:t>takes </a:t>
            </a:r>
            <a:r>
              <a:rPr sz="2800" spc="-10" dirty="0">
                <a:latin typeface="Carlito"/>
                <a:cs typeface="Carlito"/>
              </a:rPr>
              <a:t>two </a:t>
            </a:r>
            <a:r>
              <a:rPr sz="2800" spc="-15" dirty="0">
                <a:latin typeface="Carlito"/>
                <a:cs typeface="Carlito"/>
              </a:rPr>
              <a:t>important</a:t>
            </a:r>
            <a:r>
              <a:rPr sz="2800" spc="14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attributes:</a:t>
            </a:r>
            <a:endParaRPr sz="28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6235" algn="l"/>
              </a:tabLst>
            </a:pPr>
            <a:r>
              <a:rPr sz="2800" b="1" spc="-10" dirty="0">
                <a:latin typeface="Carlito"/>
                <a:cs typeface="Carlito"/>
              </a:rPr>
              <a:t>language: </a:t>
            </a:r>
            <a:r>
              <a:rPr sz="2800" spc="-5" dirty="0">
                <a:latin typeface="Carlito"/>
                <a:cs typeface="Carlito"/>
              </a:rPr>
              <a:t>This </a:t>
            </a:r>
            <a:r>
              <a:rPr sz="2800" spc="-15" dirty="0">
                <a:latin typeface="Carlito"/>
                <a:cs typeface="Carlito"/>
              </a:rPr>
              <a:t>attribute  </a:t>
            </a:r>
            <a:r>
              <a:rPr sz="2800" spc="-5" dirty="0">
                <a:latin typeface="Carlito"/>
                <a:cs typeface="Carlito"/>
              </a:rPr>
              <a:t>specifies </a:t>
            </a:r>
            <a:r>
              <a:rPr sz="2800" spc="-15" dirty="0">
                <a:latin typeface="Carlito"/>
                <a:cs typeface="Carlito"/>
              </a:rPr>
              <a:t>what</a:t>
            </a:r>
            <a:r>
              <a:rPr sz="2800" spc="6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scripting  </a:t>
            </a:r>
            <a:r>
              <a:rPr sz="2800" spc="-5" dirty="0">
                <a:latin typeface="Carlito"/>
                <a:cs typeface="Carlito"/>
              </a:rPr>
              <a:t>language </a:t>
            </a:r>
            <a:r>
              <a:rPr sz="2800" spc="-20" dirty="0">
                <a:latin typeface="Carlito"/>
                <a:cs typeface="Carlito"/>
              </a:rPr>
              <a:t>you are </a:t>
            </a:r>
            <a:r>
              <a:rPr sz="2800" spc="-5" dirty="0">
                <a:latin typeface="Carlito"/>
                <a:cs typeface="Carlito"/>
              </a:rPr>
              <a:t>using. </a:t>
            </a:r>
            <a:r>
              <a:rPr sz="2800" spc="-40" dirty="0">
                <a:latin typeface="Carlito"/>
                <a:cs typeface="Carlito"/>
              </a:rPr>
              <a:t>Typically, </a:t>
            </a:r>
            <a:r>
              <a:rPr sz="2800" spc="-5" dirty="0">
                <a:latin typeface="Carlito"/>
                <a:cs typeface="Carlito"/>
              </a:rPr>
              <a:t>its </a:t>
            </a:r>
            <a:r>
              <a:rPr sz="2800" spc="-10" dirty="0">
                <a:latin typeface="Carlito"/>
                <a:cs typeface="Carlito"/>
              </a:rPr>
              <a:t>value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dirty="0">
                <a:latin typeface="Carlito"/>
                <a:cs typeface="Carlito"/>
              </a:rPr>
              <a:t>be  </a:t>
            </a:r>
            <a:r>
              <a:rPr sz="2800" i="1" spc="-10" dirty="0">
                <a:latin typeface="Carlito"/>
                <a:cs typeface="Carlito"/>
              </a:rPr>
              <a:t>javascript</a:t>
            </a:r>
            <a:r>
              <a:rPr sz="2800" spc="-10" dirty="0">
                <a:latin typeface="Carlito"/>
                <a:cs typeface="Carlito"/>
              </a:rPr>
              <a:t>. </a:t>
            </a:r>
            <a:r>
              <a:rPr sz="2800" spc="-5" dirty="0">
                <a:latin typeface="Carlito"/>
                <a:cs typeface="Carlito"/>
              </a:rPr>
              <a:t>Although </a:t>
            </a:r>
            <a:r>
              <a:rPr sz="2800" spc="-15" dirty="0">
                <a:latin typeface="Carlito"/>
                <a:cs typeface="Carlito"/>
              </a:rPr>
              <a:t>recent versions </a:t>
            </a:r>
            <a:r>
              <a:rPr sz="2800" spc="-5" dirty="0">
                <a:latin typeface="Carlito"/>
                <a:cs typeface="Carlito"/>
              </a:rPr>
              <a:t>of HTML (and  XHTML, its successor) </a:t>
            </a:r>
            <a:r>
              <a:rPr sz="2800" spc="-25" dirty="0">
                <a:latin typeface="Carlito"/>
                <a:cs typeface="Carlito"/>
              </a:rPr>
              <a:t>have </a:t>
            </a:r>
            <a:r>
              <a:rPr sz="2800" spc="-5" dirty="0">
                <a:latin typeface="Carlito"/>
                <a:cs typeface="Carlito"/>
              </a:rPr>
              <a:t>phased </a:t>
            </a:r>
            <a:r>
              <a:rPr sz="2800" dirty="0">
                <a:latin typeface="Carlito"/>
                <a:cs typeface="Carlito"/>
              </a:rPr>
              <a:t>out </a:t>
            </a:r>
            <a:r>
              <a:rPr sz="2800" spc="-5" dirty="0">
                <a:latin typeface="Carlito"/>
                <a:cs typeface="Carlito"/>
              </a:rPr>
              <a:t>the use of  </a:t>
            </a:r>
            <a:r>
              <a:rPr sz="2800" spc="-10" dirty="0">
                <a:latin typeface="Carlito"/>
                <a:cs typeface="Carlito"/>
              </a:rPr>
              <a:t>this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attribute.</a:t>
            </a:r>
            <a:endParaRPr sz="28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b="1" spc="-5" dirty="0">
                <a:latin typeface="Carlito"/>
                <a:cs typeface="Carlito"/>
              </a:rPr>
              <a:t>type: </a:t>
            </a:r>
            <a:r>
              <a:rPr sz="2800" spc="-10" dirty="0">
                <a:latin typeface="Carlito"/>
                <a:cs typeface="Carlito"/>
              </a:rPr>
              <a:t>This </a:t>
            </a:r>
            <a:r>
              <a:rPr sz="2800" spc="-15" dirty="0">
                <a:latin typeface="Carlito"/>
                <a:cs typeface="Carlito"/>
              </a:rPr>
              <a:t>attribute </a:t>
            </a:r>
            <a:r>
              <a:rPr sz="2800" dirty="0">
                <a:latin typeface="Carlito"/>
                <a:cs typeface="Carlito"/>
              </a:rPr>
              <a:t>is </a:t>
            </a:r>
            <a:r>
              <a:rPr sz="2800" spc="-10" dirty="0">
                <a:latin typeface="Carlito"/>
                <a:cs typeface="Carlito"/>
              </a:rPr>
              <a:t>what is </a:t>
            </a:r>
            <a:r>
              <a:rPr sz="2800" spc="-15" dirty="0">
                <a:latin typeface="Carlito"/>
                <a:cs typeface="Carlito"/>
              </a:rPr>
              <a:t>now </a:t>
            </a:r>
            <a:r>
              <a:rPr sz="2800" spc="-10" dirty="0">
                <a:latin typeface="Carlito"/>
                <a:cs typeface="Carlito"/>
              </a:rPr>
              <a:t>recommended </a:t>
            </a:r>
            <a:r>
              <a:rPr sz="2800" spc="-30" dirty="0">
                <a:latin typeface="Carlito"/>
                <a:cs typeface="Carlito"/>
              </a:rPr>
              <a:t>to  </a:t>
            </a:r>
            <a:r>
              <a:rPr sz="2800" spc="-15" dirty="0">
                <a:latin typeface="Carlito"/>
                <a:cs typeface="Carlito"/>
              </a:rPr>
              <a:t>indicate </a:t>
            </a:r>
            <a:r>
              <a:rPr sz="2800" spc="-5" dirty="0">
                <a:latin typeface="Carlito"/>
                <a:cs typeface="Carlito"/>
              </a:rPr>
              <a:t>the scripting language </a:t>
            </a:r>
            <a:r>
              <a:rPr sz="2800" spc="-10" dirty="0">
                <a:latin typeface="Carlito"/>
                <a:cs typeface="Carlito"/>
              </a:rPr>
              <a:t>in use </a:t>
            </a:r>
            <a:r>
              <a:rPr sz="2800" spc="-5" dirty="0">
                <a:latin typeface="Carlito"/>
                <a:cs typeface="Carlito"/>
              </a:rPr>
              <a:t>and its </a:t>
            </a:r>
            <a:r>
              <a:rPr sz="2800" spc="-10" dirty="0">
                <a:latin typeface="Carlito"/>
                <a:cs typeface="Carlito"/>
              </a:rPr>
              <a:t>value  should be set </a:t>
            </a:r>
            <a:r>
              <a:rPr sz="2800" spc="-20" dirty="0">
                <a:latin typeface="Carlito"/>
                <a:cs typeface="Carlito"/>
              </a:rPr>
              <a:t>to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i="1" spc="-10" dirty="0">
                <a:latin typeface="Carlito"/>
                <a:cs typeface="Carlito"/>
              </a:rPr>
              <a:t>"text/javascript"</a:t>
            </a:r>
            <a:r>
              <a:rPr sz="2800" spc="-1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862" y="207010"/>
            <a:ext cx="7177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10" dirty="0">
                <a:solidFill>
                  <a:srgbClr val="006FC0"/>
                </a:solidFill>
              </a:rPr>
              <a:t>Placement </a:t>
            </a:r>
            <a:r>
              <a:rPr spc="-5" dirty="0">
                <a:solidFill>
                  <a:srgbClr val="006FC0"/>
                </a:solidFill>
              </a:rPr>
              <a:t>in HTML</a:t>
            </a:r>
            <a:r>
              <a:rPr spc="20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344" y="1074165"/>
            <a:ext cx="4831715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&lt;html&gt;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&lt;body&gt;</a:t>
            </a:r>
            <a:endParaRPr sz="320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&lt;script </a:t>
            </a:r>
            <a:r>
              <a:rPr sz="3200" spc="-10" dirty="0">
                <a:latin typeface="Carlito"/>
                <a:cs typeface="Carlito"/>
              </a:rPr>
              <a:t>language="javascript"  type="text/javascript"&gt;</a:t>
            </a:r>
            <a:endParaRPr sz="3200">
              <a:latin typeface="Carlito"/>
              <a:cs typeface="Carlito"/>
            </a:endParaRPr>
          </a:p>
          <a:p>
            <a:pPr marL="314325">
              <a:lnSpc>
                <a:spcPct val="100000"/>
              </a:lnSpc>
              <a:spcBef>
                <a:spcPts val="770"/>
              </a:spcBef>
            </a:pPr>
            <a:r>
              <a:rPr sz="3200" spc="-10" dirty="0">
                <a:latin typeface="Carlito"/>
                <a:cs typeface="Carlito"/>
              </a:rPr>
              <a:t>JavaScript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code</a:t>
            </a:r>
            <a:endParaRPr sz="3200">
              <a:latin typeface="Carlito"/>
              <a:cs typeface="Carlito"/>
            </a:endParaRPr>
          </a:p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sz="3200" spc="-15" dirty="0">
                <a:latin typeface="Carlito"/>
                <a:cs typeface="Carlito"/>
              </a:rPr>
              <a:t>&lt;/script&gt;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&lt;/body&gt;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10" dirty="0">
                <a:latin typeface="Carlito"/>
                <a:cs typeface="Carlito"/>
              </a:rPr>
              <a:t>&lt;/html&gt;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1862" y="0"/>
            <a:ext cx="71774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10" dirty="0">
                <a:solidFill>
                  <a:srgbClr val="006FC0"/>
                </a:solidFill>
              </a:rPr>
              <a:t>Placement </a:t>
            </a:r>
            <a:r>
              <a:rPr spc="-5" dirty="0">
                <a:solidFill>
                  <a:srgbClr val="006FC0"/>
                </a:solidFill>
              </a:rPr>
              <a:t>in HTML</a:t>
            </a:r>
            <a:r>
              <a:rPr spc="20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74165"/>
            <a:ext cx="774636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7950" indent="-34353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dirty="0">
                <a:latin typeface="Carlito"/>
                <a:cs typeface="Carlito"/>
              </a:rPr>
              <a:t>is a </a:t>
            </a:r>
            <a:r>
              <a:rPr sz="3200" spc="-10" dirty="0">
                <a:latin typeface="Carlito"/>
                <a:cs typeface="Carlito"/>
              </a:rPr>
              <a:t>flexibility </a:t>
            </a:r>
            <a:r>
              <a:rPr sz="3200" spc="-5" dirty="0">
                <a:latin typeface="Carlito"/>
                <a:cs typeface="Carlito"/>
              </a:rPr>
              <a:t>given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include </a:t>
            </a:r>
            <a:r>
              <a:rPr sz="3200" spc="-10" dirty="0">
                <a:latin typeface="Carlito"/>
                <a:cs typeface="Carlito"/>
              </a:rPr>
              <a:t>JavaScript  code anywhere </a:t>
            </a:r>
            <a:r>
              <a:rPr sz="3200" dirty="0">
                <a:latin typeface="Carlito"/>
                <a:cs typeface="Carlito"/>
              </a:rPr>
              <a:t>in an HTML </a:t>
            </a:r>
            <a:r>
              <a:rPr sz="3200" spc="-5" dirty="0">
                <a:latin typeface="Carlito"/>
                <a:cs typeface="Carlito"/>
              </a:rPr>
              <a:t>document. </a:t>
            </a:r>
            <a:r>
              <a:rPr sz="3200" dirty="0">
                <a:latin typeface="Carlito"/>
                <a:cs typeface="Carlito"/>
              </a:rPr>
              <a:t>But  </a:t>
            </a:r>
            <a:r>
              <a:rPr sz="3200" spc="-10" dirty="0">
                <a:latin typeface="Carlito"/>
                <a:cs typeface="Carlito"/>
              </a:rPr>
              <a:t>there </a:t>
            </a:r>
            <a:r>
              <a:rPr sz="3200" spc="-15" dirty="0">
                <a:latin typeface="Carlito"/>
                <a:cs typeface="Carlito"/>
              </a:rPr>
              <a:t>are following </a:t>
            </a:r>
            <a:r>
              <a:rPr sz="3200" spc="-10" dirty="0">
                <a:latin typeface="Carlito"/>
                <a:cs typeface="Carlito"/>
              </a:rPr>
              <a:t>most </a:t>
            </a:r>
            <a:r>
              <a:rPr sz="3200" spc="-25" dirty="0">
                <a:latin typeface="Carlito"/>
                <a:cs typeface="Carlito"/>
              </a:rPr>
              <a:t>preferred </a:t>
            </a:r>
            <a:r>
              <a:rPr sz="3200" spc="-30" dirty="0">
                <a:latin typeface="Carlito"/>
                <a:cs typeface="Carlito"/>
              </a:rPr>
              <a:t>ways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5" dirty="0">
                <a:latin typeface="Carlito"/>
                <a:cs typeface="Carlito"/>
              </a:rPr>
              <a:t>include </a:t>
            </a:r>
            <a:r>
              <a:rPr sz="3200" spc="-10" dirty="0">
                <a:latin typeface="Carlito"/>
                <a:cs typeface="Carlito"/>
              </a:rPr>
              <a:t>JavaScript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10" dirty="0">
                <a:latin typeface="Carlito"/>
                <a:cs typeface="Carlito"/>
              </a:rPr>
              <a:t>your </a:t>
            </a:r>
            <a:r>
              <a:rPr sz="3200" spc="-5" dirty="0">
                <a:latin typeface="Carlito"/>
                <a:cs typeface="Carlito"/>
              </a:rPr>
              <a:t>HTML</a:t>
            </a:r>
            <a:r>
              <a:rPr sz="3200" spc="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file.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Script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&lt;head&gt;...&lt;/head&gt;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section.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Carlito"/>
                <a:cs typeface="Carlito"/>
              </a:rPr>
              <a:t>Script </a:t>
            </a:r>
            <a:r>
              <a:rPr sz="3200" dirty="0">
                <a:latin typeface="Carlito"/>
                <a:cs typeface="Carlito"/>
              </a:rPr>
              <a:t>in </a:t>
            </a:r>
            <a:r>
              <a:rPr sz="3200" spc="-5" dirty="0">
                <a:latin typeface="Carlito"/>
                <a:cs typeface="Carlito"/>
              </a:rPr>
              <a:t>&lt;body&gt;...&lt;/body&gt;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section.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Script </a:t>
            </a:r>
            <a:r>
              <a:rPr sz="3200" dirty="0">
                <a:latin typeface="Carlito"/>
                <a:cs typeface="Carlito"/>
              </a:rPr>
              <a:t>in and </a:t>
            </a:r>
            <a:r>
              <a:rPr sz="3200" spc="-10" dirty="0">
                <a:latin typeface="Carlito"/>
                <a:cs typeface="Carlito"/>
              </a:rPr>
              <a:t>external </a:t>
            </a:r>
            <a:r>
              <a:rPr sz="3200" spc="-5" dirty="0">
                <a:latin typeface="Carlito"/>
                <a:cs typeface="Carlito"/>
              </a:rPr>
              <a:t>file </a:t>
            </a:r>
            <a:r>
              <a:rPr sz="3200" dirty="0">
                <a:latin typeface="Carlito"/>
                <a:cs typeface="Carlito"/>
              </a:rPr>
              <a:t>and then </a:t>
            </a:r>
            <a:r>
              <a:rPr sz="3200" spc="-5" dirty="0">
                <a:latin typeface="Carlito"/>
                <a:cs typeface="Carlito"/>
              </a:rPr>
              <a:t>include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in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spc="-5" dirty="0">
                <a:latin typeface="Carlito"/>
                <a:cs typeface="Carlito"/>
              </a:rPr>
              <a:t>&lt;head&gt;...&lt;/head&gt;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section.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114" y="207010"/>
            <a:ext cx="77171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5" dirty="0">
                <a:solidFill>
                  <a:srgbClr val="006FC0"/>
                </a:solidFill>
              </a:rPr>
              <a:t>in &lt;head&gt;&lt;/head&gt;</a:t>
            </a:r>
            <a:r>
              <a:rPr spc="-15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section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984628"/>
            <a:ext cx="7686040" cy="54216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3000" spc="-5" dirty="0">
                <a:latin typeface="Carlito"/>
                <a:cs typeface="Carlito"/>
              </a:rPr>
              <a:t>&lt;html&gt;</a:t>
            </a:r>
            <a:endParaRPr sz="3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3000" spc="-5" dirty="0">
                <a:latin typeface="Carlito"/>
                <a:cs typeface="Carlito"/>
              </a:rPr>
              <a:t>&lt;head&gt;</a:t>
            </a:r>
            <a:endParaRPr sz="3000">
              <a:latin typeface="Carlito"/>
              <a:cs typeface="Carlito"/>
            </a:endParaRPr>
          </a:p>
          <a:p>
            <a:pPr marL="97790" marR="2935605" indent="-85725">
              <a:lnSpc>
                <a:spcPct val="120000"/>
              </a:lnSpc>
              <a:spcBef>
                <a:spcPts val="5"/>
              </a:spcBef>
            </a:pPr>
            <a:r>
              <a:rPr sz="3000" spc="-5" dirty="0">
                <a:latin typeface="Carlito"/>
                <a:cs typeface="Carlito"/>
              </a:rPr>
              <a:t>&lt;script </a:t>
            </a:r>
            <a:r>
              <a:rPr sz="3000" spc="-10" dirty="0">
                <a:latin typeface="Carlito"/>
                <a:cs typeface="Carlito"/>
              </a:rPr>
              <a:t>type="text/javascript"&gt;  </a:t>
            </a:r>
            <a:r>
              <a:rPr sz="3000" spc="-5" dirty="0">
                <a:latin typeface="Carlito"/>
                <a:cs typeface="Carlito"/>
              </a:rPr>
              <a:t>function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sayHello()</a:t>
            </a:r>
            <a:endParaRPr sz="3000">
              <a:latin typeface="Carlito"/>
              <a:cs typeface="Carlito"/>
            </a:endParaRPr>
          </a:p>
          <a:p>
            <a:pPr marL="97790">
              <a:lnSpc>
                <a:spcPct val="100000"/>
              </a:lnSpc>
              <a:spcBef>
                <a:spcPts val="720"/>
              </a:spcBef>
            </a:pPr>
            <a:r>
              <a:rPr sz="3000" dirty="0">
                <a:latin typeface="Carlito"/>
                <a:cs typeface="Carlito"/>
              </a:rPr>
              <a:t>{</a:t>
            </a:r>
            <a:endParaRPr sz="3000">
              <a:latin typeface="Carlito"/>
              <a:cs typeface="Carlito"/>
            </a:endParaRPr>
          </a:p>
          <a:p>
            <a:pPr marL="97790">
              <a:lnSpc>
                <a:spcPct val="100000"/>
              </a:lnSpc>
              <a:spcBef>
                <a:spcPts val="720"/>
              </a:spcBef>
            </a:pPr>
            <a:r>
              <a:rPr sz="3000" spc="-5" dirty="0">
                <a:latin typeface="Carlito"/>
                <a:cs typeface="Carlito"/>
              </a:rPr>
              <a:t>alert("Hello</a:t>
            </a:r>
            <a:r>
              <a:rPr sz="3000" spc="15" dirty="0">
                <a:latin typeface="Carlito"/>
                <a:cs typeface="Carlito"/>
              </a:rPr>
              <a:t> </a:t>
            </a:r>
            <a:r>
              <a:rPr sz="3000" spc="-25" dirty="0">
                <a:latin typeface="Carlito"/>
                <a:cs typeface="Carlito"/>
              </a:rPr>
              <a:t>World")</a:t>
            </a:r>
            <a:endParaRPr sz="3000">
              <a:latin typeface="Carlito"/>
              <a:cs typeface="Carlito"/>
            </a:endParaRPr>
          </a:p>
          <a:p>
            <a:pPr marL="97790">
              <a:lnSpc>
                <a:spcPct val="100000"/>
              </a:lnSpc>
              <a:spcBef>
                <a:spcPts val="720"/>
              </a:spcBef>
            </a:pPr>
            <a:r>
              <a:rPr sz="3000" spc="-10" dirty="0">
                <a:latin typeface="Carlito"/>
                <a:cs typeface="Carlito"/>
              </a:rPr>
              <a:t>}&lt;/script&gt;</a:t>
            </a:r>
            <a:endParaRPr sz="3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000" spc="-5" dirty="0">
                <a:latin typeface="Carlito"/>
                <a:cs typeface="Carlito"/>
              </a:rPr>
              <a:t>&lt;/head&gt;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720"/>
              </a:spcBef>
            </a:pPr>
            <a:r>
              <a:rPr sz="3000" spc="-5" dirty="0">
                <a:latin typeface="Carlito"/>
                <a:cs typeface="Carlito"/>
              </a:rPr>
              <a:t>&lt;body&gt;&lt;input </a:t>
            </a:r>
            <a:r>
              <a:rPr sz="3000" spc="-10" dirty="0">
                <a:latin typeface="Carlito"/>
                <a:cs typeface="Carlito"/>
              </a:rPr>
              <a:t>type="button" onclick="sayHello()"  </a:t>
            </a:r>
            <a:r>
              <a:rPr sz="3000" spc="-15" dirty="0">
                <a:latin typeface="Carlito"/>
                <a:cs typeface="Carlito"/>
              </a:rPr>
              <a:t>value="Say </a:t>
            </a:r>
            <a:r>
              <a:rPr sz="3000" spc="-5" dirty="0">
                <a:latin typeface="Carlito"/>
                <a:cs typeface="Carlito"/>
              </a:rPr>
              <a:t>Hello“ </a:t>
            </a:r>
            <a:r>
              <a:rPr sz="3000" dirty="0">
                <a:latin typeface="Carlito"/>
                <a:cs typeface="Carlito"/>
              </a:rPr>
              <a:t>&gt; </a:t>
            </a:r>
            <a:r>
              <a:rPr sz="3000" spc="-5" dirty="0">
                <a:latin typeface="Carlito"/>
                <a:cs typeface="Carlito"/>
              </a:rPr>
              <a:t>&lt;/body&gt;</a:t>
            </a:r>
            <a:r>
              <a:rPr sz="3000" spc="25" dirty="0">
                <a:latin typeface="Carlito"/>
                <a:cs typeface="Carlito"/>
              </a:rPr>
              <a:t> </a:t>
            </a:r>
            <a:r>
              <a:rPr sz="3000" spc="-5" dirty="0">
                <a:latin typeface="Carlito"/>
                <a:cs typeface="Carlito"/>
              </a:rPr>
              <a:t>&lt;/html&gt;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390" y="0"/>
            <a:ext cx="7868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5" dirty="0">
                <a:solidFill>
                  <a:srgbClr val="006FC0"/>
                </a:solidFill>
              </a:rPr>
              <a:t>in </a:t>
            </a:r>
            <a:r>
              <a:rPr spc="-10" dirty="0">
                <a:solidFill>
                  <a:srgbClr val="006FC0"/>
                </a:solidFill>
              </a:rPr>
              <a:t>&lt;body&gt;&lt;/body&gt;</a:t>
            </a:r>
            <a:r>
              <a:rPr spc="55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section: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8288" y="977616"/>
            <a:ext cx="6692265" cy="392747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rlito"/>
                <a:cs typeface="Carlito"/>
              </a:rPr>
              <a:t>&lt;html&gt; </a:t>
            </a:r>
            <a:r>
              <a:rPr sz="3200" spc="-5" dirty="0">
                <a:latin typeface="Carlito"/>
                <a:cs typeface="Carlito"/>
              </a:rPr>
              <a:t>&lt;head&gt;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&lt;/head&gt;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arlito"/>
                <a:cs typeface="Carlito"/>
              </a:rPr>
              <a:t>&lt;body&gt;</a:t>
            </a:r>
            <a:endParaRPr sz="3200">
              <a:latin typeface="Carlito"/>
              <a:cs typeface="Carlito"/>
            </a:endParaRPr>
          </a:p>
          <a:p>
            <a:pPr marL="79375" marR="1429385" indent="-67310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&lt;script </a:t>
            </a:r>
            <a:r>
              <a:rPr sz="3200" spc="-10" dirty="0">
                <a:latin typeface="Carlito"/>
                <a:cs typeface="Carlito"/>
              </a:rPr>
              <a:t>type="text/javascript“&gt;  </a:t>
            </a:r>
            <a:r>
              <a:rPr sz="3200" spc="-15" dirty="0">
                <a:latin typeface="Carlito"/>
                <a:cs typeface="Carlito"/>
              </a:rPr>
              <a:t>document.write("Hello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World“)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5" dirty="0">
                <a:latin typeface="Carlito"/>
                <a:cs typeface="Carlito"/>
              </a:rPr>
              <a:t>&lt;/script&gt; </a:t>
            </a:r>
            <a:r>
              <a:rPr sz="3200" spc="-5" dirty="0">
                <a:latin typeface="Carlito"/>
                <a:cs typeface="Carlito"/>
              </a:rPr>
              <a:t>&lt;p&gt;This </a:t>
            </a:r>
            <a:r>
              <a:rPr sz="3200" dirty="0">
                <a:latin typeface="Carlito"/>
                <a:cs typeface="Carlito"/>
              </a:rPr>
              <a:t>is </a:t>
            </a:r>
            <a:r>
              <a:rPr sz="3200" spc="-5" dirty="0">
                <a:latin typeface="Carlito"/>
                <a:cs typeface="Carlito"/>
              </a:rPr>
              <a:t>web </a:t>
            </a:r>
            <a:r>
              <a:rPr sz="3200" spc="-10" dirty="0">
                <a:latin typeface="Carlito"/>
                <a:cs typeface="Carlito"/>
              </a:rPr>
              <a:t>page </a:t>
            </a:r>
            <a:r>
              <a:rPr sz="3200" spc="-5" dirty="0">
                <a:latin typeface="Carlito"/>
                <a:cs typeface="Carlito"/>
              </a:rPr>
              <a:t>body</a:t>
            </a:r>
            <a:r>
              <a:rPr sz="3200" spc="4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&lt;/p&gt;</a:t>
            </a:r>
            <a:endParaRPr sz="3200">
              <a:latin typeface="Carlito"/>
              <a:cs typeface="Carlito"/>
            </a:endParaRPr>
          </a:p>
          <a:p>
            <a:pPr marL="79375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&lt;/body&gt;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&lt;/html&gt;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9285" y="0"/>
            <a:ext cx="5339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5" dirty="0">
                <a:solidFill>
                  <a:srgbClr val="006FC0"/>
                </a:solidFill>
              </a:rPr>
              <a:t>in </a:t>
            </a:r>
            <a:r>
              <a:rPr spc="-15" dirty="0">
                <a:solidFill>
                  <a:srgbClr val="006FC0"/>
                </a:solidFill>
              </a:rPr>
              <a:t>External</a:t>
            </a:r>
            <a:r>
              <a:rPr spc="30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File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977616"/>
            <a:ext cx="7979409" cy="353695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3200" spc="-10" dirty="0">
                <a:latin typeface="Carlito"/>
                <a:cs typeface="Carlito"/>
              </a:rPr>
              <a:t>&lt;html&gt;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&lt;head&gt;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arlito"/>
                <a:cs typeface="Carlito"/>
              </a:rPr>
              <a:t>&lt;script </a:t>
            </a:r>
            <a:r>
              <a:rPr sz="3200" spc="-10" dirty="0">
                <a:latin typeface="Carlito"/>
                <a:cs typeface="Carlito"/>
              </a:rPr>
              <a:t>type="text/javascript" </a:t>
            </a:r>
            <a:r>
              <a:rPr sz="3200" spc="-5" dirty="0">
                <a:latin typeface="Carlito"/>
                <a:cs typeface="Carlito"/>
              </a:rPr>
              <a:t>src="filename.js”&gt;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15" dirty="0">
                <a:latin typeface="Carlito"/>
                <a:cs typeface="Carlito"/>
              </a:rPr>
              <a:t>&lt;/script&gt;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&lt;/head&gt;</a:t>
            </a:r>
            <a:endParaRPr sz="3200">
              <a:latin typeface="Carlito"/>
              <a:cs typeface="Carlito"/>
            </a:endParaRPr>
          </a:p>
          <a:p>
            <a:pPr marL="103505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&lt;body&gt; .......</a:t>
            </a:r>
            <a:r>
              <a:rPr sz="3200" spc="7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&lt;/body&gt;</a:t>
            </a:r>
            <a:endParaRPr sz="3200">
              <a:latin typeface="Carlito"/>
              <a:cs typeface="Carlito"/>
            </a:endParaRPr>
          </a:p>
          <a:p>
            <a:pPr marL="103505">
              <a:lnSpc>
                <a:spcPct val="100000"/>
              </a:lnSpc>
              <a:spcBef>
                <a:spcPts val="770"/>
              </a:spcBef>
            </a:pPr>
            <a:r>
              <a:rPr sz="3200" spc="-5" dirty="0">
                <a:latin typeface="Carlito"/>
                <a:cs typeface="Carlito"/>
              </a:rPr>
              <a:t>&lt;/html&gt;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134" y="207010"/>
            <a:ext cx="73983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 </a:t>
            </a:r>
            <a:r>
              <a:rPr spc="-30" dirty="0">
                <a:solidFill>
                  <a:srgbClr val="006FC0"/>
                </a:solidFill>
              </a:rPr>
              <a:t>Variables </a:t>
            </a:r>
            <a:r>
              <a:rPr spc="-5" dirty="0">
                <a:solidFill>
                  <a:srgbClr val="006FC0"/>
                </a:solidFill>
              </a:rPr>
              <a:t>and</a:t>
            </a:r>
            <a:r>
              <a:rPr spc="85" dirty="0">
                <a:solidFill>
                  <a:srgbClr val="006FC0"/>
                </a:solidFill>
              </a:rPr>
              <a:t> </a:t>
            </a:r>
            <a:r>
              <a:rPr spc="-30" dirty="0">
                <a:solidFill>
                  <a:srgbClr val="006FC0"/>
                </a:solidFill>
              </a:rPr>
              <a:t>DataTypes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07110"/>
            <a:ext cx="7998459" cy="50012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variables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"containers"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storing information.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Variable </a:t>
            </a:r>
            <a:r>
              <a:rPr sz="2400" spc="-5" dirty="0">
                <a:latin typeface="Carlito"/>
                <a:cs typeface="Carlito"/>
              </a:rPr>
              <a:t>names </a:t>
            </a: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begin </a:t>
            </a:r>
            <a:r>
              <a:rPr sz="2400" dirty="0">
                <a:latin typeface="Carlito"/>
                <a:cs typeface="Carlito"/>
              </a:rPr>
              <a:t>with a</a:t>
            </a:r>
            <a:r>
              <a:rPr sz="2400" spc="-15" dirty="0">
                <a:latin typeface="Carlito"/>
                <a:cs typeface="Carlito"/>
              </a:rPr>
              <a:t> letter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Variable </a:t>
            </a:r>
            <a:r>
              <a:rPr sz="2400" spc="-5" dirty="0">
                <a:latin typeface="Carlito"/>
                <a:cs typeface="Carlito"/>
              </a:rPr>
              <a:t>names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begin </a:t>
            </a:r>
            <a:r>
              <a:rPr sz="2400" dirty="0">
                <a:latin typeface="Carlito"/>
                <a:cs typeface="Carlito"/>
              </a:rPr>
              <a:t>with $ and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_.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20" dirty="0">
                <a:latin typeface="Carlito"/>
                <a:cs typeface="Carlito"/>
              </a:rPr>
              <a:t>Variable </a:t>
            </a:r>
            <a:r>
              <a:rPr sz="2400" spc="-5" dirty="0">
                <a:latin typeface="Carlito"/>
                <a:cs typeface="Carlito"/>
              </a:rPr>
              <a:t>names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5" dirty="0">
                <a:latin typeface="Carlito"/>
                <a:cs typeface="Carlito"/>
              </a:rPr>
              <a:t>case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sensitive.</a:t>
            </a:r>
            <a:endParaRPr sz="2400">
              <a:latin typeface="Carlito"/>
              <a:cs typeface="Carlito"/>
            </a:endParaRPr>
          </a:p>
          <a:p>
            <a:pPr marL="355600" marR="5715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variables can </a:t>
            </a:r>
            <a:r>
              <a:rPr sz="2400" dirty="0">
                <a:latin typeface="Carlito"/>
                <a:cs typeface="Carlito"/>
              </a:rPr>
              <a:t>also </a:t>
            </a:r>
            <a:r>
              <a:rPr sz="2400" spc="-5" dirty="0">
                <a:latin typeface="Carlito"/>
                <a:cs typeface="Carlito"/>
              </a:rPr>
              <a:t>hold other </a:t>
            </a:r>
            <a:r>
              <a:rPr sz="2400" dirty="0">
                <a:latin typeface="Carlito"/>
                <a:cs typeface="Carlito"/>
              </a:rPr>
              <a:t>types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spc="-15" dirty="0">
                <a:latin typeface="Carlito"/>
                <a:cs typeface="Carlito"/>
              </a:rPr>
              <a:t>data,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spc="-15" dirty="0">
                <a:latin typeface="Carlito"/>
                <a:cs typeface="Carlito"/>
              </a:rPr>
              <a:t>text  </a:t>
            </a:r>
            <a:r>
              <a:rPr sz="2400" spc="-10" dirty="0">
                <a:latin typeface="Carlito"/>
                <a:cs typeface="Carlito"/>
              </a:rPr>
              <a:t>values </a:t>
            </a:r>
            <a:r>
              <a:rPr sz="2400" dirty="0">
                <a:latin typeface="Carlito"/>
                <a:cs typeface="Carlito"/>
              </a:rPr>
              <a:t>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5" dirty="0">
                <a:latin typeface="Carlito"/>
                <a:cs typeface="Carlito"/>
              </a:rPr>
              <a:t>text </a:t>
            </a:r>
            <a:r>
              <a:rPr sz="2400" spc="-20" dirty="0">
                <a:latin typeface="Carlito"/>
                <a:cs typeface="Carlito"/>
              </a:rPr>
              <a:t>like </a:t>
            </a:r>
            <a:r>
              <a:rPr sz="2400" dirty="0">
                <a:latin typeface="Carlito"/>
                <a:cs typeface="Carlito"/>
              </a:rPr>
              <a:t>"John </a:t>
            </a:r>
            <a:r>
              <a:rPr sz="2400" spc="-5" dirty="0">
                <a:latin typeface="Carlito"/>
                <a:cs typeface="Carlito"/>
              </a:rPr>
              <a:t>Doe"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5" dirty="0">
                <a:latin typeface="Carlito"/>
                <a:cs typeface="Carlito"/>
              </a:rPr>
              <a:t>called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7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string.</a:t>
            </a:r>
            <a:endParaRPr sz="24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dirty="0">
                <a:latin typeface="Carlito"/>
                <a:cs typeface="Carlito"/>
              </a:rPr>
              <a:t>assign a </a:t>
            </a:r>
            <a:r>
              <a:rPr sz="2400" spc="-20" dirty="0">
                <a:latin typeface="Carlito"/>
                <a:cs typeface="Carlito"/>
              </a:rPr>
              <a:t>text </a:t>
            </a:r>
            <a:r>
              <a:rPr sz="2400" spc="-10" dirty="0">
                <a:latin typeface="Carlito"/>
                <a:cs typeface="Carlito"/>
              </a:rPr>
              <a:t>value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variable, </a:t>
            </a:r>
            <a:r>
              <a:rPr sz="2400" dirty="0">
                <a:latin typeface="Carlito"/>
                <a:cs typeface="Carlito"/>
              </a:rPr>
              <a:t>put </a:t>
            </a:r>
            <a:r>
              <a:rPr sz="2400" spc="-5" dirty="0">
                <a:latin typeface="Carlito"/>
                <a:cs typeface="Carlito"/>
              </a:rPr>
              <a:t>double </a:t>
            </a:r>
            <a:r>
              <a:rPr sz="2400" spc="5" dirty="0">
                <a:latin typeface="Carlito"/>
                <a:cs typeface="Carlito"/>
              </a:rPr>
              <a:t>or  </a:t>
            </a:r>
            <a:r>
              <a:rPr sz="2400" spc="-5" dirty="0">
                <a:latin typeface="Carlito"/>
                <a:cs typeface="Carlito"/>
              </a:rPr>
              <a:t>single </a:t>
            </a:r>
            <a:r>
              <a:rPr sz="2400" spc="-10" dirty="0">
                <a:latin typeface="Carlito"/>
                <a:cs typeface="Carlito"/>
              </a:rPr>
              <a:t>quotes around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value.</a:t>
            </a:r>
            <a:endParaRPr sz="2400">
              <a:latin typeface="Carlito"/>
              <a:cs typeface="Carlito"/>
            </a:endParaRPr>
          </a:p>
          <a:p>
            <a:pPr marL="355600" marR="8255" indent="-343535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dirty="0">
                <a:latin typeface="Carlito"/>
                <a:cs typeface="Carlito"/>
              </a:rPr>
              <a:t>assign a </a:t>
            </a:r>
            <a:r>
              <a:rPr sz="2400" spc="-5" dirty="0">
                <a:latin typeface="Carlito"/>
                <a:cs typeface="Carlito"/>
              </a:rPr>
              <a:t>numeric </a:t>
            </a:r>
            <a:r>
              <a:rPr sz="2400" spc="-10" dirty="0">
                <a:latin typeface="Carlito"/>
                <a:cs typeface="Carlito"/>
              </a:rPr>
              <a:t>value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variable, </a:t>
            </a:r>
            <a:r>
              <a:rPr sz="2400" spc="-5" dirty="0">
                <a:latin typeface="Carlito"/>
                <a:cs typeface="Carlito"/>
              </a:rPr>
              <a:t>do not put  </a:t>
            </a:r>
            <a:r>
              <a:rPr sz="2400" spc="-10" dirty="0">
                <a:latin typeface="Carlito"/>
                <a:cs typeface="Carlito"/>
              </a:rPr>
              <a:t>quotes around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value. If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put </a:t>
            </a:r>
            <a:r>
              <a:rPr sz="2400" spc="-10" dirty="0">
                <a:latin typeface="Carlito"/>
                <a:cs typeface="Carlito"/>
              </a:rPr>
              <a:t>quotes around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numeric  </a:t>
            </a:r>
            <a:r>
              <a:rPr sz="2400" spc="-10" dirty="0">
                <a:latin typeface="Carlito"/>
                <a:cs typeface="Carlito"/>
              </a:rPr>
              <a:t>value, </a:t>
            </a:r>
            <a:r>
              <a:rPr sz="2400" dirty="0">
                <a:latin typeface="Carlito"/>
                <a:cs typeface="Carlito"/>
              </a:rPr>
              <a:t>it will be </a:t>
            </a:r>
            <a:r>
              <a:rPr sz="2400" spc="-15" dirty="0">
                <a:latin typeface="Carlito"/>
                <a:cs typeface="Carlito"/>
              </a:rPr>
              <a:t>treated </a:t>
            </a:r>
            <a:r>
              <a:rPr sz="2400" dirty="0">
                <a:latin typeface="Carlito"/>
                <a:cs typeface="Carlito"/>
              </a:rPr>
              <a:t>as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text.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5905" y="207010"/>
            <a:ext cx="4550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30" dirty="0"/>
              <a:t>Data</a:t>
            </a:r>
            <a:r>
              <a:rPr spc="5" dirty="0"/>
              <a:t> </a:t>
            </a:r>
            <a:r>
              <a:rPr spc="-3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103121"/>
            <a:ext cx="7836534" cy="233426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642620" indent="-24765">
              <a:lnSpc>
                <a:spcPts val="3420"/>
              </a:lnSpc>
              <a:spcBef>
                <a:spcPts val="360"/>
              </a:spcBef>
            </a:pPr>
            <a:r>
              <a:rPr sz="3000" dirty="0">
                <a:solidFill>
                  <a:srgbClr val="FF0000"/>
                </a:solidFill>
                <a:latin typeface="Carlito"/>
                <a:cs typeface="Carlito"/>
              </a:rPr>
              <a:t>String, </a:t>
            </a:r>
            <a:r>
              <a:rPr sz="3000" spc="-40" dirty="0">
                <a:solidFill>
                  <a:srgbClr val="FF0000"/>
                </a:solidFill>
                <a:latin typeface="Carlito"/>
                <a:cs typeface="Carlito"/>
              </a:rPr>
              <a:t>Number, </a:t>
            </a:r>
            <a:r>
              <a:rPr sz="3000" dirty="0">
                <a:solidFill>
                  <a:srgbClr val="FF0000"/>
                </a:solidFill>
                <a:latin typeface="Carlito"/>
                <a:cs typeface="Carlito"/>
              </a:rPr>
              <a:t>Boolean, </a:t>
            </a:r>
            <a:r>
              <a:rPr sz="3000" spc="-60" dirty="0">
                <a:solidFill>
                  <a:srgbClr val="FF0000"/>
                </a:solidFill>
                <a:latin typeface="Carlito"/>
                <a:cs typeface="Carlito"/>
              </a:rPr>
              <a:t>Array, </a:t>
            </a:r>
            <a:r>
              <a:rPr sz="3000" spc="-5" dirty="0">
                <a:solidFill>
                  <a:srgbClr val="FF0000"/>
                </a:solidFill>
                <a:latin typeface="Carlito"/>
                <a:cs typeface="Carlito"/>
              </a:rPr>
              <a:t>Object, Null,  </a:t>
            </a:r>
            <a:r>
              <a:rPr sz="3000" spc="-10" dirty="0">
                <a:solidFill>
                  <a:srgbClr val="FF0000"/>
                </a:solidFill>
                <a:latin typeface="Carlito"/>
                <a:cs typeface="Carlito"/>
              </a:rPr>
              <a:t>Undefined.</a:t>
            </a:r>
            <a:endParaRPr sz="3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3700" b="1" spc="-15" dirty="0">
                <a:solidFill>
                  <a:srgbClr val="006FC0"/>
                </a:solidFill>
                <a:latin typeface="Carlito"/>
                <a:cs typeface="Carlito"/>
              </a:rPr>
              <a:t>JavaScript </a:t>
            </a:r>
            <a:r>
              <a:rPr sz="3700" b="1" spc="-5" dirty="0">
                <a:solidFill>
                  <a:srgbClr val="006FC0"/>
                </a:solidFill>
                <a:latin typeface="Carlito"/>
                <a:cs typeface="Carlito"/>
              </a:rPr>
              <a:t>Has Dynamic</a:t>
            </a:r>
            <a:r>
              <a:rPr sz="3700" b="1" spc="45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700" b="1" spc="-25" dirty="0">
                <a:solidFill>
                  <a:srgbClr val="006FC0"/>
                </a:solidFill>
                <a:latin typeface="Carlito"/>
                <a:cs typeface="Carlito"/>
              </a:rPr>
              <a:t>Types</a:t>
            </a:r>
            <a:endParaRPr sz="3700">
              <a:latin typeface="Carlito"/>
              <a:cs typeface="Carlito"/>
            </a:endParaRPr>
          </a:p>
          <a:p>
            <a:pPr marL="355600" marR="5080" indent="-343535">
              <a:lnSpc>
                <a:spcPts val="2810"/>
              </a:lnSpc>
              <a:spcBef>
                <a:spcPts val="735"/>
              </a:spcBef>
              <a:buFont typeface="Wingdings"/>
              <a:buChar char=""/>
              <a:tabLst>
                <a:tab pos="356235" algn="l"/>
              </a:tabLst>
            </a:pPr>
            <a:r>
              <a:rPr sz="2600" spc="-10" dirty="0">
                <a:latin typeface="Carlito"/>
                <a:cs typeface="Carlito"/>
              </a:rPr>
              <a:t>JavaScript </a:t>
            </a:r>
            <a:r>
              <a:rPr sz="2600" spc="-5" dirty="0">
                <a:latin typeface="Carlito"/>
                <a:cs typeface="Carlito"/>
              </a:rPr>
              <a:t>has dynamic </a:t>
            </a:r>
            <a:r>
              <a:rPr sz="2600" dirty="0">
                <a:latin typeface="Carlito"/>
                <a:cs typeface="Carlito"/>
              </a:rPr>
              <a:t>types. </a:t>
            </a:r>
            <a:r>
              <a:rPr sz="2600" spc="-5" dirty="0">
                <a:latin typeface="Carlito"/>
                <a:cs typeface="Carlito"/>
              </a:rPr>
              <a:t>This </a:t>
            </a:r>
            <a:r>
              <a:rPr sz="2600" dirty="0">
                <a:latin typeface="Carlito"/>
                <a:cs typeface="Carlito"/>
              </a:rPr>
              <a:t>means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same  variable </a:t>
            </a:r>
            <a:r>
              <a:rPr sz="2600" spc="-10" dirty="0">
                <a:latin typeface="Carlito"/>
                <a:cs typeface="Carlito"/>
              </a:rPr>
              <a:t>can </a:t>
            </a:r>
            <a:r>
              <a:rPr sz="2600" dirty="0">
                <a:latin typeface="Carlito"/>
                <a:cs typeface="Carlito"/>
              </a:rPr>
              <a:t>be </a:t>
            </a:r>
            <a:r>
              <a:rPr sz="2600" spc="-5" dirty="0">
                <a:latin typeface="Carlito"/>
                <a:cs typeface="Carlito"/>
              </a:rPr>
              <a:t>used </a:t>
            </a:r>
            <a:r>
              <a:rPr sz="2600" dirty="0">
                <a:latin typeface="Carlito"/>
                <a:cs typeface="Carlito"/>
              </a:rPr>
              <a:t>as </a:t>
            </a:r>
            <a:r>
              <a:rPr sz="2600" spc="-20" dirty="0">
                <a:latin typeface="Carlito"/>
                <a:cs typeface="Carlito"/>
              </a:rPr>
              <a:t>different</a:t>
            </a:r>
            <a:r>
              <a:rPr sz="2600" spc="-11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types.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9436" y="3449192"/>
            <a:ext cx="1068705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15" dirty="0">
                <a:latin typeface="Carlito"/>
                <a:cs typeface="Carlito"/>
              </a:rPr>
              <a:t>var</a:t>
            </a:r>
            <a:r>
              <a:rPr sz="2200" spc="-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 marL="38100">
              <a:lnSpc>
                <a:spcPts val="2510"/>
              </a:lnSpc>
            </a:pPr>
            <a:r>
              <a:rPr sz="2200" spc="-15" dirty="0">
                <a:latin typeface="Carlito"/>
                <a:cs typeface="Carlito"/>
              </a:rPr>
              <a:t>var </a:t>
            </a:r>
            <a:r>
              <a:rPr sz="2200" spc="-5" dirty="0">
                <a:latin typeface="Carlito"/>
                <a:cs typeface="Carlito"/>
              </a:rPr>
              <a:t>x =</a:t>
            </a:r>
            <a:r>
              <a:rPr sz="2200" spc="-7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5;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82342" y="3449192"/>
            <a:ext cx="2633980" cy="662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spc="-5" dirty="0">
                <a:latin typeface="Carlito"/>
                <a:cs typeface="Carlito"/>
              </a:rPr>
              <a:t>// Now x is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undefined</a:t>
            </a:r>
            <a:endParaRPr sz="2200">
              <a:latin typeface="Carlito"/>
              <a:cs typeface="Carlito"/>
            </a:endParaRPr>
          </a:p>
          <a:p>
            <a:pPr marL="203200">
              <a:lnSpc>
                <a:spcPts val="2510"/>
              </a:lnSpc>
            </a:pPr>
            <a:r>
              <a:rPr sz="2200" spc="-5" dirty="0">
                <a:latin typeface="Carlito"/>
                <a:cs typeface="Carlito"/>
              </a:rPr>
              <a:t>// </a:t>
            </a:r>
            <a:r>
              <a:rPr sz="2200" spc="-10" dirty="0">
                <a:latin typeface="Carlito"/>
                <a:cs typeface="Carlito"/>
              </a:rPr>
              <a:t>Now </a:t>
            </a:r>
            <a:r>
              <a:rPr sz="2200" spc="-5" dirty="0">
                <a:latin typeface="Carlito"/>
                <a:cs typeface="Carlito"/>
              </a:rPr>
              <a:t>x is a</a:t>
            </a:r>
            <a:r>
              <a:rPr sz="2200" spc="-3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Number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5344" y="4052697"/>
            <a:ext cx="41852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24380" algn="l"/>
              </a:tabLst>
            </a:pPr>
            <a:r>
              <a:rPr sz="2200" spc="-15" dirty="0">
                <a:latin typeface="Carlito"/>
                <a:cs typeface="Carlito"/>
              </a:rPr>
              <a:t>var </a:t>
            </a:r>
            <a:r>
              <a:rPr sz="2200" spc="-5" dirty="0">
                <a:latin typeface="Carlito"/>
                <a:cs typeface="Carlito"/>
              </a:rPr>
              <a:t>x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=</a:t>
            </a:r>
            <a:r>
              <a:rPr sz="2200" spc="1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"John";	</a:t>
            </a:r>
            <a:r>
              <a:rPr sz="2200" spc="-5" dirty="0">
                <a:latin typeface="Carlito"/>
                <a:cs typeface="Carlito"/>
              </a:rPr>
              <a:t>// </a:t>
            </a:r>
            <a:r>
              <a:rPr sz="2200" spc="-10" dirty="0">
                <a:latin typeface="Carlito"/>
                <a:cs typeface="Carlito"/>
              </a:rPr>
              <a:t>Now </a:t>
            </a:r>
            <a:r>
              <a:rPr sz="2200" spc="-5" dirty="0">
                <a:latin typeface="Carlito"/>
                <a:cs typeface="Carlito"/>
              </a:rPr>
              <a:t>x is a</a:t>
            </a:r>
            <a:r>
              <a:rPr sz="2200" spc="-10" dirty="0">
                <a:latin typeface="Carlito"/>
                <a:cs typeface="Carlito"/>
              </a:rPr>
              <a:t> String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140" y="4366042"/>
            <a:ext cx="7677150" cy="20612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300" b="1" spc="-10" dirty="0">
                <a:solidFill>
                  <a:srgbClr val="006FC0"/>
                </a:solidFill>
                <a:latin typeface="Carlito"/>
                <a:cs typeface="Carlito"/>
              </a:rPr>
              <a:t>JavaScript</a:t>
            </a:r>
            <a:r>
              <a:rPr sz="3300" b="1" spc="-3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300" b="1" dirty="0">
                <a:solidFill>
                  <a:srgbClr val="006FC0"/>
                </a:solidFill>
                <a:latin typeface="Carlito"/>
                <a:cs typeface="Carlito"/>
              </a:rPr>
              <a:t>Strings</a:t>
            </a:r>
            <a:endParaRPr sz="3300">
              <a:latin typeface="Carlito"/>
              <a:cs typeface="Carlito"/>
            </a:endParaRPr>
          </a:p>
          <a:p>
            <a:pPr marL="355600" marR="65405" indent="-343535">
              <a:lnSpc>
                <a:spcPts val="259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string </a:t>
            </a:r>
            <a:r>
              <a:rPr sz="2400" dirty="0">
                <a:latin typeface="Carlito"/>
                <a:cs typeface="Carlito"/>
              </a:rPr>
              <a:t>is a </a:t>
            </a:r>
            <a:r>
              <a:rPr sz="2400" spc="-10" dirty="0">
                <a:latin typeface="Carlito"/>
                <a:cs typeface="Carlito"/>
              </a:rPr>
              <a:t>variable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20" dirty="0">
                <a:latin typeface="Carlito"/>
                <a:cs typeface="Carlito"/>
              </a:rPr>
              <a:t>stores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series </a:t>
            </a:r>
            <a:r>
              <a:rPr sz="2400" spc="-10" dirty="0">
                <a:latin typeface="Carlito"/>
                <a:cs typeface="Carlito"/>
              </a:rPr>
              <a:t>of characters </a:t>
            </a:r>
            <a:r>
              <a:rPr sz="2400" spc="-20" dirty="0">
                <a:latin typeface="Carlito"/>
                <a:cs typeface="Carlito"/>
              </a:rPr>
              <a:t>like  </a:t>
            </a:r>
            <a:r>
              <a:rPr sz="2400" dirty="0">
                <a:latin typeface="Carlito"/>
                <a:cs typeface="Carlito"/>
              </a:rPr>
              <a:t>"John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Doe".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string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5" dirty="0">
                <a:latin typeface="Carlito"/>
                <a:cs typeface="Carlito"/>
              </a:rPr>
              <a:t>any text </a:t>
            </a:r>
            <a:r>
              <a:rPr sz="2400" dirty="0">
                <a:latin typeface="Carlito"/>
                <a:cs typeface="Carlito"/>
              </a:rPr>
              <a:t>inside </a:t>
            </a:r>
            <a:r>
              <a:rPr sz="2400" spc="-10" dirty="0">
                <a:latin typeface="Carlito"/>
                <a:cs typeface="Carlito"/>
              </a:rPr>
              <a:t>quotes. </a:t>
            </a:r>
            <a:r>
              <a:rPr sz="2400" spc="-7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can use single or  double</a:t>
            </a:r>
            <a:r>
              <a:rPr sz="2400" spc="-10" dirty="0">
                <a:latin typeface="Carlito"/>
                <a:cs typeface="Carlito"/>
              </a:rPr>
              <a:t> quotes: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01295"/>
            <a:ext cx="37579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6FC0"/>
                </a:solidFill>
              </a:rPr>
              <a:t>JavaScript</a:t>
            </a:r>
            <a:r>
              <a:rPr sz="3600" spc="-100" dirty="0">
                <a:solidFill>
                  <a:srgbClr val="006FC0"/>
                </a:solidFill>
              </a:rPr>
              <a:t> </a:t>
            </a:r>
            <a:r>
              <a:rPr sz="3600" spc="-5" dirty="0">
                <a:solidFill>
                  <a:srgbClr val="006FC0"/>
                </a:solidFill>
              </a:rPr>
              <a:t>Numbers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2140" y="699261"/>
            <a:ext cx="790130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5080" indent="-343535">
              <a:lnSpc>
                <a:spcPts val="3020"/>
              </a:lnSpc>
              <a:spcBef>
                <a:spcPts val="480"/>
              </a:spcBef>
            </a:pPr>
            <a:r>
              <a:rPr sz="2800" spc="-15" dirty="0">
                <a:latin typeface="Carlito"/>
                <a:cs typeface="Carlito"/>
              </a:rPr>
              <a:t>JavaScript </a:t>
            </a:r>
            <a:r>
              <a:rPr sz="2800" spc="-10" dirty="0">
                <a:latin typeface="Carlito"/>
                <a:cs typeface="Carlito"/>
              </a:rPr>
              <a:t>has only one </a:t>
            </a:r>
            <a:r>
              <a:rPr sz="2800" spc="-5" dirty="0">
                <a:latin typeface="Carlito"/>
                <a:cs typeface="Carlito"/>
              </a:rPr>
              <a:t>type of </a:t>
            </a:r>
            <a:r>
              <a:rPr sz="2800" spc="-15" dirty="0">
                <a:latin typeface="Carlito"/>
                <a:cs typeface="Carlito"/>
              </a:rPr>
              <a:t>numbers. </a:t>
            </a:r>
            <a:r>
              <a:rPr sz="2800" spc="-10" dirty="0">
                <a:latin typeface="Carlito"/>
                <a:cs typeface="Carlito"/>
              </a:rPr>
              <a:t>Numbers can 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5" dirty="0">
                <a:latin typeface="Carlito"/>
                <a:cs typeface="Carlito"/>
              </a:rPr>
              <a:t>written </a:t>
            </a:r>
            <a:r>
              <a:rPr sz="2800" spc="-5" dirty="0">
                <a:latin typeface="Carlito"/>
                <a:cs typeface="Carlito"/>
              </a:rPr>
              <a:t>with, or without</a:t>
            </a:r>
            <a:r>
              <a:rPr sz="2800" spc="4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decimals: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820" y="1549349"/>
            <a:ext cx="1692910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0"/>
              </a:lnSpc>
              <a:spcBef>
                <a:spcPts val="100"/>
              </a:spcBef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</a:t>
            </a:r>
            <a:r>
              <a:rPr sz="2400" spc="-7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x1=34.00;</a:t>
            </a:r>
            <a:endParaRPr sz="2400">
              <a:latin typeface="Carlito"/>
              <a:cs typeface="Carlito"/>
            </a:endParaRPr>
          </a:p>
          <a:p>
            <a:pPr marL="13970">
              <a:lnSpc>
                <a:spcPts val="2740"/>
              </a:lnSpc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x2=34;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1530" y="1549349"/>
            <a:ext cx="340804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9690" algn="ctr">
              <a:lnSpc>
                <a:spcPts val="2740"/>
              </a:lnSpc>
              <a:spcBef>
                <a:spcPts val="100"/>
              </a:spcBef>
            </a:pPr>
            <a:r>
              <a:rPr sz="2400" spc="-20" dirty="0">
                <a:solidFill>
                  <a:srgbClr val="FF0000"/>
                </a:solidFill>
                <a:latin typeface="Carlito"/>
                <a:cs typeface="Carlito"/>
              </a:rPr>
              <a:t>//Written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with</a:t>
            </a:r>
            <a:r>
              <a:rPr sz="240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decimals</a:t>
            </a:r>
            <a:endParaRPr sz="2400">
              <a:latin typeface="Carlito"/>
              <a:cs typeface="Carlito"/>
            </a:endParaRPr>
          </a:p>
          <a:p>
            <a:pPr algn="ctr">
              <a:lnSpc>
                <a:spcPts val="2740"/>
              </a:lnSpc>
            </a:pPr>
            <a:r>
              <a:rPr sz="2400" spc="-20" dirty="0">
                <a:solidFill>
                  <a:srgbClr val="FF0000"/>
                </a:solidFill>
                <a:latin typeface="Carlito"/>
                <a:cs typeface="Carlito"/>
              </a:rPr>
              <a:t>//Written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without</a:t>
            </a:r>
            <a:r>
              <a:rPr sz="2400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decimals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140" y="2281554"/>
            <a:ext cx="78752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353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latin typeface="Carlito"/>
                <a:cs typeface="Carlito"/>
              </a:rPr>
              <a:t>Extra </a:t>
            </a:r>
            <a:r>
              <a:rPr sz="2400" spc="-15" dirty="0">
                <a:latin typeface="Carlito"/>
                <a:cs typeface="Carlito"/>
              </a:rPr>
              <a:t>large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5" dirty="0">
                <a:latin typeface="Carlito"/>
                <a:cs typeface="Carlito"/>
              </a:rPr>
              <a:t>extra </a:t>
            </a:r>
            <a:r>
              <a:rPr sz="2400" spc="-5" dirty="0">
                <a:latin typeface="Carlito"/>
                <a:cs typeface="Carlito"/>
              </a:rPr>
              <a:t>small </a:t>
            </a:r>
            <a:r>
              <a:rPr sz="2400" spc="-10" dirty="0">
                <a:latin typeface="Carlito"/>
                <a:cs typeface="Carlito"/>
              </a:rPr>
              <a:t>numbers can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written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scientific  </a:t>
            </a:r>
            <a:r>
              <a:rPr sz="2400" spc="-10" dirty="0">
                <a:latin typeface="Carlito"/>
                <a:cs typeface="Carlito"/>
              </a:rPr>
              <a:t>(exponential)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notation.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3820" y="3012770"/>
            <a:ext cx="169608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</a:t>
            </a:r>
            <a:r>
              <a:rPr sz="2400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y=123e5;</a:t>
            </a:r>
            <a:endParaRPr sz="2400">
              <a:latin typeface="Carlito"/>
              <a:cs typeface="Carlito"/>
            </a:endParaRPr>
          </a:p>
          <a:p>
            <a:pPr marL="13970">
              <a:lnSpc>
                <a:spcPts val="2735"/>
              </a:lnSpc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</a:t>
            </a:r>
            <a:r>
              <a:rPr sz="2400" spc="-6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z=123e-5;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8210" y="3012770"/>
            <a:ext cx="1561465" cy="721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//</a:t>
            </a:r>
            <a:r>
              <a:rPr sz="2400" spc="-9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12300000</a:t>
            </a:r>
            <a:endParaRPr sz="2400">
              <a:latin typeface="Carlito"/>
              <a:cs typeface="Carlito"/>
            </a:endParaRPr>
          </a:p>
          <a:p>
            <a:pPr marL="21590">
              <a:lnSpc>
                <a:spcPts val="2735"/>
              </a:lnSpc>
            </a:pP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//</a:t>
            </a:r>
            <a:r>
              <a:rPr sz="240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0.00123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3694791"/>
            <a:ext cx="7702550" cy="236791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3200" b="1" spc="-10" dirty="0">
                <a:solidFill>
                  <a:srgbClr val="006FC0"/>
                </a:solidFill>
                <a:latin typeface="Carlito"/>
                <a:cs typeface="Carlito"/>
              </a:rPr>
              <a:t>JavaScript</a:t>
            </a:r>
            <a:r>
              <a:rPr sz="3200" b="1" spc="-4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200" b="1" dirty="0">
                <a:solidFill>
                  <a:srgbClr val="006FC0"/>
                </a:solidFill>
                <a:latin typeface="Carlito"/>
                <a:cs typeface="Carlito"/>
              </a:rPr>
              <a:t>Booleans</a:t>
            </a:r>
            <a:endParaRPr sz="32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90100"/>
              </a:lnSpc>
              <a:spcBef>
                <a:spcPts val="615"/>
              </a:spcBef>
            </a:pPr>
            <a:r>
              <a:rPr sz="2400" dirty="0">
                <a:latin typeface="Carlito"/>
                <a:cs typeface="Carlito"/>
              </a:rPr>
              <a:t>Booleans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only </a:t>
            </a:r>
            <a:r>
              <a:rPr sz="2400" spc="-20" dirty="0">
                <a:latin typeface="Carlito"/>
                <a:cs typeface="Carlito"/>
              </a:rPr>
              <a:t>have </a:t>
            </a:r>
            <a:r>
              <a:rPr sz="2400" spc="-10" dirty="0">
                <a:latin typeface="Carlito"/>
                <a:cs typeface="Carlito"/>
              </a:rPr>
              <a:t>two values: </a:t>
            </a:r>
            <a:r>
              <a:rPr sz="2400" dirty="0">
                <a:latin typeface="Carlito"/>
                <a:cs typeface="Carlito"/>
              </a:rPr>
              <a:t>true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false. </a:t>
            </a:r>
            <a:r>
              <a:rPr sz="2400" dirty="0">
                <a:latin typeface="Carlito"/>
                <a:cs typeface="Carlito"/>
              </a:rPr>
              <a:t>Booleans </a:t>
            </a:r>
            <a:r>
              <a:rPr sz="2400" spc="-15" dirty="0">
                <a:latin typeface="Carlito"/>
                <a:cs typeface="Carlito"/>
              </a:rPr>
              <a:t>are  </a:t>
            </a:r>
            <a:r>
              <a:rPr sz="2400" spc="-10" dirty="0">
                <a:latin typeface="Carlito"/>
                <a:cs typeface="Carlito"/>
              </a:rPr>
              <a:t>often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conditional testing. </a:t>
            </a:r>
            <a:r>
              <a:rPr sz="2400" spc="-65" dirty="0">
                <a:latin typeface="Carlito"/>
                <a:cs typeface="Carlito"/>
              </a:rPr>
              <a:t>You </a:t>
            </a:r>
            <a:r>
              <a:rPr sz="2400" dirty="0">
                <a:latin typeface="Carlito"/>
                <a:cs typeface="Carlito"/>
              </a:rPr>
              <a:t>will learn </a:t>
            </a:r>
            <a:r>
              <a:rPr sz="2400" spc="-10" dirty="0">
                <a:latin typeface="Carlito"/>
                <a:cs typeface="Carlito"/>
              </a:rPr>
              <a:t>more </a:t>
            </a:r>
            <a:r>
              <a:rPr sz="2400" dirty="0">
                <a:latin typeface="Carlito"/>
                <a:cs typeface="Carlito"/>
              </a:rPr>
              <a:t>about  </a:t>
            </a:r>
            <a:r>
              <a:rPr sz="2400" spc="-10" dirty="0">
                <a:latin typeface="Carlito"/>
                <a:cs typeface="Carlito"/>
              </a:rPr>
              <a:t>conditional testing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10" dirty="0">
                <a:latin typeface="Carlito"/>
                <a:cs typeface="Carlito"/>
              </a:rPr>
              <a:t>later </a:t>
            </a:r>
            <a:r>
              <a:rPr sz="2400" spc="-5" dirty="0">
                <a:latin typeface="Carlito"/>
                <a:cs typeface="Carlito"/>
              </a:rPr>
              <a:t>chapter of </a:t>
            </a:r>
            <a:r>
              <a:rPr sz="2400" dirty="0">
                <a:latin typeface="Carlito"/>
                <a:cs typeface="Carlito"/>
              </a:rPr>
              <a:t>this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tutorial.</a:t>
            </a:r>
            <a:endParaRPr sz="2400">
              <a:latin typeface="Carlito"/>
              <a:cs typeface="Carlito"/>
            </a:endParaRPr>
          </a:p>
          <a:p>
            <a:pPr marL="355600" marR="6019165" indent="-1905" algn="just">
              <a:lnSpc>
                <a:spcPts val="2590"/>
              </a:lnSpc>
              <a:spcBef>
                <a:spcPts val="615"/>
              </a:spcBef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400" dirty="0">
                <a:solidFill>
                  <a:srgbClr val="FF0000"/>
                </a:solidFill>
                <a:latin typeface="Carlito"/>
                <a:cs typeface="Carlito"/>
              </a:rPr>
              <a:t>x=true  </a:t>
            </a: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</a:t>
            </a:r>
            <a:r>
              <a:rPr sz="2400" spc="-7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rlito"/>
                <a:cs typeface="Carlito"/>
              </a:rPr>
              <a:t>y=false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77495"/>
            <a:ext cx="32289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006FC0"/>
                </a:solidFill>
              </a:rPr>
              <a:t>JavaScript</a:t>
            </a:r>
            <a:r>
              <a:rPr sz="3600" spc="-90" dirty="0">
                <a:solidFill>
                  <a:srgbClr val="006FC0"/>
                </a:solidFill>
              </a:rPr>
              <a:t> </a:t>
            </a:r>
            <a:r>
              <a:rPr sz="3600" spc="-30" dirty="0">
                <a:solidFill>
                  <a:srgbClr val="006FC0"/>
                </a:solidFill>
              </a:rPr>
              <a:t>Arrays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2140" y="772414"/>
            <a:ext cx="7997190" cy="52882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09515" indent="-1905">
              <a:lnSpc>
                <a:spcPts val="2590"/>
              </a:lnSpc>
              <a:spcBef>
                <a:spcPts val="425"/>
              </a:spcBef>
            </a:pPr>
            <a:r>
              <a:rPr sz="2400" spc="-15" dirty="0">
                <a:latin typeface="Carlito"/>
                <a:cs typeface="Carlito"/>
              </a:rPr>
              <a:t>var </a:t>
            </a:r>
            <a:r>
              <a:rPr sz="2400" spc="-10" dirty="0">
                <a:latin typeface="Carlito"/>
                <a:cs typeface="Carlito"/>
              </a:rPr>
              <a:t>cars=new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Array();  </a:t>
            </a:r>
            <a:r>
              <a:rPr sz="2400" spc="-10" dirty="0">
                <a:latin typeface="Carlito"/>
                <a:cs typeface="Carlito"/>
              </a:rPr>
              <a:t>cars[0]="Saab";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ts val="2410"/>
              </a:lnSpc>
            </a:pPr>
            <a:r>
              <a:rPr sz="2400" spc="-20" dirty="0">
                <a:latin typeface="Carlito"/>
                <a:cs typeface="Carlito"/>
              </a:rPr>
              <a:t>cars[1]="Volvo";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ts val="2735"/>
              </a:lnSpc>
            </a:pPr>
            <a:r>
              <a:rPr sz="2400" spc="-10" dirty="0">
                <a:latin typeface="Carlito"/>
                <a:cs typeface="Carlito"/>
              </a:rPr>
              <a:t>cars[2]="BMW";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5" dirty="0">
                <a:solidFill>
                  <a:srgbClr val="006FC0"/>
                </a:solidFill>
                <a:latin typeface="Carlito"/>
                <a:cs typeface="Carlito"/>
              </a:rPr>
              <a:t>or </a:t>
            </a:r>
            <a:r>
              <a:rPr sz="2800" spc="-10" dirty="0">
                <a:solidFill>
                  <a:srgbClr val="006FC0"/>
                </a:solidFill>
                <a:latin typeface="Carlito"/>
                <a:cs typeface="Carlito"/>
              </a:rPr>
              <a:t>(condensed</a:t>
            </a:r>
            <a:r>
              <a:rPr sz="2800" spc="4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2800" spc="-20" dirty="0">
                <a:solidFill>
                  <a:srgbClr val="006FC0"/>
                </a:solidFill>
                <a:latin typeface="Carlito"/>
                <a:cs typeface="Carlito"/>
              </a:rPr>
              <a:t>array):</a:t>
            </a:r>
            <a:endParaRPr sz="28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295"/>
              </a:spcBef>
            </a:pP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var cars=new</a:t>
            </a:r>
            <a:r>
              <a:rPr sz="2000" spc="1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Array("Saab","Volvo","BMW");</a:t>
            </a:r>
            <a:endParaRPr sz="20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330"/>
              </a:spcBef>
            </a:pPr>
            <a:r>
              <a:rPr sz="3600" b="1" spc="-10" dirty="0">
                <a:solidFill>
                  <a:srgbClr val="006FC0"/>
                </a:solidFill>
                <a:latin typeface="Carlito"/>
                <a:cs typeface="Carlito"/>
              </a:rPr>
              <a:t>JavaScript</a:t>
            </a:r>
            <a:r>
              <a:rPr sz="3600" b="1" spc="-4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006FC0"/>
                </a:solidFill>
                <a:latin typeface="Carlito"/>
                <a:cs typeface="Carlito"/>
              </a:rPr>
              <a:t>Objects</a:t>
            </a:r>
            <a:endParaRPr sz="3600">
              <a:latin typeface="Carlito"/>
              <a:cs typeface="Carlito"/>
            </a:endParaRPr>
          </a:p>
          <a:p>
            <a:pPr marL="355600" marR="5080" indent="-343535" algn="just">
              <a:lnSpc>
                <a:spcPts val="2590"/>
              </a:lnSpc>
              <a:spcBef>
                <a:spcPts val="690"/>
              </a:spcBef>
            </a:pP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object </a:t>
            </a:r>
            <a:r>
              <a:rPr sz="2400" spc="-10" dirty="0">
                <a:latin typeface="Carlito"/>
                <a:cs typeface="Carlito"/>
              </a:rPr>
              <a:t>is delimited by </a:t>
            </a:r>
            <a:r>
              <a:rPr sz="2400" dirty="0">
                <a:latin typeface="Carlito"/>
                <a:cs typeface="Carlito"/>
              </a:rPr>
              <a:t>curly </a:t>
            </a:r>
            <a:r>
              <a:rPr sz="2400" spc="-10" dirty="0">
                <a:latin typeface="Carlito"/>
                <a:cs typeface="Carlito"/>
              </a:rPr>
              <a:t>braces. </a:t>
            </a:r>
            <a:r>
              <a:rPr sz="2400" spc="-5" dirty="0">
                <a:latin typeface="Carlito"/>
                <a:cs typeface="Carlito"/>
              </a:rPr>
              <a:t>Inside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braces </a:t>
            </a:r>
            <a:r>
              <a:rPr sz="2400" dirty="0">
                <a:latin typeface="Carlito"/>
                <a:cs typeface="Carlito"/>
              </a:rPr>
              <a:t>the  </a:t>
            </a:r>
            <a:r>
              <a:rPr sz="2400" spc="-5" dirty="0">
                <a:latin typeface="Carlito"/>
                <a:cs typeface="Carlito"/>
              </a:rPr>
              <a:t>object's </a:t>
            </a: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defined </a:t>
            </a:r>
            <a:r>
              <a:rPr sz="2400" dirty="0">
                <a:latin typeface="Carlito"/>
                <a:cs typeface="Carlito"/>
              </a:rPr>
              <a:t>as </a:t>
            </a:r>
            <a:r>
              <a:rPr sz="2400" spc="-5" dirty="0">
                <a:latin typeface="Carlito"/>
                <a:cs typeface="Carlito"/>
              </a:rPr>
              <a:t>name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value pairs  </a:t>
            </a:r>
            <a:r>
              <a:rPr sz="2400" spc="-5" dirty="0">
                <a:latin typeface="Carlito"/>
                <a:cs typeface="Carlito"/>
              </a:rPr>
              <a:t>(name </a:t>
            </a:r>
            <a:r>
              <a:rPr sz="2400" dirty="0">
                <a:latin typeface="Carlito"/>
                <a:cs typeface="Carlito"/>
              </a:rPr>
              <a:t>: </a:t>
            </a:r>
            <a:r>
              <a:rPr sz="2400" spc="-5" dirty="0">
                <a:latin typeface="Carlito"/>
                <a:cs typeface="Carlito"/>
              </a:rPr>
              <a:t>value). The </a:t>
            </a: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spc="-15" dirty="0">
                <a:latin typeface="Carlito"/>
                <a:cs typeface="Carlito"/>
              </a:rPr>
              <a:t>are separated </a:t>
            </a:r>
            <a:r>
              <a:rPr sz="2400" spc="-10" dirty="0">
                <a:latin typeface="Carlito"/>
                <a:cs typeface="Carlito"/>
              </a:rPr>
              <a:t>by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commas:</a:t>
            </a:r>
            <a:endParaRPr sz="24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254"/>
              </a:spcBef>
            </a:pPr>
            <a:r>
              <a:rPr sz="24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person={firstname:"John", lastname:"Doe",</a:t>
            </a:r>
            <a:r>
              <a:rPr sz="2400" spc="-5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rlito"/>
                <a:cs typeface="Carlito"/>
              </a:rPr>
              <a:t>id:5566};</a:t>
            </a:r>
            <a:endParaRPr sz="2400">
              <a:latin typeface="Carlito"/>
              <a:cs typeface="Carlito"/>
            </a:endParaRPr>
          </a:p>
          <a:p>
            <a:pPr marL="447040" marR="3066415" indent="-21590">
              <a:lnSpc>
                <a:spcPts val="3560"/>
              </a:lnSpc>
              <a:spcBef>
                <a:spcPts val="1115"/>
              </a:spcBef>
            </a:pPr>
            <a:r>
              <a:rPr sz="3200" spc="-10" dirty="0">
                <a:solidFill>
                  <a:srgbClr val="FF0000"/>
                </a:solidFill>
                <a:latin typeface="Carlito"/>
                <a:cs typeface="Carlito"/>
              </a:rPr>
              <a:t>name=person.lastname;  </a:t>
            </a:r>
            <a:r>
              <a:rPr sz="3200" spc="-5" dirty="0">
                <a:solidFill>
                  <a:srgbClr val="FF0000"/>
                </a:solidFill>
                <a:latin typeface="Carlito"/>
                <a:cs typeface="Carlito"/>
              </a:rPr>
              <a:t>name=pe</a:t>
            </a:r>
            <a:r>
              <a:rPr sz="3200" spc="-70" dirty="0">
                <a:solidFill>
                  <a:srgbClr val="FF0000"/>
                </a:solidFill>
                <a:latin typeface="Carlito"/>
                <a:cs typeface="Carlito"/>
              </a:rPr>
              <a:t>r</a:t>
            </a:r>
            <a:r>
              <a:rPr sz="3200" spc="-5" dirty="0">
                <a:solidFill>
                  <a:srgbClr val="FF0000"/>
                </a:solidFill>
                <a:latin typeface="Carlito"/>
                <a:cs typeface="Carlito"/>
              </a:rPr>
              <a:t>son[</a:t>
            </a:r>
            <a:r>
              <a:rPr sz="3200" spc="10" dirty="0">
                <a:solidFill>
                  <a:srgbClr val="FF0000"/>
                </a:solidFill>
                <a:latin typeface="Carlito"/>
                <a:cs typeface="Carlito"/>
              </a:rPr>
              <a:t>"</a:t>
            </a:r>
            <a:r>
              <a:rPr sz="3200" dirty="0">
                <a:solidFill>
                  <a:srgbClr val="FF0000"/>
                </a:solidFill>
                <a:latin typeface="Carlito"/>
                <a:cs typeface="Carlito"/>
              </a:rPr>
              <a:t>la</a:t>
            </a:r>
            <a:r>
              <a:rPr sz="3200" spc="-45" dirty="0">
                <a:solidFill>
                  <a:srgbClr val="FF0000"/>
                </a:solidFill>
                <a:latin typeface="Carlito"/>
                <a:cs typeface="Carlito"/>
              </a:rPr>
              <a:t>s</a:t>
            </a:r>
            <a:r>
              <a:rPr sz="3200" dirty="0">
                <a:solidFill>
                  <a:srgbClr val="FF0000"/>
                </a:solidFill>
                <a:latin typeface="Carlito"/>
                <a:cs typeface="Carlito"/>
              </a:rPr>
              <a:t>tna</a:t>
            </a:r>
            <a:r>
              <a:rPr sz="3200" spc="-10" dirty="0">
                <a:solidFill>
                  <a:srgbClr val="FF0000"/>
                </a:solidFill>
                <a:latin typeface="Carlito"/>
                <a:cs typeface="Carlito"/>
              </a:rPr>
              <a:t>m</a:t>
            </a:r>
            <a:r>
              <a:rPr sz="3200" spc="-5" dirty="0">
                <a:solidFill>
                  <a:srgbClr val="FF0000"/>
                </a:solidFill>
                <a:latin typeface="Carlito"/>
                <a:cs typeface="Carlito"/>
              </a:rPr>
              <a:t>e</a:t>
            </a:r>
            <a:r>
              <a:rPr sz="3200" dirty="0">
                <a:solidFill>
                  <a:srgbClr val="FF0000"/>
                </a:solidFill>
                <a:latin typeface="Carlito"/>
                <a:cs typeface="Carlito"/>
              </a:rPr>
              <a:t>"</a:t>
            </a:r>
            <a:r>
              <a:rPr sz="3200" spc="10" dirty="0">
                <a:solidFill>
                  <a:srgbClr val="FF0000"/>
                </a:solidFill>
                <a:latin typeface="Carlito"/>
                <a:cs typeface="Carlito"/>
              </a:rPr>
              <a:t>]</a:t>
            </a:r>
            <a:r>
              <a:rPr sz="3200" dirty="0">
                <a:solidFill>
                  <a:srgbClr val="FF0000"/>
                </a:solidFill>
                <a:latin typeface="Carlito"/>
                <a:cs typeface="Carlito"/>
              </a:rPr>
              <a:t>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412750"/>
            <a:ext cx="341249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5" dirty="0">
                <a:solidFill>
                  <a:srgbClr val="006FC0"/>
                </a:solidFill>
              </a:rPr>
              <a:t>Undefined </a:t>
            </a:r>
            <a:r>
              <a:rPr sz="3300" dirty="0">
                <a:solidFill>
                  <a:srgbClr val="006FC0"/>
                </a:solidFill>
              </a:rPr>
              <a:t>and</a:t>
            </a:r>
            <a:r>
              <a:rPr sz="3300" spc="-50" dirty="0">
                <a:solidFill>
                  <a:srgbClr val="006FC0"/>
                </a:solidFill>
              </a:rPr>
              <a:t> </a:t>
            </a:r>
            <a:r>
              <a:rPr sz="3300" dirty="0">
                <a:solidFill>
                  <a:srgbClr val="006FC0"/>
                </a:solidFill>
              </a:rPr>
              <a:t>Null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612140" y="925728"/>
            <a:ext cx="7919084" cy="40906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10" dirty="0">
                <a:latin typeface="Carlito"/>
                <a:cs typeface="Carlito"/>
              </a:rPr>
              <a:t>Undefined </a:t>
            </a:r>
            <a:r>
              <a:rPr sz="2200" spc="-5" dirty="0">
                <a:latin typeface="Carlito"/>
                <a:cs typeface="Carlito"/>
              </a:rPr>
              <a:t>is the </a:t>
            </a:r>
            <a:r>
              <a:rPr sz="2200" spc="-10" dirty="0">
                <a:latin typeface="Carlito"/>
                <a:cs typeface="Carlito"/>
              </a:rPr>
              <a:t>value </a:t>
            </a:r>
            <a:r>
              <a:rPr sz="2200" spc="-5" dirty="0">
                <a:latin typeface="Carlito"/>
                <a:cs typeface="Carlito"/>
              </a:rPr>
              <a:t>of a </a:t>
            </a:r>
            <a:r>
              <a:rPr sz="2200" spc="-10" dirty="0">
                <a:latin typeface="Carlito"/>
                <a:cs typeface="Carlito"/>
              </a:rPr>
              <a:t>variable </a:t>
            </a:r>
            <a:r>
              <a:rPr sz="2200" spc="-5" dirty="0">
                <a:latin typeface="Carlito"/>
                <a:cs typeface="Carlito"/>
              </a:rPr>
              <a:t>with no</a:t>
            </a:r>
            <a:r>
              <a:rPr sz="2200" spc="3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value.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20" dirty="0">
                <a:latin typeface="Carlito"/>
                <a:cs typeface="Carlito"/>
              </a:rPr>
              <a:t>Variables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emptied </a:t>
            </a:r>
            <a:r>
              <a:rPr sz="2200" spc="-10" dirty="0">
                <a:latin typeface="Carlito"/>
                <a:cs typeface="Carlito"/>
              </a:rPr>
              <a:t>by setting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value </a:t>
            </a:r>
            <a:r>
              <a:rPr sz="2200" spc="-20" dirty="0">
                <a:latin typeface="Carlito"/>
                <a:cs typeface="Carlito"/>
              </a:rPr>
              <a:t>to</a:t>
            </a:r>
            <a:r>
              <a:rPr sz="2200" spc="135" dirty="0">
                <a:latin typeface="Carlito"/>
                <a:cs typeface="Carlito"/>
              </a:rPr>
              <a:t> </a:t>
            </a:r>
            <a:r>
              <a:rPr sz="2200" b="1" spc="-5" dirty="0">
                <a:latin typeface="Carlito"/>
                <a:cs typeface="Carlito"/>
              </a:rPr>
              <a:t>null.</a:t>
            </a:r>
            <a:endParaRPr sz="2200">
              <a:latin typeface="Carlito"/>
              <a:cs typeface="Carlito"/>
            </a:endParaRPr>
          </a:p>
          <a:p>
            <a:pPr marL="355600" marR="5877560" indent="1270">
              <a:lnSpc>
                <a:spcPts val="2920"/>
              </a:lnSpc>
              <a:spcBef>
                <a:spcPts val="969"/>
              </a:spcBef>
            </a:pPr>
            <a:r>
              <a:rPr sz="2600" spc="-10" dirty="0">
                <a:solidFill>
                  <a:srgbClr val="FF0000"/>
                </a:solidFill>
                <a:latin typeface="Carlito"/>
                <a:cs typeface="Carlito"/>
              </a:rPr>
              <a:t>cars=null;  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pe</a:t>
            </a:r>
            <a:r>
              <a:rPr sz="2600" spc="-50" dirty="0">
                <a:solidFill>
                  <a:srgbClr val="FF0000"/>
                </a:solidFill>
                <a:latin typeface="Carlito"/>
                <a:cs typeface="Carlito"/>
              </a:rPr>
              <a:t>r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son=null;</a:t>
            </a:r>
            <a:endParaRPr sz="2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3300" b="1" spc="-5" dirty="0">
                <a:solidFill>
                  <a:srgbClr val="006FC0"/>
                </a:solidFill>
                <a:latin typeface="Carlito"/>
                <a:cs typeface="Carlito"/>
              </a:rPr>
              <a:t>Declaring </a:t>
            </a:r>
            <a:r>
              <a:rPr sz="3300" b="1" spc="-20" dirty="0">
                <a:solidFill>
                  <a:srgbClr val="006FC0"/>
                </a:solidFill>
                <a:latin typeface="Carlito"/>
                <a:cs typeface="Carlito"/>
              </a:rPr>
              <a:t>Variable</a:t>
            </a:r>
            <a:r>
              <a:rPr sz="3300" b="1" spc="-3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300" b="1" spc="-25" dirty="0">
                <a:solidFill>
                  <a:srgbClr val="006FC0"/>
                </a:solidFill>
                <a:latin typeface="Carlito"/>
                <a:cs typeface="Carlito"/>
              </a:rPr>
              <a:t>Types</a:t>
            </a:r>
            <a:endParaRPr sz="3300">
              <a:latin typeface="Carlito"/>
              <a:cs typeface="Carlito"/>
            </a:endParaRPr>
          </a:p>
          <a:p>
            <a:pPr marL="12700">
              <a:lnSpc>
                <a:spcPts val="2735"/>
              </a:lnSpc>
              <a:spcBef>
                <a:spcPts val="345"/>
              </a:spcBef>
            </a:pP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declare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new </a:t>
            </a:r>
            <a:r>
              <a:rPr sz="2400" spc="-5" dirty="0">
                <a:latin typeface="Carlito"/>
                <a:cs typeface="Carlito"/>
              </a:rPr>
              <a:t>variable, </a:t>
            </a:r>
            <a:r>
              <a:rPr sz="2400" spc="-10" dirty="0">
                <a:latin typeface="Carlito"/>
                <a:cs typeface="Carlito"/>
              </a:rPr>
              <a:t>you can declare </a:t>
            </a:r>
            <a:r>
              <a:rPr sz="2400" dirty="0">
                <a:latin typeface="Carlito"/>
                <a:cs typeface="Carlito"/>
              </a:rPr>
              <a:t>its type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using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ts val="2735"/>
              </a:lnSpc>
            </a:pPr>
            <a:r>
              <a:rPr sz="2400" dirty="0">
                <a:latin typeface="Carlito"/>
                <a:cs typeface="Carlito"/>
              </a:rPr>
              <a:t>the "new"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keyword:</a:t>
            </a:r>
            <a:endParaRPr sz="2400">
              <a:latin typeface="Carlito"/>
              <a:cs typeface="Carlito"/>
            </a:endParaRPr>
          </a:p>
          <a:p>
            <a:pPr marL="355600" marR="62865" indent="-343535">
              <a:lnSpc>
                <a:spcPct val="107100"/>
              </a:lnSpc>
              <a:spcBef>
                <a:spcPts val="85"/>
              </a:spcBef>
            </a:pPr>
            <a:r>
              <a:rPr sz="2400" spc="-10" dirty="0">
                <a:latin typeface="Carlito"/>
                <a:cs typeface="Carlito"/>
              </a:rPr>
              <a:t>JavaScript variables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dirty="0">
                <a:latin typeface="Carlito"/>
                <a:cs typeface="Carlito"/>
              </a:rPr>
              <a:t>all </a:t>
            </a:r>
            <a:r>
              <a:rPr sz="2400" spc="-5" dirty="0">
                <a:latin typeface="Carlito"/>
                <a:cs typeface="Carlito"/>
              </a:rPr>
              <a:t>objects. </a:t>
            </a: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5" dirty="0">
                <a:latin typeface="Carlito"/>
                <a:cs typeface="Carlito"/>
              </a:rPr>
              <a:t>declare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variable  you </a:t>
            </a:r>
            <a:r>
              <a:rPr sz="2400" spc="-15" dirty="0">
                <a:latin typeface="Carlito"/>
                <a:cs typeface="Carlito"/>
              </a:rPr>
              <a:t>create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new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object.</a:t>
            </a:r>
            <a:endParaRPr sz="2400">
              <a:latin typeface="Carlito"/>
              <a:cs typeface="Carlito"/>
            </a:endParaRPr>
          </a:p>
          <a:p>
            <a:pPr marL="329565">
              <a:lnSpc>
                <a:spcPct val="100000"/>
              </a:lnSpc>
              <a:spcBef>
                <a:spcPts val="440"/>
              </a:spcBef>
            </a:pP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carname=new</a:t>
            </a:r>
            <a:r>
              <a:rPr sz="2200" spc="2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String;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5344" y="4958333"/>
            <a:ext cx="1029335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x= 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y= 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var</a:t>
            </a:r>
            <a:r>
              <a:rPr sz="2200" spc="-9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rlito"/>
                <a:cs typeface="Carlito"/>
              </a:rPr>
              <a:t>cars=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1426" y="4958333"/>
            <a:ext cx="1585595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8415" marR="5080" indent="-6350" algn="just">
              <a:lnSpc>
                <a:spcPts val="2380"/>
              </a:lnSpc>
              <a:spcBef>
                <a:spcPts val="390"/>
              </a:spcBef>
            </a:pP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new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Number; 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new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Boolean; 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new</a:t>
            </a:r>
            <a:r>
              <a:rPr sz="220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Array;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5344" y="5863538"/>
            <a:ext cx="27933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var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person= new</a:t>
            </a:r>
            <a:r>
              <a:rPr sz="220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Object;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417" y="464117"/>
            <a:ext cx="3852127" cy="1698943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JavaScript</a:t>
            </a:r>
            <a:r>
              <a:rPr sz="1154" b="1" u="sng" spc="-18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</a:t>
            </a:r>
            <a:r>
              <a:rPr sz="1154" b="1" u="sng" spc="-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6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Scope	</a:t>
            </a:r>
            <a:endParaRPr sz="1154">
              <a:latin typeface="Arial"/>
              <a:cs typeface="Arial"/>
            </a:endParaRPr>
          </a:p>
          <a:p>
            <a:pPr marL="19547" marR="17511" algn="just">
              <a:lnSpc>
                <a:spcPct val="108200"/>
              </a:lnSpc>
              <a:spcBef>
                <a:spcPts val="433"/>
              </a:spcBef>
            </a:pPr>
            <a:r>
              <a:rPr sz="705" dirty="0">
                <a:latin typeface="Verdana"/>
                <a:cs typeface="Verdana"/>
              </a:rPr>
              <a:t>The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scope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of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variable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6" dirty="0">
                <a:latin typeface="Verdana"/>
                <a:cs typeface="Verdana"/>
              </a:rPr>
              <a:t>is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region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of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your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program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which</a:t>
            </a:r>
            <a:r>
              <a:rPr sz="705" spc="-29" dirty="0">
                <a:latin typeface="Verdana"/>
                <a:cs typeface="Verdana"/>
              </a:rPr>
              <a:t> </a:t>
            </a:r>
            <a:r>
              <a:rPr sz="705" spc="-6" dirty="0">
                <a:latin typeface="Verdana"/>
                <a:cs typeface="Verdana"/>
              </a:rPr>
              <a:t>it</a:t>
            </a:r>
            <a:r>
              <a:rPr sz="705" spc="-29" dirty="0">
                <a:latin typeface="Verdana"/>
                <a:cs typeface="Verdana"/>
              </a:rPr>
              <a:t> </a:t>
            </a:r>
            <a:r>
              <a:rPr sz="705" spc="-6" dirty="0">
                <a:latin typeface="Verdana"/>
                <a:cs typeface="Verdana"/>
              </a:rPr>
              <a:t>is</a:t>
            </a:r>
            <a:r>
              <a:rPr sz="705" spc="-29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defined.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  variables have only </a:t>
            </a:r>
            <a:r>
              <a:rPr sz="705" dirty="0">
                <a:latin typeface="Verdana"/>
                <a:cs typeface="Verdana"/>
              </a:rPr>
              <a:t>two</a:t>
            </a:r>
            <a:r>
              <a:rPr sz="705" spc="-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scopes.</a:t>
            </a:r>
            <a:endParaRPr sz="705">
              <a:latin typeface="Verdana"/>
              <a:cs typeface="Verdana"/>
            </a:endParaRPr>
          </a:p>
          <a:p>
            <a:pPr marL="312749" marR="15067" indent="-146601">
              <a:lnSpc>
                <a:spcPct val="108200"/>
              </a:lnSpc>
              <a:spcBef>
                <a:spcPts val="532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b="1" spc="-3" dirty="0">
                <a:latin typeface="Verdana"/>
                <a:cs typeface="Verdana"/>
              </a:rPr>
              <a:t>Global Variables: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global variable has global </a:t>
            </a:r>
            <a:r>
              <a:rPr sz="705" dirty="0">
                <a:latin typeface="Verdana"/>
                <a:cs typeface="Verdana"/>
              </a:rPr>
              <a:t>scope </a:t>
            </a:r>
            <a:r>
              <a:rPr sz="705" spc="-3" dirty="0">
                <a:latin typeface="Verdana"/>
                <a:cs typeface="Verdana"/>
              </a:rPr>
              <a:t>which </a:t>
            </a:r>
            <a:r>
              <a:rPr sz="705" dirty="0">
                <a:latin typeface="Verdana"/>
                <a:cs typeface="Verdana"/>
              </a:rPr>
              <a:t>means </a:t>
            </a:r>
            <a:r>
              <a:rPr sz="705" spc="-6" dirty="0">
                <a:latin typeface="Verdana"/>
                <a:cs typeface="Verdana"/>
              </a:rPr>
              <a:t>it </a:t>
            </a:r>
            <a:r>
              <a:rPr sz="705" dirty="0">
                <a:latin typeface="Verdana"/>
                <a:cs typeface="Verdana"/>
              </a:rPr>
              <a:t>can </a:t>
            </a:r>
            <a:r>
              <a:rPr sz="705" spc="-3" dirty="0">
                <a:latin typeface="Verdana"/>
                <a:cs typeface="Verdana"/>
              </a:rPr>
              <a:t>be  defined anywhere </a:t>
            </a:r>
            <a:r>
              <a:rPr sz="705" spc="-6" dirty="0">
                <a:latin typeface="Verdana"/>
                <a:cs typeface="Verdana"/>
              </a:rPr>
              <a:t>in </a:t>
            </a:r>
            <a:r>
              <a:rPr sz="705" dirty="0">
                <a:latin typeface="Verdana"/>
                <a:cs typeface="Verdana"/>
              </a:rPr>
              <a:t>your </a:t>
            </a:r>
            <a:r>
              <a:rPr sz="705" spc="-3" dirty="0">
                <a:latin typeface="Verdana"/>
                <a:cs typeface="Verdana"/>
              </a:rPr>
              <a:t>JavaScript </a:t>
            </a:r>
            <a:r>
              <a:rPr sz="705" dirty="0">
                <a:latin typeface="Verdana"/>
                <a:cs typeface="Verdana"/>
              </a:rPr>
              <a:t>code.</a:t>
            </a:r>
            <a:endParaRPr sz="705">
              <a:latin typeface="Verdana"/>
              <a:cs typeface="Verdana"/>
            </a:endParaRPr>
          </a:p>
          <a:p>
            <a:pPr marL="312749" marR="17103" indent="-146601">
              <a:lnSpc>
                <a:spcPct val="108200"/>
              </a:lnSpc>
              <a:spcBef>
                <a:spcPts val="529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b="1" spc="-3" dirty="0">
                <a:latin typeface="Verdana"/>
                <a:cs typeface="Verdana"/>
              </a:rPr>
              <a:t>Local Variables: </a:t>
            </a:r>
            <a:r>
              <a:rPr sz="705" dirty="0">
                <a:latin typeface="Verdana"/>
                <a:cs typeface="Verdana"/>
              </a:rPr>
              <a:t>A local </a:t>
            </a:r>
            <a:r>
              <a:rPr sz="705" spc="-3" dirty="0">
                <a:latin typeface="Verdana"/>
                <a:cs typeface="Verdana"/>
              </a:rPr>
              <a:t>variable will be visible </a:t>
            </a:r>
            <a:r>
              <a:rPr sz="705" dirty="0">
                <a:latin typeface="Verdana"/>
                <a:cs typeface="Verdana"/>
              </a:rPr>
              <a:t>only</a:t>
            </a:r>
            <a:r>
              <a:rPr sz="705" spc="-180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within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function where </a:t>
            </a:r>
            <a:r>
              <a:rPr sz="705" spc="-6" dirty="0">
                <a:latin typeface="Verdana"/>
                <a:cs typeface="Verdana"/>
              </a:rPr>
              <a:t>it  is </a:t>
            </a:r>
            <a:r>
              <a:rPr sz="705" spc="-3" dirty="0">
                <a:latin typeface="Verdana"/>
                <a:cs typeface="Verdana"/>
              </a:rPr>
              <a:t>defined. Function </a:t>
            </a:r>
            <a:r>
              <a:rPr sz="705" dirty="0">
                <a:latin typeface="Verdana"/>
                <a:cs typeface="Verdana"/>
              </a:rPr>
              <a:t>parameters </a:t>
            </a:r>
            <a:r>
              <a:rPr sz="705" spc="-3" dirty="0">
                <a:latin typeface="Verdana"/>
                <a:cs typeface="Verdana"/>
              </a:rPr>
              <a:t>are </a:t>
            </a:r>
            <a:r>
              <a:rPr sz="705" spc="-6" dirty="0">
                <a:latin typeface="Verdana"/>
                <a:cs typeface="Verdana"/>
              </a:rPr>
              <a:t>always </a:t>
            </a:r>
            <a:r>
              <a:rPr sz="705" dirty="0">
                <a:latin typeface="Verdana"/>
                <a:cs typeface="Verdana"/>
              </a:rPr>
              <a:t>local </a:t>
            </a:r>
            <a:r>
              <a:rPr sz="705" spc="-3" dirty="0">
                <a:latin typeface="Verdana"/>
                <a:cs typeface="Verdana"/>
              </a:rPr>
              <a:t>to </a:t>
            </a:r>
            <a:r>
              <a:rPr sz="705" dirty="0">
                <a:latin typeface="Verdana"/>
                <a:cs typeface="Verdana"/>
              </a:rPr>
              <a:t>that</a:t>
            </a:r>
            <a:r>
              <a:rPr sz="705" spc="13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function.</a:t>
            </a:r>
            <a:endParaRPr sz="705">
              <a:latin typeface="Verdana"/>
              <a:cs typeface="Verdana"/>
            </a:endParaRPr>
          </a:p>
          <a:p>
            <a:pPr marL="19547" marR="14253" algn="just">
              <a:lnSpc>
                <a:spcPct val="109200"/>
              </a:lnSpc>
              <a:spcBef>
                <a:spcPts val="523"/>
              </a:spcBef>
            </a:pPr>
            <a:r>
              <a:rPr sz="705" spc="-3" dirty="0">
                <a:latin typeface="Verdana"/>
                <a:cs typeface="Verdana"/>
              </a:rPr>
              <a:t>Within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body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of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</a:t>
            </a:r>
            <a:r>
              <a:rPr sz="705" spc="-3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function,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</a:t>
            </a:r>
            <a:r>
              <a:rPr sz="705" spc="-3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local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variable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takes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precedence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over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global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variable  with the </a:t>
            </a:r>
            <a:r>
              <a:rPr sz="705" dirty="0">
                <a:latin typeface="Verdana"/>
                <a:cs typeface="Verdana"/>
              </a:rPr>
              <a:t>same </a:t>
            </a:r>
            <a:r>
              <a:rPr sz="705" spc="-3" dirty="0">
                <a:latin typeface="Verdana"/>
                <a:cs typeface="Verdana"/>
              </a:rPr>
              <a:t>name. </a:t>
            </a:r>
            <a:r>
              <a:rPr sz="705" dirty="0">
                <a:latin typeface="Verdana"/>
                <a:cs typeface="Verdana"/>
              </a:rPr>
              <a:t>If </a:t>
            </a:r>
            <a:r>
              <a:rPr sz="705" spc="-3" dirty="0">
                <a:latin typeface="Verdana"/>
                <a:cs typeface="Verdana"/>
              </a:rPr>
              <a:t>you declare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local variable </a:t>
            </a:r>
            <a:r>
              <a:rPr sz="705" dirty="0">
                <a:latin typeface="Verdana"/>
                <a:cs typeface="Verdana"/>
              </a:rPr>
              <a:t>or </a:t>
            </a:r>
            <a:r>
              <a:rPr sz="705" spc="-3" dirty="0">
                <a:latin typeface="Verdana"/>
                <a:cs typeface="Verdana"/>
              </a:rPr>
              <a:t>function parameter with the  </a:t>
            </a:r>
            <a:r>
              <a:rPr sz="705" dirty="0">
                <a:latin typeface="Verdana"/>
                <a:cs typeface="Verdana"/>
              </a:rPr>
              <a:t>same </a:t>
            </a:r>
            <a:r>
              <a:rPr sz="705" spc="-3" dirty="0">
                <a:latin typeface="Verdana"/>
                <a:cs typeface="Verdana"/>
              </a:rPr>
              <a:t>name as </a:t>
            </a:r>
            <a:r>
              <a:rPr sz="705" dirty="0">
                <a:latin typeface="Verdana"/>
                <a:cs typeface="Verdana"/>
              </a:rPr>
              <a:t>a global </a:t>
            </a:r>
            <a:r>
              <a:rPr sz="705" spc="-3" dirty="0">
                <a:latin typeface="Verdana"/>
                <a:cs typeface="Verdana"/>
              </a:rPr>
              <a:t>variable, you effectively hide the </a:t>
            </a:r>
            <a:r>
              <a:rPr sz="705" dirty="0">
                <a:latin typeface="Verdana"/>
                <a:cs typeface="Verdana"/>
              </a:rPr>
              <a:t>global variable. </a:t>
            </a:r>
            <a:r>
              <a:rPr sz="705" spc="-3" dirty="0">
                <a:latin typeface="Verdana"/>
                <a:cs typeface="Verdana"/>
              </a:rPr>
              <a:t>Take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look  into the following</a:t>
            </a:r>
            <a:r>
              <a:rPr sz="705" spc="-6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example.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2381" y="2254262"/>
            <a:ext cx="3820362" cy="1452309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 marR="1292533">
              <a:lnSpc>
                <a:spcPct val="150900"/>
              </a:lnSpc>
              <a:spcBef>
                <a:spcPts val="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22" dirty="0">
                <a:latin typeface="Arial"/>
                <a:cs typeface="Arial"/>
              </a:rPr>
              <a:t>myVar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96" dirty="0">
                <a:latin typeface="Arial"/>
                <a:cs typeface="Arial"/>
              </a:rPr>
              <a:t>"global"; </a:t>
            </a:r>
            <a:r>
              <a:rPr sz="705" spc="192" dirty="0">
                <a:latin typeface="Arial"/>
                <a:cs typeface="Arial"/>
              </a:rPr>
              <a:t>// </a:t>
            </a:r>
            <a:r>
              <a:rPr sz="705" spc="38" dirty="0">
                <a:latin typeface="Arial"/>
                <a:cs typeface="Arial"/>
              </a:rPr>
              <a:t>Declare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71" dirty="0">
                <a:latin typeface="Arial"/>
                <a:cs typeface="Arial"/>
              </a:rPr>
              <a:t>global </a:t>
            </a:r>
            <a:r>
              <a:rPr sz="705" spc="77" dirty="0">
                <a:latin typeface="Arial"/>
                <a:cs typeface="Arial"/>
              </a:rPr>
              <a:t>variable  function </a:t>
            </a:r>
            <a:r>
              <a:rPr sz="705" spc="26" dirty="0">
                <a:latin typeface="Arial"/>
                <a:cs typeface="Arial"/>
              </a:rPr>
              <a:t>checkscope( </a:t>
            </a:r>
            <a:r>
              <a:rPr sz="705" spc="154" dirty="0">
                <a:latin typeface="Arial"/>
                <a:cs typeface="Arial"/>
              </a:rPr>
              <a:t>)</a:t>
            </a:r>
            <a:r>
              <a:rPr sz="705" spc="-35" dirty="0">
                <a:latin typeface="Arial"/>
                <a:cs typeface="Arial"/>
              </a:rPr>
              <a:t> </a:t>
            </a:r>
            <a:r>
              <a:rPr sz="705" spc="151" dirty="0">
                <a:latin typeface="Arial"/>
                <a:cs typeface="Arial"/>
              </a:rPr>
              <a:t>{</a:t>
            </a:r>
            <a:endParaRPr sz="705">
              <a:latin typeface="Arial"/>
              <a:cs typeface="Arial"/>
            </a:endParaRPr>
          </a:p>
          <a:p>
            <a:pPr marL="210943" marR="1193985">
              <a:lnSpc>
                <a:spcPts val="1276"/>
              </a:lnSpc>
              <a:spcBef>
                <a:spcPts val="106"/>
              </a:spcBef>
              <a:tabLst>
                <a:tab pos="1292127" algn="l"/>
              </a:tabLst>
            </a:pPr>
            <a:r>
              <a:rPr sz="705" spc="58" dirty="0">
                <a:latin typeface="Arial"/>
                <a:cs typeface="Arial"/>
              </a:rPr>
              <a:t>var  </a:t>
            </a:r>
            <a:r>
              <a:rPr sz="705" spc="-22" dirty="0">
                <a:latin typeface="Arial"/>
                <a:cs typeface="Arial"/>
              </a:rPr>
              <a:t>myVar</a:t>
            </a:r>
            <a:r>
              <a:rPr sz="705" spc="80" dirty="0">
                <a:latin typeface="Arial"/>
                <a:cs typeface="Arial"/>
              </a:rPr>
              <a:t>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9" dirty="0">
                <a:latin typeface="Arial"/>
                <a:cs typeface="Arial"/>
              </a:rPr>
              <a:t> </a:t>
            </a:r>
            <a:r>
              <a:rPr sz="705" spc="115" dirty="0">
                <a:latin typeface="Arial"/>
                <a:cs typeface="Arial"/>
              </a:rPr>
              <a:t>"local";	</a:t>
            </a:r>
            <a:r>
              <a:rPr sz="705" spc="192" dirty="0">
                <a:latin typeface="Arial"/>
                <a:cs typeface="Arial"/>
              </a:rPr>
              <a:t>// </a:t>
            </a:r>
            <a:r>
              <a:rPr sz="705" spc="35" dirty="0">
                <a:latin typeface="Arial"/>
                <a:cs typeface="Arial"/>
              </a:rPr>
              <a:t>Declare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93" dirty="0">
                <a:latin typeface="Arial"/>
                <a:cs typeface="Arial"/>
              </a:rPr>
              <a:t>local </a:t>
            </a:r>
            <a:r>
              <a:rPr sz="705" spc="77" dirty="0">
                <a:latin typeface="Arial"/>
                <a:cs typeface="Arial"/>
              </a:rPr>
              <a:t>variable  </a:t>
            </a:r>
            <a:r>
              <a:rPr sz="705" spc="45" dirty="0">
                <a:latin typeface="Arial"/>
                <a:cs typeface="Arial"/>
              </a:rPr>
              <a:t>document.write(myVar);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317"/>
              </a:spcBef>
            </a:pPr>
            <a:r>
              <a:rPr sz="705" spc="151" dirty="0">
                <a:latin typeface="Arial"/>
                <a:cs typeface="Arial"/>
              </a:rPr>
              <a:t>}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8145" y="3807167"/>
            <a:ext cx="1595585" cy="117127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dirty="0">
                <a:latin typeface="Verdana"/>
                <a:cs typeface="Verdana"/>
              </a:rPr>
              <a:t>It </a:t>
            </a:r>
            <a:r>
              <a:rPr sz="705" spc="-3" dirty="0">
                <a:latin typeface="Verdana"/>
                <a:cs typeface="Verdana"/>
              </a:rPr>
              <a:t>will </a:t>
            </a:r>
            <a:r>
              <a:rPr sz="705" dirty="0">
                <a:latin typeface="Verdana"/>
                <a:cs typeface="Verdana"/>
              </a:rPr>
              <a:t>produce </a:t>
            </a:r>
            <a:r>
              <a:rPr sz="705" spc="-3" dirty="0">
                <a:latin typeface="Verdana"/>
                <a:cs typeface="Verdana"/>
              </a:rPr>
              <a:t>the following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result: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2381" y="4001993"/>
            <a:ext cx="3820362" cy="15331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4390" rIns="0" bIns="0" rtlCol="0">
            <a:spAutoFit/>
          </a:bodyPr>
          <a:lstStyle/>
          <a:p>
            <a:pPr marL="62306">
              <a:spcBef>
                <a:spcPts val="350"/>
              </a:spcBef>
            </a:pPr>
            <a:r>
              <a:rPr sz="705" spc="48" dirty="0">
                <a:latin typeface="Arial"/>
                <a:cs typeface="Arial"/>
              </a:rPr>
              <a:t>Local</a:t>
            </a:r>
            <a:endParaRPr sz="705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6417" y="4557089"/>
            <a:ext cx="3852127" cy="462899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JavaScript</a:t>
            </a:r>
            <a:r>
              <a:rPr sz="1154" b="1" u="sng" spc="-27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Variable </a:t>
            </a:r>
            <a:r>
              <a:rPr sz="1154" b="1" u="sng" spc="-6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Names	</a:t>
            </a:r>
            <a:endParaRPr sz="1154">
              <a:latin typeface="Arial"/>
              <a:cs typeface="Arial"/>
            </a:endParaRPr>
          </a:p>
          <a:p>
            <a:pPr marL="19547">
              <a:spcBef>
                <a:spcPts val="503"/>
              </a:spcBef>
            </a:pPr>
            <a:r>
              <a:rPr sz="705" spc="-3" dirty="0">
                <a:latin typeface="Verdana"/>
                <a:cs typeface="Verdana"/>
              </a:rPr>
              <a:t>While naming your variables </a:t>
            </a:r>
            <a:r>
              <a:rPr sz="705" spc="-6" dirty="0">
                <a:latin typeface="Verdana"/>
                <a:cs typeface="Verdana"/>
              </a:rPr>
              <a:t>in </a:t>
            </a:r>
            <a:r>
              <a:rPr sz="705" spc="-3" dirty="0">
                <a:latin typeface="Verdana"/>
                <a:cs typeface="Verdana"/>
              </a:rPr>
              <a:t>JavaScript, keep the following rules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spc="5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mind.</a:t>
            </a:r>
            <a:endParaRPr sz="705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5961" y="0"/>
            <a:ext cx="2131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006FC0"/>
                </a:solidFill>
              </a:rPr>
              <a:t>Ope</a:t>
            </a:r>
            <a:r>
              <a:rPr spc="-90" dirty="0">
                <a:solidFill>
                  <a:srgbClr val="006FC0"/>
                </a:solidFill>
              </a:rPr>
              <a:t>r</a:t>
            </a:r>
            <a:r>
              <a:rPr spc="-50" dirty="0">
                <a:solidFill>
                  <a:srgbClr val="006FC0"/>
                </a:solidFill>
              </a:rPr>
              <a:t>at</a:t>
            </a:r>
            <a:r>
              <a:rPr spc="-5" dirty="0">
                <a:solidFill>
                  <a:srgbClr val="006FC0"/>
                </a:solidFill>
              </a:rPr>
              <a:t>o</a:t>
            </a:r>
            <a:r>
              <a:rPr spc="-60" dirty="0">
                <a:solidFill>
                  <a:srgbClr val="006FC0"/>
                </a:solidFill>
              </a:rPr>
              <a:t>r</a:t>
            </a:r>
            <a:r>
              <a:rPr spc="-5" dirty="0">
                <a:solidFill>
                  <a:srgbClr val="006FC0"/>
                </a:solidFill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546861"/>
            <a:ext cx="7881620" cy="570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Addition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(+)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10" dirty="0">
                <a:latin typeface="Carlito"/>
                <a:cs typeface="Carlito"/>
              </a:rPr>
              <a:t>Subtraction </a:t>
            </a:r>
            <a:r>
              <a:rPr sz="2700" spc="-5" dirty="0">
                <a:latin typeface="Carlito"/>
                <a:cs typeface="Carlito"/>
              </a:rPr>
              <a:t>(-)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Multiplication </a:t>
            </a:r>
            <a:r>
              <a:rPr sz="2700" spc="-10" dirty="0">
                <a:latin typeface="Carlito"/>
                <a:cs typeface="Carlito"/>
              </a:rPr>
              <a:t>(*)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Division</a:t>
            </a:r>
            <a:r>
              <a:rPr sz="2700" spc="-1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(/)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Modulus</a:t>
            </a:r>
            <a:r>
              <a:rPr sz="2700" spc="-2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(%)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String </a:t>
            </a:r>
            <a:r>
              <a:rPr sz="2700" spc="-15" dirty="0">
                <a:latin typeface="Carlito"/>
                <a:cs typeface="Carlito"/>
              </a:rPr>
              <a:t>concatenation </a:t>
            </a:r>
            <a:r>
              <a:rPr sz="2700" spc="-20" dirty="0">
                <a:latin typeface="Carlito"/>
                <a:cs typeface="Carlito"/>
              </a:rPr>
              <a:t>operator </a:t>
            </a:r>
            <a:r>
              <a:rPr sz="2700" dirty="0">
                <a:latin typeface="Carlito"/>
                <a:cs typeface="Carlito"/>
              </a:rPr>
              <a:t>is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“+”</a:t>
            </a:r>
            <a:endParaRPr sz="2700">
              <a:latin typeface="Carlito"/>
              <a:cs typeface="Carlito"/>
            </a:endParaRPr>
          </a:p>
          <a:p>
            <a:pPr marL="355600" marR="5080" indent="-343535">
              <a:lnSpc>
                <a:spcPts val="2590"/>
              </a:lnSpc>
              <a:spcBef>
                <a:spcPts val="6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10" dirty="0">
                <a:latin typeface="Carlito"/>
                <a:cs typeface="Carlito"/>
              </a:rPr>
              <a:t>Pre-increment </a:t>
            </a:r>
            <a:r>
              <a:rPr sz="2700" spc="-20" dirty="0">
                <a:latin typeface="Carlito"/>
                <a:cs typeface="Carlito"/>
              </a:rPr>
              <a:t>operator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post-increment </a:t>
            </a:r>
            <a:r>
              <a:rPr sz="2700" spc="-25" dirty="0">
                <a:latin typeface="Carlito"/>
                <a:cs typeface="Carlito"/>
              </a:rPr>
              <a:t>operators  </a:t>
            </a:r>
            <a:r>
              <a:rPr sz="2700" dirty="0">
                <a:latin typeface="Carlito"/>
                <a:cs typeface="Carlito"/>
              </a:rPr>
              <a:t>(++)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15" dirty="0">
                <a:latin typeface="Carlito"/>
                <a:cs typeface="Carlito"/>
              </a:rPr>
              <a:t>Pre-decrement </a:t>
            </a:r>
            <a:r>
              <a:rPr sz="2700" dirty="0">
                <a:latin typeface="Carlito"/>
                <a:cs typeface="Carlito"/>
              </a:rPr>
              <a:t>and </a:t>
            </a:r>
            <a:r>
              <a:rPr sz="2700" spc="-10" dirty="0">
                <a:latin typeface="Carlito"/>
                <a:cs typeface="Carlito"/>
              </a:rPr>
              <a:t>post-decrement </a:t>
            </a:r>
            <a:r>
              <a:rPr sz="2700" spc="-25" dirty="0">
                <a:latin typeface="Carlito"/>
                <a:cs typeface="Carlito"/>
              </a:rPr>
              <a:t>operators</a:t>
            </a:r>
            <a:r>
              <a:rPr sz="2700" spc="-8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(--)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25" dirty="0">
                <a:latin typeface="Carlito"/>
                <a:cs typeface="Carlito"/>
              </a:rPr>
              <a:t>NOT </a:t>
            </a:r>
            <a:r>
              <a:rPr sz="2700" dirty="0">
                <a:latin typeface="Carlito"/>
                <a:cs typeface="Carlito"/>
              </a:rPr>
              <a:t>( !</a:t>
            </a:r>
            <a:r>
              <a:rPr sz="2700" spc="-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AND </a:t>
            </a:r>
            <a:r>
              <a:rPr sz="2700" dirty="0">
                <a:latin typeface="Carlito"/>
                <a:cs typeface="Carlito"/>
              </a:rPr>
              <a:t>( </a:t>
            </a:r>
            <a:r>
              <a:rPr sz="2700" spc="-10" dirty="0">
                <a:latin typeface="Carlito"/>
                <a:cs typeface="Carlito"/>
              </a:rPr>
              <a:t>&amp;&amp;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OR </a:t>
            </a:r>
            <a:r>
              <a:rPr sz="2700" dirty="0">
                <a:latin typeface="Carlito"/>
                <a:cs typeface="Carlito"/>
              </a:rPr>
              <a:t>( </a:t>
            </a:r>
            <a:r>
              <a:rPr sz="2700" spc="-5" dirty="0">
                <a:latin typeface="Carlito"/>
                <a:cs typeface="Carlito"/>
              </a:rPr>
              <a:t>||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spc="-5" dirty="0">
                <a:latin typeface="Carlito"/>
                <a:cs typeface="Carlito"/>
              </a:rPr>
              <a:t>Identity </a:t>
            </a:r>
            <a:r>
              <a:rPr sz="2700" dirty="0">
                <a:latin typeface="Carlito"/>
                <a:cs typeface="Carlito"/>
              </a:rPr>
              <a:t>( </a:t>
            </a:r>
            <a:r>
              <a:rPr sz="2700" spc="-5" dirty="0">
                <a:latin typeface="Carlito"/>
                <a:cs typeface="Carlito"/>
              </a:rPr>
              <a:t>===</a:t>
            </a:r>
            <a:r>
              <a:rPr sz="2700" spc="-15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)</a:t>
            </a:r>
            <a:endParaRPr sz="27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700" dirty="0">
                <a:latin typeface="Carlito"/>
                <a:cs typeface="Carlito"/>
              </a:rPr>
              <a:t>Non </a:t>
            </a:r>
            <a:r>
              <a:rPr sz="2700" spc="-5" dirty="0">
                <a:latin typeface="Carlito"/>
                <a:cs typeface="Carlito"/>
              </a:rPr>
              <a:t>identity (!=</a:t>
            </a:r>
            <a:r>
              <a:rPr sz="2700" spc="-30" dirty="0">
                <a:latin typeface="Carlito"/>
                <a:cs typeface="Carlito"/>
              </a:rPr>
              <a:t> </a:t>
            </a:r>
            <a:r>
              <a:rPr sz="2700" dirty="0">
                <a:latin typeface="Carlito"/>
                <a:cs typeface="Carlito"/>
              </a:rPr>
              <a:t>)</a:t>
            </a:r>
            <a:endParaRPr sz="27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921437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606" y="0"/>
            <a:ext cx="6703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5" dirty="0"/>
              <a:t>Arithmetic</a:t>
            </a:r>
            <a:r>
              <a:rPr spc="-10" dirty="0"/>
              <a:t> </a:t>
            </a:r>
            <a:r>
              <a:rPr spc="-30" dirty="0"/>
              <a:t>Operators</a:t>
            </a:r>
          </a:p>
        </p:txBody>
      </p:sp>
      <p:sp>
        <p:nvSpPr>
          <p:cNvPr id="3" name="object 3"/>
          <p:cNvSpPr/>
          <p:nvPr/>
        </p:nvSpPr>
        <p:spPr>
          <a:xfrm>
            <a:off x="318291" y="853360"/>
            <a:ext cx="8216108" cy="5760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3287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417" y="1082803"/>
            <a:ext cx="3852127" cy="2462549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6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sz="1154" b="1" u="sng" spc="-1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3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1154" b="1" u="sng" spc="-1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</a:t>
            </a:r>
            <a:r>
              <a:rPr sz="1154" b="1" u="sng" spc="-17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Operator?	</a:t>
            </a:r>
            <a:endParaRPr sz="1154">
              <a:latin typeface="Arial"/>
              <a:cs typeface="Arial"/>
            </a:endParaRPr>
          </a:p>
          <a:p>
            <a:pPr marL="19547" marR="15475" algn="just">
              <a:lnSpc>
                <a:spcPct val="109100"/>
              </a:lnSpc>
              <a:spcBef>
                <a:spcPts val="426"/>
              </a:spcBef>
            </a:pPr>
            <a:r>
              <a:rPr sz="705" dirty="0">
                <a:latin typeface="Verdana"/>
                <a:cs typeface="Verdana"/>
              </a:rPr>
              <a:t>Let us </a:t>
            </a:r>
            <a:r>
              <a:rPr sz="705" spc="-3" dirty="0">
                <a:latin typeface="Verdana"/>
                <a:cs typeface="Verdana"/>
              </a:rPr>
              <a:t>take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6" dirty="0">
                <a:latin typeface="Verdana"/>
                <a:cs typeface="Verdana"/>
              </a:rPr>
              <a:t>simple </a:t>
            </a:r>
            <a:r>
              <a:rPr sz="705" spc="-3" dirty="0">
                <a:latin typeface="Verdana"/>
                <a:cs typeface="Verdana"/>
              </a:rPr>
              <a:t>expression </a:t>
            </a:r>
            <a:r>
              <a:rPr sz="705" b="1" dirty="0">
                <a:latin typeface="Verdana"/>
                <a:cs typeface="Verdana"/>
              </a:rPr>
              <a:t>4 + 5 is </a:t>
            </a:r>
            <a:r>
              <a:rPr sz="705" b="1" spc="-3" dirty="0">
                <a:latin typeface="Verdana"/>
                <a:cs typeface="Verdana"/>
              </a:rPr>
              <a:t>equal </a:t>
            </a:r>
            <a:r>
              <a:rPr sz="705" b="1" dirty="0">
                <a:latin typeface="Verdana"/>
                <a:cs typeface="Verdana"/>
              </a:rPr>
              <a:t>to 9</a:t>
            </a:r>
            <a:r>
              <a:rPr sz="705" dirty="0">
                <a:latin typeface="Verdana"/>
                <a:cs typeface="Verdana"/>
              </a:rPr>
              <a:t>. </a:t>
            </a:r>
            <a:r>
              <a:rPr sz="705" spc="-3" dirty="0">
                <a:latin typeface="Verdana"/>
                <a:cs typeface="Verdana"/>
              </a:rPr>
              <a:t>Here </a:t>
            </a:r>
            <a:r>
              <a:rPr sz="705" dirty="0">
                <a:latin typeface="Verdana"/>
                <a:cs typeface="Verdana"/>
              </a:rPr>
              <a:t>4 and 5 </a:t>
            </a:r>
            <a:r>
              <a:rPr sz="705" spc="-3" dirty="0">
                <a:latin typeface="Verdana"/>
                <a:cs typeface="Verdana"/>
              </a:rPr>
              <a:t>are called  </a:t>
            </a:r>
            <a:r>
              <a:rPr sz="705" b="1" spc="-3" dirty="0">
                <a:latin typeface="Verdana"/>
                <a:cs typeface="Verdana"/>
              </a:rPr>
              <a:t>operands </a:t>
            </a:r>
            <a:r>
              <a:rPr sz="705" spc="-3" dirty="0">
                <a:latin typeface="Verdana"/>
                <a:cs typeface="Verdana"/>
              </a:rPr>
              <a:t>and </a:t>
            </a:r>
            <a:r>
              <a:rPr sz="705" dirty="0">
                <a:latin typeface="Verdana"/>
                <a:cs typeface="Verdana"/>
              </a:rPr>
              <a:t>‘+’ </a:t>
            </a:r>
            <a:r>
              <a:rPr sz="705" spc="-6" dirty="0">
                <a:latin typeface="Verdana"/>
                <a:cs typeface="Verdana"/>
              </a:rPr>
              <a:t>is </a:t>
            </a:r>
            <a:r>
              <a:rPr sz="705" spc="-3" dirty="0">
                <a:latin typeface="Verdana"/>
                <a:cs typeface="Verdana"/>
              </a:rPr>
              <a:t>called the </a:t>
            </a:r>
            <a:r>
              <a:rPr sz="705" b="1" spc="-3" dirty="0">
                <a:latin typeface="Verdana"/>
                <a:cs typeface="Verdana"/>
              </a:rPr>
              <a:t>operator</a:t>
            </a:r>
            <a:r>
              <a:rPr sz="705" spc="-3" dirty="0">
                <a:latin typeface="Verdana"/>
                <a:cs typeface="Verdana"/>
              </a:rPr>
              <a:t>. JavaScript supports the following types </a:t>
            </a:r>
            <a:r>
              <a:rPr sz="705" dirty="0">
                <a:latin typeface="Verdana"/>
                <a:cs typeface="Verdana"/>
              </a:rPr>
              <a:t>of  operators.</a:t>
            </a:r>
            <a:endParaRPr sz="705">
              <a:latin typeface="Verdana"/>
              <a:cs typeface="Verdana"/>
            </a:endParaRPr>
          </a:p>
          <a:p>
            <a:pPr marL="312749" indent="-147008">
              <a:spcBef>
                <a:spcPts val="593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spc="-3" dirty="0">
                <a:latin typeface="Verdana"/>
                <a:cs typeface="Verdana"/>
              </a:rPr>
              <a:t>Arithmetic</a:t>
            </a:r>
            <a:r>
              <a:rPr sz="705" spc="-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</a:t>
            </a:r>
            <a:endParaRPr sz="705">
              <a:latin typeface="Verdana"/>
              <a:cs typeface="Verdana"/>
            </a:endParaRPr>
          </a:p>
          <a:p>
            <a:pPr marL="312749" indent="-147008">
              <a:spcBef>
                <a:spcPts val="593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spc="-3" dirty="0">
                <a:latin typeface="Verdana"/>
                <a:cs typeface="Verdana"/>
              </a:rPr>
              <a:t>Comparison</a:t>
            </a:r>
            <a:r>
              <a:rPr sz="705" spc="-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</a:t>
            </a:r>
            <a:endParaRPr sz="705">
              <a:latin typeface="Verdana"/>
              <a:cs typeface="Verdana"/>
            </a:endParaRPr>
          </a:p>
          <a:p>
            <a:pPr marL="312749" indent="-147008">
              <a:spcBef>
                <a:spcPts val="584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spc="-3" dirty="0">
                <a:latin typeface="Verdana"/>
                <a:cs typeface="Verdana"/>
              </a:rPr>
              <a:t>Logical </a:t>
            </a:r>
            <a:r>
              <a:rPr sz="705" dirty="0">
                <a:latin typeface="Verdana"/>
                <a:cs typeface="Verdana"/>
              </a:rPr>
              <a:t>(or </a:t>
            </a:r>
            <a:r>
              <a:rPr sz="705" spc="-3" dirty="0">
                <a:latin typeface="Verdana"/>
                <a:cs typeface="Verdana"/>
              </a:rPr>
              <a:t>Relational)</a:t>
            </a:r>
            <a:r>
              <a:rPr sz="705" spc="-13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</a:t>
            </a:r>
            <a:endParaRPr sz="705">
              <a:latin typeface="Verdana"/>
              <a:cs typeface="Verdana"/>
            </a:endParaRPr>
          </a:p>
          <a:p>
            <a:pPr marL="312749" indent="-147008">
              <a:spcBef>
                <a:spcPts val="593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spc="-3" dirty="0">
                <a:latin typeface="Verdana"/>
                <a:cs typeface="Verdana"/>
              </a:rPr>
              <a:t>Assignment</a:t>
            </a:r>
            <a:r>
              <a:rPr sz="705" spc="-10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</a:t>
            </a:r>
            <a:endParaRPr sz="705">
              <a:latin typeface="Verdana"/>
              <a:cs typeface="Verdana"/>
            </a:endParaRPr>
          </a:p>
          <a:p>
            <a:pPr marL="312749" indent="-147008">
              <a:spcBef>
                <a:spcPts val="593"/>
              </a:spcBef>
              <a:buFont typeface="Symbol"/>
              <a:buChar char=""/>
              <a:tabLst>
                <a:tab pos="312749" algn="l"/>
                <a:tab pos="313156" algn="l"/>
              </a:tabLst>
            </a:pPr>
            <a:r>
              <a:rPr sz="705" spc="-3" dirty="0">
                <a:latin typeface="Verdana"/>
                <a:cs typeface="Verdana"/>
              </a:rPr>
              <a:t>Conditional </a:t>
            </a:r>
            <a:r>
              <a:rPr sz="705" dirty="0">
                <a:latin typeface="Verdana"/>
                <a:cs typeface="Verdana"/>
              </a:rPr>
              <a:t>(or </a:t>
            </a:r>
            <a:r>
              <a:rPr sz="705" spc="-3" dirty="0">
                <a:latin typeface="Verdana"/>
                <a:cs typeface="Verdana"/>
              </a:rPr>
              <a:t>ternary)</a:t>
            </a:r>
            <a:r>
              <a:rPr sz="705" spc="-16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Operators</a:t>
            </a:r>
            <a:endParaRPr sz="705">
              <a:latin typeface="Verdana"/>
              <a:cs typeface="Verdana"/>
            </a:endParaRPr>
          </a:p>
          <a:p>
            <a:pPr marL="19547" algn="just">
              <a:spcBef>
                <a:spcPts val="593"/>
              </a:spcBef>
            </a:pPr>
            <a:r>
              <a:rPr sz="705" dirty="0">
                <a:latin typeface="Verdana"/>
                <a:cs typeface="Verdana"/>
              </a:rPr>
              <a:t>Let’s </a:t>
            </a:r>
            <a:r>
              <a:rPr sz="705" spc="-3" dirty="0">
                <a:latin typeface="Verdana"/>
                <a:cs typeface="Verdana"/>
              </a:rPr>
              <a:t>have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look at </a:t>
            </a:r>
            <a:r>
              <a:rPr sz="705" dirty="0">
                <a:latin typeface="Verdana"/>
                <a:cs typeface="Verdana"/>
              </a:rPr>
              <a:t>all </a:t>
            </a:r>
            <a:r>
              <a:rPr sz="705" spc="-3" dirty="0">
                <a:latin typeface="Verdana"/>
                <a:cs typeface="Verdana"/>
              </a:rPr>
              <a:t>the </a:t>
            </a:r>
            <a:r>
              <a:rPr sz="705" dirty="0">
                <a:latin typeface="Verdana"/>
                <a:cs typeface="Verdana"/>
              </a:rPr>
              <a:t>operators one </a:t>
            </a:r>
            <a:r>
              <a:rPr sz="705" spc="-3" dirty="0">
                <a:latin typeface="Verdana"/>
                <a:cs typeface="Verdana"/>
              </a:rPr>
              <a:t>by</a:t>
            </a:r>
            <a:r>
              <a:rPr sz="705" spc="-3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one.</a:t>
            </a:r>
            <a:endParaRPr sz="705">
              <a:latin typeface="Verdana"/>
              <a:cs typeface="Verdana"/>
            </a:endParaRPr>
          </a:p>
          <a:p>
            <a:pPr>
              <a:spcBef>
                <a:spcPts val="29"/>
              </a:spcBef>
            </a:pPr>
            <a:endParaRPr sz="930">
              <a:latin typeface="Verdana"/>
              <a:cs typeface="Verdana"/>
            </a:endParaRPr>
          </a:p>
          <a:p>
            <a:pPr marL="8145"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Arithmetic</a:t>
            </a:r>
            <a:r>
              <a:rPr sz="1154" b="1" u="sng" spc="-18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 marR="1177289">
              <a:lnSpc>
                <a:spcPts val="1443"/>
              </a:lnSpc>
              <a:spcBef>
                <a:spcPts val="45"/>
              </a:spcBef>
            </a:pPr>
            <a:r>
              <a:rPr sz="705" spc="-3" dirty="0">
                <a:latin typeface="Verdana"/>
                <a:cs typeface="Verdana"/>
              </a:rPr>
              <a:t>JavaScript supports </a:t>
            </a: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arithmetic </a:t>
            </a:r>
            <a:r>
              <a:rPr sz="705" dirty="0">
                <a:latin typeface="Verdana"/>
                <a:cs typeface="Verdana"/>
              </a:rPr>
              <a:t>operators:  Assume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A holds </a:t>
            </a:r>
            <a:r>
              <a:rPr sz="705" spc="-3" dirty="0">
                <a:latin typeface="Verdana"/>
                <a:cs typeface="Verdana"/>
              </a:rPr>
              <a:t>10 </a:t>
            </a:r>
            <a:r>
              <a:rPr sz="705" dirty="0">
                <a:latin typeface="Verdana"/>
                <a:cs typeface="Verdana"/>
              </a:rPr>
              <a:t>and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B </a:t>
            </a:r>
            <a:r>
              <a:rPr sz="705" spc="-3" dirty="0">
                <a:latin typeface="Verdana"/>
                <a:cs typeface="Verdana"/>
              </a:rPr>
              <a:t>holds </a:t>
            </a:r>
            <a:r>
              <a:rPr sz="705" dirty="0">
                <a:latin typeface="Verdana"/>
                <a:cs typeface="Verdana"/>
              </a:rPr>
              <a:t>20,</a:t>
            </a:r>
            <a:r>
              <a:rPr sz="705" spc="-2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then: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1250" y="3625699"/>
          <a:ext cx="3716514" cy="1480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210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</a:t>
                      </a:r>
                      <a:r>
                        <a:rPr sz="7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No.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+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(Addition)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Adds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+ B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will give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30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-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(Subtraction)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Subtracts the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second operand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from 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first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- B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will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give -10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6301975" y="4090366"/>
            <a:ext cx="1348794" cy="286045"/>
          </a:xfrm>
          <a:prstGeom prst="rect">
            <a:avLst/>
          </a:prstGeom>
        </p:spPr>
        <p:txBody>
          <a:bodyPr vert="horz" wrap="square" lIns="0" tIns="8959" rIns="0" bIns="0" rtlCol="0">
            <a:spAutoFit/>
          </a:bodyPr>
          <a:lstStyle/>
          <a:p>
            <a:pPr marL="24434">
              <a:spcBef>
                <a:spcPts val="71"/>
              </a:spcBef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799216"/>
              </p:ext>
            </p:extLst>
          </p:nvPr>
        </p:nvGraphicFramePr>
        <p:xfrm>
          <a:off x="2711250" y="586432"/>
          <a:ext cx="3716514" cy="3076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3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4490" algn="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*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(Multiplication)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Multiply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both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operands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* B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will give</a:t>
                      </a:r>
                      <a:r>
                        <a:rPr sz="7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200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7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4490" algn="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4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/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(Division)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Divide the numerator by the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denominator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 /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will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give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4490" algn="r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5" dirty="0">
                          <a:latin typeface="Verdana"/>
                          <a:cs typeface="Verdana"/>
                        </a:rPr>
                        <a:t>%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(Modulus)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Outputs the remainder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an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integer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division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 %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will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give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0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7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4490" algn="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6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++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(Increment)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Increases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integer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one</a:t>
                      </a: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A++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will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give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11</a:t>
                      </a: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9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364490" algn="r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7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--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(Decrement)</a:t>
                      </a:r>
                      <a:endParaRPr sz="700" dirty="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Decreases an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integer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one</a:t>
                      </a: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A-- will give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9</a:t>
                      </a: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58145" y="3650198"/>
            <a:ext cx="3826471" cy="53862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 marR="3258">
              <a:lnSpc>
                <a:spcPct val="109100"/>
              </a:lnSpc>
              <a:spcBef>
                <a:spcPts val="64"/>
              </a:spcBef>
            </a:pPr>
            <a:r>
              <a:rPr sz="705" b="1" dirty="0">
                <a:latin typeface="Verdana"/>
                <a:cs typeface="Verdana"/>
              </a:rPr>
              <a:t>Note: </a:t>
            </a:r>
            <a:r>
              <a:rPr sz="705" spc="-3" dirty="0">
                <a:latin typeface="Verdana"/>
                <a:cs typeface="Verdana"/>
              </a:rPr>
              <a:t>Addition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3" dirty="0">
                <a:latin typeface="Verdana"/>
                <a:cs typeface="Verdana"/>
              </a:rPr>
              <a:t>(</a:t>
            </a:r>
            <a:r>
              <a:rPr sz="705" b="1" spc="3" dirty="0">
                <a:latin typeface="Verdana"/>
                <a:cs typeface="Verdana"/>
              </a:rPr>
              <a:t>+</a:t>
            </a:r>
            <a:r>
              <a:rPr sz="705" spc="3" dirty="0">
                <a:latin typeface="Verdana"/>
                <a:cs typeface="Verdana"/>
              </a:rPr>
              <a:t>) </a:t>
            </a:r>
            <a:r>
              <a:rPr sz="705" spc="-3" dirty="0">
                <a:latin typeface="Verdana"/>
                <a:cs typeface="Verdana"/>
              </a:rPr>
              <a:t>works </a:t>
            </a:r>
            <a:r>
              <a:rPr sz="705" dirty="0">
                <a:latin typeface="Verdana"/>
                <a:cs typeface="Verdana"/>
              </a:rPr>
              <a:t>for </a:t>
            </a:r>
            <a:r>
              <a:rPr sz="705" spc="-3" dirty="0">
                <a:latin typeface="Verdana"/>
                <a:cs typeface="Verdana"/>
              </a:rPr>
              <a:t>Numeric as well as Strings. e.g. "a" </a:t>
            </a:r>
            <a:r>
              <a:rPr sz="705" dirty="0">
                <a:latin typeface="Verdana"/>
                <a:cs typeface="Verdana"/>
              </a:rPr>
              <a:t>+ </a:t>
            </a:r>
            <a:r>
              <a:rPr sz="705" spc="-3" dirty="0">
                <a:latin typeface="Verdana"/>
                <a:cs typeface="Verdana"/>
              </a:rPr>
              <a:t>10 will  give "a10".</a:t>
            </a:r>
            <a:endParaRPr sz="705">
              <a:latin typeface="Verdana"/>
              <a:cs typeface="Verdana"/>
            </a:endParaRPr>
          </a:p>
          <a:p>
            <a:pPr marL="8145">
              <a:spcBef>
                <a:spcPts val="552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>
              <a:spcBef>
                <a:spcPts val="48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</a:t>
            </a:r>
            <a:r>
              <a:rPr sz="705" dirty="0">
                <a:latin typeface="Verdana"/>
                <a:cs typeface="Verdana"/>
              </a:rPr>
              <a:t>code shows how </a:t>
            </a:r>
            <a:r>
              <a:rPr sz="705" spc="-3" dirty="0">
                <a:latin typeface="Verdana"/>
                <a:cs typeface="Verdana"/>
              </a:rPr>
              <a:t>to </a:t>
            </a:r>
            <a:r>
              <a:rPr sz="705" dirty="0">
                <a:latin typeface="Verdana"/>
                <a:cs typeface="Verdana"/>
              </a:rPr>
              <a:t>use </a:t>
            </a:r>
            <a:r>
              <a:rPr sz="705" spc="-3" dirty="0">
                <a:latin typeface="Verdana"/>
                <a:cs typeface="Verdana"/>
              </a:rPr>
              <a:t>arithmetic </a:t>
            </a:r>
            <a:r>
              <a:rPr sz="705" dirty="0">
                <a:latin typeface="Verdana"/>
                <a:cs typeface="Verdana"/>
              </a:rPr>
              <a:t>operators </a:t>
            </a:r>
            <a:r>
              <a:rPr sz="705" spc="-6" dirty="0">
                <a:latin typeface="Verdana"/>
                <a:cs typeface="Verdana"/>
              </a:rPr>
              <a:t>in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4262955"/>
            <a:ext cx="3820362" cy="966919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64" dirty="0">
                <a:latin typeface="Arial"/>
                <a:cs typeface="Arial"/>
              </a:rPr>
              <a:t> </a:t>
            </a:r>
            <a:r>
              <a:rPr sz="705" spc="58" dirty="0">
                <a:latin typeface="Arial"/>
                <a:cs typeface="Arial"/>
              </a:rPr>
              <a:t>33;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4335" y="586433"/>
            <a:ext cx="3816290" cy="4072"/>
          </a:xfrm>
          <a:custGeom>
            <a:avLst/>
            <a:gdLst/>
            <a:ahLst/>
            <a:cxnLst/>
            <a:rect l="l" t="t" r="r" b="b"/>
            <a:pathLst>
              <a:path w="5950584" h="6350">
                <a:moveTo>
                  <a:pt x="5950585" y="0"/>
                </a:moveTo>
                <a:lnTo>
                  <a:pt x="0" y="0"/>
                </a:lnTo>
                <a:lnTo>
                  <a:pt x="0" y="6096"/>
                </a:lnTo>
                <a:lnTo>
                  <a:pt x="5950585" y="6096"/>
                </a:lnTo>
                <a:lnTo>
                  <a:pt x="5950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2716789" y="569068"/>
            <a:ext cx="1541421" cy="4614935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 marR="789610">
              <a:lnSpc>
                <a:spcPct val="150900"/>
              </a:lnSpc>
              <a:spcBef>
                <a:spcPts val="64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8" dirty="0">
                <a:latin typeface="Arial"/>
                <a:cs typeface="Arial"/>
              </a:rPr>
              <a:t>10;  var </a:t>
            </a:r>
            <a:r>
              <a:rPr sz="705" spc="35" dirty="0">
                <a:latin typeface="Arial"/>
                <a:cs typeface="Arial"/>
              </a:rPr>
              <a:t>c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-61" dirty="0">
                <a:latin typeface="Arial"/>
                <a:cs typeface="Arial"/>
              </a:rPr>
              <a:t> </a:t>
            </a:r>
            <a:r>
              <a:rPr sz="705" spc="90" dirty="0">
                <a:latin typeface="Arial"/>
                <a:cs typeface="Arial"/>
              </a:rPr>
              <a:t>"Test";</a:t>
            </a:r>
            <a:endParaRPr sz="705">
              <a:latin typeface="Arial"/>
              <a:cs typeface="Arial"/>
            </a:endParaRPr>
          </a:p>
          <a:p>
            <a:pPr marL="8145">
              <a:spcBef>
                <a:spcPts val="430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45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199133">
              <a:lnSpc>
                <a:spcPct val="150900"/>
              </a:lnSpc>
              <a:spcBef>
                <a:spcPts val="459"/>
              </a:spcBef>
            </a:pPr>
            <a:r>
              <a:rPr sz="705" spc="51" dirty="0">
                <a:latin typeface="Arial"/>
                <a:cs typeface="Arial"/>
              </a:rPr>
              <a:t>document.write("a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90" dirty="0">
                <a:latin typeface="Arial"/>
                <a:cs typeface="Arial"/>
              </a:rPr>
              <a:t>b;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197504">
              <a:lnSpc>
                <a:spcPct val="150600"/>
              </a:lnSpc>
              <a:spcBef>
                <a:spcPts val="471"/>
              </a:spcBef>
            </a:pPr>
            <a:r>
              <a:rPr sz="705" spc="51" dirty="0">
                <a:latin typeface="Arial"/>
                <a:cs typeface="Arial"/>
              </a:rPr>
              <a:t>document.write("a </a:t>
            </a:r>
            <a:r>
              <a:rPr sz="705" spc="154" dirty="0">
                <a:latin typeface="Arial"/>
                <a:cs typeface="Arial"/>
              </a:rPr>
              <a:t>-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154" dirty="0">
                <a:latin typeface="Arial"/>
                <a:cs typeface="Arial"/>
              </a:rPr>
              <a:t>- </a:t>
            </a:r>
            <a:r>
              <a:rPr sz="705" spc="87" dirty="0">
                <a:latin typeface="Arial"/>
                <a:cs typeface="Arial"/>
              </a:rPr>
              <a:t>b;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198726">
              <a:lnSpc>
                <a:spcPct val="150700"/>
              </a:lnSpc>
              <a:spcBef>
                <a:spcPts val="468"/>
              </a:spcBef>
            </a:pPr>
            <a:r>
              <a:rPr sz="705" spc="51" dirty="0">
                <a:latin typeface="Arial"/>
                <a:cs typeface="Arial"/>
              </a:rPr>
              <a:t>document.write("a </a:t>
            </a:r>
            <a:r>
              <a:rPr sz="705" spc="192" dirty="0">
                <a:latin typeface="Arial"/>
                <a:cs typeface="Arial"/>
              </a:rPr>
              <a:t>/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192" dirty="0">
                <a:latin typeface="Arial"/>
                <a:cs typeface="Arial"/>
              </a:rPr>
              <a:t>/ </a:t>
            </a:r>
            <a:r>
              <a:rPr sz="705" spc="90" dirty="0">
                <a:latin typeface="Arial"/>
                <a:cs typeface="Arial"/>
              </a:rPr>
              <a:t>b;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199133">
              <a:lnSpc>
                <a:spcPct val="150600"/>
              </a:lnSpc>
              <a:spcBef>
                <a:spcPts val="468"/>
              </a:spcBef>
            </a:pPr>
            <a:r>
              <a:rPr sz="705" spc="51" dirty="0">
                <a:latin typeface="Arial"/>
                <a:cs typeface="Arial"/>
              </a:rPr>
              <a:t>document.write("a </a:t>
            </a:r>
            <a:r>
              <a:rPr sz="705" spc="-240" dirty="0">
                <a:latin typeface="Arial"/>
                <a:cs typeface="Arial"/>
              </a:rPr>
              <a:t>%</a:t>
            </a:r>
            <a:r>
              <a:rPr sz="705" spc="176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40" dirty="0">
                <a:latin typeface="Arial"/>
                <a:cs typeface="Arial"/>
              </a:rPr>
              <a:t>%</a:t>
            </a:r>
            <a:r>
              <a:rPr sz="705" spc="186" dirty="0">
                <a:latin typeface="Arial"/>
                <a:cs typeface="Arial"/>
              </a:rPr>
              <a:t> </a:t>
            </a:r>
            <a:r>
              <a:rPr sz="705" spc="90" dirty="0">
                <a:latin typeface="Arial"/>
                <a:cs typeface="Arial"/>
              </a:rPr>
              <a:t>b;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3258">
              <a:lnSpc>
                <a:spcPct val="151000"/>
              </a:lnSpc>
              <a:spcBef>
                <a:spcPts val="465"/>
              </a:spcBef>
            </a:pPr>
            <a:r>
              <a:rPr sz="705" spc="51" dirty="0">
                <a:latin typeface="Arial"/>
                <a:cs typeface="Arial"/>
              </a:rPr>
              <a:t>document.write("a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35" dirty="0">
                <a:latin typeface="Arial"/>
                <a:cs typeface="Arial"/>
              </a:rPr>
              <a:t>c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112" dirty="0">
                <a:latin typeface="Arial"/>
                <a:cs typeface="Arial"/>
              </a:rPr>
              <a:t>c;  </a:t>
            </a:r>
            <a:r>
              <a:rPr sz="705" spc="73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60426" y="586432"/>
            <a:ext cx="3824435" cy="4757839"/>
          </a:xfrm>
          <a:custGeom>
            <a:avLst/>
            <a:gdLst/>
            <a:ahLst/>
            <a:cxnLst/>
            <a:rect l="l" t="t" r="r" b="b"/>
            <a:pathLst>
              <a:path w="5963284" h="7418705">
                <a:moveTo>
                  <a:pt x="6096" y="0"/>
                </a:moveTo>
                <a:lnTo>
                  <a:pt x="0" y="0"/>
                </a:lnTo>
                <a:lnTo>
                  <a:pt x="0" y="7412482"/>
                </a:lnTo>
                <a:lnTo>
                  <a:pt x="6096" y="7412482"/>
                </a:lnTo>
                <a:lnTo>
                  <a:pt x="6096" y="0"/>
                </a:lnTo>
                <a:close/>
              </a:path>
              <a:path w="5963284" h="7418705">
                <a:moveTo>
                  <a:pt x="5956681" y="7412495"/>
                </a:moveTo>
                <a:lnTo>
                  <a:pt x="6096" y="7412495"/>
                </a:lnTo>
                <a:lnTo>
                  <a:pt x="0" y="7412495"/>
                </a:lnTo>
                <a:lnTo>
                  <a:pt x="0" y="7418578"/>
                </a:lnTo>
                <a:lnTo>
                  <a:pt x="6096" y="7418578"/>
                </a:lnTo>
                <a:lnTo>
                  <a:pt x="5956681" y="7418578"/>
                </a:lnTo>
                <a:lnTo>
                  <a:pt x="5956681" y="7412495"/>
                </a:lnTo>
                <a:close/>
              </a:path>
              <a:path w="5963284" h="7418705">
                <a:moveTo>
                  <a:pt x="5962840" y="7412495"/>
                </a:moveTo>
                <a:lnTo>
                  <a:pt x="5956757" y="7412495"/>
                </a:lnTo>
                <a:lnTo>
                  <a:pt x="5956757" y="7418578"/>
                </a:lnTo>
                <a:lnTo>
                  <a:pt x="5962840" y="7418578"/>
                </a:lnTo>
                <a:lnTo>
                  <a:pt x="5962840" y="7412495"/>
                </a:lnTo>
                <a:close/>
              </a:path>
              <a:path w="5963284" h="7418705">
                <a:moveTo>
                  <a:pt x="5962840" y="0"/>
                </a:moveTo>
                <a:lnTo>
                  <a:pt x="5956744" y="0"/>
                </a:lnTo>
                <a:lnTo>
                  <a:pt x="5956744" y="7412482"/>
                </a:lnTo>
                <a:lnTo>
                  <a:pt x="5962840" y="7412482"/>
                </a:lnTo>
                <a:lnTo>
                  <a:pt x="5962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6"/>
            <a:ext cx="3820362" cy="3134724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258" rIns="0" bIns="0" rtlCol="0">
            <a:spAutoFit/>
          </a:bodyPr>
          <a:lstStyle/>
          <a:p>
            <a:pPr marL="62306" marR="2522355">
              <a:lnSpc>
                <a:spcPts val="1276"/>
              </a:lnSpc>
              <a:spcBef>
                <a:spcPts val="26"/>
              </a:spcBef>
            </a:pP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32" dirty="0">
                <a:latin typeface="Arial"/>
                <a:cs typeface="Arial"/>
              </a:rPr>
              <a:t>a++;  </a:t>
            </a:r>
            <a:r>
              <a:rPr sz="705" spc="42" dirty="0">
                <a:latin typeface="Arial"/>
                <a:cs typeface="Arial"/>
              </a:rPr>
              <a:t>document.write("a++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106" dirty="0">
                <a:latin typeface="Arial"/>
                <a:cs typeface="Arial"/>
              </a:rPr>
              <a:t> </a:t>
            </a:r>
            <a:r>
              <a:rPr sz="705" spc="32" dirty="0">
                <a:latin typeface="Arial"/>
                <a:cs typeface="Arial"/>
              </a:rPr>
              <a:t>a++;</a:t>
            </a:r>
            <a:endParaRPr sz="705">
              <a:latin typeface="Arial"/>
              <a:cs typeface="Arial"/>
            </a:endParaRPr>
          </a:p>
          <a:p>
            <a:pPr marL="62306" marR="2473488">
              <a:lnSpc>
                <a:spcPts val="1270"/>
              </a:lnSpc>
              <a:spcBef>
                <a:spcPts val="10"/>
              </a:spcBef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spcBef>
                <a:spcPts val="22"/>
              </a:spcBef>
            </a:pPr>
            <a:endParaRPr sz="994">
              <a:latin typeface="Arial"/>
              <a:cs typeface="Arial"/>
            </a:endParaRPr>
          </a:p>
          <a:p>
            <a:pPr marL="62306" marR="2473488">
              <a:lnSpc>
                <a:spcPct val="150700"/>
              </a:lnSpc>
            </a:pP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22" dirty="0">
                <a:latin typeface="Arial"/>
                <a:cs typeface="Arial"/>
              </a:rPr>
              <a:t>b--;  </a:t>
            </a:r>
            <a:r>
              <a:rPr sz="705" spc="61" dirty="0">
                <a:latin typeface="Arial"/>
                <a:cs typeface="Arial"/>
              </a:rPr>
              <a:t>document.write("b--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22" dirty="0">
                <a:latin typeface="Arial"/>
                <a:cs typeface="Arial"/>
              </a:rPr>
              <a:t>b--;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>
              <a:spcBef>
                <a:spcPts val="552"/>
              </a:spcBef>
            </a:pPr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</a:t>
            </a:r>
            <a:r>
              <a:rPr sz="705" spc="-3" dirty="0">
                <a:latin typeface="Arial"/>
                <a:cs typeface="Arial"/>
              </a:rPr>
              <a:t>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3758297"/>
            <a:ext cx="277333" cy="117127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spc="-3" dirty="0">
                <a:latin typeface="Carlito"/>
                <a:cs typeface="Carlito"/>
              </a:rPr>
              <a:t>Outpu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3932599"/>
            <a:ext cx="3820362" cy="1118384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7466" rIns="0" bIns="0" rtlCol="0">
            <a:spAutoFit/>
          </a:bodyPr>
          <a:lstStyle/>
          <a:p>
            <a:pPr marL="62306" marR="3210973">
              <a:lnSpc>
                <a:spcPct val="105500"/>
              </a:lnSpc>
              <a:spcBef>
                <a:spcPts val="294"/>
              </a:spcBef>
            </a:pP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6" dirty="0">
                <a:latin typeface="Arial"/>
                <a:cs typeface="Arial"/>
              </a:rPr>
              <a:t>43 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154" dirty="0">
                <a:latin typeface="Arial"/>
                <a:cs typeface="Arial"/>
              </a:rPr>
              <a:t>-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-6" dirty="0">
                <a:latin typeface="Arial"/>
                <a:cs typeface="Arial"/>
              </a:rPr>
              <a:t>23 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192" dirty="0">
                <a:latin typeface="Arial"/>
                <a:cs typeface="Arial"/>
              </a:rPr>
              <a:t>/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8" dirty="0">
                <a:latin typeface="Arial"/>
                <a:cs typeface="Arial"/>
              </a:rPr>
              <a:t>3.3 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40" dirty="0">
                <a:latin typeface="Arial"/>
                <a:cs typeface="Arial"/>
              </a:rPr>
              <a:t>%</a:t>
            </a:r>
            <a:r>
              <a:rPr sz="705" spc="180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-10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3</a:t>
            </a:r>
            <a:endParaRPr sz="705">
              <a:latin typeface="Arial"/>
              <a:cs typeface="Arial"/>
            </a:endParaRPr>
          </a:p>
          <a:p>
            <a:pPr marL="62306" marR="2866868">
              <a:lnSpc>
                <a:spcPts val="891"/>
              </a:lnSpc>
              <a:spcBef>
                <a:spcPts val="29"/>
              </a:spcBef>
            </a:pP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+ </a:t>
            </a:r>
            <a:r>
              <a:rPr sz="705" spc="35" dirty="0">
                <a:latin typeface="Arial"/>
                <a:cs typeface="Arial"/>
              </a:rPr>
              <a:t>c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26" dirty="0">
                <a:latin typeface="Arial"/>
                <a:cs typeface="Arial"/>
              </a:rPr>
              <a:t>43Test  </a:t>
            </a:r>
            <a:r>
              <a:rPr sz="705" spc="-19" dirty="0">
                <a:latin typeface="Arial"/>
                <a:cs typeface="Arial"/>
              </a:rPr>
              <a:t>a++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42" dirty="0">
                <a:latin typeface="Arial"/>
                <a:cs typeface="Arial"/>
              </a:rPr>
              <a:t> </a:t>
            </a:r>
            <a:r>
              <a:rPr sz="705" spc="-6" dirty="0">
                <a:latin typeface="Arial"/>
                <a:cs typeface="Arial"/>
              </a:rPr>
              <a:t>33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10"/>
              </a:spcBef>
            </a:pPr>
            <a:r>
              <a:rPr sz="705" spc="99" dirty="0">
                <a:latin typeface="Arial"/>
                <a:cs typeface="Arial"/>
              </a:rPr>
              <a:t>b--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1" dirty="0">
                <a:latin typeface="Arial"/>
                <a:cs typeface="Arial"/>
              </a:rPr>
              <a:t> </a:t>
            </a:r>
            <a:r>
              <a:rPr sz="705" spc="-6" dirty="0">
                <a:latin typeface="Arial"/>
                <a:cs typeface="Arial"/>
              </a:rPr>
              <a:t>10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>
              <a:spcBef>
                <a:spcPts val="516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</a:t>
            </a:r>
            <a:r>
              <a:rPr sz="705" spc="-38" dirty="0">
                <a:latin typeface="Arial"/>
                <a:cs typeface="Arial"/>
              </a:rPr>
              <a:t> </a:t>
            </a:r>
            <a:r>
              <a:rPr sz="705" spc="160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417" y="463140"/>
            <a:ext cx="3852127" cy="636023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Comparison</a:t>
            </a:r>
            <a:r>
              <a:rPr sz="1154" b="1" u="sng" spc="-18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 marR="1177289">
              <a:lnSpc>
                <a:spcPts val="1437"/>
              </a:lnSpc>
              <a:spcBef>
                <a:spcPts val="58"/>
              </a:spcBef>
            </a:pPr>
            <a:r>
              <a:rPr sz="705" spc="-3" dirty="0">
                <a:latin typeface="Verdana"/>
                <a:cs typeface="Verdana"/>
              </a:rPr>
              <a:t>JavaScript supports </a:t>
            </a: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</a:t>
            </a:r>
            <a:r>
              <a:rPr sz="705" dirty="0">
                <a:latin typeface="Verdana"/>
                <a:cs typeface="Verdana"/>
              </a:rPr>
              <a:t>comparison operators:  Assume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A holds </a:t>
            </a:r>
            <a:r>
              <a:rPr sz="705" spc="-3" dirty="0">
                <a:latin typeface="Verdana"/>
                <a:cs typeface="Verdana"/>
              </a:rPr>
              <a:t>10 </a:t>
            </a:r>
            <a:r>
              <a:rPr sz="705" dirty="0">
                <a:latin typeface="Verdana"/>
                <a:cs typeface="Verdana"/>
              </a:rPr>
              <a:t>and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B </a:t>
            </a:r>
            <a:r>
              <a:rPr sz="705" spc="-3" dirty="0">
                <a:latin typeface="Verdana"/>
                <a:cs typeface="Verdana"/>
              </a:rPr>
              <a:t>holds </a:t>
            </a:r>
            <a:r>
              <a:rPr sz="705" dirty="0">
                <a:latin typeface="Verdana"/>
                <a:cs typeface="Verdana"/>
              </a:rPr>
              <a:t>20,</a:t>
            </a:r>
            <a:r>
              <a:rPr sz="705" spc="-2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then: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9069" y="1181824"/>
          <a:ext cx="3700225" cy="40313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871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S.No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==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 (Equal)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37465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 operands are equal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 not,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yes,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then 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==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!=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(Not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Equal)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38100">
                        <a:lnSpc>
                          <a:spcPct val="109100"/>
                        </a:lnSpc>
                        <a:spcBef>
                          <a:spcPts val="80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 operands are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equal or not,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values  are not equal, then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!=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2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&gt;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(Greater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than)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39370">
                        <a:lnSpc>
                          <a:spcPct val="108200"/>
                        </a:lnSpc>
                        <a:spcBef>
                          <a:spcPts val="82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greater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than 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right operand,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yes,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then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&gt;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4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&lt;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(Less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than)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39370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less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than 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 right operand,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yes,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then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493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0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just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&gt;=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(Greater than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Equal</a:t>
                      </a:r>
                      <a:r>
                        <a:rPr sz="700" b="1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to)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39370" algn="just">
                        <a:lnSpc>
                          <a:spcPct val="109200"/>
                        </a:lnSpc>
                        <a:spcBef>
                          <a:spcPts val="80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greater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 equal to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right operand, if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yes,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then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algn="just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&gt;=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not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19069" y="586432"/>
          <a:ext cx="3700225" cy="717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1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7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6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&lt;=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(Less than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Equal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to)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 marR="40005">
                        <a:lnSpc>
                          <a:spcPct val="109100"/>
                        </a:lnSpc>
                        <a:spcBef>
                          <a:spcPts val="80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Checks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value 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less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 equal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right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operand,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yes,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then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699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&lt;=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710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58145" y="1306017"/>
            <a:ext cx="3342664" cy="230964"/>
          </a:xfrm>
          <a:prstGeom prst="rect">
            <a:avLst/>
          </a:prstGeom>
        </p:spPr>
        <p:txBody>
          <a:bodyPr vert="horz" wrap="square" lIns="0" tIns="13846" rIns="0" bIns="0" rtlCol="0">
            <a:spAutoFit/>
          </a:bodyPr>
          <a:lstStyle/>
          <a:p>
            <a:pPr marL="8145">
              <a:spcBef>
                <a:spcPts val="109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>
              <a:spcBef>
                <a:spcPts val="45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</a:t>
            </a:r>
            <a:r>
              <a:rPr sz="705" dirty="0">
                <a:latin typeface="Verdana"/>
                <a:cs typeface="Verdana"/>
              </a:rPr>
              <a:t>code shows how </a:t>
            </a:r>
            <a:r>
              <a:rPr sz="705" spc="-3" dirty="0">
                <a:latin typeface="Verdana"/>
                <a:cs typeface="Verdana"/>
              </a:rPr>
              <a:t>to </a:t>
            </a:r>
            <a:r>
              <a:rPr sz="705" dirty="0">
                <a:latin typeface="Verdana"/>
                <a:cs typeface="Verdana"/>
              </a:rPr>
              <a:t>use </a:t>
            </a:r>
            <a:r>
              <a:rPr sz="705" spc="-3" dirty="0">
                <a:latin typeface="Verdana"/>
                <a:cs typeface="Verdana"/>
              </a:rPr>
              <a:t>comparison </a:t>
            </a:r>
            <a:r>
              <a:rPr sz="705" dirty="0">
                <a:latin typeface="Verdana"/>
                <a:cs typeface="Verdana"/>
              </a:rPr>
              <a:t>operators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spc="2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1619694"/>
            <a:ext cx="3820362" cy="3758004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770">
              <a:latin typeface="Arial"/>
              <a:cs typeface="Arial"/>
            </a:endParaRPr>
          </a:p>
          <a:p>
            <a:pPr marL="62306">
              <a:spcBef>
                <a:spcPts val="3"/>
              </a:spcBef>
            </a:pPr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 marR="3210973">
              <a:lnSpc>
                <a:spcPct val="150900"/>
              </a:lnSpc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8" dirty="0">
                <a:latin typeface="Arial"/>
                <a:cs typeface="Arial"/>
              </a:rPr>
              <a:t>10;  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16" dirty="0">
                <a:latin typeface="Arial"/>
                <a:cs typeface="Arial"/>
              </a:rPr>
              <a:t> </a:t>
            </a:r>
            <a:r>
              <a:rPr sz="705" spc="58" dirty="0">
                <a:latin typeface="Arial"/>
                <a:cs typeface="Arial"/>
              </a:rPr>
              <a:t>20;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32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26708">
              <a:lnSpc>
                <a:spcPct val="151000"/>
              </a:lnSpc>
              <a:spcBef>
                <a:spcPts val="459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9" dirty="0">
                <a:latin typeface="Arial"/>
                <a:cs typeface="Arial"/>
              </a:rPr>
              <a:t>==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==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76391">
              <a:lnSpc>
                <a:spcPct val="150900"/>
              </a:lnSpc>
              <a:spcBef>
                <a:spcPts val="459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6" dirty="0">
                <a:latin typeface="Arial"/>
                <a:cs typeface="Arial"/>
              </a:rPr>
              <a:t>&lt;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&lt;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76391">
              <a:lnSpc>
                <a:spcPct val="150600"/>
              </a:lnSpc>
              <a:spcBef>
                <a:spcPts val="471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6" dirty="0">
                <a:latin typeface="Arial"/>
                <a:cs typeface="Arial"/>
              </a:rPr>
              <a:t>&gt;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&gt;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3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6"/>
            <a:ext cx="3820362" cy="373706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1222" rIns="0" bIns="0" rtlCol="0">
            <a:spAutoFit/>
          </a:bodyPr>
          <a:lstStyle/>
          <a:p>
            <a:pPr>
              <a:spcBef>
                <a:spcPts val="10"/>
              </a:spcBef>
            </a:pPr>
            <a:endParaRPr sz="1026">
              <a:latin typeface="Times New Roman"/>
              <a:cs typeface="Times New Roman"/>
            </a:endParaRPr>
          </a:p>
          <a:p>
            <a:pPr marL="62306" marR="2227523">
              <a:lnSpc>
                <a:spcPct val="150600"/>
              </a:lnSpc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80" dirty="0">
                <a:latin typeface="Arial"/>
                <a:cs typeface="Arial"/>
              </a:rPr>
              <a:t>!=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83" dirty="0">
                <a:latin typeface="Arial"/>
                <a:cs typeface="Arial"/>
              </a:rPr>
              <a:t>!=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27523">
              <a:lnSpc>
                <a:spcPct val="151000"/>
              </a:lnSpc>
              <a:spcBef>
                <a:spcPts val="468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9" dirty="0">
                <a:latin typeface="Arial"/>
                <a:cs typeface="Arial"/>
              </a:rPr>
              <a:t>&gt;=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&gt;=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26302">
              <a:lnSpc>
                <a:spcPct val="150900"/>
              </a:lnSpc>
              <a:spcBef>
                <a:spcPts val="459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9" dirty="0">
                <a:latin typeface="Arial"/>
                <a:cs typeface="Arial"/>
              </a:rPr>
              <a:t>&lt;=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&lt;=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37">
              <a:latin typeface="Arial"/>
              <a:cs typeface="Arial"/>
            </a:endParaRPr>
          </a:p>
          <a:p>
            <a:pPr marL="62306" marR="161669">
              <a:lnSpc>
                <a:spcPct val="105500"/>
              </a:lnSpc>
              <a:spcBef>
                <a:spcPts val="3"/>
              </a:spcBef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3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64335" y="4529782"/>
            <a:ext cx="3816290" cy="4072"/>
          </a:xfrm>
          <a:custGeom>
            <a:avLst/>
            <a:gdLst/>
            <a:ahLst/>
            <a:cxnLst/>
            <a:rect l="l" t="t" r="r" b="b"/>
            <a:pathLst>
              <a:path w="5950584" h="6350">
                <a:moveTo>
                  <a:pt x="5950585" y="0"/>
                </a:moveTo>
                <a:lnTo>
                  <a:pt x="0" y="0"/>
                </a:lnTo>
                <a:lnTo>
                  <a:pt x="0" y="6096"/>
                </a:lnTo>
                <a:lnTo>
                  <a:pt x="5950585" y="6096"/>
                </a:lnTo>
                <a:lnTo>
                  <a:pt x="5950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4" name="object 4"/>
          <p:cNvSpPr txBox="1"/>
          <p:nvPr/>
        </p:nvSpPr>
        <p:spPr>
          <a:xfrm>
            <a:off x="2658145" y="4357436"/>
            <a:ext cx="912228" cy="777885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spc="-3" dirty="0">
                <a:latin typeface="Carlito"/>
                <a:cs typeface="Carlito"/>
              </a:rPr>
              <a:t>Output</a:t>
            </a:r>
            <a:endParaRPr sz="705">
              <a:latin typeface="Carlito"/>
              <a:cs typeface="Carlito"/>
            </a:endParaRPr>
          </a:p>
          <a:p>
            <a:pPr>
              <a:spcBef>
                <a:spcPts val="6"/>
              </a:spcBef>
            </a:pPr>
            <a:endParaRPr sz="609">
              <a:latin typeface="Carlito"/>
              <a:cs typeface="Carlito"/>
            </a:endParaRPr>
          </a:p>
          <a:p>
            <a:pPr marL="66784" marR="3258">
              <a:lnSpc>
                <a:spcPct val="105500"/>
              </a:lnSpc>
              <a:spcBef>
                <a:spcPts val="3"/>
              </a:spcBef>
            </a:pP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==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87" dirty="0">
                <a:latin typeface="Arial"/>
                <a:cs typeface="Arial"/>
              </a:rPr>
              <a:t>false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&lt;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80" dirty="0">
                <a:latin typeface="Arial"/>
                <a:cs typeface="Arial"/>
              </a:rPr>
              <a:t>true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&gt;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87" dirty="0">
                <a:latin typeface="Arial"/>
                <a:cs typeface="Arial"/>
              </a:rPr>
              <a:t>false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80" dirty="0">
                <a:latin typeface="Arial"/>
                <a:cs typeface="Arial"/>
              </a:rPr>
              <a:t>!=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80" dirty="0">
                <a:latin typeface="Arial"/>
                <a:cs typeface="Arial"/>
              </a:rPr>
              <a:t>true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&gt;=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6" dirty="0">
                <a:latin typeface="Arial"/>
                <a:cs typeface="Arial"/>
              </a:rPr>
              <a:t> </a:t>
            </a:r>
            <a:r>
              <a:rPr sz="705" spc="87" dirty="0">
                <a:latin typeface="Arial"/>
                <a:cs typeface="Arial"/>
              </a:rPr>
              <a:t>false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0426" y="4529782"/>
            <a:ext cx="3824435" cy="620234"/>
          </a:xfrm>
          <a:custGeom>
            <a:avLst/>
            <a:gdLst/>
            <a:ahLst/>
            <a:cxnLst/>
            <a:rect l="l" t="t" r="r" b="b"/>
            <a:pathLst>
              <a:path w="5963284" h="967104">
                <a:moveTo>
                  <a:pt x="6096" y="0"/>
                </a:moveTo>
                <a:lnTo>
                  <a:pt x="0" y="0"/>
                </a:lnTo>
                <a:lnTo>
                  <a:pt x="0" y="966597"/>
                </a:lnTo>
                <a:lnTo>
                  <a:pt x="6096" y="966597"/>
                </a:lnTo>
                <a:lnTo>
                  <a:pt x="6096" y="0"/>
                </a:lnTo>
                <a:close/>
              </a:path>
              <a:path w="5963284" h="967104">
                <a:moveTo>
                  <a:pt x="5962840" y="0"/>
                </a:moveTo>
                <a:lnTo>
                  <a:pt x="5956744" y="0"/>
                </a:lnTo>
                <a:lnTo>
                  <a:pt x="5956744" y="966597"/>
                </a:lnTo>
                <a:lnTo>
                  <a:pt x="5962840" y="966597"/>
                </a:lnTo>
                <a:lnTo>
                  <a:pt x="5962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0426" y="586407"/>
            <a:ext cx="3824435" cy="554667"/>
          </a:xfrm>
          <a:custGeom>
            <a:avLst/>
            <a:gdLst/>
            <a:ahLst/>
            <a:cxnLst/>
            <a:rect l="l" t="t" r="r" b="b"/>
            <a:pathLst>
              <a:path w="5963284" h="864869">
                <a:moveTo>
                  <a:pt x="6096" y="0"/>
                </a:moveTo>
                <a:lnTo>
                  <a:pt x="0" y="0"/>
                </a:lnTo>
                <a:lnTo>
                  <a:pt x="0" y="177076"/>
                </a:lnTo>
                <a:lnTo>
                  <a:pt x="0" y="430060"/>
                </a:lnTo>
                <a:lnTo>
                  <a:pt x="0" y="605320"/>
                </a:lnTo>
                <a:lnTo>
                  <a:pt x="6096" y="605320"/>
                </a:lnTo>
                <a:lnTo>
                  <a:pt x="6096" y="430060"/>
                </a:lnTo>
                <a:lnTo>
                  <a:pt x="6096" y="177076"/>
                </a:lnTo>
                <a:lnTo>
                  <a:pt x="6096" y="0"/>
                </a:lnTo>
                <a:close/>
              </a:path>
              <a:path w="5963284" h="864869">
                <a:moveTo>
                  <a:pt x="5956681" y="858304"/>
                </a:moveTo>
                <a:lnTo>
                  <a:pt x="6096" y="858304"/>
                </a:lnTo>
                <a:lnTo>
                  <a:pt x="6096" y="605332"/>
                </a:lnTo>
                <a:lnTo>
                  <a:pt x="0" y="605332"/>
                </a:lnTo>
                <a:lnTo>
                  <a:pt x="0" y="864400"/>
                </a:lnTo>
                <a:lnTo>
                  <a:pt x="6096" y="864400"/>
                </a:lnTo>
                <a:lnTo>
                  <a:pt x="5956681" y="864400"/>
                </a:lnTo>
                <a:lnTo>
                  <a:pt x="5956681" y="858304"/>
                </a:lnTo>
                <a:close/>
              </a:path>
              <a:path w="5963284" h="864869">
                <a:moveTo>
                  <a:pt x="5962840" y="605332"/>
                </a:moveTo>
                <a:lnTo>
                  <a:pt x="5956744" y="605332"/>
                </a:lnTo>
                <a:lnTo>
                  <a:pt x="5956744" y="864400"/>
                </a:lnTo>
                <a:lnTo>
                  <a:pt x="5962840" y="864400"/>
                </a:lnTo>
                <a:lnTo>
                  <a:pt x="5962840" y="605332"/>
                </a:lnTo>
                <a:close/>
              </a:path>
              <a:path w="5963284" h="864869">
                <a:moveTo>
                  <a:pt x="5962840" y="0"/>
                </a:moveTo>
                <a:lnTo>
                  <a:pt x="5956757" y="0"/>
                </a:lnTo>
                <a:lnTo>
                  <a:pt x="5956757" y="177076"/>
                </a:lnTo>
                <a:lnTo>
                  <a:pt x="5956757" y="430060"/>
                </a:lnTo>
                <a:lnTo>
                  <a:pt x="5956757" y="605320"/>
                </a:lnTo>
                <a:lnTo>
                  <a:pt x="5962840" y="605320"/>
                </a:lnTo>
                <a:lnTo>
                  <a:pt x="5962840" y="430060"/>
                </a:lnTo>
                <a:lnTo>
                  <a:pt x="5962840" y="177076"/>
                </a:lnTo>
                <a:lnTo>
                  <a:pt x="5962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2646417" y="570469"/>
            <a:ext cx="3852127" cy="124766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78187">
              <a:spcBef>
                <a:spcPts val="64"/>
              </a:spcBef>
            </a:pP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&lt;=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-64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true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78187" marR="324966">
              <a:lnSpc>
                <a:spcPct val="104500"/>
              </a:lnSpc>
              <a:spcBef>
                <a:spcPts val="478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32"/>
              </a:spcBef>
            </a:pPr>
            <a:endParaRPr sz="641">
              <a:latin typeface="Arial"/>
              <a:cs typeface="Arial"/>
            </a:endParaRPr>
          </a:p>
          <a:p>
            <a:pPr marL="8145"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Logical</a:t>
            </a:r>
            <a:r>
              <a:rPr sz="1154" b="1" u="sng" spc="-19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 marR="1177289">
              <a:lnSpc>
                <a:spcPts val="1437"/>
              </a:lnSpc>
              <a:spcBef>
                <a:spcPts val="61"/>
              </a:spcBef>
            </a:pPr>
            <a:r>
              <a:rPr sz="705" spc="-3" dirty="0">
                <a:latin typeface="Verdana"/>
                <a:cs typeface="Verdana"/>
              </a:rPr>
              <a:t>JavaScript supports </a:t>
            </a: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logical </a:t>
            </a:r>
            <a:r>
              <a:rPr sz="705" dirty="0">
                <a:latin typeface="Verdana"/>
                <a:cs typeface="Verdana"/>
              </a:rPr>
              <a:t>operators:  Assume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A holds </a:t>
            </a:r>
            <a:r>
              <a:rPr sz="705" spc="-3" dirty="0">
                <a:latin typeface="Verdana"/>
                <a:cs typeface="Verdana"/>
              </a:rPr>
              <a:t>10 </a:t>
            </a:r>
            <a:r>
              <a:rPr sz="705" dirty="0">
                <a:latin typeface="Verdana"/>
                <a:cs typeface="Verdana"/>
              </a:rPr>
              <a:t>and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B </a:t>
            </a:r>
            <a:r>
              <a:rPr sz="705" spc="-3" dirty="0">
                <a:latin typeface="Verdana"/>
                <a:cs typeface="Verdana"/>
              </a:rPr>
              <a:t>holds </a:t>
            </a:r>
            <a:r>
              <a:rPr sz="705" dirty="0">
                <a:latin typeface="Verdana"/>
                <a:cs typeface="Verdana"/>
              </a:rPr>
              <a:t>20,</a:t>
            </a:r>
            <a:r>
              <a:rPr sz="705" spc="-2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then: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719069" y="1882610"/>
          <a:ext cx="3700225" cy="2214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094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S.No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 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&amp;&amp;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(Logical</a:t>
                      </a:r>
                      <a:r>
                        <a:rPr sz="700" b="1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AND)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 both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operands are non-zero, then the condition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&amp;&amp;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7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||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(Logical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OR)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any</a:t>
                      </a:r>
                      <a:r>
                        <a:rPr sz="7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operands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are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non-zero,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then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condition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becomes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||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!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(Logical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NOT)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6830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Reverses the logical state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its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operand.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If a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condition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true, then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 Logical NOT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operator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will make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false.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!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&amp;&amp;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false.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58145" y="5126885"/>
            <a:ext cx="418648" cy="126719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70" b="1" spc="-3" dirty="0">
                <a:latin typeface="Arial"/>
                <a:cs typeface="Arial"/>
              </a:rPr>
              <a:t>Example</a:t>
            </a:r>
            <a:endParaRPr sz="77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58145" y="576332"/>
            <a:ext cx="3699410" cy="11671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05" dirty="0">
                <a:latin typeface="Verdana"/>
                <a:cs typeface="Verdana"/>
              </a:rPr>
              <a:t>Try </a:t>
            </a:r>
            <a:r>
              <a:rPr sz="705" spc="-3" dirty="0">
                <a:latin typeface="Verdana"/>
                <a:cs typeface="Verdana"/>
              </a:rPr>
              <a:t>the following </a:t>
            </a:r>
            <a:r>
              <a:rPr sz="705" dirty="0">
                <a:latin typeface="Verdana"/>
                <a:cs typeface="Verdana"/>
              </a:rPr>
              <a:t>code </a:t>
            </a:r>
            <a:r>
              <a:rPr sz="705" spc="-3" dirty="0">
                <a:latin typeface="Verdana"/>
                <a:cs typeface="Verdana"/>
              </a:rPr>
              <a:t>to learn </a:t>
            </a:r>
            <a:r>
              <a:rPr sz="705" dirty="0">
                <a:latin typeface="Verdana"/>
                <a:cs typeface="Verdana"/>
              </a:rPr>
              <a:t>how </a:t>
            </a:r>
            <a:r>
              <a:rPr sz="705" spc="-3" dirty="0">
                <a:latin typeface="Verdana"/>
                <a:cs typeface="Verdana"/>
              </a:rPr>
              <a:t>to implement Logical </a:t>
            </a:r>
            <a:r>
              <a:rPr sz="705" dirty="0">
                <a:latin typeface="Verdana"/>
                <a:cs typeface="Verdana"/>
              </a:rPr>
              <a:t>Operators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spc="67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2381" y="820190"/>
            <a:ext cx="3820362" cy="4273594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 marR="3062743">
              <a:lnSpc>
                <a:spcPct val="150900"/>
              </a:lnSpc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03" dirty="0">
                <a:latin typeface="Arial"/>
                <a:cs typeface="Arial"/>
              </a:rPr>
              <a:t>true;  </a:t>
            </a: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29" dirty="0">
                <a:latin typeface="Arial"/>
                <a:cs typeface="Arial"/>
              </a:rPr>
              <a:t> </a:t>
            </a:r>
            <a:r>
              <a:rPr sz="705" spc="103" dirty="0">
                <a:latin typeface="Arial"/>
                <a:cs typeface="Arial"/>
              </a:rPr>
              <a:t>false;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32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177841">
              <a:lnSpc>
                <a:spcPct val="150600"/>
              </a:lnSpc>
              <a:spcBef>
                <a:spcPts val="471"/>
              </a:spcBef>
              <a:tabLst>
                <a:tab pos="1194392" algn="l"/>
              </a:tabLst>
            </a:pPr>
            <a:r>
              <a:rPr sz="705" spc="58" dirty="0">
                <a:latin typeface="Arial"/>
                <a:cs typeface="Arial"/>
              </a:rPr>
              <a:t>document.write("(a</a:t>
            </a:r>
            <a:r>
              <a:rPr sz="705" spc="192" dirty="0">
                <a:latin typeface="Arial"/>
                <a:cs typeface="Arial"/>
              </a:rPr>
              <a:t> </a:t>
            </a:r>
            <a:r>
              <a:rPr sz="705" spc="-87" dirty="0">
                <a:latin typeface="Arial"/>
                <a:cs typeface="Arial"/>
              </a:rPr>
              <a:t>&amp;&amp;	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83" dirty="0">
                <a:latin typeface="Arial"/>
                <a:cs typeface="Arial"/>
              </a:rPr>
              <a:t>&amp;&amp;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227523">
              <a:lnSpc>
                <a:spcPct val="150700"/>
              </a:lnSpc>
              <a:spcBef>
                <a:spcPts val="468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202" dirty="0">
                <a:latin typeface="Arial"/>
                <a:cs typeface="Arial"/>
              </a:rPr>
              <a:t>||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205" dirty="0">
                <a:latin typeface="Arial"/>
                <a:cs typeface="Arial"/>
              </a:rPr>
              <a:t>||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2177841">
              <a:lnSpc>
                <a:spcPct val="150600"/>
              </a:lnSpc>
              <a:spcBef>
                <a:spcPts val="468"/>
              </a:spcBef>
            </a:pPr>
            <a:r>
              <a:rPr sz="705" spc="64" dirty="0">
                <a:latin typeface="Arial"/>
                <a:cs typeface="Arial"/>
              </a:rPr>
              <a:t>document.write("!(a </a:t>
            </a:r>
            <a:r>
              <a:rPr sz="705" spc="-83" dirty="0">
                <a:latin typeface="Arial"/>
                <a:cs typeface="Arial"/>
              </a:rPr>
              <a:t>&amp;&amp;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119" dirty="0">
                <a:latin typeface="Arial"/>
                <a:cs typeface="Arial"/>
              </a:rPr>
              <a:t>(!(a </a:t>
            </a:r>
            <a:r>
              <a:rPr sz="705" spc="-87" dirty="0">
                <a:latin typeface="Arial"/>
                <a:cs typeface="Arial"/>
              </a:rPr>
              <a:t>&amp;&amp; </a:t>
            </a:r>
            <a:r>
              <a:rPr sz="705" spc="119" dirty="0">
                <a:latin typeface="Arial"/>
                <a:cs typeface="Arial"/>
              </a:rPr>
              <a:t>b));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6"/>
            <a:ext cx="3820362" cy="926407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70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5">
              <a:latin typeface="Times New Roman"/>
              <a:cs typeface="Times New Roman"/>
            </a:endParaRPr>
          </a:p>
          <a:p>
            <a:pPr marL="62306" marR="161669">
              <a:lnSpc>
                <a:spcPct val="105500"/>
              </a:lnSpc>
              <a:spcBef>
                <a:spcPts val="417"/>
              </a:spcBef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3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1601775"/>
            <a:ext cx="277333" cy="11671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05" spc="-3" dirty="0">
                <a:latin typeface="Carlito"/>
                <a:cs typeface="Carlito"/>
              </a:rPr>
              <a:t>Outpu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1776075"/>
            <a:ext cx="3820362" cy="770918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7466" rIns="0" bIns="0" rtlCol="0">
            <a:spAutoFit/>
          </a:bodyPr>
          <a:lstStyle/>
          <a:p>
            <a:pPr marL="62306" marR="2915327">
              <a:lnSpc>
                <a:spcPct val="105500"/>
              </a:lnSpc>
              <a:spcBef>
                <a:spcPts val="294"/>
              </a:spcBef>
            </a:pP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87" dirty="0">
                <a:latin typeface="Arial"/>
                <a:cs typeface="Arial"/>
              </a:rPr>
              <a:t>&amp;&amp;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87" dirty="0">
                <a:latin typeface="Arial"/>
                <a:cs typeface="Arial"/>
              </a:rPr>
              <a:t>false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202" dirty="0">
                <a:latin typeface="Arial"/>
                <a:cs typeface="Arial"/>
              </a:rPr>
              <a:t>||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112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true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8"/>
              </a:spcBef>
            </a:pPr>
            <a:r>
              <a:rPr sz="705" spc="112" dirty="0">
                <a:latin typeface="Arial"/>
                <a:cs typeface="Arial"/>
              </a:rPr>
              <a:t>!(a </a:t>
            </a:r>
            <a:r>
              <a:rPr sz="705" spc="-87" dirty="0">
                <a:latin typeface="Arial"/>
                <a:cs typeface="Arial"/>
              </a:rPr>
              <a:t>&amp;&amp;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</a:t>
            </a:r>
            <a:r>
              <a:rPr sz="705" spc="51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true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309084">
              <a:lnSpc>
                <a:spcPct val="105500"/>
              </a:lnSpc>
              <a:spcBef>
                <a:spcPts val="465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417" y="2632206"/>
            <a:ext cx="3852127" cy="636023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Bitwise</a:t>
            </a:r>
            <a:r>
              <a:rPr sz="1154" b="1" u="sng" spc="-19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 marR="1290497">
              <a:lnSpc>
                <a:spcPts val="1430"/>
              </a:lnSpc>
              <a:spcBef>
                <a:spcPts val="64"/>
              </a:spcBef>
            </a:pPr>
            <a:r>
              <a:rPr sz="705" spc="-3" dirty="0">
                <a:latin typeface="Verdana"/>
                <a:cs typeface="Verdana"/>
              </a:rPr>
              <a:t>JavaScript supports </a:t>
            </a: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bitwise </a:t>
            </a:r>
            <a:r>
              <a:rPr sz="705" dirty="0">
                <a:latin typeface="Verdana"/>
                <a:cs typeface="Verdana"/>
              </a:rPr>
              <a:t>operators:  Assume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A holds 2 and </a:t>
            </a:r>
            <a:r>
              <a:rPr sz="705" spc="-3" dirty="0">
                <a:latin typeface="Verdana"/>
                <a:cs typeface="Verdana"/>
              </a:rPr>
              <a:t>variable </a:t>
            </a:r>
            <a:r>
              <a:rPr sz="705" dirty="0">
                <a:latin typeface="Verdana"/>
                <a:cs typeface="Verdana"/>
              </a:rPr>
              <a:t>B holds </a:t>
            </a:r>
            <a:r>
              <a:rPr sz="705" spc="3" dirty="0">
                <a:latin typeface="Verdana"/>
                <a:cs typeface="Verdana"/>
              </a:rPr>
              <a:t>3,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then: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19069" y="3349913"/>
          <a:ext cx="3700225" cy="1731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012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S.No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 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7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&amp;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(Bitwise</a:t>
                      </a:r>
                      <a:r>
                        <a:rPr sz="700" b="1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AND)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performs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Boolean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operation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each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its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integer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arguments.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&amp;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2.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|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(BitWise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OR)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performs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Boolean OR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 each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its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integer</a:t>
                      </a:r>
                      <a:r>
                        <a:rPr sz="7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arguments.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|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3.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73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^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(Bitwise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XOR)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19069" y="586432"/>
          <a:ext cx="3700225" cy="3716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33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marR="36195" algn="just">
                        <a:lnSpc>
                          <a:spcPct val="108600"/>
                        </a:lnSpc>
                        <a:spcBef>
                          <a:spcPts val="30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performs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Boolean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exclusive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operation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 each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its integer  arguments.</a:t>
                      </a:r>
                      <a:r>
                        <a:rPr sz="7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Exclusive</a:t>
                      </a:r>
                      <a:r>
                        <a:rPr sz="7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means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that</a:t>
                      </a:r>
                      <a:r>
                        <a:rPr sz="7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either</a:t>
                      </a:r>
                      <a:r>
                        <a:rPr sz="7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one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or</a:t>
                      </a:r>
                      <a:r>
                        <a:rPr sz="7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true,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but not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both.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algn="just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^ 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1.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24435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7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4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~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(Bitwise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Not)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7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unary</a:t>
                      </a:r>
                      <a:r>
                        <a:rPr sz="7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operator</a:t>
                      </a:r>
                      <a:r>
                        <a:rPr sz="7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7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operates</a:t>
                      </a:r>
                      <a:r>
                        <a:rPr sz="7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reversing</a:t>
                      </a:r>
                      <a:r>
                        <a:rPr sz="7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7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(~B)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 -4.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8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algn="just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&lt;&lt;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(Left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Shift)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40005" algn="just">
                        <a:lnSpc>
                          <a:spcPct val="108800"/>
                        </a:lnSpc>
                        <a:spcBef>
                          <a:spcPts val="8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moves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all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bits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its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first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number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places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specified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second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operand.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New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bits are filled with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zeros.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Shifting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value left by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one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position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multiplying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by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2, shifting two  positions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equivalent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 multiplying by 4,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 so</a:t>
                      </a:r>
                      <a:r>
                        <a:rPr sz="7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algn="just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&lt;&lt;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1)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4.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6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&gt;&gt;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(Right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Shift)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40005">
                        <a:lnSpc>
                          <a:spcPct val="108200"/>
                        </a:lnSpc>
                        <a:spcBef>
                          <a:spcPts val="82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Binary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Shift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Operator.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operand’s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value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moved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 number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bits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specified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by the right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&gt;&gt;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1)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1.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7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&gt;&gt;&gt; (Right shift with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Zero)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7465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This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operator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just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like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&gt;&gt; operator, except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that the bits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shifted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in 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are always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zero.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(A &gt;&gt;&gt; 1)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1.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58145" y="4289410"/>
            <a:ext cx="3050262" cy="230964"/>
          </a:xfrm>
          <a:prstGeom prst="rect">
            <a:avLst/>
          </a:prstGeom>
        </p:spPr>
        <p:txBody>
          <a:bodyPr vert="horz" wrap="square" lIns="0" tIns="13846" rIns="0" bIns="0" rtlCol="0">
            <a:spAutoFit/>
          </a:bodyPr>
          <a:lstStyle/>
          <a:p>
            <a:pPr marL="8145">
              <a:spcBef>
                <a:spcPts val="109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>
              <a:spcBef>
                <a:spcPts val="45"/>
              </a:spcBef>
            </a:pPr>
            <a:r>
              <a:rPr sz="705" dirty="0">
                <a:latin typeface="Verdana"/>
                <a:cs typeface="Verdana"/>
              </a:rPr>
              <a:t>Try </a:t>
            </a:r>
            <a:r>
              <a:rPr sz="705" spc="-3" dirty="0">
                <a:latin typeface="Verdana"/>
                <a:cs typeface="Verdana"/>
              </a:rPr>
              <a:t>the following </a:t>
            </a:r>
            <a:r>
              <a:rPr sz="705" dirty="0">
                <a:latin typeface="Verdana"/>
                <a:cs typeface="Verdana"/>
              </a:rPr>
              <a:t>code </a:t>
            </a:r>
            <a:r>
              <a:rPr sz="705" spc="-3" dirty="0">
                <a:latin typeface="Verdana"/>
                <a:cs typeface="Verdana"/>
              </a:rPr>
              <a:t>to implement Bitwise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spc="4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4603085"/>
            <a:ext cx="3820362" cy="647345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4335" y="586433"/>
            <a:ext cx="3816290" cy="4072"/>
          </a:xfrm>
          <a:custGeom>
            <a:avLst/>
            <a:gdLst/>
            <a:ahLst/>
            <a:cxnLst/>
            <a:rect l="l" t="t" r="r" b="b"/>
            <a:pathLst>
              <a:path w="5950584" h="6350">
                <a:moveTo>
                  <a:pt x="5950585" y="0"/>
                </a:moveTo>
                <a:lnTo>
                  <a:pt x="0" y="0"/>
                </a:lnTo>
                <a:lnTo>
                  <a:pt x="0" y="6096"/>
                </a:lnTo>
                <a:lnTo>
                  <a:pt x="5950585" y="6096"/>
                </a:lnTo>
                <a:lnTo>
                  <a:pt x="5950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2716788" y="569068"/>
            <a:ext cx="509056" cy="479148"/>
          </a:xfrm>
          <a:prstGeom prst="rect">
            <a:avLst/>
          </a:prstGeom>
        </p:spPr>
        <p:txBody>
          <a:bodyPr vert="horz" wrap="square" lIns="0" tIns="62716" rIns="0" bIns="0" rtlCol="0">
            <a:spAutoFit/>
          </a:bodyPr>
          <a:lstStyle/>
          <a:p>
            <a:pPr marL="8145">
              <a:spcBef>
                <a:spcPts val="494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8145" marR="3258">
              <a:lnSpc>
                <a:spcPct val="150900"/>
              </a:lnSpc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90" dirty="0">
                <a:latin typeface="Arial"/>
                <a:cs typeface="Arial"/>
              </a:rPr>
              <a:t>2;  </a:t>
            </a: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19" dirty="0">
                <a:latin typeface="Arial"/>
                <a:cs typeface="Arial"/>
              </a:rPr>
              <a:t> </a:t>
            </a:r>
            <a:r>
              <a:rPr sz="705" spc="90" dirty="0">
                <a:latin typeface="Arial"/>
                <a:cs typeface="Arial"/>
              </a:rPr>
              <a:t>3;</a:t>
            </a:r>
            <a:endParaRPr sz="7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7200" y="731313"/>
            <a:ext cx="1099561" cy="331607"/>
          </a:xfrm>
          <a:prstGeom prst="rect">
            <a:avLst/>
          </a:prstGeom>
        </p:spPr>
        <p:txBody>
          <a:bodyPr vert="horz" wrap="square" lIns="0" tIns="62716" rIns="0" bIns="0" rtlCol="0">
            <a:spAutoFit/>
          </a:bodyPr>
          <a:lstStyle/>
          <a:p>
            <a:pPr marL="8145">
              <a:spcBef>
                <a:spcPts val="494"/>
              </a:spcBef>
            </a:pPr>
            <a:r>
              <a:rPr sz="705" spc="192" dirty="0">
                <a:latin typeface="Arial"/>
                <a:cs typeface="Arial"/>
              </a:rPr>
              <a:t>// </a:t>
            </a:r>
            <a:r>
              <a:rPr sz="705" spc="112" dirty="0">
                <a:latin typeface="Arial"/>
                <a:cs typeface="Arial"/>
              </a:rPr>
              <a:t>Bit </a:t>
            </a:r>
            <a:r>
              <a:rPr sz="705" spc="61" dirty="0">
                <a:latin typeface="Arial"/>
                <a:cs typeface="Arial"/>
              </a:rPr>
              <a:t>presentation</a:t>
            </a:r>
            <a:r>
              <a:rPr sz="705" spc="208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10</a:t>
            </a:r>
            <a:endParaRPr sz="705">
              <a:latin typeface="Arial"/>
              <a:cs typeface="Arial"/>
            </a:endParaRPr>
          </a:p>
          <a:p>
            <a:pPr marL="8145">
              <a:spcBef>
                <a:spcPts val="430"/>
              </a:spcBef>
            </a:pPr>
            <a:r>
              <a:rPr sz="705" spc="192" dirty="0">
                <a:latin typeface="Arial"/>
                <a:cs typeface="Arial"/>
              </a:rPr>
              <a:t>// </a:t>
            </a:r>
            <a:r>
              <a:rPr sz="705" spc="112" dirty="0">
                <a:latin typeface="Arial"/>
                <a:cs typeface="Arial"/>
              </a:rPr>
              <a:t>Bit </a:t>
            </a:r>
            <a:r>
              <a:rPr sz="705" spc="61" dirty="0">
                <a:latin typeface="Arial"/>
                <a:cs typeface="Arial"/>
              </a:rPr>
              <a:t>presentation</a:t>
            </a:r>
            <a:r>
              <a:rPr sz="705" spc="208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11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6789" y="1110149"/>
            <a:ext cx="1541421" cy="4235985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05" spc="61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55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3258">
              <a:lnSpc>
                <a:spcPct val="150900"/>
              </a:lnSpc>
              <a:spcBef>
                <a:spcPts val="462"/>
              </a:spcBef>
              <a:tabLst>
                <a:tab pos="1090143" algn="l"/>
              </a:tabLst>
            </a:pPr>
            <a:r>
              <a:rPr sz="705" spc="58" dirty="0">
                <a:latin typeface="Arial"/>
                <a:cs typeface="Arial"/>
              </a:rPr>
              <a:t>document.write("(a</a:t>
            </a:r>
            <a:r>
              <a:rPr sz="705" spc="192" dirty="0">
                <a:latin typeface="Arial"/>
                <a:cs typeface="Arial"/>
              </a:rPr>
              <a:t> </a:t>
            </a:r>
            <a:r>
              <a:rPr sz="705" spc="-83" dirty="0">
                <a:latin typeface="Arial"/>
                <a:cs typeface="Arial"/>
              </a:rPr>
              <a:t>&amp;	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83" dirty="0">
                <a:latin typeface="Arial"/>
                <a:cs typeface="Arial"/>
              </a:rPr>
              <a:t>&amp;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51718">
              <a:lnSpc>
                <a:spcPct val="150900"/>
              </a:lnSpc>
              <a:spcBef>
                <a:spcPts val="459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205" dirty="0">
                <a:latin typeface="Arial"/>
                <a:cs typeface="Arial"/>
              </a:rPr>
              <a:t>|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205" dirty="0">
                <a:latin typeface="Arial"/>
                <a:cs typeface="Arial"/>
              </a:rPr>
              <a:t>|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49682">
              <a:lnSpc>
                <a:spcPct val="150700"/>
              </a:lnSpc>
              <a:spcBef>
                <a:spcPts val="468"/>
              </a:spcBef>
            </a:pPr>
            <a:r>
              <a:rPr sz="705" spc="58" dirty="0">
                <a:latin typeface="Arial"/>
                <a:cs typeface="Arial"/>
              </a:rPr>
              <a:t>document.write("(a ^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58" dirty="0">
                <a:latin typeface="Arial"/>
                <a:cs typeface="Arial"/>
              </a:rPr>
              <a:t>^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199133">
              <a:lnSpc>
                <a:spcPct val="150600"/>
              </a:lnSpc>
              <a:spcBef>
                <a:spcPts val="468"/>
              </a:spcBef>
            </a:pPr>
            <a:r>
              <a:rPr sz="705" spc="58" dirty="0">
                <a:latin typeface="Arial"/>
                <a:cs typeface="Arial"/>
              </a:rPr>
              <a:t>document.write("(~b)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90" dirty="0">
                <a:latin typeface="Arial"/>
                <a:cs typeface="Arial"/>
              </a:rPr>
              <a:t>(~b);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3258">
              <a:lnSpc>
                <a:spcPct val="150700"/>
              </a:lnSpc>
              <a:spcBef>
                <a:spcPts val="468"/>
              </a:spcBef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9" dirty="0">
                <a:latin typeface="Arial"/>
                <a:cs typeface="Arial"/>
              </a:rPr>
              <a:t>&lt;&lt;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&lt;&lt;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60426" y="586432"/>
            <a:ext cx="3824435" cy="4757839"/>
          </a:xfrm>
          <a:custGeom>
            <a:avLst/>
            <a:gdLst/>
            <a:ahLst/>
            <a:cxnLst/>
            <a:rect l="l" t="t" r="r" b="b"/>
            <a:pathLst>
              <a:path w="5963284" h="7418705">
                <a:moveTo>
                  <a:pt x="6096" y="0"/>
                </a:moveTo>
                <a:lnTo>
                  <a:pt x="0" y="0"/>
                </a:lnTo>
                <a:lnTo>
                  <a:pt x="0" y="7412482"/>
                </a:lnTo>
                <a:lnTo>
                  <a:pt x="6096" y="7412482"/>
                </a:lnTo>
                <a:lnTo>
                  <a:pt x="6096" y="0"/>
                </a:lnTo>
                <a:close/>
              </a:path>
              <a:path w="5963284" h="7418705">
                <a:moveTo>
                  <a:pt x="5956681" y="7412495"/>
                </a:moveTo>
                <a:lnTo>
                  <a:pt x="6096" y="7412495"/>
                </a:lnTo>
                <a:lnTo>
                  <a:pt x="0" y="7412495"/>
                </a:lnTo>
                <a:lnTo>
                  <a:pt x="0" y="7418578"/>
                </a:lnTo>
                <a:lnTo>
                  <a:pt x="6096" y="7418578"/>
                </a:lnTo>
                <a:lnTo>
                  <a:pt x="5956681" y="7418578"/>
                </a:lnTo>
                <a:lnTo>
                  <a:pt x="5956681" y="7412495"/>
                </a:lnTo>
                <a:close/>
              </a:path>
              <a:path w="5963284" h="7418705">
                <a:moveTo>
                  <a:pt x="5962840" y="7412495"/>
                </a:moveTo>
                <a:lnTo>
                  <a:pt x="5956757" y="7412495"/>
                </a:lnTo>
                <a:lnTo>
                  <a:pt x="5956757" y="7418578"/>
                </a:lnTo>
                <a:lnTo>
                  <a:pt x="5962840" y="7418578"/>
                </a:lnTo>
                <a:lnTo>
                  <a:pt x="5962840" y="7412495"/>
                </a:lnTo>
                <a:close/>
              </a:path>
              <a:path w="5963284" h="7418705">
                <a:moveTo>
                  <a:pt x="5962840" y="0"/>
                </a:moveTo>
                <a:lnTo>
                  <a:pt x="5956744" y="0"/>
                </a:lnTo>
                <a:lnTo>
                  <a:pt x="5956744" y="7412482"/>
                </a:lnTo>
                <a:lnTo>
                  <a:pt x="5962840" y="7412482"/>
                </a:lnTo>
                <a:lnTo>
                  <a:pt x="5962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7"/>
            <a:ext cx="3820362" cy="2079047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1222" rIns="0" bIns="0" rtlCol="0">
            <a:spAutoFit/>
          </a:bodyPr>
          <a:lstStyle/>
          <a:p>
            <a:pPr>
              <a:spcBef>
                <a:spcPts val="10"/>
              </a:spcBef>
            </a:pPr>
            <a:endParaRPr sz="1026">
              <a:latin typeface="Times New Roman"/>
              <a:cs typeface="Times New Roman"/>
            </a:endParaRPr>
          </a:p>
          <a:p>
            <a:pPr marL="62306" marR="2227523">
              <a:lnSpc>
                <a:spcPct val="150600"/>
              </a:lnSpc>
            </a:pPr>
            <a:r>
              <a:rPr sz="705" spc="58" dirty="0">
                <a:latin typeface="Arial"/>
                <a:cs typeface="Arial"/>
              </a:rPr>
              <a:t>document.write("(a </a:t>
            </a:r>
            <a:r>
              <a:rPr sz="705" spc="-29" dirty="0">
                <a:latin typeface="Arial"/>
                <a:cs typeface="Arial"/>
              </a:rPr>
              <a:t>&gt;&gt;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&gt;&gt;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737">
              <a:latin typeface="Arial"/>
              <a:cs typeface="Arial"/>
            </a:endParaRPr>
          </a:p>
          <a:p>
            <a:pPr marL="62306" marR="161669">
              <a:lnSpc>
                <a:spcPct val="104500"/>
              </a:lnSpc>
              <a:spcBef>
                <a:spcPts val="3"/>
              </a:spcBef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3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2736765"/>
            <a:ext cx="277333" cy="117127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spc="-3" dirty="0">
                <a:latin typeface="Carlito"/>
                <a:cs typeface="Carlito"/>
              </a:rPr>
              <a:t>Outpu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2911066"/>
            <a:ext cx="3820362" cy="1120372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7466" rIns="0" bIns="0" rtlCol="0">
            <a:spAutoFit/>
          </a:bodyPr>
          <a:lstStyle/>
          <a:p>
            <a:pPr marL="62306" marR="3161292" algn="just">
              <a:lnSpc>
                <a:spcPct val="105500"/>
              </a:lnSpc>
              <a:spcBef>
                <a:spcPts val="294"/>
              </a:spcBef>
            </a:pP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83" dirty="0">
                <a:latin typeface="Arial"/>
                <a:cs typeface="Arial"/>
              </a:rPr>
              <a:t>&amp;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2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205" dirty="0">
                <a:latin typeface="Arial"/>
                <a:cs typeface="Arial"/>
              </a:rPr>
              <a:t>|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3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58" dirty="0">
                <a:latin typeface="Arial"/>
                <a:cs typeface="Arial"/>
              </a:rPr>
              <a:t>^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1  </a:t>
            </a:r>
            <a:r>
              <a:rPr sz="705" spc="67" dirty="0">
                <a:latin typeface="Arial"/>
                <a:cs typeface="Arial"/>
              </a:rPr>
              <a:t>(~b) </a:t>
            </a:r>
            <a:r>
              <a:rPr sz="705" spc="-26" dirty="0">
                <a:latin typeface="Arial"/>
                <a:cs typeface="Arial"/>
              </a:rPr>
              <a:t>=&gt;</a:t>
            </a:r>
            <a:r>
              <a:rPr sz="705" spc="19" dirty="0">
                <a:latin typeface="Arial"/>
                <a:cs typeface="Arial"/>
              </a:rPr>
              <a:t> </a:t>
            </a:r>
            <a:r>
              <a:rPr sz="705" spc="71" dirty="0">
                <a:latin typeface="Arial"/>
                <a:cs typeface="Arial"/>
              </a:rPr>
              <a:t>-4</a:t>
            </a:r>
            <a:endParaRPr sz="705">
              <a:latin typeface="Arial"/>
              <a:cs typeface="Arial"/>
            </a:endParaRPr>
          </a:p>
          <a:p>
            <a:pPr marL="62306" marR="3062743" algn="just">
              <a:lnSpc>
                <a:spcPct val="104500"/>
              </a:lnSpc>
              <a:spcBef>
                <a:spcPts val="10"/>
              </a:spcBef>
            </a:pP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&lt;&lt;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16 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&gt;&gt; </a:t>
            </a:r>
            <a:r>
              <a:rPr sz="705" spc="71" dirty="0">
                <a:latin typeface="Arial"/>
                <a:cs typeface="Arial"/>
              </a:rPr>
              <a:t>b)</a:t>
            </a:r>
            <a:r>
              <a:rPr sz="705" spc="103" dirty="0">
                <a:latin typeface="Arial"/>
                <a:cs typeface="Arial"/>
              </a:rPr>
              <a:t>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0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309084">
              <a:lnSpc>
                <a:spcPct val="105500"/>
              </a:lnSpc>
              <a:spcBef>
                <a:spcPts val="465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6417" y="4106269"/>
            <a:ext cx="3852127" cy="462899"/>
          </a:xfrm>
          <a:prstGeom prst="rect">
            <a:avLst/>
          </a:prstGeom>
        </p:spPr>
        <p:txBody>
          <a:bodyPr vert="horz" wrap="square" lIns="0" tIns="111585" rIns="0" bIns="0" rtlCol="0">
            <a:spAutoFit/>
          </a:bodyPr>
          <a:lstStyle/>
          <a:p>
            <a:pPr marL="8145">
              <a:spcBef>
                <a:spcPts val="879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Assignment</a:t>
            </a:r>
            <a:r>
              <a:rPr sz="1154" b="1" u="sng" spc="-189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>
              <a:spcBef>
                <a:spcPts val="503"/>
              </a:spcBef>
            </a:pPr>
            <a:r>
              <a:rPr sz="705" spc="-3" dirty="0">
                <a:latin typeface="Verdana"/>
                <a:cs typeface="Verdana"/>
              </a:rPr>
              <a:t>JavaScript supports </a:t>
            </a: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</a:t>
            </a:r>
            <a:r>
              <a:rPr sz="705" dirty="0">
                <a:latin typeface="Verdana"/>
                <a:cs typeface="Verdana"/>
              </a:rPr>
              <a:t>assignment</a:t>
            </a:r>
            <a:r>
              <a:rPr sz="705" spc="-16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operators: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19069" y="4642182"/>
          <a:ext cx="3700225" cy="682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16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S.No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 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1358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(Simple Assignment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Assigns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values from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right side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 the left side</a:t>
                      </a:r>
                      <a:r>
                        <a:rPr sz="7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19069" y="586433"/>
          <a:ext cx="3700225" cy="3898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3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A + B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will assign the 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of A + B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into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710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0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2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+=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(Add and</a:t>
                      </a:r>
                      <a:r>
                        <a:rPr sz="700" b="1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Assignment)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9370">
                        <a:lnSpc>
                          <a:spcPct val="108200"/>
                        </a:lnSpc>
                        <a:spcBef>
                          <a:spcPts val="8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adds the right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 the left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 and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assigns the result to</a:t>
                      </a:r>
                      <a:r>
                        <a:rPr sz="700" spc="-1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 left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+=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C +</a:t>
                      </a:r>
                      <a:r>
                        <a:rPr sz="7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3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-=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(Subtract and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Assignment)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8735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subtracts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from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7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assigns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result  to the left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-=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C -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4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*=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(Multiply and</a:t>
                      </a:r>
                      <a:r>
                        <a:rPr sz="700" b="1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Assignment)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6830">
                        <a:lnSpc>
                          <a:spcPct val="109100"/>
                        </a:lnSpc>
                        <a:spcBef>
                          <a:spcPts val="81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multiplies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assigns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result  to the left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*=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C *</a:t>
                      </a:r>
                      <a:r>
                        <a:rPr sz="7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22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5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/= (Divide and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Assignment)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7465">
                        <a:lnSpc>
                          <a:spcPct val="108300"/>
                        </a:lnSpc>
                        <a:spcBef>
                          <a:spcPts val="8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divides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left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with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right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assigns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result</a:t>
                      </a:r>
                      <a:r>
                        <a:rPr sz="7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to  the left</a:t>
                      </a:r>
                      <a:r>
                        <a:rPr sz="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/=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C /</a:t>
                      </a:r>
                      <a:r>
                        <a:rPr sz="7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74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6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%=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(Modules and</a:t>
                      </a:r>
                      <a:r>
                        <a:rPr sz="700" b="1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Assignment)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 marR="36830">
                        <a:lnSpc>
                          <a:spcPct val="108200"/>
                        </a:lnSpc>
                        <a:spcBef>
                          <a:spcPts val="83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It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takes modulus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using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two operands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and assigns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result to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the left  operand.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Ex: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%= A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equivalent to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C = C %</a:t>
                      </a:r>
                      <a:r>
                        <a:rPr sz="7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A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58146" y="4671324"/>
            <a:ext cx="3829321" cy="53644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 marR="3258">
              <a:lnSpc>
                <a:spcPct val="108400"/>
              </a:lnSpc>
              <a:spcBef>
                <a:spcPts val="64"/>
              </a:spcBef>
            </a:pPr>
            <a:r>
              <a:rPr sz="705" b="1" dirty="0">
                <a:latin typeface="Verdana"/>
                <a:cs typeface="Verdana"/>
              </a:rPr>
              <a:t>Note:</a:t>
            </a:r>
            <a:r>
              <a:rPr sz="705" b="1" spc="3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Same</a:t>
            </a:r>
            <a:r>
              <a:rPr sz="705" spc="-4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logic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applies</a:t>
            </a:r>
            <a:r>
              <a:rPr sz="705" spc="-4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to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Bitwise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operators,</a:t>
            </a:r>
            <a:r>
              <a:rPr sz="705" spc="-51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so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they</a:t>
            </a:r>
            <a:r>
              <a:rPr sz="705" spc="-4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will</a:t>
            </a:r>
            <a:r>
              <a:rPr sz="705" spc="-5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become</a:t>
            </a:r>
            <a:r>
              <a:rPr sz="705" spc="-51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&lt;&lt;=,</a:t>
            </a:r>
            <a:r>
              <a:rPr sz="705" spc="-51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&gt;&gt;=,</a:t>
            </a:r>
            <a:r>
              <a:rPr sz="705" spc="-5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&gt;&gt;=,  </a:t>
            </a:r>
            <a:r>
              <a:rPr sz="705" dirty="0">
                <a:latin typeface="Verdana"/>
                <a:cs typeface="Verdana"/>
              </a:rPr>
              <a:t>&amp;=, |= and</a:t>
            </a:r>
            <a:r>
              <a:rPr sz="705" spc="-19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^=.</a:t>
            </a:r>
            <a:endParaRPr sz="705">
              <a:latin typeface="Verdana"/>
              <a:cs typeface="Verdana"/>
            </a:endParaRPr>
          </a:p>
          <a:p>
            <a:pPr marL="8145">
              <a:spcBef>
                <a:spcPts val="561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>
              <a:spcBef>
                <a:spcPts val="45"/>
              </a:spcBef>
            </a:pPr>
            <a:r>
              <a:rPr sz="705" dirty="0">
                <a:latin typeface="Verdana"/>
                <a:cs typeface="Verdana"/>
              </a:rPr>
              <a:t>Try </a:t>
            </a:r>
            <a:r>
              <a:rPr sz="705" spc="-3" dirty="0">
                <a:latin typeface="Verdana"/>
                <a:cs typeface="Verdana"/>
              </a:rPr>
              <a:t>the following </a:t>
            </a:r>
            <a:r>
              <a:rPr sz="705" dirty="0">
                <a:latin typeface="Verdana"/>
                <a:cs typeface="Verdana"/>
              </a:rPr>
              <a:t>code </a:t>
            </a:r>
            <a:r>
              <a:rPr sz="705" spc="-3" dirty="0">
                <a:latin typeface="Verdana"/>
                <a:cs typeface="Verdana"/>
              </a:rPr>
              <a:t>to implement assignment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6" dirty="0">
                <a:latin typeface="Verdana"/>
                <a:cs typeface="Verdana"/>
              </a:rPr>
              <a:t>in</a:t>
            </a:r>
            <a:r>
              <a:rPr sz="70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64335" y="586433"/>
            <a:ext cx="3816290" cy="4072"/>
          </a:xfrm>
          <a:custGeom>
            <a:avLst/>
            <a:gdLst/>
            <a:ahLst/>
            <a:cxnLst/>
            <a:rect l="l" t="t" r="r" b="b"/>
            <a:pathLst>
              <a:path w="5950584" h="6350">
                <a:moveTo>
                  <a:pt x="5950585" y="0"/>
                </a:moveTo>
                <a:lnTo>
                  <a:pt x="0" y="0"/>
                </a:lnTo>
                <a:lnTo>
                  <a:pt x="0" y="6096"/>
                </a:lnTo>
                <a:lnTo>
                  <a:pt x="5950585" y="6096"/>
                </a:lnTo>
                <a:lnTo>
                  <a:pt x="59505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  <p:sp>
        <p:nvSpPr>
          <p:cNvPr id="3" name="object 3"/>
          <p:cNvSpPr txBox="1"/>
          <p:nvPr/>
        </p:nvSpPr>
        <p:spPr>
          <a:xfrm>
            <a:off x="2716788" y="569068"/>
            <a:ext cx="2233330" cy="3772614"/>
          </a:xfrm>
          <a:prstGeom prst="rect">
            <a:avLst/>
          </a:prstGeom>
        </p:spPr>
        <p:txBody>
          <a:bodyPr vert="horz" wrap="square" lIns="0" tIns="62716" rIns="0" bIns="0" rtlCol="0">
            <a:spAutoFit/>
          </a:bodyPr>
          <a:lstStyle/>
          <a:p>
            <a:pPr marL="8145">
              <a:spcBef>
                <a:spcPts val="494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8145">
              <a:spcBef>
                <a:spcPts val="430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8145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6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8145">
              <a:spcBef>
                <a:spcPts val="423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8145" marR="1678584">
              <a:lnSpc>
                <a:spcPct val="150900"/>
              </a:lnSpc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8" dirty="0">
                <a:latin typeface="Arial"/>
                <a:cs typeface="Arial"/>
              </a:rPr>
              <a:t>33;  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16" dirty="0">
                <a:latin typeface="Arial"/>
                <a:cs typeface="Arial"/>
              </a:rPr>
              <a:t> </a:t>
            </a:r>
            <a:r>
              <a:rPr sz="705" spc="58" dirty="0">
                <a:latin typeface="Arial"/>
                <a:cs typeface="Arial"/>
              </a:rPr>
              <a:t>10;</a:t>
            </a:r>
            <a:endParaRPr sz="705">
              <a:latin typeface="Arial"/>
              <a:cs typeface="Arial"/>
            </a:endParaRPr>
          </a:p>
          <a:p>
            <a:pPr marL="8145">
              <a:spcBef>
                <a:spcPts val="43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35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54568">
              <a:lnSpc>
                <a:spcPct val="150000"/>
              </a:lnSpc>
              <a:spcBef>
                <a:spcPts val="475"/>
              </a:spcBef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3" dirty="0">
                <a:latin typeface="Arial"/>
                <a:cs typeface="Arial"/>
              </a:rPr>
              <a:t> </a:t>
            </a:r>
            <a:r>
              <a:rPr sz="705" spc="112" dirty="0">
                <a:latin typeface="Arial"/>
                <a:cs typeface="Arial"/>
              </a:rPr>
              <a:t>b);</a:t>
            </a:r>
            <a:endParaRPr sz="705">
              <a:latin typeface="Arial"/>
              <a:cs typeface="Arial"/>
            </a:endParaRPr>
          </a:p>
          <a:p>
            <a:pPr marL="8145" marR="940691">
              <a:lnSpc>
                <a:spcPct val="150900"/>
              </a:lnSpc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8145" marR="5701">
              <a:lnSpc>
                <a:spcPct val="150900"/>
              </a:lnSpc>
              <a:spcBef>
                <a:spcPts val="465"/>
              </a:spcBef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29" dirty="0">
                <a:latin typeface="Arial"/>
                <a:cs typeface="Arial"/>
              </a:rPr>
              <a:t>+=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+=</a:t>
            </a:r>
            <a:r>
              <a:rPr sz="705" spc="-3" dirty="0">
                <a:latin typeface="Arial"/>
                <a:cs typeface="Arial"/>
              </a:rPr>
              <a:t> </a:t>
            </a:r>
            <a:r>
              <a:rPr sz="705" spc="112" dirty="0">
                <a:latin typeface="Arial"/>
                <a:cs typeface="Arial"/>
              </a:rPr>
              <a:t>b);</a:t>
            </a:r>
            <a:endParaRPr sz="705">
              <a:latin typeface="Arial"/>
              <a:cs typeface="Arial"/>
            </a:endParaRPr>
          </a:p>
          <a:p>
            <a:pPr marL="8145" marR="940691">
              <a:lnSpc>
                <a:spcPts val="1276"/>
              </a:lnSpc>
              <a:spcBef>
                <a:spcPts val="109"/>
              </a:spcBef>
            </a:pPr>
            <a:r>
              <a:rPr sz="705" spc="73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spcBef>
                <a:spcPts val="22"/>
              </a:spcBef>
            </a:pPr>
            <a:endParaRPr sz="994">
              <a:latin typeface="Arial"/>
              <a:cs typeface="Arial"/>
            </a:endParaRPr>
          </a:p>
          <a:p>
            <a:pPr marL="8145" marR="3258">
              <a:lnSpc>
                <a:spcPct val="150900"/>
              </a:lnSpc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61" dirty="0">
                <a:latin typeface="Arial"/>
                <a:cs typeface="Arial"/>
              </a:rPr>
              <a:t>-=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67" dirty="0">
                <a:latin typeface="Arial"/>
                <a:cs typeface="Arial"/>
              </a:rPr>
              <a:t>-=</a:t>
            </a:r>
            <a:r>
              <a:rPr sz="705" spc="173" dirty="0">
                <a:latin typeface="Arial"/>
                <a:cs typeface="Arial"/>
              </a:rPr>
              <a:t> </a:t>
            </a:r>
            <a:r>
              <a:rPr sz="705" spc="112" dirty="0">
                <a:latin typeface="Arial"/>
                <a:cs typeface="Arial"/>
              </a:rPr>
              <a:t>b);</a:t>
            </a:r>
            <a:endParaRPr sz="705">
              <a:latin typeface="Arial"/>
              <a:cs typeface="Arial"/>
            </a:endParaRPr>
          </a:p>
          <a:p>
            <a:pPr marL="8145" marR="940691">
              <a:lnSpc>
                <a:spcPct val="150000"/>
              </a:lnSpc>
              <a:spcBef>
                <a:spcPts val="10"/>
              </a:spcBef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36852" y="4513819"/>
            <a:ext cx="459372" cy="11671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</a:t>
            </a:r>
            <a:r>
              <a:rPr sz="705" spc="80" dirty="0">
                <a:latin typeface="Arial"/>
                <a:cs typeface="Arial"/>
              </a:rPr>
              <a:t> </a:t>
            </a:r>
            <a:r>
              <a:rPr sz="705" spc="157" dirty="0">
                <a:latin typeface="Arial"/>
                <a:cs typeface="Arial"/>
              </a:rPr>
              <a:t>");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16789" y="4459476"/>
            <a:ext cx="1738527" cy="642796"/>
          </a:xfrm>
          <a:prstGeom prst="rect">
            <a:avLst/>
          </a:prstGeom>
        </p:spPr>
        <p:txBody>
          <a:bodyPr vert="horz" wrap="square" lIns="0" tIns="7738" rIns="0" bIns="0" rtlCol="0">
            <a:spAutoFit/>
          </a:bodyPr>
          <a:lstStyle/>
          <a:p>
            <a:pPr marL="8145" marR="3258">
              <a:lnSpc>
                <a:spcPct val="151000"/>
              </a:lnSpc>
              <a:spcBef>
                <a:spcPts val="61"/>
              </a:spcBef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42" dirty="0">
                <a:latin typeface="Arial"/>
                <a:cs typeface="Arial"/>
              </a:rPr>
              <a:t>*=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45" dirty="0">
                <a:latin typeface="Arial"/>
                <a:cs typeface="Arial"/>
              </a:rPr>
              <a:t>*= </a:t>
            </a:r>
            <a:r>
              <a:rPr sz="705" spc="112" dirty="0">
                <a:latin typeface="Arial"/>
                <a:cs typeface="Arial"/>
              </a:rPr>
              <a:t>b);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660426" y="586432"/>
            <a:ext cx="3824435" cy="4757839"/>
          </a:xfrm>
          <a:custGeom>
            <a:avLst/>
            <a:gdLst/>
            <a:ahLst/>
            <a:cxnLst/>
            <a:rect l="l" t="t" r="r" b="b"/>
            <a:pathLst>
              <a:path w="5963284" h="7418705">
                <a:moveTo>
                  <a:pt x="6096" y="0"/>
                </a:moveTo>
                <a:lnTo>
                  <a:pt x="0" y="0"/>
                </a:lnTo>
                <a:lnTo>
                  <a:pt x="0" y="7412482"/>
                </a:lnTo>
                <a:lnTo>
                  <a:pt x="6096" y="7412482"/>
                </a:lnTo>
                <a:lnTo>
                  <a:pt x="6096" y="0"/>
                </a:lnTo>
                <a:close/>
              </a:path>
              <a:path w="5963284" h="7418705">
                <a:moveTo>
                  <a:pt x="5956681" y="7412495"/>
                </a:moveTo>
                <a:lnTo>
                  <a:pt x="6096" y="7412495"/>
                </a:lnTo>
                <a:lnTo>
                  <a:pt x="0" y="7412495"/>
                </a:lnTo>
                <a:lnTo>
                  <a:pt x="0" y="7418578"/>
                </a:lnTo>
                <a:lnTo>
                  <a:pt x="6096" y="7418578"/>
                </a:lnTo>
                <a:lnTo>
                  <a:pt x="5956681" y="7418578"/>
                </a:lnTo>
                <a:lnTo>
                  <a:pt x="5956681" y="7412495"/>
                </a:lnTo>
                <a:close/>
              </a:path>
              <a:path w="5963284" h="7418705">
                <a:moveTo>
                  <a:pt x="5962840" y="7412495"/>
                </a:moveTo>
                <a:lnTo>
                  <a:pt x="5956757" y="7412495"/>
                </a:lnTo>
                <a:lnTo>
                  <a:pt x="5956757" y="7418578"/>
                </a:lnTo>
                <a:lnTo>
                  <a:pt x="5962840" y="7418578"/>
                </a:lnTo>
                <a:lnTo>
                  <a:pt x="5962840" y="7412495"/>
                </a:lnTo>
                <a:close/>
              </a:path>
              <a:path w="5963284" h="7418705">
                <a:moveTo>
                  <a:pt x="5962840" y="0"/>
                </a:moveTo>
                <a:lnTo>
                  <a:pt x="5956744" y="0"/>
                </a:lnTo>
                <a:lnTo>
                  <a:pt x="5956744" y="7412482"/>
                </a:lnTo>
                <a:lnTo>
                  <a:pt x="5962840" y="7412482"/>
                </a:lnTo>
                <a:lnTo>
                  <a:pt x="596284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154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7"/>
            <a:ext cx="3820362" cy="2745259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258" rIns="0" bIns="0" rtlCol="0">
            <a:spAutoFit/>
          </a:bodyPr>
          <a:lstStyle/>
          <a:p>
            <a:pPr marL="62306" marR="1538498">
              <a:lnSpc>
                <a:spcPts val="1276"/>
              </a:lnSpc>
              <a:spcBef>
                <a:spcPts val="26"/>
              </a:spcBef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80" dirty="0">
                <a:latin typeface="Arial"/>
                <a:cs typeface="Arial"/>
              </a:rPr>
              <a:t>/=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83" dirty="0">
                <a:latin typeface="Arial"/>
                <a:cs typeface="Arial"/>
              </a:rPr>
              <a:t>/=</a:t>
            </a:r>
            <a:r>
              <a:rPr sz="705" spc="167" dirty="0">
                <a:latin typeface="Arial"/>
                <a:cs typeface="Arial"/>
              </a:rPr>
              <a:t> </a:t>
            </a:r>
            <a:r>
              <a:rPr sz="705" spc="112" dirty="0">
                <a:latin typeface="Arial"/>
                <a:cs typeface="Arial"/>
              </a:rPr>
              <a:t>b);</a:t>
            </a:r>
            <a:endParaRPr sz="705">
              <a:latin typeface="Arial"/>
              <a:cs typeface="Arial"/>
            </a:endParaRPr>
          </a:p>
          <a:p>
            <a:pPr marL="62306" marR="2473488">
              <a:lnSpc>
                <a:spcPts val="1276"/>
              </a:lnSpc>
              <a:spcBef>
                <a:spcPts val="3"/>
              </a:spcBef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994">
              <a:latin typeface="Arial"/>
              <a:cs typeface="Arial"/>
            </a:endParaRPr>
          </a:p>
          <a:p>
            <a:pPr marL="62306" marR="1538498">
              <a:lnSpc>
                <a:spcPct val="150900"/>
              </a:lnSpc>
            </a:pPr>
            <a:r>
              <a:rPr sz="705" spc="48" dirty="0">
                <a:latin typeface="Arial"/>
                <a:cs typeface="Arial"/>
              </a:rPr>
              <a:t>document.write("Value </a:t>
            </a:r>
            <a:r>
              <a:rPr sz="705" spc="93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73" dirty="0">
                <a:latin typeface="Arial"/>
                <a:cs typeface="Arial"/>
              </a:rPr>
              <a:t>(a </a:t>
            </a:r>
            <a:r>
              <a:rPr sz="705" spc="-135" dirty="0">
                <a:latin typeface="Arial"/>
                <a:cs typeface="Arial"/>
              </a:rPr>
              <a:t>%=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131" dirty="0">
                <a:latin typeface="Arial"/>
                <a:cs typeface="Arial"/>
              </a:rPr>
              <a:t>%=</a:t>
            </a:r>
            <a:r>
              <a:rPr sz="705" spc="-90" dirty="0">
                <a:latin typeface="Arial"/>
                <a:cs typeface="Arial"/>
              </a:rPr>
              <a:t> </a:t>
            </a:r>
            <a:r>
              <a:rPr sz="705" spc="112" dirty="0">
                <a:latin typeface="Arial"/>
                <a:cs typeface="Arial"/>
              </a:rPr>
              <a:t>b);</a:t>
            </a:r>
            <a:endParaRPr sz="705">
              <a:latin typeface="Arial"/>
              <a:cs typeface="Arial"/>
            </a:endParaRPr>
          </a:p>
          <a:p>
            <a:pPr marL="62306" marR="2473488">
              <a:lnSpc>
                <a:spcPct val="150900"/>
              </a:lnSpc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37">
              <a:latin typeface="Arial"/>
              <a:cs typeface="Arial"/>
            </a:endParaRPr>
          </a:p>
          <a:p>
            <a:pPr marL="62306" marR="161669">
              <a:lnSpc>
                <a:spcPct val="105500"/>
              </a:lnSpc>
              <a:spcBef>
                <a:spcPts val="3"/>
              </a:spcBef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3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3494403"/>
            <a:ext cx="277333" cy="117127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dirty="0">
                <a:latin typeface="Carlito"/>
                <a:cs typeface="Carlito"/>
              </a:rPr>
              <a:t>O</a:t>
            </a:r>
            <a:r>
              <a:rPr sz="705" spc="-3" dirty="0">
                <a:latin typeface="Carlito"/>
                <a:cs typeface="Carlito"/>
              </a:rPr>
              <a:t>u</a:t>
            </a:r>
            <a:r>
              <a:rPr sz="705" dirty="0">
                <a:latin typeface="Carlito"/>
                <a:cs typeface="Carlito"/>
              </a:rPr>
              <a:t>tp</a:t>
            </a:r>
            <a:r>
              <a:rPr sz="705" spc="-6" dirty="0">
                <a:latin typeface="Carlito"/>
                <a:cs typeface="Carlito"/>
              </a:rPr>
              <a:t>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3668704"/>
            <a:ext cx="3820362" cy="1122552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7466" rIns="0" bIns="0" rtlCol="0">
            <a:spAutoFit/>
          </a:bodyPr>
          <a:lstStyle/>
          <a:p>
            <a:pPr marL="62306" marR="2324036">
              <a:lnSpc>
                <a:spcPct val="105500"/>
              </a:lnSpc>
              <a:spcBef>
                <a:spcPts val="294"/>
              </a:spcBef>
            </a:pP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-3" dirty="0">
                <a:latin typeface="Arial"/>
                <a:cs typeface="Arial"/>
              </a:rPr>
              <a:t>10  </a:t>
            </a: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+=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6" dirty="0">
                <a:latin typeface="Arial"/>
                <a:cs typeface="Arial"/>
              </a:rPr>
              <a:t>20  </a:t>
            </a: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67" dirty="0">
                <a:latin typeface="Arial"/>
                <a:cs typeface="Arial"/>
              </a:rPr>
              <a:t>-=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6" dirty="0">
                <a:latin typeface="Arial"/>
                <a:cs typeface="Arial"/>
              </a:rPr>
              <a:t>10  </a:t>
            </a: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45" dirty="0">
                <a:latin typeface="Arial"/>
                <a:cs typeface="Arial"/>
              </a:rPr>
              <a:t>*=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6" dirty="0">
                <a:latin typeface="Arial"/>
                <a:cs typeface="Arial"/>
              </a:rPr>
              <a:t>100  </a:t>
            </a: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83" dirty="0">
                <a:latin typeface="Arial"/>
                <a:cs typeface="Arial"/>
              </a:rPr>
              <a:t>/=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-6" dirty="0">
                <a:latin typeface="Arial"/>
                <a:cs typeface="Arial"/>
              </a:rPr>
              <a:t>10  </a:t>
            </a:r>
            <a:r>
              <a:rPr sz="705" spc="26" dirty="0">
                <a:latin typeface="Arial"/>
                <a:cs typeface="Arial"/>
              </a:rPr>
              <a:t>Value </a:t>
            </a:r>
            <a:r>
              <a:rPr sz="705" spc="90" dirty="0">
                <a:latin typeface="Arial"/>
                <a:cs typeface="Arial"/>
              </a:rPr>
              <a:t>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131" dirty="0">
                <a:latin typeface="Arial"/>
                <a:cs typeface="Arial"/>
              </a:rPr>
              <a:t>%= </a:t>
            </a:r>
            <a:r>
              <a:rPr sz="705" spc="73" dirty="0">
                <a:latin typeface="Arial"/>
                <a:cs typeface="Arial"/>
              </a:rPr>
              <a:t>b)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-58" dirty="0">
                <a:latin typeface="Arial"/>
                <a:cs typeface="Arial"/>
              </a:rPr>
              <a:t> </a:t>
            </a:r>
            <a:r>
              <a:rPr sz="705" spc="-3" dirty="0">
                <a:latin typeface="Arial"/>
                <a:cs typeface="Arial"/>
              </a:rPr>
              <a:t>0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309084">
              <a:lnSpc>
                <a:spcPct val="105500"/>
              </a:lnSpc>
              <a:spcBef>
                <a:spcPts val="455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417" y="566721"/>
            <a:ext cx="3852127" cy="1163092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  <a:tabLst>
                <a:tab pos="3843394" algn="l"/>
              </a:tabLst>
            </a:pPr>
            <a:r>
              <a:rPr sz="1154" u="sng" spc="-19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4" b="1" u="sng" spc="-7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Miscellaneous</a:t>
            </a:r>
            <a:r>
              <a:rPr sz="1154" b="1" u="sng" spc="-176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54" b="1" u="sng" spc="-73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Operators	</a:t>
            </a:r>
            <a:endParaRPr sz="1154">
              <a:latin typeface="Arial"/>
              <a:cs typeface="Arial"/>
            </a:endParaRPr>
          </a:p>
          <a:p>
            <a:pPr marL="19547" algn="just">
              <a:spcBef>
                <a:spcPts val="510"/>
              </a:spcBef>
            </a:pPr>
            <a:r>
              <a:rPr sz="705" dirty="0">
                <a:latin typeface="Verdana"/>
                <a:cs typeface="Verdana"/>
              </a:rPr>
              <a:t>We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will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discuss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two</a:t>
            </a:r>
            <a:r>
              <a:rPr sz="705" spc="67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operators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here</a:t>
            </a:r>
            <a:r>
              <a:rPr sz="705" spc="61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that</a:t>
            </a:r>
            <a:r>
              <a:rPr sz="705" spc="5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are</a:t>
            </a:r>
            <a:r>
              <a:rPr sz="705" spc="64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quite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useful</a:t>
            </a:r>
            <a:r>
              <a:rPr sz="705" spc="5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in</a:t>
            </a:r>
            <a:r>
              <a:rPr sz="705" spc="5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JavaScript:</a:t>
            </a:r>
            <a:r>
              <a:rPr sz="705" spc="93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</a:t>
            </a:r>
            <a:endParaRPr sz="705">
              <a:latin typeface="Verdana"/>
              <a:cs typeface="Verdana"/>
            </a:endParaRPr>
          </a:p>
          <a:p>
            <a:pPr marL="19547" algn="just">
              <a:spcBef>
                <a:spcPts val="67"/>
              </a:spcBef>
            </a:pPr>
            <a:r>
              <a:rPr sz="705" b="1" spc="-3" dirty="0">
                <a:latin typeface="Verdana"/>
                <a:cs typeface="Verdana"/>
              </a:rPr>
              <a:t>conditional operator (? :) </a:t>
            </a:r>
            <a:r>
              <a:rPr sz="705" spc="-3" dirty="0">
                <a:latin typeface="Verdana"/>
                <a:cs typeface="Verdana"/>
              </a:rPr>
              <a:t>and the </a:t>
            </a:r>
            <a:r>
              <a:rPr sz="705" b="1" spc="-3" dirty="0">
                <a:latin typeface="Verdana"/>
                <a:cs typeface="Verdana"/>
              </a:rPr>
              <a:t>typeof</a:t>
            </a:r>
            <a:r>
              <a:rPr sz="705" b="1" spc="19" dirty="0">
                <a:latin typeface="Verdana"/>
                <a:cs typeface="Verdana"/>
              </a:rPr>
              <a:t> </a:t>
            </a:r>
            <a:r>
              <a:rPr sz="705" b="1" spc="-3" dirty="0">
                <a:latin typeface="Verdana"/>
                <a:cs typeface="Verdana"/>
              </a:rPr>
              <a:t>operator</a:t>
            </a:r>
            <a:r>
              <a:rPr sz="705" spc="-3" dirty="0">
                <a:latin typeface="Verdana"/>
                <a:cs typeface="Verdana"/>
              </a:rPr>
              <a:t>.</a:t>
            </a:r>
            <a:endParaRPr sz="705">
              <a:latin typeface="Verdana"/>
              <a:cs typeface="Verdana"/>
            </a:endParaRPr>
          </a:p>
          <a:p>
            <a:pPr>
              <a:spcBef>
                <a:spcPts val="35"/>
              </a:spcBef>
            </a:pPr>
            <a:endParaRPr sz="930">
              <a:latin typeface="Verdana"/>
              <a:cs typeface="Verdana"/>
            </a:endParaRPr>
          </a:p>
          <a:p>
            <a:pPr marL="19547"/>
            <a:r>
              <a:rPr sz="1026" b="1" spc="-73" dirty="0">
                <a:latin typeface="Arial"/>
                <a:cs typeface="Arial"/>
              </a:rPr>
              <a:t>Conditional</a:t>
            </a:r>
            <a:r>
              <a:rPr sz="1026" b="1" spc="-167" dirty="0">
                <a:latin typeface="Arial"/>
                <a:cs typeface="Arial"/>
              </a:rPr>
              <a:t> </a:t>
            </a:r>
            <a:r>
              <a:rPr sz="1026" b="1" spc="-73" dirty="0">
                <a:latin typeface="Arial"/>
                <a:cs typeface="Arial"/>
              </a:rPr>
              <a:t>Operator</a:t>
            </a:r>
            <a:r>
              <a:rPr sz="1026" b="1" spc="-154" dirty="0">
                <a:latin typeface="Arial"/>
                <a:cs typeface="Arial"/>
              </a:rPr>
              <a:t> </a:t>
            </a:r>
            <a:r>
              <a:rPr sz="1026" b="1" spc="-42" dirty="0">
                <a:latin typeface="Arial"/>
                <a:cs typeface="Arial"/>
              </a:rPr>
              <a:t>(?</a:t>
            </a:r>
            <a:r>
              <a:rPr sz="1026" b="1" spc="-157" dirty="0">
                <a:latin typeface="Arial"/>
                <a:cs typeface="Arial"/>
              </a:rPr>
              <a:t> </a:t>
            </a:r>
            <a:r>
              <a:rPr sz="1026" b="1" spc="-42" dirty="0">
                <a:latin typeface="Arial"/>
                <a:cs typeface="Arial"/>
              </a:rPr>
              <a:t>:)</a:t>
            </a:r>
            <a:endParaRPr sz="1026">
              <a:latin typeface="Arial"/>
              <a:cs typeface="Arial"/>
            </a:endParaRPr>
          </a:p>
          <a:p>
            <a:pPr marL="19547" marR="13846" algn="just">
              <a:lnSpc>
                <a:spcPct val="108600"/>
              </a:lnSpc>
              <a:spcBef>
                <a:spcPts val="340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conditional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3" dirty="0">
                <a:latin typeface="Verdana"/>
                <a:cs typeface="Verdana"/>
              </a:rPr>
              <a:t>first evaluates </a:t>
            </a:r>
            <a:r>
              <a:rPr sz="705" dirty="0">
                <a:latin typeface="Verdana"/>
                <a:cs typeface="Verdana"/>
              </a:rPr>
              <a:t>an </a:t>
            </a:r>
            <a:r>
              <a:rPr sz="705" spc="-3" dirty="0">
                <a:latin typeface="Verdana"/>
                <a:cs typeface="Verdana"/>
              </a:rPr>
              <a:t>expression </a:t>
            </a:r>
            <a:r>
              <a:rPr sz="705" dirty="0">
                <a:latin typeface="Verdana"/>
                <a:cs typeface="Verdana"/>
              </a:rPr>
              <a:t>for a </a:t>
            </a:r>
            <a:r>
              <a:rPr sz="705" spc="-3" dirty="0">
                <a:latin typeface="Verdana"/>
                <a:cs typeface="Verdana"/>
              </a:rPr>
              <a:t>true </a:t>
            </a:r>
            <a:r>
              <a:rPr sz="705" dirty="0">
                <a:latin typeface="Verdana"/>
                <a:cs typeface="Verdana"/>
              </a:rPr>
              <a:t>or </a:t>
            </a:r>
            <a:r>
              <a:rPr sz="705" spc="-3" dirty="0">
                <a:latin typeface="Verdana"/>
                <a:cs typeface="Verdana"/>
              </a:rPr>
              <a:t>false value </a:t>
            </a:r>
            <a:r>
              <a:rPr sz="705" dirty="0">
                <a:latin typeface="Verdana"/>
                <a:cs typeface="Verdana"/>
              </a:rPr>
              <a:t>and  </a:t>
            </a:r>
            <a:r>
              <a:rPr sz="705" spc="-3" dirty="0">
                <a:latin typeface="Verdana"/>
                <a:cs typeface="Verdana"/>
              </a:rPr>
              <a:t>then executes one </a:t>
            </a:r>
            <a:r>
              <a:rPr sz="705" dirty="0">
                <a:latin typeface="Verdana"/>
                <a:cs typeface="Verdana"/>
              </a:rPr>
              <a:t>of </a:t>
            </a:r>
            <a:r>
              <a:rPr sz="705" spc="-3" dirty="0">
                <a:latin typeface="Verdana"/>
                <a:cs typeface="Verdana"/>
              </a:rPr>
              <a:t>the two given statements depending </a:t>
            </a:r>
            <a:r>
              <a:rPr sz="705" dirty="0">
                <a:latin typeface="Verdana"/>
                <a:cs typeface="Verdana"/>
              </a:rPr>
              <a:t>upon the </a:t>
            </a:r>
            <a:r>
              <a:rPr sz="705" spc="-3" dirty="0">
                <a:latin typeface="Verdana"/>
                <a:cs typeface="Verdana"/>
              </a:rPr>
              <a:t>result </a:t>
            </a:r>
            <a:r>
              <a:rPr sz="705" dirty="0">
                <a:latin typeface="Verdana"/>
                <a:cs typeface="Verdana"/>
              </a:rPr>
              <a:t>of </a:t>
            </a:r>
            <a:r>
              <a:rPr sz="705" spc="-3" dirty="0">
                <a:latin typeface="Verdana"/>
                <a:cs typeface="Verdana"/>
              </a:rPr>
              <a:t>the  evaluation.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719069" y="1814194"/>
          <a:ext cx="3700225" cy="6834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09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S.No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Operator and Description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3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1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? : </a:t>
                      </a:r>
                      <a:r>
                        <a:rPr sz="700" b="1" spc="-5" dirty="0">
                          <a:latin typeface="Verdana"/>
                          <a:cs typeface="Verdana"/>
                        </a:rPr>
                        <a:t>(Conditional</a:t>
                      </a:r>
                      <a:r>
                        <a:rPr sz="700" b="1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)</a:t>
                      </a:r>
                      <a:endParaRPr sz="700">
                        <a:latin typeface="Verdana"/>
                        <a:cs typeface="Verdana"/>
                      </a:endParaRPr>
                    </a:p>
                    <a:p>
                      <a:pPr marL="4826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If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Condition </a:t>
                      </a:r>
                      <a:r>
                        <a:rPr sz="700" spc="-10" dirty="0">
                          <a:latin typeface="Verdana"/>
                          <a:cs typeface="Verdana"/>
                        </a:rPr>
                        <a:t>is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true? Then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value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X : </a:t>
                      </a:r>
                      <a:r>
                        <a:rPr sz="700" spc="-5" dirty="0">
                          <a:latin typeface="Verdana"/>
                          <a:cs typeface="Verdana"/>
                        </a:rPr>
                        <a:t>Otherwise value</a:t>
                      </a:r>
                      <a:r>
                        <a:rPr sz="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dirty="0">
                          <a:latin typeface="Verdana"/>
                          <a:cs typeface="Verdana"/>
                        </a:rPr>
                        <a:t>Y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658145" y="2484013"/>
            <a:ext cx="3828914" cy="343174"/>
          </a:xfrm>
          <a:prstGeom prst="rect">
            <a:avLst/>
          </a:prstGeom>
        </p:spPr>
        <p:txBody>
          <a:bodyPr vert="horz" wrap="square" lIns="0" tIns="13846" rIns="0" bIns="0" rtlCol="0">
            <a:spAutoFit/>
          </a:bodyPr>
          <a:lstStyle/>
          <a:p>
            <a:pPr marL="8145">
              <a:spcBef>
                <a:spcPts val="109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 marR="3258">
              <a:lnSpc>
                <a:spcPts val="923"/>
              </a:lnSpc>
              <a:spcBef>
                <a:spcPts val="13"/>
              </a:spcBef>
            </a:pPr>
            <a:r>
              <a:rPr sz="705" dirty="0">
                <a:latin typeface="Verdana"/>
                <a:cs typeface="Verdana"/>
              </a:rPr>
              <a:t>Try </a:t>
            </a:r>
            <a:r>
              <a:rPr sz="705" spc="-3" dirty="0">
                <a:latin typeface="Verdana"/>
                <a:cs typeface="Verdana"/>
              </a:rPr>
              <a:t>the following </a:t>
            </a:r>
            <a:r>
              <a:rPr sz="705" dirty="0">
                <a:latin typeface="Verdana"/>
                <a:cs typeface="Verdana"/>
              </a:rPr>
              <a:t>code </a:t>
            </a:r>
            <a:r>
              <a:rPr sz="705" spc="-3" dirty="0">
                <a:latin typeface="Verdana"/>
                <a:cs typeface="Verdana"/>
              </a:rPr>
              <a:t>to understand </a:t>
            </a:r>
            <a:r>
              <a:rPr sz="705" dirty="0">
                <a:latin typeface="Verdana"/>
                <a:cs typeface="Verdana"/>
              </a:rPr>
              <a:t>how the </a:t>
            </a:r>
            <a:r>
              <a:rPr sz="705" spc="-3" dirty="0">
                <a:latin typeface="Verdana"/>
                <a:cs typeface="Verdana"/>
              </a:rPr>
              <a:t>Conditional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3" dirty="0">
                <a:latin typeface="Verdana"/>
                <a:cs typeface="Verdana"/>
              </a:rPr>
              <a:t>works </a:t>
            </a:r>
            <a:r>
              <a:rPr sz="705" spc="-6" dirty="0">
                <a:latin typeface="Verdana"/>
                <a:cs typeface="Verdana"/>
              </a:rPr>
              <a:t>in  </a:t>
            </a:r>
            <a:r>
              <a:rPr sz="705" spc="-3" dirty="0">
                <a:latin typeface="Verdana"/>
                <a:cs typeface="Verdana"/>
              </a:rPr>
              <a:t>JavaScript.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2381" y="2914976"/>
            <a:ext cx="3820362" cy="2457968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6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 marR="3210973">
              <a:lnSpc>
                <a:spcPct val="150900"/>
              </a:lnSpc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58" dirty="0">
                <a:latin typeface="Arial"/>
                <a:cs typeface="Arial"/>
              </a:rPr>
              <a:t>10;  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16" dirty="0">
                <a:latin typeface="Arial"/>
                <a:cs typeface="Arial"/>
              </a:rPr>
              <a:t> </a:t>
            </a:r>
            <a:r>
              <a:rPr sz="705" spc="58" dirty="0">
                <a:latin typeface="Arial"/>
                <a:cs typeface="Arial"/>
              </a:rPr>
              <a:t>20;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32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1538498">
              <a:lnSpc>
                <a:spcPct val="151000"/>
              </a:lnSpc>
              <a:spcBef>
                <a:spcPts val="459"/>
              </a:spcBef>
            </a:pPr>
            <a:r>
              <a:rPr sz="705" spc="42" dirty="0">
                <a:latin typeface="Arial"/>
                <a:cs typeface="Arial"/>
              </a:rPr>
              <a:t>document.write </a:t>
            </a:r>
            <a:r>
              <a:rPr sz="705" spc="115" dirty="0">
                <a:latin typeface="Arial"/>
                <a:cs typeface="Arial"/>
              </a:rPr>
              <a:t>("((a </a:t>
            </a:r>
            <a:r>
              <a:rPr sz="705" spc="-26" dirty="0">
                <a:latin typeface="Arial"/>
                <a:cs typeface="Arial"/>
              </a:rPr>
              <a:t>&gt;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-10" dirty="0">
                <a:latin typeface="Arial"/>
                <a:cs typeface="Arial"/>
              </a:rPr>
              <a:t>100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32" dirty="0">
                <a:latin typeface="Arial"/>
                <a:cs typeface="Arial"/>
              </a:rPr>
              <a:t>200) </a:t>
            </a:r>
            <a:r>
              <a:rPr sz="705" spc="-29" dirty="0">
                <a:latin typeface="Arial"/>
                <a:cs typeface="Arial"/>
              </a:rPr>
              <a:t>=&gt; </a:t>
            </a:r>
            <a:r>
              <a:rPr sz="705" spc="157" dirty="0">
                <a:latin typeface="Arial"/>
                <a:cs typeface="Arial"/>
              </a:rPr>
              <a:t>");  </a:t>
            </a: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&gt;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-6" dirty="0">
                <a:latin typeface="Arial"/>
                <a:cs typeface="Arial"/>
              </a:rPr>
              <a:t>100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42" dirty="0">
                <a:latin typeface="Arial"/>
                <a:cs typeface="Arial"/>
              </a:rPr>
              <a:t>200;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42" dirty="0">
                <a:latin typeface="Arial"/>
                <a:cs typeface="Arial"/>
              </a:rPr>
              <a:t>document.write </a:t>
            </a:r>
            <a:r>
              <a:rPr sz="705" spc="115" dirty="0">
                <a:latin typeface="Arial"/>
                <a:cs typeface="Arial"/>
              </a:rPr>
              <a:t>("((a </a:t>
            </a:r>
            <a:r>
              <a:rPr sz="705" spc="-26" dirty="0">
                <a:latin typeface="Arial"/>
                <a:cs typeface="Arial"/>
              </a:rPr>
              <a:t>&lt;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-10" dirty="0">
                <a:latin typeface="Arial"/>
                <a:cs typeface="Arial"/>
              </a:rPr>
              <a:t>100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32" dirty="0">
                <a:latin typeface="Arial"/>
                <a:cs typeface="Arial"/>
              </a:rPr>
              <a:t>200)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6" dirty="0">
                <a:latin typeface="Arial"/>
                <a:cs typeface="Arial"/>
              </a:rPr>
              <a:t> </a:t>
            </a:r>
            <a:r>
              <a:rPr sz="705" spc="157" dirty="0">
                <a:latin typeface="Arial"/>
                <a:cs typeface="Arial"/>
              </a:rPr>
              <a:t>");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6"/>
            <a:ext cx="3820362" cy="1755308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258" rIns="0" bIns="0" rtlCol="0">
            <a:spAutoFit/>
          </a:bodyPr>
          <a:lstStyle/>
          <a:p>
            <a:pPr marL="62306" marR="2325258">
              <a:lnSpc>
                <a:spcPts val="1276"/>
              </a:lnSpc>
              <a:spcBef>
                <a:spcPts val="26"/>
              </a:spcBef>
            </a:pP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1" dirty="0">
                <a:latin typeface="Arial"/>
                <a:cs typeface="Arial"/>
              </a:rPr>
              <a:t>(a </a:t>
            </a:r>
            <a:r>
              <a:rPr sz="705" spc="-26" dirty="0">
                <a:latin typeface="Arial"/>
                <a:cs typeface="Arial"/>
              </a:rPr>
              <a:t>&lt; </a:t>
            </a:r>
            <a:r>
              <a:rPr sz="705" spc="71" dirty="0">
                <a:latin typeface="Arial"/>
                <a:cs typeface="Arial"/>
              </a:rPr>
              <a:t>b)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-6" dirty="0">
                <a:latin typeface="Arial"/>
                <a:cs typeface="Arial"/>
              </a:rPr>
              <a:t>100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42" dirty="0">
                <a:latin typeface="Arial"/>
                <a:cs typeface="Arial"/>
              </a:rPr>
              <a:t>200;  </a:t>
            </a: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3"/>
              </a:spcBef>
            </a:pPr>
            <a:endParaRPr sz="673">
              <a:latin typeface="Arial"/>
              <a:cs typeface="Arial"/>
            </a:endParaRPr>
          </a:p>
          <a:p>
            <a:pPr marL="62306"/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37">
              <a:latin typeface="Arial"/>
              <a:cs typeface="Arial"/>
            </a:endParaRPr>
          </a:p>
          <a:p>
            <a:pPr marL="62306" marR="161669">
              <a:lnSpc>
                <a:spcPct val="105500"/>
              </a:lnSpc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3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2412272"/>
            <a:ext cx="277333" cy="117127"/>
          </a:xfrm>
          <a:prstGeom prst="rect">
            <a:avLst/>
          </a:prstGeom>
        </p:spPr>
        <p:txBody>
          <a:bodyPr vert="horz" wrap="square" lIns="0" tIns="8552" rIns="0" bIns="0" rtlCol="0">
            <a:spAutoFit/>
          </a:bodyPr>
          <a:lstStyle/>
          <a:p>
            <a:pPr marL="8145">
              <a:spcBef>
                <a:spcPts val="67"/>
              </a:spcBef>
            </a:pPr>
            <a:r>
              <a:rPr sz="705" spc="-3" dirty="0">
                <a:latin typeface="Carlito"/>
                <a:cs typeface="Carlito"/>
              </a:rPr>
              <a:t>Outpu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2586574"/>
            <a:ext cx="3820362" cy="655104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99" dirty="0">
                <a:latin typeface="Arial"/>
                <a:cs typeface="Arial"/>
              </a:rPr>
              <a:t>((a </a:t>
            </a:r>
            <a:r>
              <a:rPr sz="705" spc="-26" dirty="0">
                <a:latin typeface="Arial"/>
                <a:cs typeface="Arial"/>
              </a:rPr>
              <a:t>&gt;  </a:t>
            </a:r>
            <a:r>
              <a:rPr sz="705" spc="71" dirty="0">
                <a:latin typeface="Arial"/>
                <a:cs typeface="Arial"/>
              </a:rPr>
              <a:t>b)  </a:t>
            </a:r>
            <a:r>
              <a:rPr sz="705" spc="-3" dirty="0">
                <a:latin typeface="Arial"/>
                <a:cs typeface="Arial"/>
              </a:rPr>
              <a:t>?  </a:t>
            </a:r>
            <a:r>
              <a:rPr sz="705" spc="-6" dirty="0">
                <a:latin typeface="Arial"/>
                <a:cs typeface="Arial"/>
              </a:rPr>
              <a:t>100 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32" dirty="0">
                <a:latin typeface="Arial"/>
                <a:cs typeface="Arial"/>
              </a:rPr>
              <a:t>200)  </a:t>
            </a:r>
            <a:r>
              <a:rPr sz="705" spc="-26" dirty="0">
                <a:latin typeface="Arial"/>
                <a:cs typeface="Arial"/>
              </a:rPr>
              <a:t>=&gt;</a:t>
            </a:r>
            <a:r>
              <a:rPr sz="705" spc="58" dirty="0">
                <a:latin typeface="Arial"/>
                <a:cs typeface="Arial"/>
              </a:rPr>
              <a:t> </a:t>
            </a:r>
            <a:r>
              <a:rPr sz="705" spc="-6" dirty="0">
                <a:latin typeface="Arial"/>
                <a:cs typeface="Arial"/>
              </a:rPr>
              <a:t>200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8"/>
              </a:spcBef>
            </a:pPr>
            <a:r>
              <a:rPr sz="705" spc="99" dirty="0">
                <a:latin typeface="Arial"/>
                <a:cs typeface="Arial"/>
              </a:rPr>
              <a:t>((a </a:t>
            </a:r>
            <a:r>
              <a:rPr sz="705" spc="-26" dirty="0">
                <a:latin typeface="Arial"/>
                <a:cs typeface="Arial"/>
              </a:rPr>
              <a:t>&lt;  </a:t>
            </a:r>
            <a:r>
              <a:rPr sz="705" spc="71" dirty="0">
                <a:latin typeface="Arial"/>
                <a:cs typeface="Arial"/>
              </a:rPr>
              <a:t>b)  </a:t>
            </a:r>
            <a:r>
              <a:rPr sz="705" spc="-3" dirty="0">
                <a:latin typeface="Arial"/>
                <a:cs typeface="Arial"/>
              </a:rPr>
              <a:t>?  </a:t>
            </a:r>
            <a:r>
              <a:rPr sz="705" spc="-6" dirty="0">
                <a:latin typeface="Arial"/>
                <a:cs typeface="Arial"/>
              </a:rPr>
              <a:t>100 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32" dirty="0">
                <a:latin typeface="Arial"/>
                <a:cs typeface="Arial"/>
              </a:rPr>
              <a:t>200)  </a:t>
            </a:r>
            <a:r>
              <a:rPr sz="705" spc="-26" dirty="0">
                <a:latin typeface="Arial"/>
                <a:cs typeface="Arial"/>
              </a:rPr>
              <a:t>=&gt;</a:t>
            </a:r>
            <a:r>
              <a:rPr sz="705" spc="58" dirty="0">
                <a:latin typeface="Arial"/>
                <a:cs typeface="Arial"/>
              </a:rPr>
              <a:t> </a:t>
            </a:r>
            <a:r>
              <a:rPr sz="705" spc="-6" dirty="0">
                <a:latin typeface="Arial"/>
                <a:cs typeface="Arial"/>
              </a:rPr>
              <a:t>100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309084">
              <a:lnSpc>
                <a:spcPct val="105500"/>
              </a:lnSpc>
              <a:spcBef>
                <a:spcPts val="465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58145" y="3360744"/>
            <a:ext cx="3828100" cy="999317"/>
          </a:xfrm>
          <a:prstGeom prst="rect">
            <a:avLst/>
          </a:prstGeom>
        </p:spPr>
        <p:txBody>
          <a:bodyPr vert="horz" wrap="square" lIns="0" tIns="81856" rIns="0" bIns="0" rtlCol="0">
            <a:spAutoFit/>
          </a:bodyPr>
          <a:lstStyle/>
          <a:p>
            <a:pPr marL="8145">
              <a:spcBef>
                <a:spcPts val="645"/>
              </a:spcBef>
            </a:pPr>
            <a:r>
              <a:rPr sz="1026" b="1" spc="-71" dirty="0">
                <a:latin typeface="Arial"/>
                <a:cs typeface="Arial"/>
              </a:rPr>
              <a:t>typeof</a:t>
            </a:r>
            <a:r>
              <a:rPr sz="1026" b="1" spc="-160" dirty="0">
                <a:latin typeface="Arial"/>
                <a:cs typeface="Arial"/>
              </a:rPr>
              <a:t> </a:t>
            </a:r>
            <a:r>
              <a:rPr sz="1026" b="1" spc="-73" dirty="0">
                <a:latin typeface="Arial"/>
                <a:cs typeface="Arial"/>
              </a:rPr>
              <a:t>Operator</a:t>
            </a:r>
            <a:endParaRPr sz="1026">
              <a:latin typeface="Arial"/>
              <a:cs typeface="Arial"/>
            </a:endParaRPr>
          </a:p>
          <a:p>
            <a:pPr marL="8145" marR="3258">
              <a:lnSpc>
                <a:spcPct val="108200"/>
              </a:lnSpc>
              <a:spcBef>
                <a:spcPts val="333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b="1" spc="-3" dirty="0">
                <a:latin typeface="Verdana"/>
                <a:cs typeface="Verdana"/>
              </a:rPr>
              <a:t>typeof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6" dirty="0">
                <a:latin typeface="Verdana"/>
                <a:cs typeface="Verdana"/>
              </a:rPr>
              <a:t>is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unary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3" dirty="0">
                <a:latin typeface="Verdana"/>
                <a:cs typeface="Verdana"/>
              </a:rPr>
              <a:t>that </a:t>
            </a:r>
            <a:r>
              <a:rPr sz="705" spc="-6" dirty="0">
                <a:latin typeface="Verdana"/>
                <a:cs typeface="Verdana"/>
              </a:rPr>
              <a:t>is </a:t>
            </a:r>
            <a:r>
              <a:rPr sz="705" spc="-3" dirty="0">
                <a:latin typeface="Verdana"/>
                <a:cs typeface="Verdana"/>
              </a:rPr>
              <a:t>placed </a:t>
            </a:r>
            <a:r>
              <a:rPr sz="705" dirty="0">
                <a:latin typeface="Verdana"/>
                <a:cs typeface="Verdana"/>
              </a:rPr>
              <a:t>before </a:t>
            </a:r>
            <a:r>
              <a:rPr sz="705" spc="-6" dirty="0">
                <a:latin typeface="Verdana"/>
                <a:cs typeface="Verdana"/>
              </a:rPr>
              <a:t>its </a:t>
            </a:r>
            <a:r>
              <a:rPr sz="705" spc="-3" dirty="0">
                <a:latin typeface="Verdana"/>
                <a:cs typeface="Verdana"/>
              </a:rPr>
              <a:t>single operand,  which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can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be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of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any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type.</a:t>
            </a:r>
            <a:r>
              <a:rPr sz="705" spc="-42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Its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value</a:t>
            </a:r>
            <a:r>
              <a:rPr sz="705" spc="-29" dirty="0">
                <a:latin typeface="Verdana"/>
                <a:cs typeface="Verdana"/>
              </a:rPr>
              <a:t> </a:t>
            </a:r>
            <a:r>
              <a:rPr sz="705" spc="-6" dirty="0">
                <a:latin typeface="Verdana"/>
                <a:cs typeface="Verdana"/>
              </a:rPr>
              <a:t>is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a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string</a:t>
            </a:r>
            <a:r>
              <a:rPr sz="705" spc="-3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indicating</a:t>
            </a:r>
            <a:r>
              <a:rPr sz="705" spc="-32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data</a:t>
            </a:r>
            <a:r>
              <a:rPr sz="705" spc="-35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type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of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the</a:t>
            </a:r>
            <a:r>
              <a:rPr sz="705" spc="-38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operand.</a:t>
            </a:r>
            <a:endParaRPr sz="705">
              <a:latin typeface="Verdana"/>
              <a:cs typeface="Verdana"/>
            </a:endParaRPr>
          </a:p>
          <a:p>
            <a:pPr marL="8145" marR="4479">
              <a:lnSpc>
                <a:spcPct val="109100"/>
              </a:lnSpc>
              <a:spcBef>
                <a:spcPts val="526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i="1" spc="-3" dirty="0">
                <a:latin typeface="Verdana"/>
                <a:cs typeface="Verdana"/>
              </a:rPr>
              <a:t>typeof </a:t>
            </a:r>
            <a:r>
              <a:rPr sz="705" dirty="0">
                <a:latin typeface="Verdana"/>
                <a:cs typeface="Verdana"/>
              </a:rPr>
              <a:t>operator </a:t>
            </a:r>
            <a:r>
              <a:rPr sz="705" spc="-3" dirty="0">
                <a:latin typeface="Verdana"/>
                <a:cs typeface="Verdana"/>
              </a:rPr>
              <a:t>evaluates to "number", "string", </a:t>
            </a:r>
            <a:r>
              <a:rPr sz="705" dirty="0">
                <a:latin typeface="Verdana"/>
                <a:cs typeface="Verdana"/>
              </a:rPr>
              <a:t>or </a:t>
            </a:r>
            <a:r>
              <a:rPr sz="705" spc="-3" dirty="0">
                <a:latin typeface="Verdana"/>
                <a:cs typeface="Verdana"/>
              </a:rPr>
              <a:t>"boolean" if </a:t>
            </a:r>
            <a:r>
              <a:rPr sz="705" spc="-6" dirty="0">
                <a:latin typeface="Verdana"/>
                <a:cs typeface="Verdana"/>
              </a:rPr>
              <a:t>its </a:t>
            </a:r>
            <a:r>
              <a:rPr sz="705" dirty="0">
                <a:latin typeface="Verdana"/>
                <a:cs typeface="Verdana"/>
              </a:rPr>
              <a:t>operand </a:t>
            </a:r>
            <a:r>
              <a:rPr sz="705" spc="-6" dirty="0">
                <a:latin typeface="Verdana"/>
                <a:cs typeface="Verdana"/>
              </a:rPr>
              <a:t>is </a:t>
            </a:r>
            <a:r>
              <a:rPr sz="705" dirty="0">
                <a:latin typeface="Verdana"/>
                <a:cs typeface="Verdana"/>
              </a:rPr>
              <a:t>a  </a:t>
            </a:r>
            <a:r>
              <a:rPr sz="705" spc="-3" dirty="0">
                <a:latin typeface="Verdana"/>
                <a:cs typeface="Verdana"/>
              </a:rPr>
              <a:t>number, string, </a:t>
            </a:r>
            <a:r>
              <a:rPr sz="705" dirty="0">
                <a:latin typeface="Verdana"/>
                <a:cs typeface="Verdana"/>
              </a:rPr>
              <a:t>or </a:t>
            </a:r>
            <a:r>
              <a:rPr sz="705" spc="-3" dirty="0">
                <a:latin typeface="Verdana"/>
                <a:cs typeface="Verdana"/>
              </a:rPr>
              <a:t>boolean value </a:t>
            </a:r>
            <a:r>
              <a:rPr sz="705" dirty="0">
                <a:latin typeface="Verdana"/>
                <a:cs typeface="Verdana"/>
              </a:rPr>
              <a:t>and </a:t>
            </a:r>
            <a:r>
              <a:rPr sz="705" spc="-3" dirty="0">
                <a:latin typeface="Verdana"/>
                <a:cs typeface="Verdana"/>
              </a:rPr>
              <a:t>returns true </a:t>
            </a:r>
            <a:r>
              <a:rPr sz="705" dirty="0">
                <a:latin typeface="Verdana"/>
                <a:cs typeface="Verdana"/>
              </a:rPr>
              <a:t>or </a:t>
            </a:r>
            <a:r>
              <a:rPr sz="705" spc="-3" dirty="0">
                <a:latin typeface="Verdana"/>
                <a:cs typeface="Verdana"/>
              </a:rPr>
              <a:t>false based </a:t>
            </a:r>
            <a:r>
              <a:rPr sz="705" dirty="0">
                <a:latin typeface="Verdana"/>
                <a:cs typeface="Verdana"/>
              </a:rPr>
              <a:t>on </a:t>
            </a:r>
            <a:r>
              <a:rPr sz="705" spc="-3" dirty="0">
                <a:latin typeface="Verdana"/>
                <a:cs typeface="Verdana"/>
              </a:rPr>
              <a:t>the</a:t>
            </a:r>
            <a:r>
              <a:rPr sz="705" spc="80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evaluation.</a:t>
            </a:r>
            <a:endParaRPr sz="705">
              <a:latin typeface="Verdana"/>
              <a:cs typeface="Verdana"/>
            </a:endParaRPr>
          </a:p>
          <a:p>
            <a:pPr marL="8145">
              <a:spcBef>
                <a:spcPts val="584"/>
              </a:spcBef>
            </a:pPr>
            <a:r>
              <a:rPr sz="705" dirty="0">
                <a:latin typeface="Verdana"/>
                <a:cs typeface="Verdana"/>
              </a:rPr>
              <a:t>Here </a:t>
            </a:r>
            <a:r>
              <a:rPr sz="705" spc="-6" dirty="0">
                <a:latin typeface="Verdana"/>
                <a:cs typeface="Verdana"/>
              </a:rPr>
              <a:t>is </a:t>
            </a:r>
            <a:r>
              <a:rPr sz="705" dirty="0">
                <a:latin typeface="Verdana"/>
                <a:cs typeface="Verdana"/>
              </a:rPr>
              <a:t>a </a:t>
            </a:r>
            <a:r>
              <a:rPr sz="705" spc="-3" dirty="0">
                <a:latin typeface="Verdana"/>
                <a:cs typeface="Verdana"/>
              </a:rPr>
              <a:t>list </a:t>
            </a:r>
            <a:r>
              <a:rPr sz="705" dirty="0">
                <a:latin typeface="Verdana"/>
                <a:cs typeface="Verdana"/>
              </a:rPr>
              <a:t>of </a:t>
            </a:r>
            <a:r>
              <a:rPr sz="705" spc="-3" dirty="0">
                <a:latin typeface="Verdana"/>
                <a:cs typeface="Verdana"/>
              </a:rPr>
              <a:t>the return values </a:t>
            </a:r>
            <a:r>
              <a:rPr sz="705" dirty="0">
                <a:latin typeface="Verdana"/>
                <a:cs typeface="Verdana"/>
              </a:rPr>
              <a:t>for </a:t>
            </a:r>
            <a:r>
              <a:rPr sz="705" spc="-3" dirty="0">
                <a:latin typeface="Verdana"/>
                <a:cs typeface="Verdana"/>
              </a:rPr>
              <a:t>the </a:t>
            </a:r>
            <a:r>
              <a:rPr sz="705" b="1" dirty="0">
                <a:latin typeface="Verdana"/>
                <a:cs typeface="Verdana"/>
              </a:rPr>
              <a:t>typeof</a:t>
            </a:r>
            <a:r>
              <a:rPr sz="705" b="1" spc="16" dirty="0">
                <a:latin typeface="Verdana"/>
                <a:cs typeface="Verdana"/>
              </a:rPr>
              <a:t> </a:t>
            </a:r>
            <a:r>
              <a:rPr sz="705" spc="-3" dirty="0">
                <a:latin typeface="Verdana"/>
                <a:cs typeface="Verdana"/>
              </a:rPr>
              <a:t>Operator.</a:t>
            </a:r>
            <a:endParaRPr sz="705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53277" y="4433999"/>
          <a:ext cx="3631808" cy="749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84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dirty="0">
                          <a:latin typeface="Verdana"/>
                          <a:cs typeface="Verdana"/>
                        </a:rPr>
                        <a:t>Type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251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700" b="1" spc="-5" dirty="0">
                          <a:latin typeface="Verdana"/>
                          <a:cs typeface="Verdana"/>
                        </a:rPr>
                        <a:t>String Returned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by</a:t>
                      </a:r>
                      <a:r>
                        <a:rPr sz="700" b="1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700" b="1" dirty="0">
                          <a:latin typeface="Verdana"/>
                          <a:cs typeface="Verdana"/>
                        </a:rPr>
                        <a:t>typeof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3258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455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Number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29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"number"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290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595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String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"string"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753277" y="586433"/>
          <a:ext cx="3631808" cy="1233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374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Boolean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710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"boolean"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7104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34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Object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"object"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211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Function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"function"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6696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211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Undefined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"undefined"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595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spc="-5" dirty="0">
                          <a:latin typeface="Verdana"/>
                          <a:cs typeface="Verdana"/>
                        </a:rPr>
                        <a:t>Null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700" dirty="0">
                          <a:latin typeface="Verdana"/>
                          <a:cs typeface="Verdana"/>
                        </a:rPr>
                        <a:t>"object"</a:t>
                      </a:r>
                      <a:endParaRPr sz="700">
                        <a:latin typeface="Verdana"/>
                        <a:cs typeface="Verdana"/>
                      </a:endParaRPr>
                    </a:p>
                  </a:txBody>
                  <a:tcPr marL="0" marR="0" marT="15883" marB="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2658145" y="1822077"/>
            <a:ext cx="2812432" cy="230964"/>
          </a:xfrm>
          <a:prstGeom prst="rect">
            <a:avLst/>
          </a:prstGeom>
        </p:spPr>
        <p:txBody>
          <a:bodyPr vert="horz" wrap="square" lIns="0" tIns="13846" rIns="0" bIns="0" rtlCol="0">
            <a:spAutoFit/>
          </a:bodyPr>
          <a:lstStyle/>
          <a:p>
            <a:pPr marL="8145">
              <a:spcBef>
                <a:spcPts val="109"/>
              </a:spcBef>
            </a:pPr>
            <a:r>
              <a:rPr sz="705" spc="-3" dirty="0">
                <a:latin typeface="Carlito"/>
                <a:cs typeface="Carlito"/>
              </a:rPr>
              <a:t>Example</a:t>
            </a:r>
            <a:endParaRPr sz="705">
              <a:latin typeface="Carlito"/>
              <a:cs typeface="Carlito"/>
            </a:endParaRPr>
          </a:p>
          <a:p>
            <a:pPr marL="8145">
              <a:spcBef>
                <a:spcPts val="45"/>
              </a:spcBef>
            </a:pPr>
            <a:r>
              <a:rPr sz="705" dirty="0">
                <a:latin typeface="Verdana"/>
                <a:cs typeface="Verdana"/>
              </a:rPr>
              <a:t>The </a:t>
            </a:r>
            <a:r>
              <a:rPr sz="705" spc="-3" dirty="0">
                <a:latin typeface="Verdana"/>
                <a:cs typeface="Verdana"/>
              </a:rPr>
              <a:t>following code </a:t>
            </a:r>
            <a:r>
              <a:rPr sz="705" dirty="0">
                <a:latin typeface="Verdana"/>
                <a:cs typeface="Verdana"/>
              </a:rPr>
              <a:t>shows how </a:t>
            </a:r>
            <a:r>
              <a:rPr sz="705" spc="-3" dirty="0">
                <a:latin typeface="Verdana"/>
                <a:cs typeface="Verdana"/>
              </a:rPr>
              <a:t>to implement </a:t>
            </a:r>
            <a:r>
              <a:rPr sz="705" b="1" dirty="0">
                <a:latin typeface="Verdana"/>
                <a:cs typeface="Verdana"/>
              </a:rPr>
              <a:t>typeof</a:t>
            </a:r>
            <a:r>
              <a:rPr sz="705" b="1" spc="13" dirty="0">
                <a:latin typeface="Verdana"/>
                <a:cs typeface="Verdana"/>
              </a:rPr>
              <a:t> </a:t>
            </a:r>
            <a:r>
              <a:rPr sz="705" dirty="0">
                <a:latin typeface="Verdana"/>
                <a:cs typeface="Verdana"/>
              </a:rPr>
              <a:t>operator.</a:t>
            </a:r>
            <a:endParaRPr sz="705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2135998"/>
            <a:ext cx="3820362" cy="2919826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168" rIns="0" bIns="0" rtlCol="0">
            <a:spAutoFit/>
          </a:bodyPr>
          <a:lstStyle/>
          <a:p>
            <a:pPr marL="62306">
              <a:spcBef>
                <a:spcPts val="340"/>
              </a:spcBef>
            </a:pPr>
            <a:r>
              <a:rPr sz="705" spc="26" dirty="0">
                <a:latin typeface="Arial"/>
                <a:cs typeface="Arial"/>
              </a:rPr>
              <a:t>&lt;html&gt;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-6" dirty="0">
                <a:latin typeface="Arial"/>
                <a:cs typeface="Arial"/>
              </a:rPr>
              <a:t>&lt;body&gt;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770">
              <a:latin typeface="Arial"/>
              <a:cs typeface="Arial"/>
            </a:endParaRPr>
          </a:p>
          <a:p>
            <a:pPr marL="62306"/>
            <a:r>
              <a:rPr sz="705" spc="87" dirty="0">
                <a:latin typeface="Arial"/>
                <a:cs typeface="Arial"/>
              </a:rPr>
              <a:t>&lt;script</a:t>
            </a:r>
            <a:r>
              <a:rPr sz="705" spc="189" dirty="0">
                <a:latin typeface="Arial"/>
                <a:cs typeface="Arial"/>
              </a:rPr>
              <a:t> </a:t>
            </a:r>
            <a:r>
              <a:rPr sz="705" spc="80" dirty="0">
                <a:latin typeface="Arial"/>
                <a:cs typeface="Arial"/>
              </a:rPr>
              <a:t>type="text/javascript"&gt;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19" dirty="0">
                <a:latin typeface="Arial"/>
                <a:cs typeface="Arial"/>
              </a:rPr>
              <a:t>&lt;!--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64" dirty="0">
                <a:latin typeface="Arial"/>
                <a:cs typeface="Arial"/>
              </a:rPr>
              <a:t> </a:t>
            </a:r>
            <a:r>
              <a:rPr sz="705" spc="58" dirty="0">
                <a:latin typeface="Arial"/>
                <a:cs typeface="Arial"/>
              </a:rPr>
              <a:t>10;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2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6" dirty="0">
                <a:latin typeface="Arial"/>
                <a:cs typeface="Arial"/>
              </a:rPr>
              <a:t>=</a:t>
            </a:r>
            <a:r>
              <a:rPr sz="705" spc="64" dirty="0">
                <a:latin typeface="Arial"/>
                <a:cs typeface="Arial"/>
              </a:rPr>
              <a:t> </a:t>
            </a:r>
            <a:r>
              <a:rPr sz="705" spc="103" dirty="0">
                <a:latin typeface="Arial"/>
                <a:cs typeface="Arial"/>
              </a:rPr>
              <a:t>"String";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58" dirty="0">
                <a:latin typeface="Arial"/>
                <a:cs typeface="Arial"/>
              </a:rPr>
              <a:t>var </a:t>
            </a:r>
            <a:r>
              <a:rPr sz="705" spc="67" dirty="0">
                <a:latin typeface="Arial"/>
                <a:cs typeface="Arial"/>
              </a:rPr>
              <a:t>linebreak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61" dirty="0">
                <a:latin typeface="Arial"/>
                <a:cs typeface="Arial"/>
              </a:rPr>
              <a:t>"&lt;br</a:t>
            </a:r>
            <a:r>
              <a:rPr sz="705" spc="-32" dirty="0">
                <a:latin typeface="Arial"/>
                <a:cs typeface="Arial"/>
              </a:rPr>
              <a:t> </a:t>
            </a:r>
            <a:r>
              <a:rPr sz="705" spc="122" dirty="0">
                <a:latin typeface="Arial"/>
                <a:cs typeface="Arial"/>
              </a:rPr>
              <a:t>/&gt;";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555048">
              <a:lnSpc>
                <a:spcPct val="150900"/>
              </a:lnSpc>
              <a:spcBef>
                <a:spcPts val="465"/>
              </a:spcBef>
            </a:pP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7" dirty="0">
                <a:latin typeface="Arial"/>
                <a:cs typeface="Arial"/>
              </a:rPr>
              <a:t>(typeof </a:t>
            </a:r>
            <a:r>
              <a:rPr sz="705" spc="-3" dirty="0">
                <a:latin typeface="Arial"/>
                <a:cs typeface="Arial"/>
              </a:rPr>
              <a:t>b </a:t>
            </a:r>
            <a:r>
              <a:rPr sz="705" spc="-29" dirty="0">
                <a:latin typeface="Arial"/>
                <a:cs typeface="Arial"/>
              </a:rPr>
              <a:t>== </a:t>
            </a:r>
            <a:r>
              <a:rPr sz="705" spc="106" dirty="0">
                <a:latin typeface="Arial"/>
                <a:cs typeface="Arial"/>
              </a:rPr>
              <a:t>"string"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22" dirty="0">
                <a:latin typeface="Arial"/>
                <a:cs typeface="Arial"/>
              </a:rPr>
              <a:t>"B </a:t>
            </a:r>
            <a:r>
              <a:rPr sz="705" spc="128" dirty="0">
                <a:latin typeface="Arial"/>
                <a:cs typeface="Arial"/>
              </a:rPr>
              <a:t>is </a:t>
            </a:r>
            <a:r>
              <a:rPr sz="705" spc="87" dirty="0">
                <a:latin typeface="Arial"/>
                <a:cs typeface="Arial"/>
              </a:rPr>
              <a:t>String"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22" dirty="0">
                <a:latin typeface="Arial"/>
                <a:cs typeface="Arial"/>
              </a:rPr>
              <a:t>"B </a:t>
            </a:r>
            <a:r>
              <a:rPr sz="705" spc="131" dirty="0">
                <a:latin typeface="Arial"/>
                <a:cs typeface="Arial"/>
              </a:rPr>
              <a:t>is </a:t>
            </a:r>
            <a:r>
              <a:rPr sz="705" spc="55" dirty="0">
                <a:latin typeface="Arial"/>
                <a:cs typeface="Arial"/>
              </a:rPr>
              <a:t>Numeric");  document.write("Result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71" dirty="0">
                <a:latin typeface="Arial"/>
                <a:cs typeface="Arial"/>
              </a:rPr>
              <a:t> </a:t>
            </a:r>
            <a:r>
              <a:rPr sz="705" spc="157" dirty="0">
                <a:latin typeface="Arial"/>
                <a:cs typeface="Arial"/>
              </a:rPr>
              <a:t>");</a:t>
            </a:r>
            <a:endParaRPr sz="705">
              <a:latin typeface="Arial"/>
              <a:cs typeface="Arial"/>
            </a:endParaRPr>
          </a:p>
          <a:p>
            <a:pPr marL="62306" marR="2473488">
              <a:lnSpc>
                <a:spcPct val="150000"/>
              </a:lnSpc>
              <a:spcBef>
                <a:spcPts val="10"/>
              </a:spcBef>
            </a:pPr>
            <a:r>
              <a:rPr sz="705" spc="73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555048">
              <a:lnSpc>
                <a:spcPct val="150900"/>
              </a:lnSpc>
              <a:spcBef>
                <a:spcPts val="465"/>
              </a:spcBef>
            </a:pPr>
            <a:r>
              <a:rPr sz="705" spc="96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 </a:t>
            </a:r>
            <a:r>
              <a:rPr sz="705" spc="77" dirty="0">
                <a:latin typeface="Arial"/>
                <a:cs typeface="Arial"/>
              </a:rPr>
              <a:t>(typeof </a:t>
            </a:r>
            <a:r>
              <a:rPr sz="705" spc="-3" dirty="0">
                <a:latin typeface="Arial"/>
                <a:cs typeface="Arial"/>
              </a:rPr>
              <a:t>a </a:t>
            </a:r>
            <a:r>
              <a:rPr sz="705" spc="-29" dirty="0">
                <a:latin typeface="Arial"/>
                <a:cs typeface="Arial"/>
              </a:rPr>
              <a:t>== </a:t>
            </a:r>
            <a:r>
              <a:rPr sz="705" spc="106" dirty="0">
                <a:latin typeface="Arial"/>
                <a:cs typeface="Arial"/>
              </a:rPr>
              <a:t>"string" </a:t>
            </a:r>
            <a:r>
              <a:rPr sz="705" spc="-3" dirty="0">
                <a:latin typeface="Arial"/>
                <a:cs typeface="Arial"/>
              </a:rPr>
              <a:t>? </a:t>
            </a:r>
            <a:r>
              <a:rPr sz="705" spc="22" dirty="0">
                <a:latin typeface="Arial"/>
                <a:cs typeface="Arial"/>
              </a:rPr>
              <a:t>"A </a:t>
            </a:r>
            <a:r>
              <a:rPr sz="705" spc="128" dirty="0">
                <a:latin typeface="Arial"/>
                <a:cs typeface="Arial"/>
              </a:rPr>
              <a:t>is </a:t>
            </a:r>
            <a:r>
              <a:rPr sz="705" spc="87" dirty="0">
                <a:latin typeface="Arial"/>
                <a:cs typeface="Arial"/>
              </a:rPr>
              <a:t>String" </a:t>
            </a:r>
            <a:r>
              <a:rPr sz="705" spc="192" dirty="0">
                <a:latin typeface="Arial"/>
                <a:cs typeface="Arial"/>
              </a:rPr>
              <a:t>: </a:t>
            </a:r>
            <a:r>
              <a:rPr sz="705" spc="22" dirty="0">
                <a:latin typeface="Arial"/>
                <a:cs typeface="Arial"/>
              </a:rPr>
              <a:t>"A </a:t>
            </a:r>
            <a:r>
              <a:rPr sz="705" spc="131" dirty="0">
                <a:latin typeface="Arial"/>
                <a:cs typeface="Arial"/>
              </a:rPr>
              <a:t>is </a:t>
            </a:r>
            <a:r>
              <a:rPr sz="705" spc="55" dirty="0">
                <a:latin typeface="Arial"/>
                <a:cs typeface="Arial"/>
              </a:rPr>
              <a:t>Numeric");  document.write("Result </a:t>
            </a:r>
            <a:r>
              <a:rPr sz="705" spc="-29" dirty="0">
                <a:latin typeface="Arial"/>
                <a:cs typeface="Arial"/>
              </a:rPr>
              <a:t>=&gt;</a:t>
            </a:r>
            <a:r>
              <a:rPr sz="705" spc="71" dirty="0">
                <a:latin typeface="Arial"/>
                <a:cs typeface="Arial"/>
              </a:rPr>
              <a:t> </a:t>
            </a:r>
            <a:r>
              <a:rPr sz="705" spc="157" dirty="0">
                <a:latin typeface="Arial"/>
                <a:cs typeface="Arial"/>
              </a:rPr>
              <a:t>");</a:t>
            </a:r>
            <a:endParaRPr sz="705">
              <a:latin typeface="Arial"/>
              <a:cs typeface="Arial"/>
            </a:endParaRPr>
          </a:p>
          <a:p>
            <a:pPr marL="62306" marR="2473488">
              <a:lnSpc>
                <a:spcPct val="150900"/>
              </a:lnSpc>
              <a:spcBef>
                <a:spcPts val="3"/>
              </a:spcBef>
            </a:pPr>
            <a:r>
              <a:rPr sz="705" spc="71" dirty="0">
                <a:latin typeface="Arial"/>
                <a:cs typeface="Arial"/>
              </a:rPr>
              <a:t>document.write(result);  </a:t>
            </a:r>
            <a:r>
              <a:rPr sz="705" spc="64" dirty="0">
                <a:latin typeface="Arial"/>
                <a:cs typeface="Arial"/>
              </a:rPr>
              <a:t>document.write(linebreak);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2381" y="588387"/>
            <a:ext cx="3820362" cy="1081657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43575" rIns="0" bIns="0" rtlCol="0">
            <a:spAutoFit/>
          </a:bodyPr>
          <a:lstStyle/>
          <a:p>
            <a:pPr marL="62306">
              <a:spcBef>
                <a:spcPts val="343"/>
              </a:spcBef>
            </a:pPr>
            <a:r>
              <a:rPr sz="705" spc="131" dirty="0">
                <a:latin typeface="Arial"/>
                <a:cs typeface="Arial"/>
              </a:rPr>
              <a:t>//--&gt;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83" dirty="0">
                <a:latin typeface="Arial"/>
                <a:cs typeface="Arial"/>
              </a:rPr>
              <a:t>&lt;/script&gt;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>
              <a:spcBef>
                <a:spcPts val="10"/>
              </a:spcBef>
            </a:pPr>
            <a:endParaRPr sz="737">
              <a:latin typeface="Arial"/>
              <a:cs typeface="Arial"/>
            </a:endParaRPr>
          </a:p>
          <a:p>
            <a:pPr marL="62306" marR="157596">
              <a:lnSpc>
                <a:spcPct val="104500"/>
              </a:lnSpc>
            </a:pPr>
            <a:r>
              <a:rPr sz="705" spc="6" dirty="0">
                <a:latin typeface="Arial"/>
                <a:cs typeface="Arial"/>
              </a:rPr>
              <a:t>&lt;p&gt;Set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106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06" dirty="0">
                <a:latin typeface="Arial"/>
                <a:cs typeface="Arial"/>
              </a:rPr>
              <a:t>try...&lt;/p&gt;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3"/>
              </a:spcBef>
            </a:pPr>
            <a:r>
              <a:rPr sz="705" spc="19" dirty="0">
                <a:latin typeface="Arial"/>
                <a:cs typeface="Arial"/>
              </a:rPr>
              <a:t>&lt;/body&gt;</a:t>
            </a:r>
            <a:endParaRPr sz="705">
              <a:latin typeface="Arial"/>
              <a:cs typeface="Arial"/>
            </a:endParaRPr>
          </a:p>
          <a:p>
            <a:pPr marL="62306">
              <a:spcBef>
                <a:spcPts val="430"/>
              </a:spcBef>
            </a:pPr>
            <a:r>
              <a:rPr sz="705" spc="48" dirty="0">
                <a:latin typeface="Arial"/>
                <a:cs typeface="Arial"/>
              </a:rPr>
              <a:t>&lt;/html&gt;</a:t>
            </a:r>
            <a:endParaRPr sz="705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58145" y="1764021"/>
            <a:ext cx="277333" cy="116716"/>
          </a:xfrm>
          <a:prstGeom prst="rect">
            <a:avLst/>
          </a:prstGeom>
        </p:spPr>
        <p:txBody>
          <a:bodyPr vert="horz" wrap="square" lIns="0" tIns="8145" rIns="0" bIns="0" rtlCol="0">
            <a:spAutoFit/>
          </a:bodyPr>
          <a:lstStyle/>
          <a:p>
            <a:pPr marL="8145">
              <a:spcBef>
                <a:spcPts val="64"/>
              </a:spcBef>
            </a:pPr>
            <a:r>
              <a:rPr sz="705" spc="-3" dirty="0">
                <a:latin typeface="Carlito"/>
                <a:cs typeface="Carlito"/>
              </a:rPr>
              <a:t>Outpu</a:t>
            </a:r>
            <a:r>
              <a:rPr sz="705" dirty="0">
                <a:latin typeface="Carlito"/>
                <a:cs typeface="Carlito"/>
              </a:rPr>
              <a:t>t</a:t>
            </a:r>
            <a:endParaRPr sz="705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2381" y="1938321"/>
            <a:ext cx="3820362" cy="662426"/>
          </a:xfrm>
          <a:prstGeom prst="rect">
            <a:avLst/>
          </a:prstGeom>
          <a:ln w="6095">
            <a:solidFill>
              <a:srgbClr val="000000"/>
            </a:solidFill>
          </a:ln>
        </p:spPr>
        <p:txBody>
          <a:bodyPr vert="horz" wrap="square" lIns="0" tIns="37466" rIns="0" bIns="0" rtlCol="0">
            <a:spAutoFit/>
          </a:bodyPr>
          <a:lstStyle/>
          <a:p>
            <a:pPr marL="62306" marR="2669770">
              <a:lnSpc>
                <a:spcPct val="105500"/>
              </a:lnSpc>
              <a:spcBef>
                <a:spcPts val="294"/>
              </a:spcBef>
            </a:pPr>
            <a:r>
              <a:rPr sz="705" spc="51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-83" dirty="0">
                <a:latin typeface="Arial"/>
                <a:cs typeface="Arial"/>
              </a:rPr>
              <a:t>B </a:t>
            </a:r>
            <a:r>
              <a:rPr sz="705" spc="131" dirty="0">
                <a:latin typeface="Arial"/>
                <a:cs typeface="Arial"/>
              </a:rPr>
              <a:t>is </a:t>
            </a:r>
            <a:r>
              <a:rPr sz="705" spc="77" dirty="0">
                <a:latin typeface="Arial"/>
                <a:cs typeface="Arial"/>
              </a:rPr>
              <a:t>String  </a:t>
            </a:r>
            <a:r>
              <a:rPr sz="705" spc="51" dirty="0">
                <a:latin typeface="Arial"/>
                <a:cs typeface="Arial"/>
              </a:rPr>
              <a:t>Result </a:t>
            </a:r>
            <a:r>
              <a:rPr sz="705" spc="-26" dirty="0">
                <a:latin typeface="Arial"/>
                <a:cs typeface="Arial"/>
              </a:rPr>
              <a:t>=&gt; </a:t>
            </a:r>
            <a:r>
              <a:rPr sz="705" spc="-83" dirty="0">
                <a:latin typeface="Arial"/>
                <a:cs typeface="Arial"/>
              </a:rPr>
              <a:t>A </a:t>
            </a:r>
            <a:r>
              <a:rPr sz="705" spc="131" dirty="0">
                <a:latin typeface="Arial"/>
                <a:cs typeface="Arial"/>
              </a:rPr>
              <a:t>is</a:t>
            </a:r>
            <a:r>
              <a:rPr sz="705" spc="19" dirty="0">
                <a:latin typeface="Arial"/>
                <a:cs typeface="Arial"/>
              </a:rPr>
              <a:t> </a:t>
            </a:r>
            <a:r>
              <a:rPr sz="705" spc="10" dirty="0">
                <a:latin typeface="Arial"/>
                <a:cs typeface="Arial"/>
              </a:rPr>
              <a:t>Numeric</a:t>
            </a:r>
            <a:endParaRPr sz="705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5">
              <a:latin typeface="Arial"/>
              <a:cs typeface="Arial"/>
            </a:endParaRPr>
          </a:p>
          <a:p>
            <a:pPr marL="62306" marR="309084">
              <a:lnSpc>
                <a:spcPct val="105500"/>
              </a:lnSpc>
              <a:spcBef>
                <a:spcPts val="465"/>
              </a:spcBef>
            </a:pPr>
            <a:r>
              <a:rPr sz="705" spc="32" dirty="0">
                <a:latin typeface="Arial"/>
                <a:cs typeface="Arial"/>
              </a:rPr>
              <a:t>Set </a:t>
            </a:r>
            <a:r>
              <a:rPr sz="705" spc="58" dirty="0">
                <a:latin typeface="Arial"/>
                <a:cs typeface="Arial"/>
              </a:rPr>
              <a:t>the </a:t>
            </a:r>
            <a:r>
              <a:rPr sz="705" spc="71" dirty="0">
                <a:latin typeface="Arial"/>
                <a:cs typeface="Arial"/>
              </a:rPr>
              <a:t>variables </a:t>
            </a:r>
            <a:r>
              <a:rPr sz="705" spc="90" dirty="0">
                <a:latin typeface="Arial"/>
                <a:cs typeface="Arial"/>
              </a:rPr>
              <a:t>to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45" dirty="0">
                <a:latin typeface="Arial"/>
                <a:cs typeface="Arial"/>
              </a:rPr>
              <a:t>values </a:t>
            </a:r>
            <a:r>
              <a:rPr sz="705" spc="-10" dirty="0">
                <a:latin typeface="Arial"/>
                <a:cs typeface="Arial"/>
              </a:rPr>
              <a:t>and </a:t>
            </a:r>
            <a:r>
              <a:rPr sz="705" spc="99" dirty="0">
                <a:latin typeface="Arial"/>
                <a:cs typeface="Arial"/>
              </a:rPr>
              <a:t>different </a:t>
            </a:r>
            <a:r>
              <a:rPr sz="705" spc="55" dirty="0">
                <a:latin typeface="Arial"/>
                <a:cs typeface="Arial"/>
              </a:rPr>
              <a:t>operators </a:t>
            </a:r>
            <a:r>
              <a:rPr sz="705" spc="-6" dirty="0">
                <a:latin typeface="Arial"/>
                <a:cs typeface="Arial"/>
              </a:rPr>
              <a:t>and </a:t>
            </a:r>
            <a:r>
              <a:rPr sz="705" spc="42" dirty="0">
                <a:latin typeface="Arial"/>
                <a:cs typeface="Arial"/>
              </a:rPr>
              <a:t>then  </a:t>
            </a:r>
            <a:r>
              <a:rPr sz="705" spc="157" dirty="0">
                <a:latin typeface="Arial"/>
                <a:cs typeface="Arial"/>
              </a:rPr>
              <a:t>try...</a:t>
            </a:r>
            <a:endParaRPr sz="70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5570" y="207010"/>
            <a:ext cx="38309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</a:t>
            </a:r>
            <a:r>
              <a:rPr spc="-30" dirty="0">
                <a:solidFill>
                  <a:srgbClr val="006FC0"/>
                </a:solidFill>
              </a:rPr>
              <a:t> </a:t>
            </a:r>
            <a:r>
              <a:rPr spc="-10" dirty="0">
                <a:solidFill>
                  <a:srgbClr val="006FC0"/>
                </a:solidFill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14729"/>
            <a:ext cx="7954645" cy="54514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55600" marR="160020" indent="-343535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Everything"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dirty="0">
                <a:latin typeface="Carlito"/>
                <a:cs typeface="Carlito"/>
              </a:rPr>
              <a:t>is an </a:t>
            </a:r>
            <a:r>
              <a:rPr sz="2400" spc="-5" dirty="0">
                <a:latin typeface="Carlito"/>
                <a:cs typeface="Carlito"/>
              </a:rPr>
              <a:t>Object: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String,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30" dirty="0">
                <a:latin typeface="Carlito"/>
                <a:cs typeface="Carlito"/>
              </a:rPr>
              <a:t>Number, </a:t>
            </a:r>
            <a:r>
              <a:rPr sz="2400" dirty="0">
                <a:latin typeface="Carlito"/>
                <a:cs typeface="Carlito"/>
              </a:rPr>
              <a:t>an  </a:t>
            </a:r>
            <a:r>
              <a:rPr sz="2400" spc="-45" dirty="0">
                <a:latin typeface="Carlito"/>
                <a:cs typeface="Carlito"/>
              </a:rPr>
              <a:t>Array,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Date.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JavaScript,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object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data,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properties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methods.</a:t>
            </a:r>
            <a:endParaRPr sz="2400">
              <a:latin typeface="Carlito"/>
              <a:cs typeface="Carlito"/>
            </a:endParaRPr>
          </a:p>
          <a:p>
            <a:pPr marL="355600" marR="5080" indent="-343535">
              <a:lnSpc>
                <a:spcPct val="8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In </a:t>
            </a:r>
            <a:r>
              <a:rPr sz="2400" spc="-10" dirty="0">
                <a:latin typeface="Carlito"/>
                <a:cs typeface="Carlito"/>
              </a:rPr>
              <a:t>JavaScript, </a:t>
            </a:r>
            <a:r>
              <a:rPr sz="2400" spc="-5" dirty="0">
                <a:latin typeface="Carlito"/>
                <a:cs typeface="Carlito"/>
              </a:rPr>
              <a:t>objects </a:t>
            </a:r>
            <a:r>
              <a:rPr sz="2400" spc="-15" dirty="0">
                <a:latin typeface="Carlito"/>
                <a:cs typeface="Carlito"/>
              </a:rPr>
              <a:t>are data </a:t>
            </a:r>
            <a:r>
              <a:rPr sz="2400" spc="-10" dirty="0">
                <a:latin typeface="Carlito"/>
                <a:cs typeface="Carlito"/>
              </a:rPr>
              <a:t>(variables),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dirty="0">
                <a:latin typeface="Carlito"/>
                <a:cs typeface="Carlito"/>
              </a:rPr>
              <a:t>and  </a:t>
            </a:r>
            <a:r>
              <a:rPr sz="2400" spc="-5" dirty="0">
                <a:latin typeface="Carlito"/>
                <a:cs typeface="Carlito"/>
              </a:rPr>
              <a:t>methods.</a:t>
            </a:r>
            <a:endParaRPr sz="2400">
              <a:latin typeface="Carlito"/>
              <a:cs typeface="Carlito"/>
            </a:endParaRPr>
          </a:p>
          <a:p>
            <a:pPr marL="217170">
              <a:lnSpc>
                <a:spcPts val="2865"/>
              </a:lnSpc>
            </a:pPr>
            <a:r>
              <a:rPr sz="2400" spc="-15" dirty="0">
                <a:latin typeface="Carlito"/>
                <a:cs typeface="Carlito"/>
              </a:rPr>
              <a:t>var </a:t>
            </a:r>
            <a:r>
              <a:rPr sz="2400" dirty="0">
                <a:latin typeface="Carlito"/>
                <a:cs typeface="Carlito"/>
              </a:rPr>
              <a:t>txt =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"Hello";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ts val="3704"/>
              </a:lnSpc>
            </a:pPr>
            <a:r>
              <a:rPr sz="3100" b="1" spc="-10" dirty="0">
                <a:latin typeface="Carlito"/>
                <a:cs typeface="Carlito"/>
              </a:rPr>
              <a:t>Methods:</a:t>
            </a:r>
            <a:endParaRPr sz="3100">
              <a:latin typeface="Carlito"/>
              <a:cs typeface="Carlito"/>
            </a:endParaRPr>
          </a:p>
          <a:p>
            <a:pPr marL="12700">
              <a:lnSpc>
                <a:spcPts val="2265"/>
              </a:lnSpc>
              <a:spcBef>
                <a:spcPts val="50"/>
              </a:spcBef>
            </a:pPr>
            <a:r>
              <a:rPr sz="1900" spc="-10" dirty="0">
                <a:latin typeface="Carlito"/>
                <a:cs typeface="Carlito"/>
              </a:rPr>
              <a:t>txt.indexOf(),txt.length()</a:t>
            </a:r>
            <a:endParaRPr sz="1900">
              <a:latin typeface="Carlito"/>
              <a:cs typeface="Carlito"/>
            </a:endParaRPr>
          </a:p>
          <a:p>
            <a:pPr marL="12700">
              <a:lnSpc>
                <a:spcPts val="3105"/>
              </a:lnSpc>
            </a:pPr>
            <a:r>
              <a:rPr sz="2600" b="1" dirty="0">
                <a:solidFill>
                  <a:srgbClr val="006FC0"/>
                </a:solidFill>
                <a:latin typeface="Carlito"/>
                <a:cs typeface="Carlito"/>
              </a:rPr>
              <a:t>Accessing </a:t>
            </a: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Object</a:t>
            </a:r>
            <a:r>
              <a:rPr sz="2600" b="1" spc="-25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Properties</a:t>
            </a:r>
            <a:endParaRPr sz="26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Carlito"/>
                <a:cs typeface="Carlito"/>
              </a:rPr>
              <a:t>The </a:t>
            </a:r>
            <a:r>
              <a:rPr sz="2600" spc="-25" dirty="0">
                <a:latin typeface="Carlito"/>
                <a:cs typeface="Carlito"/>
              </a:rPr>
              <a:t>syntax for </a:t>
            </a:r>
            <a:r>
              <a:rPr sz="2600" dirty="0">
                <a:latin typeface="Carlito"/>
                <a:cs typeface="Carlito"/>
              </a:rPr>
              <a:t>accessing the </a:t>
            </a:r>
            <a:r>
              <a:rPr sz="2600" spc="-10" dirty="0">
                <a:latin typeface="Carlito"/>
                <a:cs typeface="Carlito"/>
              </a:rPr>
              <a:t>property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an </a:t>
            </a:r>
            <a:r>
              <a:rPr sz="2600" spc="-5" dirty="0">
                <a:latin typeface="Carlito"/>
                <a:cs typeface="Carlito"/>
              </a:rPr>
              <a:t>object</a:t>
            </a:r>
            <a:r>
              <a:rPr sz="2600" spc="-5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is:</a:t>
            </a:r>
            <a:endParaRPr sz="26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i="1" spc="-5" dirty="0">
                <a:latin typeface="Carlito"/>
                <a:cs typeface="Carlito"/>
              </a:rPr>
              <a:t>objectName.propertyName</a:t>
            </a:r>
            <a:endParaRPr sz="2600">
              <a:latin typeface="Carlito"/>
              <a:cs typeface="Carlito"/>
            </a:endParaRPr>
          </a:p>
          <a:p>
            <a:pPr marL="355600" marR="762635" indent="-343535">
              <a:lnSpc>
                <a:spcPct val="80000"/>
              </a:lnSpc>
              <a:spcBef>
                <a:spcPts val="6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Carlito"/>
                <a:cs typeface="Carlito"/>
              </a:rPr>
              <a:t>This </a:t>
            </a:r>
            <a:r>
              <a:rPr sz="2600" spc="-15" dirty="0">
                <a:latin typeface="Carlito"/>
                <a:cs typeface="Carlito"/>
              </a:rPr>
              <a:t>example </a:t>
            </a:r>
            <a:r>
              <a:rPr sz="2600" spc="-5" dirty="0">
                <a:latin typeface="Carlito"/>
                <a:cs typeface="Carlito"/>
              </a:rPr>
              <a:t>uses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length </a:t>
            </a:r>
            <a:r>
              <a:rPr sz="2600" spc="-10" dirty="0">
                <a:latin typeface="Carlito"/>
                <a:cs typeface="Carlito"/>
              </a:rPr>
              <a:t>property </a:t>
            </a:r>
            <a:r>
              <a:rPr sz="2600" spc="-5" dirty="0">
                <a:latin typeface="Carlito"/>
                <a:cs typeface="Carlito"/>
              </a:rPr>
              <a:t>of </a:t>
            </a:r>
            <a:r>
              <a:rPr sz="2600" dirty="0">
                <a:latin typeface="Carlito"/>
                <a:cs typeface="Carlito"/>
              </a:rPr>
              <a:t>the</a:t>
            </a:r>
            <a:r>
              <a:rPr sz="2600" spc="-130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String  </a:t>
            </a:r>
            <a:r>
              <a:rPr sz="2600" spc="-5" dirty="0">
                <a:latin typeface="Carlito"/>
                <a:cs typeface="Carlito"/>
              </a:rPr>
              <a:t>object </a:t>
            </a:r>
            <a:r>
              <a:rPr sz="2600" spc="-15" dirty="0">
                <a:latin typeface="Carlito"/>
                <a:cs typeface="Carlito"/>
              </a:rPr>
              <a:t>to </a:t>
            </a:r>
            <a:r>
              <a:rPr sz="2600" spc="-5" dirty="0">
                <a:latin typeface="Carlito"/>
                <a:cs typeface="Carlito"/>
              </a:rPr>
              <a:t>find </a:t>
            </a:r>
            <a:r>
              <a:rPr sz="2600" dirty="0">
                <a:latin typeface="Carlito"/>
                <a:cs typeface="Carlito"/>
              </a:rPr>
              <a:t>the </a:t>
            </a:r>
            <a:r>
              <a:rPr sz="2600" spc="-5" dirty="0">
                <a:latin typeface="Carlito"/>
                <a:cs typeface="Carlito"/>
              </a:rPr>
              <a:t>length of </a:t>
            </a:r>
            <a:r>
              <a:rPr sz="2600" dirty="0">
                <a:latin typeface="Carlito"/>
                <a:cs typeface="Carlito"/>
              </a:rPr>
              <a:t>a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string:</a:t>
            </a:r>
            <a:endParaRPr sz="2600">
              <a:latin typeface="Carlito"/>
              <a:cs typeface="Carlito"/>
            </a:endParaRPr>
          </a:p>
          <a:p>
            <a:pPr marL="355600" marR="3719195" indent="-343535">
              <a:lnSpc>
                <a:spcPct val="8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15" dirty="0">
                <a:latin typeface="Carlito"/>
                <a:cs typeface="Carlito"/>
              </a:rPr>
              <a:t>var </a:t>
            </a:r>
            <a:r>
              <a:rPr sz="2600" spc="-5" dirty="0">
                <a:latin typeface="Carlito"/>
                <a:cs typeface="Carlito"/>
              </a:rPr>
              <a:t>message="Hello </a:t>
            </a:r>
            <a:r>
              <a:rPr sz="2600" spc="-20" dirty="0">
                <a:latin typeface="Carlito"/>
                <a:cs typeface="Carlito"/>
              </a:rPr>
              <a:t>World!";  </a:t>
            </a:r>
            <a:r>
              <a:rPr sz="2600" spc="-15" dirty="0">
                <a:latin typeface="Carlito"/>
                <a:cs typeface="Carlito"/>
              </a:rPr>
              <a:t>var</a:t>
            </a:r>
            <a:r>
              <a:rPr sz="2600" spc="-10" dirty="0">
                <a:latin typeface="Carlito"/>
                <a:cs typeface="Carlito"/>
              </a:rPr>
              <a:t> </a:t>
            </a:r>
            <a:r>
              <a:rPr sz="2600" spc="-5" dirty="0">
                <a:latin typeface="Carlito"/>
                <a:cs typeface="Carlito"/>
              </a:rPr>
              <a:t>x=message.length;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3604" y="0"/>
            <a:ext cx="47986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6FC0"/>
                </a:solidFill>
              </a:rPr>
              <a:t>Data </a:t>
            </a:r>
            <a:r>
              <a:rPr spc="-35" dirty="0">
                <a:solidFill>
                  <a:srgbClr val="006FC0"/>
                </a:solidFill>
              </a:rPr>
              <a:t>Type</a:t>
            </a:r>
            <a:r>
              <a:rPr spc="-40" dirty="0">
                <a:solidFill>
                  <a:srgbClr val="006FC0"/>
                </a:solidFill>
              </a:rPr>
              <a:t> </a:t>
            </a:r>
            <a:r>
              <a:rPr spc="-15" dirty="0">
                <a:solidFill>
                  <a:srgbClr val="006FC0"/>
                </a:solidFill>
              </a:rPr>
              <a:t>Conversions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07110"/>
            <a:ext cx="7997825" cy="42697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dirty="0">
                <a:latin typeface="Carlito"/>
                <a:cs typeface="Carlito"/>
              </a:rPr>
              <a:t>is a </a:t>
            </a:r>
            <a:r>
              <a:rPr sz="2400" spc="-5" dirty="0">
                <a:latin typeface="Carlito"/>
                <a:cs typeface="Carlito"/>
              </a:rPr>
              <a:t>dynamically </a:t>
            </a:r>
            <a:r>
              <a:rPr sz="2400" dirty="0">
                <a:latin typeface="Carlito"/>
                <a:cs typeface="Carlito"/>
              </a:rPr>
              <a:t>typed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language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45" dirty="0">
                <a:latin typeface="Carlito"/>
                <a:cs typeface="Carlito"/>
              </a:rPr>
              <a:t>We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15" dirty="0">
                <a:latin typeface="Carlito"/>
                <a:cs typeface="Carlito"/>
              </a:rPr>
              <a:t>convert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string </a:t>
            </a:r>
            <a:r>
              <a:rPr sz="2400" dirty="0">
                <a:latin typeface="Carlito"/>
                <a:cs typeface="Carlito"/>
              </a:rPr>
              <a:t>and vice</a:t>
            </a:r>
            <a:r>
              <a:rPr sz="2400" spc="1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versa</a:t>
            </a:r>
            <a:endParaRPr sz="2400">
              <a:latin typeface="Carlito"/>
              <a:cs typeface="Carlito"/>
            </a:endParaRPr>
          </a:p>
          <a:p>
            <a:pPr marL="355600" marR="762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parseInt </a:t>
            </a:r>
            <a:r>
              <a:rPr sz="2400" spc="-5" dirty="0">
                <a:latin typeface="Carlito"/>
                <a:cs typeface="Carlito"/>
              </a:rPr>
              <a:t>method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5" dirty="0">
                <a:latin typeface="Carlito"/>
                <a:cs typeface="Carlito"/>
              </a:rPr>
              <a:t>used </a:t>
            </a:r>
            <a:r>
              <a:rPr sz="2400" spc="-15" dirty="0">
                <a:latin typeface="Carlito"/>
                <a:cs typeface="Carlito"/>
              </a:rPr>
              <a:t>to convert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string </a:t>
            </a:r>
            <a:r>
              <a:rPr sz="2400" spc="-10" dirty="0">
                <a:latin typeface="Carlito"/>
                <a:cs typeface="Carlito"/>
              </a:rPr>
              <a:t>value, </a:t>
            </a:r>
            <a:r>
              <a:rPr sz="2400" dirty="0">
                <a:latin typeface="Carlito"/>
                <a:cs typeface="Carlito"/>
              </a:rPr>
              <a:t>which </a:t>
            </a:r>
            <a:r>
              <a:rPr sz="2400" spc="-15" dirty="0">
                <a:latin typeface="Carlito"/>
                <a:cs typeface="Carlito"/>
              </a:rPr>
              <a:t>is  </a:t>
            </a:r>
            <a:r>
              <a:rPr sz="2400" spc="-5" dirty="0">
                <a:latin typeface="Carlito"/>
                <a:cs typeface="Carlito"/>
              </a:rPr>
              <a:t>holding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temp </a:t>
            </a:r>
            <a:r>
              <a:rPr sz="2400" dirty="0">
                <a:latin typeface="Carlito"/>
                <a:cs typeface="Carlito"/>
              </a:rPr>
              <a:t>=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parseInt(“42”)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anoth =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parseInt(“54.34”)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Str=””+2500;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Str=””+temp;</a:t>
            </a:r>
            <a:endParaRPr sz="2400">
              <a:latin typeface="Carlito"/>
              <a:cs typeface="Carlito"/>
            </a:endParaRPr>
          </a:p>
          <a:p>
            <a:pPr marL="521970" indent="-50990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521334" algn="l"/>
                <a:tab pos="522605" algn="l"/>
                <a:tab pos="1509395" algn="l"/>
                <a:tab pos="2513965" algn="l"/>
                <a:tab pos="2986405" algn="l"/>
                <a:tab pos="3946525" algn="l"/>
                <a:tab pos="4842510" algn="l"/>
                <a:tab pos="5267960" algn="l"/>
                <a:tab pos="5581015" algn="l"/>
                <a:tab pos="6728459" algn="l"/>
                <a:tab pos="7555865" algn="l"/>
              </a:tabLst>
            </a:pPr>
            <a:r>
              <a:rPr sz="2400" spc="-5" dirty="0">
                <a:latin typeface="Carlito"/>
                <a:cs typeface="Carlito"/>
              </a:rPr>
              <a:t>Simp</a:t>
            </a:r>
            <a:r>
              <a:rPr sz="2400" spc="-15" dirty="0">
                <a:latin typeface="Carlito"/>
                <a:cs typeface="Carlito"/>
              </a:rPr>
              <a:t>l</a:t>
            </a:r>
            <a:r>
              <a:rPr sz="2400" dirty="0">
                <a:latin typeface="Carlito"/>
                <a:cs typeface="Carlito"/>
              </a:rPr>
              <a:t>y	a</a:t>
            </a:r>
            <a:r>
              <a:rPr sz="2400" spc="-15" dirty="0">
                <a:latin typeface="Carlito"/>
                <a:cs typeface="Carlito"/>
              </a:rPr>
              <a:t>d</a:t>
            </a:r>
            <a:r>
              <a:rPr sz="2400" spc="-5" dirty="0">
                <a:latin typeface="Carlito"/>
                <a:cs typeface="Carlito"/>
              </a:rPr>
              <a:t>din</a:t>
            </a:r>
            <a:r>
              <a:rPr sz="2400" dirty="0">
                <a:latin typeface="Carlito"/>
                <a:cs typeface="Carlito"/>
              </a:rPr>
              <a:t>g	an	</a:t>
            </a:r>
            <a:r>
              <a:rPr sz="2400" spc="-10" dirty="0">
                <a:latin typeface="Carlito"/>
                <a:cs typeface="Carlito"/>
              </a:rPr>
              <a:t>e</a:t>
            </a:r>
            <a:r>
              <a:rPr sz="2400" dirty="0">
                <a:latin typeface="Carlito"/>
                <a:cs typeface="Carlito"/>
              </a:rPr>
              <a:t>m</a:t>
            </a:r>
            <a:r>
              <a:rPr sz="2400" spc="-15" dirty="0">
                <a:latin typeface="Carlito"/>
                <a:cs typeface="Carlito"/>
              </a:rPr>
              <a:t>p</a:t>
            </a:r>
            <a:r>
              <a:rPr sz="2400" dirty="0">
                <a:latin typeface="Carlito"/>
                <a:cs typeface="Carlito"/>
              </a:rPr>
              <a:t>ty	</a:t>
            </a:r>
            <a:r>
              <a:rPr sz="2400" spc="-5" dirty="0">
                <a:latin typeface="Carlito"/>
                <a:cs typeface="Carlito"/>
              </a:rPr>
              <a:t>qu</a:t>
            </a:r>
            <a:r>
              <a:rPr sz="2400" spc="-15" dirty="0">
                <a:latin typeface="Carlito"/>
                <a:cs typeface="Carlito"/>
              </a:rPr>
              <a:t>o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o	a	</a:t>
            </a:r>
            <a:r>
              <a:rPr sz="2400" spc="-5" dirty="0">
                <a:latin typeface="Carlito"/>
                <a:cs typeface="Carlito"/>
              </a:rPr>
              <a:t>nu</a:t>
            </a:r>
            <a:r>
              <a:rPr sz="2400" spc="-20" dirty="0">
                <a:latin typeface="Carlito"/>
                <a:cs typeface="Carlito"/>
              </a:rPr>
              <a:t>m</a:t>
            </a:r>
            <a:r>
              <a:rPr sz="2400" spc="-5" dirty="0">
                <a:latin typeface="Carlito"/>
                <a:cs typeface="Carlito"/>
              </a:rPr>
              <a:t>be</a:t>
            </a:r>
            <a:r>
              <a:rPr sz="2400" dirty="0">
                <a:latin typeface="Carlito"/>
                <a:cs typeface="Carlito"/>
              </a:rPr>
              <a:t>r	</a:t>
            </a:r>
            <a:r>
              <a:rPr sz="2400" spc="-40" dirty="0">
                <a:latin typeface="Carlito"/>
                <a:cs typeface="Carlito"/>
              </a:rPr>
              <a:t>v</a:t>
            </a:r>
            <a:r>
              <a:rPr sz="2400" dirty="0">
                <a:latin typeface="Carlito"/>
                <a:cs typeface="Carlito"/>
              </a:rPr>
              <a:t>alue	will</a:t>
            </a:r>
            <a:endParaRPr sz="24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rlito"/>
                <a:cs typeface="Carlito"/>
              </a:rPr>
              <a:t>convert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number </a:t>
            </a:r>
            <a:r>
              <a:rPr sz="2400" spc="-15" dirty="0">
                <a:latin typeface="Carlito"/>
                <a:cs typeface="Carlito"/>
              </a:rPr>
              <a:t>into </a:t>
            </a:r>
            <a:r>
              <a:rPr sz="2400" spc="-5" dirty="0">
                <a:latin typeface="Carlito"/>
                <a:cs typeface="Carlito"/>
              </a:rPr>
              <a:t>string </a:t>
            </a:r>
            <a:r>
              <a:rPr sz="2400" spc="-15" dirty="0">
                <a:latin typeface="Carlito"/>
                <a:cs typeface="Carlito"/>
              </a:rPr>
              <a:t>data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type.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4026" y="0"/>
            <a:ext cx="41535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Decision</a:t>
            </a:r>
            <a:r>
              <a:rPr spc="-40" dirty="0"/>
              <a:t> </a:t>
            </a:r>
            <a:r>
              <a:rPr spc="-10" dirty="0"/>
              <a:t>Constructs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28445"/>
            <a:ext cx="2417445" cy="520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rlito"/>
                <a:cs typeface="Carlito"/>
              </a:rPr>
              <a:t>If…else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If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(condition)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latin typeface="Carlito"/>
                <a:cs typeface="Carlito"/>
              </a:rPr>
              <a:t>statements, </a:t>
            </a:r>
            <a:r>
              <a:rPr sz="2000" dirty="0">
                <a:latin typeface="Carlito"/>
                <a:cs typeface="Carlito"/>
              </a:rPr>
              <a:t>if it </a:t>
            </a:r>
            <a:r>
              <a:rPr sz="2000" spc="-5" dirty="0">
                <a:latin typeface="Carlito"/>
                <a:cs typeface="Carlito"/>
              </a:rPr>
              <a:t>is</a:t>
            </a:r>
            <a:r>
              <a:rPr sz="2000" spc="2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true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else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latin typeface="Carlito"/>
                <a:cs typeface="Carlito"/>
              </a:rPr>
              <a:t>statements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5" dirty="0">
                <a:latin typeface="Carlito"/>
                <a:cs typeface="Carlito"/>
              </a:rPr>
              <a:t>it </a:t>
            </a:r>
            <a:r>
              <a:rPr sz="2000" dirty="0">
                <a:latin typeface="Carlito"/>
                <a:cs typeface="Carlito"/>
              </a:rPr>
              <a:t>is</a:t>
            </a:r>
            <a:r>
              <a:rPr sz="2000" spc="2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false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i="1" spc="-15" dirty="0">
                <a:solidFill>
                  <a:srgbClr val="006FC0"/>
                </a:solidFill>
                <a:latin typeface="Carlito"/>
                <a:cs typeface="Carlito"/>
              </a:rPr>
              <a:t>For </a:t>
            </a:r>
            <a:r>
              <a:rPr sz="2000" i="1" spc="-5" dirty="0">
                <a:solidFill>
                  <a:srgbClr val="006FC0"/>
                </a:solidFill>
                <a:latin typeface="Carlito"/>
                <a:cs typeface="Carlito"/>
              </a:rPr>
              <a:t>Multiple</a:t>
            </a:r>
            <a:r>
              <a:rPr sz="2000" i="1" spc="-4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2000" i="1" spc="-5" dirty="0">
                <a:solidFill>
                  <a:srgbClr val="006FC0"/>
                </a:solidFill>
                <a:latin typeface="Carlito"/>
                <a:cs typeface="Carlito"/>
              </a:rPr>
              <a:t>Conditions</a:t>
            </a:r>
            <a:endParaRPr sz="2000">
              <a:latin typeface="Carlito"/>
              <a:cs typeface="Carlito"/>
            </a:endParaRPr>
          </a:p>
          <a:p>
            <a:pPr marL="68580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if(condition)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{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rlito"/>
                <a:cs typeface="Carlito"/>
              </a:rPr>
              <a:t>Statements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  <a:p>
            <a:pPr marL="12700" marR="465455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else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5" dirty="0">
                <a:latin typeface="Carlito"/>
                <a:cs typeface="Carlito"/>
              </a:rPr>
              <a:t>(condition) </a:t>
            </a:r>
            <a:r>
              <a:rPr sz="2000" dirty="0">
                <a:latin typeface="Carlito"/>
                <a:cs typeface="Carlito"/>
              </a:rPr>
              <a:t>{  </a:t>
            </a:r>
            <a:r>
              <a:rPr sz="2000" spc="-15" dirty="0">
                <a:latin typeface="Carlito"/>
                <a:cs typeface="Carlito"/>
              </a:rPr>
              <a:t>statements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}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9305" y="0"/>
            <a:ext cx="3486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Sample</a:t>
            </a:r>
            <a:r>
              <a:rPr spc="-55" dirty="0"/>
              <a:t> </a:t>
            </a:r>
            <a:r>
              <a:rPr spc="-25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977580"/>
            <a:ext cx="7263765" cy="539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165985">
              <a:lnSpc>
                <a:spcPct val="110000"/>
              </a:lnSpc>
              <a:spcBef>
                <a:spcPts val="95"/>
              </a:spcBef>
            </a:pPr>
            <a:r>
              <a:rPr sz="3200" spc="-5" dirty="0">
                <a:latin typeface="Carlito"/>
                <a:cs typeface="Carlito"/>
              </a:rPr>
              <a:t>&lt;script language="JavaScript"&gt;  </a:t>
            </a:r>
            <a:r>
              <a:rPr sz="3200" spc="-15" dirty="0">
                <a:latin typeface="Carlito"/>
                <a:cs typeface="Carlito"/>
              </a:rPr>
              <a:t>var </a:t>
            </a:r>
            <a:r>
              <a:rPr sz="3200" dirty="0">
                <a:latin typeface="Carlito"/>
                <a:cs typeface="Carlito"/>
              </a:rPr>
              <a:t>type;</a:t>
            </a:r>
            <a:endParaRPr sz="3200">
              <a:latin typeface="Carlito"/>
              <a:cs typeface="Carlito"/>
            </a:endParaRPr>
          </a:p>
          <a:p>
            <a:pPr marL="12700" marR="5080">
              <a:lnSpc>
                <a:spcPct val="110000"/>
              </a:lnSpc>
              <a:spcBef>
                <a:spcPts val="5"/>
              </a:spcBef>
            </a:pPr>
            <a:r>
              <a:rPr sz="3200" spc="-10" dirty="0">
                <a:latin typeface="Carlito"/>
                <a:cs typeface="Carlito"/>
              </a:rPr>
              <a:t>type=prompt("enter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user </a:t>
            </a:r>
            <a:r>
              <a:rPr sz="3200" dirty="0">
                <a:latin typeface="Carlito"/>
                <a:cs typeface="Carlito"/>
              </a:rPr>
              <a:t>type","");  </a:t>
            </a:r>
            <a:r>
              <a:rPr sz="3200" spc="-5" dirty="0">
                <a:latin typeface="Carlito"/>
                <a:cs typeface="Carlito"/>
              </a:rPr>
              <a:t>if(type=="admin")  </a:t>
            </a:r>
            <a:r>
              <a:rPr sz="3200" spc="-15" dirty="0">
                <a:latin typeface="Carlito"/>
                <a:cs typeface="Carlito"/>
              </a:rPr>
              <a:t>document.write("Welcome Administrator");  </a:t>
            </a:r>
            <a:r>
              <a:rPr sz="3200" dirty="0">
                <a:latin typeface="Carlito"/>
                <a:cs typeface="Carlito"/>
              </a:rPr>
              <a:t>else </a:t>
            </a:r>
            <a:r>
              <a:rPr sz="3200" spc="-5" dirty="0">
                <a:latin typeface="Carlito"/>
                <a:cs typeface="Carlito"/>
              </a:rPr>
              <a:t>if(type=="user")  </a:t>
            </a:r>
            <a:r>
              <a:rPr sz="3200" spc="-15" dirty="0">
                <a:latin typeface="Carlito"/>
                <a:cs typeface="Carlito"/>
              </a:rPr>
              <a:t>document.write("Welcome</a:t>
            </a:r>
            <a:r>
              <a:rPr sz="3200" spc="-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user");</a:t>
            </a:r>
            <a:endParaRPr sz="3200">
              <a:latin typeface="Carlito"/>
              <a:cs typeface="Carlito"/>
            </a:endParaRPr>
          </a:p>
          <a:p>
            <a:pPr marL="12700" marR="2773045" indent="91440">
              <a:lnSpc>
                <a:spcPct val="110000"/>
              </a:lnSpc>
            </a:pPr>
            <a:r>
              <a:rPr sz="3200" dirty="0">
                <a:latin typeface="Carlito"/>
                <a:cs typeface="Carlito"/>
              </a:rPr>
              <a:t>else  </a:t>
            </a:r>
            <a:r>
              <a:rPr sz="3200" spc="-10" dirty="0">
                <a:latin typeface="Carlito"/>
                <a:cs typeface="Carlito"/>
              </a:rPr>
              <a:t>document.write("Sorry…");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3200" spc="-15" dirty="0">
                <a:latin typeface="Carlito"/>
                <a:cs typeface="Carlito"/>
              </a:rPr>
              <a:t>&lt;/script&gt;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4022" y="0"/>
            <a:ext cx="26949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Switch…case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07110"/>
            <a:ext cx="74422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1632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Carlito"/>
                <a:cs typeface="Carlito"/>
              </a:rPr>
              <a:t>&lt;script language="JavaScript"&gt;  </a:t>
            </a:r>
            <a:r>
              <a:rPr sz="2400" spc="-15" dirty="0">
                <a:latin typeface="Carlito"/>
                <a:cs typeface="Carlito"/>
              </a:rPr>
              <a:t>var</a:t>
            </a:r>
            <a:r>
              <a:rPr sz="2400" dirty="0">
                <a:latin typeface="Carlito"/>
                <a:cs typeface="Carlito"/>
              </a:rPr>
              <a:t> type;</a:t>
            </a:r>
            <a:endParaRPr sz="2400">
              <a:latin typeface="Carlito"/>
              <a:cs typeface="Carlito"/>
            </a:endParaRPr>
          </a:p>
          <a:p>
            <a:pPr marL="12700" marR="2588895">
              <a:lnSpc>
                <a:spcPct val="120000"/>
              </a:lnSpc>
            </a:pPr>
            <a:r>
              <a:rPr sz="2400" spc="-10" dirty="0">
                <a:latin typeface="Carlito"/>
                <a:cs typeface="Carlito"/>
              </a:rPr>
              <a:t>type=prompt("Enter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user type","");  switch(type)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rlito"/>
                <a:cs typeface="Carlito"/>
              </a:rPr>
              <a:t>{</a:t>
            </a:r>
            <a:endParaRPr sz="2400">
              <a:latin typeface="Carlito"/>
              <a:cs typeface="Carlito"/>
            </a:endParaRPr>
          </a:p>
          <a:p>
            <a:pPr marL="355600" marR="5080" indent="-139065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Carlito"/>
                <a:cs typeface="Carlito"/>
              </a:rPr>
              <a:t>case </a:t>
            </a:r>
            <a:r>
              <a:rPr sz="2400" dirty="0">
                <a:latin typeface="Carlito"/>
                <a:cs typeface="Carlito"/>
              </a:rPr>
              <a:t>"admin": </a:t>
            </a:r>
            <a:r>
              <a:rPr sz="2400" spc="-15" dirty="0">
                <a:latin typeface="Carlito"/>
                <a:cs typeface="Carlito"/>
              </a:rPr>
              <a:t>document.write("Welcome </a:t>
            </a:r>
            <a:r>
              <a:rPr sz="2400" spc="-10" dirty="0">
                <a:latin typeface="Carlito"/>
                <a:cs typeface="Carlito"/>
              </a:rPr>
              <a:t>Administrator");  break;</a:t>
            </a:r>
            <a:endParaRPr sz="2400">
              <a:latin typeface="Carlito"/>
              <a:cs typeface="Carlito"/>
            </a:endParaRPr>
          </a:p>
          <a:p>
            <a:pPr marL="217170" marR="569595">
              <a:lnSpc>
                <a:spcPct val="120000"/>
              </a:lnSpc>
            </a:pPr>
            <a:r>
              <a:rPr sz="2400" spc="-5" dirty="0">
                <a:latin typeface="Carlito"/>
                <a:cs typeface="Carlito"/>
              </a:rPr>
              <a:t>case </a:t>
            </a:r>
            <a:r>
              <a:rPr sz="2400" dirty="0">
                <a:latin typeface="Carlito"/>
                <a:cs typeface="Carlito"/>
              </a:rPr>
              <a:t>"user": </a:t>
            </a:r>
            <a:r>
              <a:rPr sz="2400" spc="-15" dirty="0">
                <a:latin typeface="Carlito"/>
                <a:cs typeface="Carlito"/>
              </a:rPr>
              <a:t>document.write("Welcome </a:t>
            </a:r>
            <a:r>
              <a:rPr sz="2400" spc="-5" dirty="0">
                <a:latin typeface="Carlito"/>
                <a:cs typeface="Carlito"/>
              </a:rPr>
              <a:t>user"); </a:t>
            </a:r>
            <a:r>
              <a:rPr sz="2400" spc="-10" dirty="0">
                <a:latin typeface="Carlito"/>
                <a:cs typeface="Carlito"/>
              </a:rPr>
              <a:t>break;  default: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document.write("Sorry…");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Carlito"/>
                <a:cs typeface="Carlito"/>
              </a:rPr>
              <a:t>}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latin typeface="Carlito"/>
                <a:cs typeface="Carlito"/>
              </a:rPr>
              <a:t>&lt;/script&gt;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3501" y="0"/>
            <a:ext cx="4933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Popup</a:t>
            </a:r>
            <a:r>
              <a:rPr spc="5" dirty="0"/>
              <a:t> </a:t>
            </a:r>
            <a:r>
              <a:rPr spc="-45" dirty="0"/>
              <a:t>Boxes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28445"/>
            <a:ext cx="7622540" cy="495300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509905" indent="-343535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latin typeface="Carlito"/>
                <a:cs typeface="Carlito"/>
              </a:rPr>
              <a:t>In </a:t>
            </a:r>
            <a:r>
              <a:rPr sz="2000" spc="-10" dirty="0">
                <a:latin typeface="Carlito"/>
                <a:cs typeface="Carlito"/>
              </a:rPr>
              <a:t>JavaScript we </a:t>
            </a:r>
            <a:r>
              <a:rPr sz="2000" spc="-5" dirty="0">
                <a:latin typeface="Carlito"/>
                <a:cs typeface="Carlito"/>
              </a:rPr>
              <a:t>can </a:t>
            </a:r>
            <a:r>
              <a:rPr sz="2000" spc="-15" dirty="0">
                <a:latin typeface="Carlito"/>
                <a:cs typeface="Carlito"/>
              </a:rPr>
              <a:t>create </a:t>
            </a:r>
            <a:r>
              <a:rPr sz="2000" spc="-5" dirty="0">
                <a:latin typeface="Carlito"/>
                <a:cs typeface="Carlito"/>
              </a:rPr>
              <a:t>three </a:t>
            </a:r>
            <a:r>
              <a:rPr sz="2000" dirty="0">
                <a:latin typeface="Carlito"/>
                <a:cs typeface="Carlito"/>
              </a:rPr>
              <a:t>kinds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popup </a:t>
            </a:r>
            <a:r>
              <a:rPr sz="2000" spc="-15" dirty="0">
                <a:latin typeface="Carlito"/>
                <a:cs typeface="Carlito"/>
              </a:rPr>
              <a:t>boxes: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Alert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box,  </a:t>
            </a:r>
            <a:r>
              <a:rPr sz="2000" spc="-5" dirty="0">
                <a:solidFill>
                  <a:srgbClr val="FF0000"/>
                </a:solidFill>
                <a:latin typeface="Carlito"/>
                <a:cs typeface="Carlito"/>
              </a:rPr>
              <a:t>Confirm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box, </a:t>
            </a:r>
            <a:r>
              <a:rPr sz="2000" dirty="0">
                <a:solidFill>
                  <a:srgbClr val="001F5F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Prompt</a:t>
            </a:r>
            <a:r>
              <a:rPr sz="20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rlito"/>
                <a:cs typeface="Carlito"/>
              </a:rPr>
              <a:t>box.</a:t>
            </a:r>
            <a:endParaRPr sz="2000">
              <a:latin typeface="Carlito"/>
              <a:cs typeface="Carlito"/>
            </a:endParaRPr>
          </a:p>
          <a:p>
            <a:pPr marL="285750">
              <a:lnSpc>
                <a:spcPct val="100000"/>
              </a:lnSpc>
            </a:pPr>
            <a:r>
              <a:rPr sz="2400" b="1" dirty="0">
                <a:latin typeface="Carlito"/>
                <a:cs typeface="Carlito"/>
              </a:rPr>
              <a:t>Alert</a:t>
            </a:r>
            <a:r>
              <a:rPr sz="2400" b="1" spc="-15" dirty="0">
                <a:latin typeface="Carlito"/>
                <a:cs typeface="Carlito"/>
              </a:rPr>
              <a:t> </a:t>
            </a:r>
            <a:r>
              <a:rPr sz="2400" b="1" spc="-20" dirty="0">
                <a:latin typeface="Carlito"/>
                <a:cs typeface="Carlito"/>
              </a:rPr>
              <a:t>Box</a:t>
            </a:r>
            <a:endParaRPr sz="2400">
              <a:latin typeface="Carlito"/>
              <a:cs typeface="Carlito"/>
            </a:endParaRPr>
          </a:p>
          <a:p>
            <a:pPr marL="355600" marR="370840" indent="-343535">
              <a:lnSpc>
                <a:spcPts val="1920"/>
              </a:lnSpc>
              <a:spcBef>
                <a:spcPts val="484"/>
              </a:spcBef>
            </a:pP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alert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often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15" dirty="0">
                <a:latin typeface="Carlito"/>
                <a:cs typeface="Carlito"/>
              </a:rPr>
              <a:t>want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spc="-15" dirty="0">
                <a:latin typeface="Carlito"/>
                <a:cs typeface="Carlito"/>
              </a:rPr>
              <a:t>make </a:t>
            </a:r>
            <a:r>
              <a:rPr sz="2000" spc="-10" dirty="0">
                <a:latin typeface="Carlito"/>
                <a:cs typeface="Carlito"/>
              </a:rPr>
              <a:t>sure information </a:t>
            </a:r>
            <a:r>
              <a:rPr sz="2000" dirty="0">
                <a:latin typeface="Carlito"/>
                <a:cs typeface="Carlito"/>
              </a:rPr>
              <a:t>comes  </a:t>
            </a:r>
            <a:r>
              <a:rPr sz="2000" spc="-5" dirty="0">
                <a:latin typeface="Carlito"/>
                <a:cs typeface="Carlito"/>
              </a:rPr>
              <a:t>through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the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45" dirty="0">
                <a:latin typeface="Carlito"/>
                <a:cs typeface="Carlito"/>
              </a:rPr>
              <a:t>user.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5" dirty="0">
                <a:latin typeface="Carlito"/>
                <a:cs typeface="Carlito"/>
              </a:rPr>
              <a:t>When </a:t>
            </a:r>
            <a:r>
              <a:rPr sz="2000" dirty="0">
                <a:latin typeface="Carlito"/>
                <a:cs typeface="Carlito"/>
              </a:rPr>
              <a:t>an </a:t>
            </a:r>
            <a:r>
              <a:rPr sz="2000" spc="-5" dirty="0">
                <a:latin typeface="Carlito"/>
                <a:cs typeface="Carlito"/>
              </a:rPr>
              <a:t>alert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pops </a:t>
            </a:r>
            <a:r>
              <a:rPr sz="2000" dirty="0">
                <a:latin typeface="Carlito"/>
                <a:cs typeface="Carlito"/>
              </a:rPr>
              <a:t>up, the user </a:t>
            </a:r>
            <a:r>
              <a:rPr sz="2000" spc="-5" dirty="0">
                <a:latin typeface="Carlito"/>
                <a:cs typeface="Carlito"/>
              </a:rPr>
              <a:t>will </a:t>
            </a:r>
            <a:r>
              <a:rPr sz="2000" spc="-20" dirty="0">
                <a:latin typeface="Carlito"/>
                <a:cs typeface="Carlito"/>
              </a:rPr>
              <a:t>have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click "OK" </a:t>
            </a:r>
            <a:r>
              <a:rPr sz="2000" spc="-15" dirty="0">
                <a:latin typeface="Carlito"/>
                <a:cs typeface="Carlito"/>
              </a:rPr>
              <a:t>to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proceed.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latin typeface="Carlito"/>
                <a:cs typeface="Carlito"/>
              </a:rPr>
              <a:t>Syntax: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105"/>
              </a:lnSpc>
            </a:pPr>
            <a:r>
              <a:rPr sz="2000" spc="-10" dirty="0">
                <a:latin typeface="Carlito"/>
                <a:cs typeface="Carlito"/>
              </a:rPr>
              <a:t>alert("sometext")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ts val="2585"/>
              </a:lnSpc>
            </a:pPr>
            <a:r>
              <a:rPr sz="2400" b="1" spc="-10" dirty="0">
                <a:latin typeface="Carlito"/>
                <a:cs typeface="Carlito"/>
              </a:rPr>
              <a:t>Confirm</a:t>
            </a:r>
            <a:r>
              <a:rPr sz="2400" b="1" spc="-25" dirty="0">
                <a:latin typeface="Carlito"/>
                <a:cs typeface="Carlito"/>
              </a:rPr>
              <a:t> </a:t>
            </a:r>
            <a:r>
              <a:rPr sz="2400" b="1" spc="-15" dirty="0">
                <a:latin typeface="Carlito"/>
                <a:cs typeface="Carlito"/>
              </a:rPr>
              <a:t>Box</a:t>
            </a:r>
            <a:endParaRPr sz="2400">
              <a:latin typeface="Carlito"/>
              <a:cs typeface="Carlito"/>
            </a:endParaRPr>
          </a:p>
          <a:p>
            <a:pPr marL="355600" marR="749300" indent="-343535">
              <a:lnSpc>
                <a:spcPct val="80000"/>
              </a:lnSpc>
              <a:spcBef>
                <a:spcPts val="495"/>
              </a:spcBef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confirm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often </a:t>
            </a:r>
            <a:r>
              <a:rPr sz="2000" dirty="0">
                <a:latin typeface="Carlito"/>
                <a:cs typeface="Carlito"/>
              </a:rPr>
              <a:t>used if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15" dirty="0">
                <a:latin typeface="Carlito"/>
                <a:cs typeface="Carlito"/>
              </a:rPr>
              <a:t>want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user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5" dirty="0">
                <a:latin typeface="Carlito"/>
                <a:cs typeface="Carlito"/>
              </a:rPr>
              <a:t>verify or </a:t>
            </a:r>
            <a:r>
              <a:rPr sz="2000" dirty="0">
                <a:latin typeface="Carlito"/>
                <a:cs typeface="Carlito"/>
              </a:rPr>
              <a:t>accept  </a:t>
            </a:r>
            <a:r>
              <a:rPr sz="2000" spc="-5" dirty="0">
                <a:latin typeface="Carlito"/>
                <a:cs typeface="Carlito"/>
              </a:rPr>
              <a:t>something.</a:t>
            </a:r>
            <a:endParaRPr sz="2000">
              <a:latin typeface="Carlito"/>
              <a:cs typeface="Carlito"/>
            </a:endParaRPr>
          </a:p>
          <a:p>
            <a:pPr marL="355600" marR="407034" indent="-343535">
              <a:lnSpc>
                <a:spcPts val="1920"/>
              </a:lnSpc>
              <a:spcBef>
                <a:spcPts val="465"/>
              </a:spcBef>
            </a:pPr>
            <a:r>
              <a:rPr sz="2000" spc="-5" dirty="0">
                <a:latin typeface="Carlito"/>
                <a:cs typeface="Carlito"/>
              </a:rPr>
              <a:t>When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5" dirty="0">
                <a:latin typeface="Carlito"/>
                <a:cs typeface="Carlito"/>
              </a:rPr>
              <a:t>confirm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pops </a:t>
            </a:r>
            <a:r>
              <a:rPr sz="2000" dirty="0">
                <a:latin typeface="Carlito"/>
                <a:cs typeface="Carlito"/>
              </a:rPr>
              <a:t>up, the </a:t>
            </a:r>
            <a:r>
              <a:rPr sz="2000" spc="-5" dirty="0">
                <a:latin typeface="Carlito"/>
                <a:cs typeface="Carlito"/>
              </a:rPr>
              <a:t>user will </a:t>
            </a:r>
            <a:r>
              <a:rPr sz="2000" spc="-20" dirty="0">
                <a:latin typeface="Carlito"/>
                <a:cs typeface="Carlito"/>
              </a:rPr>
              <a:t>have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click either "OK" </a:t>
            </a:r>
            <a:r>
              <a:rPr sz="2000" spc="-5" dirty="0">
                <a:latin typeface="Carlito"/>
                <a:cs typeface="Carlito"/>
              </a:rPr>
              <a:t>or  </a:t>
            </a:r>
            <a:r>
              <a:rPr sz="2000" dirty="0">
                <a:latin typeface="Carlito"/>
                <a:cs typeface="Carlito"/>
              </a:rPr>
              <a:t>"Cancel" </a:t>
            </a:r>
            <a:r>
              <a:rPr sz="2000" spc="-15" dirty="0">
                <a:latin typeface="Carlito"/>
                <a:cs typeface="Carlito"/>
              </a:rPr>
              <a:t>to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proceed.</a:t>
            </a:r>
            <a:endParaRPr sz="2000">
              <a:latin typeface="Carlito"/>
              <a:cs typeface="Carlito"/>
            </a:endParaRPr>
          </a:p>
          <a:p>
            <a:pPr marL="355600" marR="5080" indent="-343535">
              <a:lnSpc>
                <a:spcPct val="80000"/>
              </a:lnSpc>
              <a:spcBef>
                <a:spcPts val="500"/>
              </a:spcBef>
            </a:pPr>
            <a:r>
              <a:rPr sz="2000" dirty="0">
                <a:latin typeface="Carlito"/>
                <a:cs typeface="Carlito"/>
              </a:rPr>
              <a:t>If the user </a:t>
            </a:r>
            <a:r>
              <a:rPr sz="2000" spc="-5" dirty="0">
                <a:latin typeface="Carlito"/>
                <a:cs typeface="Carlito"/>
              </a:rPr>
              <a:t>clicks </a:t>
            </a:r>
            <a:r>
              <a:rPr sz="2000" dirty="0">
                <a:latin typeface="Carlito"/>
                <a:cs typeface="Carlito"/>
              </a:rPr>
              <a:t>"OK", the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returns </a:t>
            </a:r>
            <a:r>
              <a:rPr sz="2000" dirty="0">
                <a:latin typeface="Carlito"/>
                <a:cs typeface="Carlito"/>
              </a:rPr>
              <a:t>true. If the </a:t>
            </a:r>
            <a:r>
              <a:rPr sz="2000" spc="-5" dirty="0">
                <a:latin typeface="Carlito"/>
                <a:cs typeface="Carlito"/>
              </a:rPr>
              <a:t>user clicks </a:t>
            </a:r>
            <a:r>
              <a:rPr sz="2000" dirty="0">
                <a:latin typeface="Carlito"/>
                <a:cs typeface="Carlito"/>
              </a:rPr>
              <a:t>"Cancel", the 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returns</a:t>
            </a:r>
            <a:r>
              <a:rPr sz="2000" spc="-1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false.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b="1" spc="-15" dirty="0">
                <a:latin typeface="Carlito"/>
                <a:cs typeface="Carlito"/>
              </a:rPr>
              <a:t>Syntax: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Carlito"/>
                <a:cs typeface="Carlito"/>
              </a:rPr>
              <a:t>confirm("sometext")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1075690"/>
            <a:ext cx="18808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Prompt</a:t>
            </a:r>
            <a:r>
              <a:rPr sz="3000" spc="-80" dirty="0"/>
              <a:t> </a:t>
            </a:r>
            <a:r>
              <a:rPr sz="3000" spc="-25" dirty="0"/>
              <a:t>Box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12140" y="1601165"/>
            <a:ext cx="7322184" cy="2709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prompt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dirty="0">
                <a:latin typeface="Carlito"/>
                <a:cs typeface="Carlito"/>
              </a:rPr>
              <a:t>is </a:t>
            </a:r>
            <a:r>
              <a:rPr sz="2000" spc="-10" dirty="0">
                <a:latin typeface="Carlito"/>
                <a:cs typeface="Carlito"/>
              </a:rPr>
              <a:t>often </a:t>
            </a:r>
            <a:r>
              <a:rPr sz="2000" spc="-5" dirty="0">
                <a:latin typeface="Carlito"/>
                <a:cs typeface="Carlito"/>
              </a:rPr>
              <a:t>used </a:t>
            </a:r>
            <a:r>
              <a:rPr sz="2000" dirty="0">
                <a:latin typeface="Carlito"/>
                <a:cs typeface="Carlito"/>
              </a:rPr>
              <a:t>if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15" dirty="0">
                <a:latin typeface="Carlito"/>
                <a:cs typeface="Carlito"/>
              </a:rPr>
              <a:t>want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user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input a </a:t>
            </a:r>
            <a:r>
              <a:rPr sz="2000" spc="-10" dirty="0">
                <a:latin typeface="Carlito"/>
                <a:cs typeface="Carlito"/>
              </a:rPr>
              <a:t>value</a:t>
            </a:r>
            <a:r>
              <a:rPr sz="2000" spc="25" dirty="0">
                <a:latin typeface="Carlito"/>
                <a:cs typeface="Carlito"/>
              </a:rPr>
              <a:t> </a:t>
            </a:r>
            <a:r>
              <a:rPr sz="2000" spc="-15" dirty="0">
                <a:latin typeface="Carlito"/>
                <a:cs typeface="Carlito"/>
              </a:rPr>
              <a:t>before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latin typeface="Carlito"/>
                <a:cs typeface="Carlito"/>
              </a:rPr>
              <a:t>entering </a:t>
            </a:r>
            <a:r>
              <a:rPr sz="2000" dirty="0">
                <a:latin typeface="Carlito"/>
                <a:cs typeface="Carlito"/>
              </a:rPr>
              <a:t>a</a:t>
            </a:r>
            <a:r>
              <a:rPr sz="2000" spc="1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page.</a:t>
            </a:r>
            <a:endParaRPr sz="2000">
              <a:latin typeface="Carlito"/>
              <a:cs typeface="Carlito"/>
            </a:endParaRPr>
          </a:p>
          <a:p>
            <a:pPr marL="355600" marR="133985" indent="-34353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arlito"/>
                <a:cs typeface="Carlito"/>
              </a:rPr>
              <a:t>When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prompt box </a:t>
            </a:r>
            <a:r>
              <a:rPr sz="2000" spc="-5" dirty="0">
                <a:latin typeface="Carlito"/>
                <a:cs typeface="Carlito"/>
              </a:rPr>
              <a:t>pops </a:t>
            </a:r>
            <a:r>
              <a:rPr sz="2000" dirty="0">
                <a:latin typeface="Carlito"/>
                <a:cs typeface="Carlito"/>
              </a:rPr>
              <a:t>up, the user </a:t>
            </a:r>
            <a:r>
              <a:rPr sz="2000" spc="-5" dirty="0">
                <a:latin typeface="Carlito"/>
                <a:cs typeface="Carlito"/>
              </a:rPr>
              <a:t>will </a:t>
            </a:r>
            <a:r>
              <a:rPr sz="2000" spc="-20" dirty="0">
                <a:latin typeface="Carlito"/>
                <a:cs typeface="Carlito"/>
              </a:rPr>
              <a:t>have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dirty="0">
                <a:latin typeface="Carlito"/>
                <a:cs typeface="Carlito"/>
              </a:rPr>
              <a:t>click either "OK" </a:t>
            </a:r>
            <a:r>
              <a:rPr sz="2000" spc="-5" dirty="0">
                <a:latin typeface="Carlito"/>
                <a:cs typeface="Carlito"/>
              </a:rPr>
              <a:t>or  </a:t>
            </a:r>
            <a:r>
              <a:rPr sz="2000" dirty="0">
                <a:latin typeface="Carlito"/>
                <a:cs typeface="Carlito"/>
              </a:rPr>
              <a:t>"Cancel" </a:t>
            </a:r>
            <a:r>
              <a:rPr sz="2000" spc="-15" dirty="0">
                <a:latin typeface="Carlito"/>
                <a:cs typeface="Carlito"/>
              </a:rPr>
              <a:t>to </a:t>
            </a:r>
            <a:r>
              <a:rPr sz="2000" spc="-10" dirty="0">
                <a:latin typeface="Carlito"/>
                <a:cs typeface="Carlito"/>
              </a:rPr>
              <a:t>proceed after entering </a:t>
            </a:r>
            <a:r>
              <a:rPr sz="2000" dirty="0">
                <a:latin typeface="Carlito"/>
                <a:cs typeface="Carlito"/>
              </a:rPr>
              <a:t>an input</a:t>
            </a:r>
            <a:r>
              <a:rPr sz="2000" spc="3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value.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arlito"/>
                <a:cs typeface="Carlito"/>
              </a:rPr>
              <a:t>If the user </a:t>
            </a:r>
            <a:r>
              <a:rPr sz="2000" spc="-5" dirty="0">
                <a:latin typeface="Carlito"/>
                <a:cs typeface="Carlito"/>
              </a:rPr>
              <a:t>clicks </a:t>
            </a:r>
            <a:r>
              <a:rPr sz="2000" dirty="0">
                <a:latin typeface="Carlito"/>
                <a:cs typeface="Carlito"/>
              </a:rPr>
              <a:t>"OK" the </a:t>
            </a:r>
            <a:r>
              <a:rPr sz="2000" spc="-10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returns </a:t>
            </a:r>
            <a:r>
              <a:rPr sz="2000" dirty="0">
                <a:latin typeface="Carlito"/>
                <a:cs typeface="Carlito"/>
              </a:rPr>
              <a:t>the input </a:t>
            </a:r>
            <a:r>
              <a:rPr sz="2000" spc="-5" dirty="0">
                <a:latin typeface="Carlito"/>
                <a:cs typeface="Carlito"/>
              </a:rPr>
              <a:t>value. </a:t>
            </a:r>
            <a:r>
              <a:rPr sz="2000" dirty="0">
                <a:latin typeface="Carlito"/>
                <a:cs typeface="Carlito"/>
              </a:rPr>
              <a:t>If the user</a:t>
            </a:r>
            <a:r>
              <a:rPr sz="2000" spc="-7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clicks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"Cancel" the </a:t>
            </a:r>
            <a:r>
              <a:rPr sz="2000" spc="-15" dirty="0">
                <a:latin typeface="Carlito"/>
                <a:cs typeface="Carlito"/>
              </a:rPr>
              <a:t>box </a:t>
            </a:r>
            <a:r>
              <a:rPr sz="2000" spc="-5" dirty="0">
                <a:latin typeface="Carlito"/>
                <a:cs typeface="Carlito"/>
              </a:rPr>
              <a:t>returns</a:t>
            </a:r>
            <a:r>
              <a:rPr sz="2000" spc="-30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null.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15" dirty="0">
                <a:latin typeface="Carlito"/>
                <a:cs typeface="Carlito"/>
              </a:rPr>
              <a:t>Syntax: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latin typeface="Carlito"/>
                <a:cs typeface="Carlito"/>
              </a:rPr>
              <a:t>prompt("sometext","defaultvalue“)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1542" y="0"/>
            <a:ext cx="4278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6FC0"/>
                </a:solidFill>
              </a:rPr>
              <a:t>JavaScript</a:t>
            </a:r>
            <a:r>
              <a:rPr spc="-25" dirty="0">
                <a:solidFill>
                  <a:srgbClr val="006FC0"/>
                </a:solidFill>
              </a:rPr>
              <a:t> </a:t>
            </a:r>
            <a:r>
              <a:rPr spc="-5" dirty="0">
                <a:solidFill>
                  <a:srgbClr val="006FC0"/>
                </a:solidFill>
              </a:rPr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620013"/>
            <a:ext cx="7997190" cy="4549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A function </a:t>
            </a:r>
            <a:r>
              <a:rPr sz="2800" spc="-10" dirty="0">
                <a:latin typeface="Carlito"/>
                <a:cs typeface="Carlito"/>
              </a:rPr>
              <a:t>is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reusable </a:t>
            </a:r>
            <a:r>
              <a:rPr sz="2800" spc="-5" dirty="0">
                <a:latin typeface="Carlito"/>
                <a:cs typeface="Carlito"/>
              </a:rPr>
              <a:t>code-block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dirty="0">
                <a:latin typeface="Carlito"/>
                <a:cs typeface="Carlito"/>
              </a:rPr>
              <a:t>be  </a:t>
            </a:r>
            <a:r>
              <a:rPr sz="2800" spc="-25" dirty="0">
                <a:latin typeface="Carlito"/>
                <a:cs typeface="Carlito"/>
              </a:rPr>
              <a:t>executed </a:t>
            </a:r>
            <a:r>
              <a:rPr sz="2800" spc="-10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event, </a:t>
            </a:r>
            <a:r>
              <a:rPr sz="2800" spc="-5" dirty="0">
                <a:latin typeface="Carlito"/>
                <a:cs typeface="Carlito"/>
              </a:rPr>
              <a:t>or when the function </a:t>
            </a:r>
            <a:r>
              <a:rPr sz="2800" spc="-10" dirty="0">
                <a:latin typeface="Carlito"/>
                <a:cs typeface="Carlito"/>
              </a:rPr>
              <a:t>is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called.</a:t>
            </a:r>
            <a:endParaRPr sz="28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30" dirty="0">
                <a:latin typeface="Carlito"/>
                <a:cs typeface="Carlito"/>
              </a:rPr>
              <a:t>To </a:t>
            </a:r>
            <a:r>
              <a:rPr sz="2800" spc="-25" dirty="0">
                <a:latin typeface="Carlito"/>
                <a:cs typeface="Carlito"/>
              </a:rPr>
              <a:t>keep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20" dirty="0">
                <a:latin typeface="Carlito"/>
                <a:cs typeface="Carlito"/>
              </a:rPr>
              <a:t>browser from </a:t>
            </a:r>
            <a:r>
              <a:rPr sz="2800" spc="-15" dirty="0">
                <a:latin typeface="Carlito"/>
                <a:cs typeface="Carlito"/>
              </a:rPr>
              <a:t>executing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script </a:t>
            </a:r>
            <a:r>
              <a:rPr sz="2800" spc="-5" dirty="0">
                <a:latin typeface="Carlito"/>
                <a:cs typeface="Carlito"/>
              </a:rPr>
              <a:t>when  the </a:t>
            </a:r>
            <a:r>
              <a:rPr sz="2800" spc="-15" dirty="0">
                <a:latin typeface="Carlito"/>
                <a:cs typeface="Carlito"/>
              </a:rPr>
              <a:t>page </a:t>
            </a:r>
            <a:r>
              <a:rPr sz="2800" spc="-5" dirty="0">
                <a:latin typeface="Carlito"/>
                <a:cs typeface="Carlito"/>
              </a:rPr>
              <a:t>loads, </a:t>
            </a:r>
            <a:r>
              <a:rPr sz="2800" spc="-15" dirty="0">
                <a:latin typeface="Carlito"/>
                <a:cs typeface="Carlito"/>
              </a:rPr>
              <a:t>you </a:t>
            </a:r>
            <a:r>
              <a:rPr sz="2800" spc="-10" dirty="0">
                <a:latin typeface="Carlito"/>
                <a:cs typeface="Carlito"/>
              </a:rPr>
              <a:t>can put </a:t>
            </a:r>
            <a:r>
              <a:rPr sz="2800" spc="-15" dirty="0">
                <a:latin typeface="Carlito"/>
                <a:cs typeface="Carlito"/>
              </a:rPr>
              <a:t>your </a:t>
            </a:r>
            <a:r>
              <a:rPr sz="2800" spc="-5" dirty="0">
                <a:latin typeface="Carlito"/>
                <a:cs typeface="Carlito"/>
              </a:rPr>
              <a:t>script </a:t>
            </a:r>
            <a:r>
              <a:rPr sz="2800" spc="-15" dirty="0">
                <a:latin typeface="Carlito"/>
                <a:cs typeface="Carlito"/>
              </a:rPr>
              <a:t>into </a:t>
            </a:r>
            <a:r>
              <a:rPr sz="2800" spc="-5" dirty="0">
                <a:latin typeface="Carlito"/>
                <a:cs typeface="Carlito"/>
              </a:rPr>
              <a:t>a  function.</a:t>
            </a:r>
            <a:endParaRPr sz="28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A function </a:t>
            </a:r>
            <a:r>
              <a:rPr sz="2800" spc="-15" dirty="0">
                <a:latin typeface="Carlito"/>
                <a:cs typeface="Carlito"/>
              </a:rPr>
              <a:t>contains </a:t>
            </a:r>
            <a:r>
              <a:rPr sz="2800" spc="-5" dirty="0">
                <a:latin typeface="Carlito"/>
                <a:cs typeface="Carlito"/>
              </a:rPr>
              <a:t>code </a:t>
            </a:r>
            <a:r>
              <a:rPr sz="2800" spc="-10" dirty="0">
                <a:latin typeface="Carlito"/>
                <a:cs typeface="Carlito"/>
              </a:rPr>
              <a:t>that </a:t>
            </a:r>
            <a:r>
              <a:rPr sz="2800" spc="-5" dirty="0">
                <a:latin typeface="Carlito"/>
                <a:cs typeface="Carlito"/>
              </a:rPr>
              <a:t>will be </a:t>
            </a:r>
            <a:r>
              <a:rPr sz="2800" spc="-25" dirty="0">
                <a:latin typeface="Carlito"/>
                <a:cs typeface="Carlito"/>
              </a:rPr>
              <a:t>executed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10" dirty="0">
                <a:latin typeface="Carlito"/>
                <a:cs typeface="Carlito"/>
              </a:rPr>
              <a:t>an  </a:t>
            </a:r>
            <a:r>
              <a:rPr sz="2800" spc="-20" dirty="0">
                <a:latin typeface="Carlito"/>
                <a:cs typeface="Carlito"/>
              </a:rPr>
              <a:t>event </a:t>
            </a:r>
            <a:r>
              <a:rPr sz="2800" spc="-5" dirty="0">
                <a:latin typeface="Carlito"/>
                <a:cs typeface="Carlito"/>
              </a:rPr>
              <a:t>or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that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function.</a:t>
            </a:r>
            <a:endParaRPr sz="28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75" dirty="0">
                <a:latin typeface="Carlito"/>
                <a:cs typeface="Carlito"/>
              </a:rPr>
              <a:t>You </a:t>
            </a:r>
            <a:r>
              <a:rPr sz="2800" spc="-20" dirty="0">
                <a:latin typeface="Carlito"/>
                <a:cs typeface="Carlito"/>
              </a:rPr>
              <a:t>may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5" dirty="0">
                <a:latin typeface="Carlito"/>
                <a:cs typeface="Carlito"/>
              </a:rPr>
              <a:t>a function </a:t>
            </a:r>
            <a:r>
              <a:rPr sz="2800" spc="-20" dirty="0">
                <a:latin typeface="Carlito"/>
                <a:cs typeface="Carlito"/>
              </a:rPr>
              <a:t>from anywhere </a:t>
            </a:r>
            <a:r>
              <a:rPr sz="2800" spc="-5" dirty="0">
                <a:latin typeface="Carlito"/>
                <a:cs typeface="Carlito"/>
              </a:rPr>
              <a:t>within the  </a:t>
            </a:r>
            <a:r>
              <a:rPr sz="2800" spc="-15" dirty="0">
                <a:latin typeface="Carlito"/>
                <a:cs typeface="Carlito"/>
              </a:rPr>
              <a:t>page </a:t>
            </a:r>
            <a:r>
              <a:rPr sz="2800" spc="-5" dirty="0">
                <a:latin typeface="Carlito"/>
                <a:cs typeface="Carlito"/>
              </a:rPr>
              <a:t>(or </a:t>
            </a:r>
            <a:r>
              <a:rPr sz="2800" spc="-15" dirty="0">
                <a:latin typeface="Carlito"/>
                <a:cs typeface="Carlito"/>
              </a:rPr>
              <a:t>even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10" dirty="0">
                <a:latin typeface="Carlito"/>
                <a:cs typeface="Carlito"/>
              </a:rPr>
              <a:t>other pages if </a:t>
            </a:r>
            <a:r>
              <a:rPr sz="2800" spc="-5" dirty="0">
                <a:latin typeface="Carlito"/>
                <a:cs typeface="Carlito"/>
              </a:rPr>
              <a:t>the function </a:t>
            </a:r>
            <a:r>
              <a:rPr sz="2800" spc="-15" dirty="0">
                <a:latin typeface="Carlito"/>
                <a:cs typeface="Carlito"/>
              </a:rPr>
              <a:t>is  </a:t>
            </a:r>
            <a:r>
              <a:rPr sz="2800" spc="-5" dirty="0">
                <a:latin typeface="Carlito"/>
                <a:cs typeface="Carlito"/>
              </a:rPr>
              <a:t>embedded </a:t>
            </a:r>
            <a:r>
              <a:rPr sz="2800" spc="-10" dirty="0">
                <a:latin typeface="Carlito"/>
                <a:cs typeface="Carlito"/>
              </a:rPr>
              <a:t>in </a:t>
            </a:r>
            <a:r>
              <a:rPr sz="2800" spc="-5" dirty="0">
                <a:latin typeface="Carlito"/>
                <a:cs typeface="Carlito"/>
              </a:rPr>
              <a:t>an </a:t>
            </a:r>
            <a:r>
              <a:rPr sz="2800" spc="-15" dirty="0">
                <a:latin typeface="Carlito"/>
                <a:cs typeface="Carlito"/>
              </a:rPr>
              <a:t>external </a:t>
            </a:r>
            <a:r>
              <a:rPr sz="2800" spc="-5" dirty="0">
                <a:latin typeface="Carlito"/>
                <a:cs typeface="Carlito"/>
              </a:rPr>
              <a:t>.js</a:t>
            </a:r>
            <a:r>
              <a:rPr sz="2800" spc="7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file).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8889" y="0"/>
            <a:ext cx="5582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5" dirty="0"/>
              <a:t>Function</a:t>
            </a:r>
            <a:r>
              <a:rPr dirty="0"/>
              <a:t> </a:t>
            </a:r>
            <a:r>
              <a:rPr spc="-3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5344" y="1074165"/>
            <a:ext cx="425958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rlito"/>
                <a:cs typeface="Carlito"/>
              </a:rPr>
              <a:t>function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i="1" spc="-5" dirty="0">
                <a:solidFill>
                  <a:srgbClr val="FF0000"/>
                </a:solidFill>
                <a:latin typeface="Carlito"/>
                <a:cs typeface="Carlito"/>
              </a:rPr>
              <a:t>functionname</a:t>
            </a:r>
            <a:r>
              <a:rPr sz="3200" spc="-5" dirty="0">
                <a:latin typeface="Carlito"/>
                <a:cs typeface="Carlito"/>
              </a:rPr>
              <a:t>()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i="1" spc="-5" dirty="0">
                <a:latin typeface="Carlito"/>
                <a:cs typeface="Carlito"/>
              </a:rPr>
              <a:t>some </a:t>
            </a:r>
            <a:r>
              <a:rPr sz="3200" i="1" spc="-10" dirty="0">
                <a:latin typeface="Carlito"/>
                <a:cs typeface="Carlito"/>
              </a:rPr>
              <a:t>code </a:t>
            </a:r>
            <a:r>
              <a:rPr sz="3200" i="1" spc="-25" dirty="0">
                <a:latin typeface="Carlito"/>
                <a:cs typeface="Carlito"/>
              </a:rPr>
              <a:t>to </a:t>
            </a:r>
            <a:r>
              <a:rPr sz="3200" i="1" spc="-5" dirty="0">
                <a:latin typeface="Carlito"/>
                <a:cs typeface="Carlito"/>
              </a:rPr>
              <a:t>be </a:t>
            </a:r>
            <a:r>
              <a:rPr sz="3200" i="1" spc="-25" dirty="0">
                <a:latin typeface="Carlito"/>
                <a:cs typeface="Carlito"/>
              </a:rPr>
              <a:t>executed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1542" y="207010"/>
            <a:ext cx="42786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</a:t>
            </a:r>
            <a:r>
              <a:rPr spc="-25" dirty="0"/>
              <a:t> </a:t>
            </a:r>
            <a:r>
              <a:rPr spc="-5" dirty="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07109"/>
            <a:ext cx="7476490" cy="5257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55600" marR="5080" indent="-343535">
              <a:lnSpc>
                <a:spcPct val="80000"/>
              </a:lnSpc>
              <a:spcBef>
                <a:spcPts val="725"/>
              </a:spcBef>
            </a:pPr>
            <a:r>
              <a:rPr sz="2600" dirty="0">
                <a:latin typeface="Carlito"/>
                <a:cs typeface="Carlito"/>
              </a:rPr>
              <a:t>A </a:t>
            </a:r>
            <a:r>
              <a:rPr sz="2600" spc="-5" dirty="0">
                <a:latin typeface="Carlito"/>
                <a:cs typeface="Carlito"/>
              </a:rPr>
              <a:t>function </a:t>
            </a:r>
            <a:r>
              <a:rPr sz="2600" dirty="0">
                <a:latin typeface="Carlito"/>
                <a:cs typeface="Carlito"/>
              </a:rPr>
              <a:t>is a </a:t>
            </a:r>
            <a:r>
              <a:rPr sz="2600" spc="-5" dirty="0">
                <a:latin typeface="Carlito"/>
                <a:cs typeface="Carlito"/>
              </a:rPr>
              <a:t>block of </a:t>
            </a:r>
            <a:r>
              <a:rPr sz="2600" spc="-10" dirty="0">
                <a:latin typeface="Carlito"/>
                <a:cs typeface="Carlito"/>
              </a:rPr>
              <a:t>code </a:t>
            </a:r>
            <a:r>
              <a:rPr sz="2600" spc="-5" dirty="0">
                <a:latin typeface="Carlito"/>
                <a:cs typeface="Carlito"/>
              </a:rPr>
              <a:t>that </a:t>
            </a:r>
            <a:r>
              <a:rPr sz="2600" dirty="0">
                <a:latin typeface="Carlito"/>
                <a:cs typeface="Carlito"/>
              </a:rPr>
              <a:t>will </a:t>
            </a:r>
            <a:r>
              <a:rPr sz="2600" spc="-5" dirty="0">
                <a:latin typeface="Carlito"/>
                <a:cs typeface="Carlito"/>
              </a:rPr>
              <a:t>be </a:t>
            </a:r>
            <a:r>
              <a:rPr sz="2600" spc="-15" dirty="0">
                <a:latin typeface="Carlito"/>
                <a:cs typeface="Carlito"/>
              </a:rPr>
              <a:t>executed </a:t>
            </a:r>
            <a:r>
              <a:rPr sz="2600" dirty="0">
                <a:latin typeface="Carlito"/>
                <a:cs typeface="Carlito"/>
              </a:rPr>
              <a:t>when  </a:t>
            </a:r>
            <a:r>
              <a:rPr sz="2600" spc="-5" dirty="0">
                <a:latin typeface="Carlito"/>
                <a:cs typeface="Carlito"/>
              </a:rPr>
              <a:t>"someone" calls</a:t>
            </a:r>
            <a:r>
              <a:rPr sz="2600" spc="-45" dirty="0">
                <a:latin typeface="Carlito"/>
                <a:cs typeface="Carlito"/>
              </a:rPr>
              <a:t> </a:t>
            </a:r>
            <a:r>
              <a:rPr sz="2600" dirty="0">
                <a:latin typeface="Carlito"/>
                <a:cs typeface="Carlito"/>
              </a:rPr>
              <a:t>it.</a:t>
            </a:r>
            <a:endParaRPr sz="2600">
              <a:latin typeface="Carlito"/>
              <a:cs typeface="Carlito"/>
            </a:endParaRPr>
          </a:p>
          <a:p>
            <a:pPr marL="386080">
              <a:lnSpc>
                <a:spcPts val="2810"/>
              </a:lnSpc>
            </a:pPr>
            <a:r>
              <a:rPr sz="2600" dirty="0">
                <a:solidFill>
                  <a:srgbClr val="FF0000"/>
                </a:solidFill>
                <a:latin typeface="Carlito"/>
                <a:cs typeface="Carlito"/>
              </a:rPr>
              <a:t>&lt;!DOCTYPE</a:t>
            </a:r>
            <a:r>
              <a:rPr sz="2600" spc="-4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html&gt;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500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&lt;html&gt;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&lt;head&gt;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&lt;script&gt;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function</a:t>
            </a:r>
            <a:r>
              <a:rPr sz="2600" spc="-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myFunction()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alert("Hello</a:t>
            </a:r>
            <a:r>
              <a:rPr sz="2600" spc="-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600" spc="-15" dirty="0">
                <a:solidFill>
                  <a:srgbClr val="FF0000"/>
                </a:solidFill>
                <a:latin typeface="Carlito"/>
                <a:cs typeface="Carlito"/>
              </a:rPr>
              <a:t>World!");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dirty="0">
                <a:solidFill>
                  <a:srgbClr val="FF0000"/>
                </a:solidFill>
                <a:latin typeface="Carlito"/>
                <a:cs typeface="Carlito"/>
              </a:rPr>
              <a:t>}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10" dirty="0">
                <a:solidFill>
                  <a:srgbClr val="FF0000"/>
                </a:solidFill>
                <a:latin typeface="Carlito"/>
                <a:cs typeface="Carlito"/>
              </a:rPr>
              <a:t>&lt;/script&gt;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500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&lt;/head&gt;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&lt;body&gt;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10" dirty="0">
                <a:solidFill>
                  <a:srgbClr val="FF0000"/>
                </a:solidFill>
                <a:latin typeface="Carlito"/>
                <a:cs typeface="Carlito"/>
              </a:rPr>
              <a:t>&lt;button onclick="myFunction()"&gt;Try</a:t>
            </a:r>
            <a:r>
              <a:rPr sz="2600" spc="-6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it&lt;/button&gt;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495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&lt;/body&gt;</a:t>
            </a:r>
            <a:endParaRPr sz="2600">
              <a:latin typeface="Carlito"/>
              <a:cs typeface="Carlito"/>
            </a:endParaRPr>
          </a:p>
          <a:p>
            <a:pPr marL="355600">
              <a:lnSpc>
                <a:spcPts val="2810"/>
              </a:lnSpc>
            </a:pPr>
            <a:r>
              <a:rPr sz="2600" spc="-5" dirty="0">
                <a:solidFill>
                  <a:srgbClr val="FF0000"/>
                </a:solidFill>
                <a:latin typeface="Carlito"/>
                <a:cs typeface="Carlito"/>
              </a:rPr>
              <a:t>&lt;/html&gt;</a:t>
            </a:r>
            <a:endParaRPr sz="2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313" y="207010"/>
            <a:ext cx="6419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6FC0"/>
                </a:solidFill>
              </a:rPr>
              <a:t>Functions </a:t>
            </a:r>
            <a:r>
              <a:rPr spc="-10" dirty="0">
                <a:solidFill>
                  <a:srgbClr val="006FC0"/>
                </a:solidFill>
              </a:rPr>
              <a:t>With </a:t>
            </a:r>
            <a:r>
              <a:rPr spc="-5" dirty="0">
                <a:solidFill>
                  <a:srgbClr val="006FC0"/>
                </a:solidFill>
              </a:rPr>
              <a:t>a </a:t>
            </a:r>
            <a:r>
              <a:rPr spc="-20" dirty="0">
                <a:solidFill>
                  <a:srgbClr val="006FC0"/>
                </a:solidFill>
              </a:rPr>
              <a:t>Return</a:t>
            </a:r>
            <a:r>
              <a:rPr spc="15" dirty="0">
                <a:solidFill>
                  <a:srgbClr val="006FC0"/>
                </a:solidFill>
              </a:rPr>
              <a:t> </a:t>
            </a:r>
            <a:r>
              <a:rPr spc="-45" dirty="0">
                <a:solidFill>
                  <a:srgbClr val="006FC0"/>
                </a:solidFill>
              </a:rPr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77213"/>
            <a:ext cx="7998459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985" indent="-343535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0" dirty="0">
                <a:latin typeface="Carlito"/>
                <a:cs typeface="Carlito"/>
              </a:rPr>
              <a:t>Sometimes </a:t>
            </a:r>
            <a:r>
              <a:rPr sz="2800" spc="-15" dirty="0">
                <a:latin typeface="Carlito"/>
                <a:cs typeface="Carlito"/>
              </a:rPr>
              <a:t>you want your </a:t>
            </a:r>
            <a:r>
              <a:rPr sz="2800" spc="-5" dirty="0">
                <a:latin typeface="Carlito"/>
                <a:cs typeface="Carlito"/>
              </a:rPr>
              <a:t>function </a:t>
            </a:r>
            <a:r>
              <a:rPr sz="2800" spc="-15" dirty="0">
                <a:latin typeface="Carlito"/>
                <a:cs typeface="Carlito"/>
              </a:rPr>
              <a:t>to return </a:t>
            </a: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5" dirty="0">
                <a:latin typeface="Carlito"/>
                <a:cs typeface="Carlito"/>
              </a:rPr>
              <a:t>value  </a:t>
            </a:r>
            <a:r>
              <a:rPr sz="2800" spc="-5" dirty="0">
                <a:latin typeface="Carlito"/>
                <a:cs typeface="Carlito"/>
              </a:rPr>
              <a:t>back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where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15" dirty="0">
                <a:latin typeface="Carlito"/>
                <a:cs typeface="Carlito"/>
              </a:rPr>
              <a:t>was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made.</a:t>
            </a:r>
            <a:endParaRPr sz="28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0" dirty="0">
                <a:latin typeface="Carlito"/>
                <a:cs typeface="Carlito"/>
              </a:rPr>
              <a:t>This is possible </a:t>
            </a: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10" dirty="0">
                <a:latin typeface="Carlito"/>
                <a:cs typeface="Carlito"/>
              </a:rPr>
              <a:t>using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i="1" spc="-5" dirty="0">
                <a:latin typeface="Carlito"/>
                <a:cs typeface="Carlito"/>
              </a:rPr>
              <a:t>return</a:t>
            </a:r>
            <a:r>
              <a:rPr sz="2800" i="1" spc="190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statement.</a:t>
            </a:r>
            <a:endParaRPr sz="2800">
              <a:latin typeface="Carlito"/>
              <a:cs typeface="Carlito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When using the </a:t>
            </a:r>
            <a:r>
              <a:rPr sz="2800" i="1" spc="-5" dirty="0">
                <a:latin typeface="Carlito"/>
                <a:cs typeface="Carlito"/>
              </a:rPr>
              <a:t>return </a:t>
            </a:r>
            <a:r>
              <a:rPr sz="2800" spc="-20" dirty="0">
                <a:latin typeface="Carlito"/>
                <a:cs typeface="Carlito"/>
              </a:rPr>
              <a:t>statement, </a:t>
            </a:r>
            <a:r>
              <a:rPr sz="2800" spc="-5" dirty="0">
                <a:latin typeface="Carlito"/>
                <a:cs typeface="Carlito"/>
              </a:rPr>
              <a:t>the function will  </a:t>
            </a:r>
            <a:r>
              <a:rPr sz="2800" spc="-20" dirty="0">
                <a:latin typeface="Carlito"/>
                <a:cs typeface="Carlito"/>
              </a:rPr>
              <a:t>stop </a:t>
            </a:r>
            <a:r>
              <a:rPr sz="2800" spc="-15" dirty="0">
                <a:latin typeface="Carlito"/>
                <a:cs typeface="Carlito"/>
              </a:rPr>
              <a:t>executing,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15" dirty="0">
                <a:latin typeface="Carlito"/>
                <a:cs typeface="Carlito"/>
              </a:rPr>
              <a:t>return </a:t>
            </a:r>
            <a:r>
              <a:rPr sz="2800" spc="-5" dirty="0">
                <a:latin typeface="Carlito"/>
                <a:cs typeface="Carlito"/>
              </a:rPr>
              <a:t>the specified</a:t>
            </a:r>
            <a:r>
              <a:rPr sz="2800" spc="13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value.</a:t>
            </a:r>
            <a:endParaRPr sz="28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001F5F"/>
                </a:solidFill>
                <a:latin typeface="Carlito"/>
                <a:cs typeface="Carlito"/>
              </a:rPr>
              <a:t>Calling </a:t>
            </a:r>
            <a:r>
              <a:rPr sz="2800" b="1" spc="-5" dirty="0">
                <a:solidFill>
                  <a:srgbClr val="001F5F"/>
                </a:solidFill>
                <a:latin typeface="Carlito"/>
                <a:cs typeface="Carlito"/>
              </a:rPr>
              <a:t>a Function </a:t>
            </a:r>
            <a:r>
              <a:rPr sz="2800" b="1" spc="-10" dirty="0">
                <a:solidFill>
                  <a:srgbClr val="001F5F"/>
                </a:solidFill>
                <a:latin typeface="Carlito"/>
                <a:cs typeface="Carlito"/>
              </a:rPr>
              <a:t>with</a:t>
            </a:r>
            <a:r>
              <a:rPr sz="2800" b="1" spc="9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2800" b="1" spc="-15" dirty="0">
                <a:solidFill>
                  <a:srgbClr val="001F5F"/>
                </a:solidFill>
                <a:latin typeface="Carlito"/>
                <a:cs typeface="Carlito"/>
              </a:rPr>
              <a:t>Arguments</a:t>
            </a:r>
            <a:endParaRPr sz="28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latin typeface="Carlito"/>
                <a:cs typeface="Carlito"/>
              </a:rPr>
              <a:t>When </a:t>
            </a:r>
            <a:r>
              <a:rPr sz="2800" spc="-15" dirty="0">
                <a:latin typeface="Carlito"/>
                <a:cs typeface="Carlito"/>
              </a:rPr>
              <a:t>you </a:t>
            </a:r>
            <a:r>
              <a:rPr sz="2800" spc="-10" dirty="0">
                <a:latin typeface="Carlito"/>
                <a:cs typeface="Carlito"/>
              </a:rPr>
              <a:t>call </a:t>
            </a:r>
            <a:r>
              <a:rPr sz="2800" spc="-5" dirty="0">
                <a:latin typeface="Carlito"/>
                <a:cs typeface="Carlito"/>
              </a:rPr>
              <a:t>a function, </a:t>
            </a:r>
            <a:r>
              <a:rPr sz="2800" spc="-15" dirty="0">
                <a:latin typeface="Carlito"/>
                <a:cs typeface="Carlito"/>
              </a:rPr>
              <a:t>you </a:t>
            </a:r>
            <a:r>
              <a:rPr sz="2800" spc="-10" dirty="0">
                <a:latin typeface="Carlito"/>
                <a:cs typeface="Carlito"/>
              </a:rPr>
              <a:t>can pass </a:t>
            </a:r>
            <a:r>
              <a:rPr sz="2800" spc="-5" dirty="0">
                <a:latin typeface="Carlito"/>
                <a:cs typeface="Carlito"/>
              </a:rPr>
              <a:t>along some  </a:t>
            </a:r>
            <a:r>
              <a:rPr sz="2800" spc="-10" dirty="0">
                <a:latin typeface="Carlito"/>
                <a:cs typeface="Carlito"/>
              </a:rPr>
              <a:t>values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it, these </a:t>
            </a:r>
            <a:r>
              <a:rPr sz="2800" spc="-10" dirty="0">
                <a:latin typeface="Carlito"/>
                <a:cs typeface="Carlito"/>
              </a:rPr>
              <a:t>values </a:t>
            </a:r>
            <a:r>
              <a:rPr sz="2800" spc="-15" dirty="0">
                <a:latin typeface="Carlito"/>
                <a:cs typeface="Carlito"/>
              </a:rPr>
              <a:t>are </a:t>
            </a:r>
            <a:r>
              <a:rPr sz="2800" spc="-10" dirty="0">
                <a:latin typeface="Carlito"/>
                <a:cs typeface="Carlito"/>
              </a:rPr>
              <a:t>called </a:t>
            </a:r>
            <a:r>
              <a:rPr sz="2800" i="1" spc="-10" dirty="0">
                <a:latin typeface="Carlito"/>
                <a:cs typeface="Carlito"/>
              </a:rPr>
              <a:t>arguments </a:t>
            </a:r>
            <a:r>
              <a:rPr sz="2800" spc="-5" dirty="0">
                <a:latin typeface="Carlito"/>
                <a:cs typeface="Carlito"/>
              </a:rPr>
              <a:t>or  </a:t>
            </a:r>
            <a:r>
              <a:rPr sz="2800" i="1" spc="-10" dirty="0">
                <a:latin typeface="Carlito"/>
                <a:cs typeface="Carlito"/>
              </a:rPr>
              <a:t>parameters</a:t>
            </a:r>
            <a:r>
              <a:rPr sz="2800" spc="-10" dirty="0">
                <a:latin typeface="Carlito"/>
                <a:cs typeface="Carlito"/>
              </a:rPr>
              <a:t>.</a:t>
            </a:r>
            <a:endParaRPr sz="2800">
              <a:latin typeface="Carlito"/>
              <a:cs typeface="Carlito"/>
            </a:endParaRPr>
          </a:p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10" dirty="0">
                <a:latin typeface="Carlito"/>
                <a:cs typeface="Carlito"/>
              </a:rPr>
              <a:t>These arguments can </a:t>
            </a:r>
            <a:r>
              <a:rPr sz="2800" spc="-5" dirty="0">
                <a:latin typeface="Carlito"/>
                <a:cs typeface="Carlito"/>
              </a:rPr>
              <a:t>be </a:t>
            </a:r>
            <a:r>
              <a:rPr sz="2800" spc="-10" dirty="0">
                <a:latin typeface="Carlito"/>
                <a:cs typeface="Carlito"/>
              </a:rPr>
              <a:t>used inside </a:t>
            </a:r>
            <a:r>
              <a:rPr sz="2800" spc="-5" dirty="0">
                <a:latin typeface="Carlito"/>
                <a:cs typeface="Carlito"/>
              </a:rPr>
              <a:t>the</a:t>
            </a:r>
            <a:r>
              <a:rPr sz="2800" spc="15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function.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5344" y="1074165"/>
            <a:ext cx="690562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82575" indent="254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FF0000"/>
                </a:solidFill>
                <a:latin typeface="Carlito"/>
                <a:cs typeface="Carlito"/>
              </a:rPr>
              <a:t>&lt;button </a:t>
            </a:r>
            <a:r>
              <a:rPr sz="3200" spc="-15" dirty="0">
                <a:solidFill>
                  <a:srgbClr val="FF0000"/>
                </a:solidFill>
                <a:latin typeface="Carlito"/>
                <a:cs typeface="Carlito"/>
              </a:rPr>
              <a:t>onclick="myFunction(‘Abhishek  </a:t>
            </a:r>
            <a:r>
              <a:rPr sz="3200" spc="-20" dirty="0">
                <a:solidFill>
                  <a:srgbClr val="FF0000"/>
                </a:solidFill>
                <a:latin typeface="Carlito"/>
                <a:cs typeface="Carlito"/>
              </a:rPr>
              <a:t>',’Professor')"&gt;click</a:t>
            </a:r>
            <a:r>
              <a:rPr sz="3200" spc="-3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3200" spc="-15" dirty="0">
                <a:solidFill>
                  <a:srgbClr val="FF0000"/>
                </a:solidFill>
                <a:latin typeface="Carlito"/>
                <a:cs typeface="Carlito"/>
              </a:rPr>
              <a:t>here&lt;/button&gt;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&lt;script&gt;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5" dirty="0">
                <a:latin typeface="Carlito"/>
                <a:cs typeface="Carlito"/>
              </a:rPr>
              <a:t>function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myFunction(name,job)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15" dirty="0">
                <a:latin typeface="Carlito"/>
                <a:cs typeface="Carlito"/>
              </a:rPr>
              <a:t>alert("Welcome </a:t>
            </a:r>
            <a:r>
              <a:rPr sz="3200" dirty="0">
                <a:latin typeface="Carlito"/>
                <a:cs typeface="Carlito"/>
              </a:rPr>
              <a:t>" + </a:t>
            </a:r>
            <a:r>
              <a:rPr sz="3200" spc="-5" dirty="0">
                <a:latin typeface="Carlito"/>
                <a:cs typeface="Carlito"/>
              </a:rPr>
              <a:t>name </a:t>
            </a:r>
            <a:r>
              <a:rPr sz="3200" dirty="0">
                <a:latin typeface="Carlito"/>
                <a:cs typeface="Carlito"/>
              </a:rPr>
              <a:t>+ ", the " +</a:t>
            </a:r>
            <a:r>
              <a:rPr sz="3200" spc="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job);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3200" spc="-15" dirty="0">
                <a:latin typeface="Carlito"/>
                <a:cs typeface="Carlito"/>
              </a:rPr>
              <a:t>&lt;/script&gt;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1313" y="0"/>
            <a:ext cx="6419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1F5F"/>
                </a:solidFill>
              </a:rPr>
              <a:t>Functions </a:t>
            </a:r>
            <a:r>
              <a:rPr spc="-10" dirty="0">
                <a:solidFill>
                  <a:srgbClr val="001F5F"/>
                </a:solidFill>
              </a:rPr>
              <a:t>With </a:t>
            </a:r>
            <a:r>
              <a:rPr spc="-5" dirty="0">
                <a:solidFill>
                  <a:srgbClr val="001F5F"/>
                </a:solidFill>
              </a:rPr>
              <a:t>a </a:t>
            </a:r>
            <a:r>
              <a:rPr spc="-20" dirty="0">
                <a:solidFill>
                  <a:srgbClr val="001F5F"/>
                </a:solidFill>
              </a:rPr>
              <a:t>Return</a:t>
            </a:r>
            <a:r>
              <a:rPr spc="15" dirty="0">
                <a:solidFill>
                  <a:srgbClr val="001F5F"/>
                </a:solidFill>
              </a:rPr>
              <a:t> </a:t>
            </a:r>
            <a:r>
              <a:rPr spc="-45" dirty="0">
                <a:solidFill>
                  <a:srgbClr val="001F5F"/>
                </a:solidFill>
              </a:rPr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80261"/>
            <a:ext cx="7780020" cy="511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Sometimes </a:t>
            </a:r>
            <a:r>
              <a:rPr sz="2400" spc="-10" dirty="0">
                <a:latin typeface="Carlito"/>
                <a:cs typeface="Carlito"/>
              </a:rPr>
              <a:t>you </a:t>
            </a:r>
            <a:r>
              <a:rPr sz="2400" spc="-15" dirty="0">
                <a:latin typeface="Carlito"/>
                <a:cs typeface="Carlito"/>
              </a:rPr>
              <a:t>want </a:t>
            </a:r>
            <a:r>
              <a:rPr sz="2400" spc="-10" dirty="0">
                <a:latin typeface="Carlito"/>
                <a:cs typeface="Carlito"/>
              </a:rPr>
              <a:t>your </a:t>
            </a:r>
            <a:r>
              <a:rPr sz="2400" spc="-5" dirty="0">
                <a:latin typeface="Carlito"/>
                <a:cs typeface="Carlito"/>
              </a:rPr>
              <a:t>function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return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value </a:t>
            </a:r>
            <a:r>
              <a:rPr sz="2400" spc="-5" dirty="0">
                <a:latin typeface="Carlito"/>
                <a:cs typeface="Carlito"/>
              </a:rPr>
              <a:t>back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where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call was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made.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This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0" dirty="0">
                <a:latin typeface="Carlito"/>
                <a:cs typeface="Carlito"/>
              </a:rPr>
              <a:t>possible by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i="1" dirty="0">
                <a:latin typeface="Carlito"/>
                <a:cs typeface="Carlito"/>
              </a:rPr>
              <a:t>return</a:t>
            </a:r>
            <a:r>
              <a:rPr sz="2400" i="1" spc="-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statement.</a:t>
            </a:r>
            <a:endParaRPr sz="2400">
              <a:latin typeface="Carlito"/>
              <a:cs typeface="Carlito"/>
            </a:endParaRPr>
          </a:p>
          <a:p>
            <a:pPr marL="355600" marR="53975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When </a:t>
            </a:r>
            <a:r>
              <a:rPr sz="2400" spc="-5" dirty="0">
                <a:latin typeface="Carlito"/>
                <a:cs typeface="Carlito"/>
              </a:rPr>
              <a:t>using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i="1" dirty="0">
                <a:latin typeface="Carlito"/>
                <a:cs typeface="Carlito"/>
              </a:rPr>
              <a:t>return </a:t>
            </a:r>
            <a:r>
              <a:rPr sz="2400" spc="-15" dirty="0">
                <a:latin typeface="Carlito"/>
                <a:cs typeface="Carlito"/>
              </a:rPr>
              <a:t>statement,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function </a:t>
            </a:r>
            <a:r>
              <a:rPr sz="2400" dirty="0">
                <a:latin typeface="Carlito"/>
                <a:cs typeface="Carlito"/>
              </a:rPr>
              <a:t>will </a:t>
            </a:r>
            <a:r>
              <a:rPr sz="2400" spc="-20" dirty="0">
                <a:latin typeface="Carlito"/>
                <a:cs typeface="Carlito"/>
              </a:rPr>
              <a:t>stop  </a:t>
            </a:r>
            <a:r>
              <a:rPr sz="2400" spc="-10" dirty="0">
                <a:latin typeface="Carlito"/>
                <a:cs typeface="Carlito"/>
              </a:rPr>
              <a:t>executing,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return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specified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value.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3200" b="1" spc="-25" dirty="0">
                <a:latin typeface="Carlito"/>
                <a:cs typeface="Carlito"/>
              </a:rPr>
              <a:t>Syntax</a:t>
            </a:r>
            <a:endParaRPr sz="3200">
              <a:latin typeface="Carlito"/>
              <a:cs typeface="Carlito"/>
            </a:endParaRPr>
          </a:p>
          <a:p>
            <a:pPr marL="473075">
              <a:lnSpc>
                <a:spcPct val="100000"/>
              </a:lnSpc>
              <a:spcBef>
                <a:spcPts val="765"/>
              </a:spcBef>
            </a:pPr>
            <a:r>
              <a:rPr sz="3200" spc="-5" dirty="0">
                <a:latin typeface="Carlito"/>
                <a:cs typeface="Carlito"/>
              </a:rPr>
              <a:t>function</a:t>
            </a:r>
            <a:r>
              <a:rPr sz="3200" spc="1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myFunction()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355600" marR="5996305">
              <a:lnSpc>
                <a:spcPct val="100000"/>
              </a:lnSpc>
            </a:pPr>
            <a:r>
              <a:rPr sz="3200" spc="-15" dirty="0">
                <a:latin typeface="Carlito"/>
                <a:cs typeface="Carlito"/>
              </a:rPr>
              <a:t>var </a:t>
            </a:r>
            <a:r>
              <a:rPr sz="3200" spc="-5" dirty="0">
                <a:latin typeface="Carlito"/>
                <a:cs typeface="Carlito"/>
              </a:rPr>
              <a:t>x=5;  </a:t>
            </a:r>
            <a:r>
              <a:rPr sz="3200" spc="-10" dirty="0">
                <a:latin typeface="Carlito"/>
                <a:cs typeface="Carlito"/>
              </a:rPr>
              <a:t>return</a:t>
            </a:r>
            <a:r>
              <a:rPr sz="3200" spc="-9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x;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63873" y="0"/>
            <a:ext cx="201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488949"/>
            <a:ext cx="7971155" cy="599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rlito"/>
                <a:cs typeface="Carlito"/>
              </a:rPr>
              <a:t>&lt;html&gt;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&lt;head&gt;</a:t>
            </a:r>
            <a:endParaRPr sz="2200">
              <a:latin typeface="Carlito"/>
              <a:cs typeface="Carlito"/>
            </a:endParaRPr>
          </a:p>
          <a:p>
            <a:pPr marL="12700" marR="449072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&lt;script type="text/javascript"&gt;  function</a:t>
            </a:r>
            <a:r>
              <a:rPr sz="2200" spc="-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product(a,b)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latin typeface="Carlito"/>
                <a:cs typeface="Carlito"/>
              </a:rPr>
              <a:t>{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return</a:t>
            </a:r>
            <a:r>
              <a:rPr sz="2200" spc="-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a*b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rlito"/>
                <a:cs typeface="Carlito"/>
              </a:rPr>
              <a:t>}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&lt;/script&gt;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&lt;/head&gt;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&lt;body&gt;</a:t>
            </a:r>
            <a:endParaRPr sz="2200">
              <a:latin typeface="Carlito"/>
              <a:cs typeface="Carlito"/>
            </a:endParaRPr>
          </a:p>
          <a:p>
            <a:pPr marL="12700" marR="449072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&lt;script type="text/javascript"&gt;  </a:t>
            </a:r>
            <a:r>
              <a:rPr sz="2200" spc="-15" dirty="0">
                <a:latin typeface="Carlito"/>
                <a:cs typeface="Carlito"/>
              </a:rPr>
              <a:t>document.write(product(4,3))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5" dirty="0">
                <a:latin typeface="Carlito"/>
                <a:cs typeface="Carlito"/>
              </a:rPr>
              <a:t>&lt;/script&gt;</a:t>
            </a:r>
            <a:endParaRPr sz="2200">
              <a:latin typeface="Carlito"/>
              <a:cs typeface="Carlito"/>
            </a:endParaRPr>
          </a:p>
          <a:p>
            <a:pPr marL="355600" marR="5080" indent="-343535">
              <a:lnSpc>
                <a:spcPct val="80000"/>
              </a:lnSpc>
              <a:spcBef>
                <a:spcPts val="530"/>
              </a:spcBef>
            </a:pPr>
            <a:r>
              <a:rPr sz="2200" spc="-10" dirty="0">
                <a:latin typeface="Carlito"/>
                <a:cs typeface="Carlito"/>
              </a:rPr>
              <a:t>&lt;p&gt;The script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the body section calls </a:t>
            </a:r>
            <a:r>
              <a:rPr sz="2200" spc="-5" dirty="0">
                <a:latin typeface="Carlito"/>
                <a:cs typeface="Carlito"/>
              </a:rPr>
              <a:t>a function with </a:t>
            </a:r>
            <a:r>
              <a:rPr sz="2200" spc="-10" dirty="0">
                <a:latin typeface="Carlito"/>
                <a:cs typeface="Carlito"/>
              </a:rPr>
              <a:t>two </a:t>
            </a:r>
            <a:r>
              <a:rPr sz="2200" spc="-15" dirty="0">
                <a:latin typeface="Carlito"/>
                <a:cs typeface="Carlito"/>
              </a:rPr>
              <a:t>parameters  </a:t>
            </a:r>
            <a:r>
              <a:rPr sz="2200" spc="-5" dirty="0">
                <a:latin typeface="Carlito"/>
                <a:cs typeface="Carlito"/>
              </a:rPr>
              <a:t>(4 and</a:t>
            </a:r>
            <a:r>
              <a:rPr sz="2200" spc="-3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3).&lt;/p&gt;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&lt;p&gt;The function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return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product </a:t>
            </a:r>
            <a:r>
              <a:rPr sz="2200" spc="-5" dirty="0">
                <a:latin typeface="Carlito"/>
                <a:cs typeface="Carlito"/>
              </a:rPr>
              <a:t>of these </a:t>
            </a:r>
            <a:r>
              <a:rPr sz="2200" spc="-15" dirty="0">
                <a:latin typeface="Carlito"/>
                <a:cs typeface="Carlito"/>
              </a:rPr>
              <a:t>two</a:t>
            </a:r>
            <a:r>
              <a:rPr sz="2200" spc="19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parameters.&lt;/p&gt;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&lt;/body&gt;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&lt;/html&gt;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73149" y="0"/>
            <a:ext cx="5996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55" dirty="0"/>
              <a:t>For...In</a:t>
            </a:r>
            <a:r>
              <a:rPr spc="-20" dirty="0"/>
              <a:t> </a:t>
            </a:r>
            <a:r>
              <a:rPr spc="-25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699261"/>
            <a:ext cx="7997190" cy="404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tabLst>
                <a:tab pos="637540" algn="l"/>
                <a:tab pos="1585595" algn="l"/>
                <a:tab pos="3010535" algn="l"/>
                <a:tab pos="3364229" algn="l"/>
                <a:tab pos="4118610" algn="l"/>
                <a:tab pos="4540885" algn="l"/>
                <a:tab pos="5255895" algn="l"/>
                <a:tab pos="6419215" algn="l"/>
                <a:tab pos="7569834" algn="l"/>
              </a:tabLst>
            </a:pPr>
            <a:r>
              <a:rPr sz="2400" spc="-5" dirty="0">
                <a:latin typeface="Carlito"/>
                <a:cs typeface="Carlito"/>
              </a:rPr>
              <a:t>Th</a:t>
            </a:r>
            <a:r>
              <a:rPr sz="2400" dirty="0">
                <a:latin typeface="Carlito"/>
                <a:cs typeface="Carlito"/>
              </a:rPr>
              <a:t>e	</a:t>
            </a:r>
            <a:r>
              <a:rPr sz="2400" spc="-50" dirty="0">
                <a:latin typeface="Carlito"/>
                <a:cs typeface="Carlito"/>
              </a:rPr>
              <a:t>f</a:t>
            </a:r>
            <a:r>
              <a:rPr sz="2400" spc="-5" dirty="0">
                <a:latin typeface="Carlito"/>
                <a:cs typeface="Carlito"/>
              </a:rPr>
              <a:t>o</a:t>
            </a:r>
            <a:r>
              <a:rPr sz="2400" spc="-245" dirty="0">
                <a:latin typeface="Carlito"/>
                <a:cs typeface="Carlito"/>
              </a:rPr>
              <a:t>r</a:t>
            </a:r>
            <a:r>
              <a:rPr sz="2400" spc="-10" dirty="0">
                <a:latin typeface="Carlito"/>
                <a:cs typeface="Carlito"/>
              </a:rPr>
              <a:t>...</a:t>
            </a:r>
            <a:r>
              <a:rPr sz="2400" dirty="0">
                <a:latin typeface="Carlito"/>
                <a:cs typeface="Carlito"/>
              </a:rPr>
              <a:t>in	</a:t>
            </a:r>
            <a:r>
              <a:rPr sz="2400" spc="-40" dirty="0">
                <a:latin typeface="Carlito"/>
                <a:cs typeface="Carlito"/>
              </a:rPr>
              <a:t>s</a:t>
            </a:r>
            <a:r>
              <a:rPr sz="2400" spc="-25" dirty="0">
                <a:latin typeface="Carlito"/>
                <a:cs typeface="Carlito"/>
              </a:rPr>
              <a:t>tat</a:t>
            </a:r>
            <a:r>
              <a:rPr sz="2400" dirty="0">
                <a:latin typeface="Carlito"/>
                <a:cs typeface="Carlito"/>
              </a:rPr>
              <a:t>eme</a:t>
            </a:r>
            <a:r>
              <a:rPr sz="2400" spc="-25" dirty="0">
                <a:latin typeface="Carlito"/>
                <a:cs typeface="Carlito"/>
              </a:rPr>
              <a:t>n</a:t>
            </a:r>
            <a:r>
              <a:rPr sz="2400" dirty="0">
                <a:latin typeface="Carlito"/>
                <a:cs typeface="Carlito"/>
              </a:rPr>
              <a:t>t	is	</a:t>
            </a:r>
            <a:r>
              <a:rPr sz="2400" spc="-5" dirty="0">
                <a:latin typeface="Carlito"/>
                <a:cs typeface="Carlito"/>
              </a:rPr>
              <a:t>use</a:t>
            </a:r>
            <a:r>
              <a:rPr sz="2400" dirty="0">
                <a:latin typeface="Carlito"/>
                <a:cs typeface="Carlito"/>
              </a:rPr>
              <a:t>d	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o	lo</a:t>
            </a:r>
            <a:r>
              <a:rPr sz="2400" spc="-10" dirty="0">
                <a:latin typeface="Carlito"/>
                <a:cs typeface="Carlito"/>
              </a:rPr>
              <a:t>o</a:t>
            </a:r>
            <a:r>
              <a:rPr sz="2400" dirty="0">
                <a:latin typeface="Carlito"/>
                <a:cs typeface="Carlito"/>
              </a:rPr>
              <a:t>p	</a:t>
            </a:r>
            <a:r>
              <a:rPr sz="2400" spc="-5" dirty="0">
                <a:latin typeface="Carlito"/>
                <a:cs typeface="Carlito"/>
              </a:rPr>
              <a:t>(i</a:t>
            </a:r>
            <a:r>
              <a:rPr sz="2400" spc="-3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</a:t>
            </a:r>
            <a:r>
              <a:rPr sz="2400" spc="-40" dirty="0">
                <a:latin typeface="Carlito"/>
                <a:cs typeface="Carlito"/>
              </a:rPr>
              <a:t>r</a:t>
            </a:r>
            <a:r>
              <a:rPr sz="2400" spc="-35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dirty="0">
                <a:latin typeface="Carlito"/>
                <a:cs typeface="Carlito"/>
              </a:rPr>
              <a:t>e)	th</a:t>
            </a:r>
            <a:r>
              <a:rPr sz="2400" spc="-35" dirty="0">
                <a:latin typeface="Carlito"/>
                <a:cs typeface="Carlito"/>
              </a:rPr>
              <a:t>r</a:t>
            </a:r>
            <a:r>
              <a:rPr sz="2400" spc="-5" dirty="0">
                <a:latin typeface="Carlito"/>
                <a:cs typeface="Carlito"/>
              </a:rPr>
              <a:t>ou</a:t>
            </a:r>
            <a:r>
              <a:rPr sz="2400" spc="-10" dirty="0">
                <a:latin typeface="Carlito"/>
                <a:cs typeface="Carlito"/>
              </a:rPr>
              <a:t>g</a:t>
            </a:r>
            <a:r>
              <a:rPr sz="2400" dirty="0">
                <a:latin typeface="Carlito"/>
                <a:cs typeface="Carlito"/>
              </a:rPr>
              <a:t>h	the  </a:t>
            </a:r>
            <a:r>
              <a:rPr sz="2400" spc="-5" dirty="0">
                <a:latin typeface="Carlito"/>
                <a:cs typeface="Carlito"/>
              </a:rPr>
              <a:t>elements of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20" dirty="0">
                <a:latin typeface="Carlito"/>
                <a:cs typeface="Carlito"/>
              </a:rPr>
              <a:t>array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through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properties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object.</a:t>
            </a:r>
            <a:endParaRPr sz="2400">
              <a:latin typeface="Carlito"/>
              <a:cs typeface="Carlito"/>
            </a:endParaRPr>
          </a:p>
          <a:p>
            <a:pPr marL="355600" marR="6985" indent="-343535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0" dirty="0">
                <a:latin typeface="Carlito"/>
                <a:cs typeface="Carlito"/>
              </a:rPr>
              <a:t>code </a:t>
            </a:r>
            <a:r>
              <a:rPr sz="2400" dirty="0">
                <a:latin typeface="Carlito"/>
                <a:cs typeface="Carlito"/>
              </a:rPr>
              <a:t>in the </a:t>
            </a:r>
            <a:r>
              <a:rPr sz="2400" spc="-5" dirty="0">
                <a:latin typeface="Carlito"/>
                <a:cs typeface="Carlito"/>
              </a:rPr>
              <a:t>body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spc="-10" dirty="0">
                <a:latin typeface="Carlito"/>
                <a:cs typeface="Carlito"/>
              </a:rPr>
              <a:t>...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loop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15" dirty="0">
                <a:latin typeface="Carlito"/>
                <a:cs typeface="Carlito"/>
              </a:rPr>
              <a:t>executed </a:t>
            </a:r>
            <a:r>
              <a:rPr sz="2400" spc="-5" dirty="0">
                <a:latin typeface="Carlito"/>
                <a:cs typeface="Carlito"/>
              </a:rPr>
              <a:t>once </a:t>
            </a:r>
            <a:r>
              <a:rPr sz="2400" spc="-20" dirty="0">
                <a:latin typeface="Carlito"/>
                <a:cs typeface="Carlito"/>
              </a:rPr>
              <a:t>for 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15" dirty="0">
                <a:latin typeface="Carlito"/>
                <a:cs typeface="Carlito"/>
              </a:rPr>
              <a:t> element/property.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spc="-20" dirty="0">
                <a:latin typeface="Carlito"/>
                <a:cs typeface="Carlito"/>
              </a:rPr>
              <a:t>Syntax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25" dirty="0">
                <a:solidFill>
                  <a:srgbClr val="FF0000"/>
                </a:solidFill>
                <a:latin typeface="Carlito"/>
                <a:cs typeface="Carlito"/>
              </a:rPr>
              <a:t>for </a:t>
            </a:r>
            <a:r>
              <a:rPr sz="2800" spc="-10" dirty="0">
                <a:solidFill>
                  <a:srgbClr val="FF0000"/>
                </a:solidFill>
                <a:latin typeface="Carlito"/>
                <a:cs typeface="Carlito"/>
              </a:rPr>
              <a:t>(variable </a:t>
            </a:r>
            <a:r>
              <a:rPr sz="2800" spc="-5" dirty="0">
                <a:solidFill>
                  <a:srgbClr val="FF0000"/>
                </a:solidFill>
                <a:latin typeface="Carlito"/>
                <a:cs typeface="Carlito"/>
              </a:rPr>
              <a:t>in</a:t>
            </a:r>
            <a:r>
              <a:rPr sz="2800" spc="2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Carlito"/>
                <a:cs typeface="Carlito"/>
              </a:rPr>
              <a:t>object)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solidFill>
                  <a:srgbClr val="FF0000"/>
                </a:solidFill>
                <a:latin typeface="Carlito"/>
                <a:cs typeface="Carlito"/>
              </a:rPr>
              <a:t>{</a:t>
            </a:r>
            <a:endParaRPr sz="2800">
              <a:latin typeface="Carlito"/>
              <a:cs typeface="Carlito"/>
            </a:endParaRPr>
          </a:p>
          <a:p>
            <a:pPr marL="93345">
              <a:lnSpc>
                <a:spcPct val="100000"/>
              </a:lnSpc>
              <a:spcBef>
                <a:spcPts val="675"/>
              </a:spcBef>
            </a:pPr>
            <a:r>
              <a:rPr sz="2800" i="1" spc="-10" dirty="0">
                <a:solidFill>
                  <a:srgbClr val="FF0000"/>
                </a:solidFill>
                <a:latin typeface="Carlito"/>
                <a:cs typeface="Carlito"/>
              </a:rPr>
              <a:t>code </a:t>
            </a:r>
            <a:r>
              <a:rPr sz="2800" i="1" spc="-20" dirty="0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800" i="1" spc="-5" dirty="0">
                <a:solidFill>
                  <a:srgbClr val="FF0000"/>
                </a:solidFill>
                <a:latin typeface="Carlito"/>
                <a:cs typeface="Carlito"/>
              </a:rPr>
              <a:t>be</a:t>
            </a:r>
            <a:r>
              <a:rPr sz="2800" i="1" spc="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800" i="1" spc="-20" dirty="0">
                <a:solidFill>
                  <a:srgbClr val="FF0000"/>
                </a:solidFill>
                <a:latin typeface="Carlito"/>
                <a:cs typeface="Carlito"/>
              </a:rPr>
              <a:t>executed</a:t>
            </a:r>
            <a:endParaRPr sz="2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solidFill>
                  <a:srgbClr val="FF0000"/>
                </a:solidFill>
                <a:latin typeface="Carlito"/>
                <a:cs typeface="Carlito"/>
              </a:rPr>
              <a:t>}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4458" y="0"/>
            <a:ext cx="18154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470661"/>
            <a:ext cx="531304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latin typeface="Carlito"/>
                <a:cs typeface="Carlito"/>
              </a:rPr>
              <a:t>&lt;html&gt;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</a:pPr>
            <a:r>
              <a:rPr sz="2700" spc="-5" dirty="0">
                <a:latin typeface="Carlito"/>
                <a:cs typeface="Carlito"/>
              </a:rPr>
              <a:t>&lt;body&gt;</a:t>
            </a:r>
            <a:endParaRPr sz="2700">
              <a:latin typeface="Carlito"/>
              <a:cs typeface="Carlito"/>
            </a:endParaRPr>
          </a:p>
          <a:p>
            <a:pPr marL="90170" marR="960755" algn="just">
              <a:lnSpc>
                <a:spcPct val="100000"/>
              </a:lnSpc>
            </a:pPr>
            <a:r>
              <a:rPr sz="2700" spc="-10" dirty="0">
                <a:latin typeface="Carlito"/>
                <a:cs typeface="Carlito"/>
              </a:rPr>
              <a:t>&lt;script type="text/javascript"&gt;  </a:t>
            </a:r>
            <a:r>
              <a:rPr sz="2700" spc="-15" dirty="0">
                <a:latin typeface="Carlito"/>
                <a:cs typeface="Carlito"/>
              </a:rPr>
              <a:t>var </a:t>
            </a:r>
            <a:r>
              <a:rPr sz="2700" dirty="0">
                <a:latin typeface="Carlito"/>
                <a:cs typeface="Carlito"/>
              </a:rPr>
              <a:t>x </a:t>
            </a:r>
            <a:r>
              <a:rPr sz="2700" spc="-15" dirty="0">
                <a:latin typeface="Carlito"/>
                <a:cs typeface="Carlito"/>
              </a:rPr>
              <a:t>var </a:t>
            </a:r>
            <a:r>
              <a:rPr sz="2700" spc="-30" dirty="0">
                <a:latin typeface="Carlito"/>
                <a:cs typeface="Carlito"/>
              </a:rPr>
              <a:t>mycars </a:t>
            </a:r>
            <a:r>
              <a:rPr sz="2700" dirty="0">
                <a:latin typeface="Carlito"/>
                <a:cs typeface="Carlito"/>
              </a:rPr>
              <a:t>= </a:t>
            </a:r>
            <a:r>
              <a:rPr sz="2700" spc="-10" dirty="0">
                <a:latin typeface="Carlito"/>
                <a:cs typeface="Carlito"/>
              </a:rPr>
              <a:t>new </a:t>
            </a:r>
            <a:r>
              <a:rPr sz="2700" spc="-20" dirty="0">
                <a:latin typeface="Carlito"/>
                <a:cs typeface="Carlito"/>
              </a:rPr>
              <a:t>Array()  mycars[0] </a:t>
            </a:r>
            <a:r>
              <a:rPr sz="2700" dirty="0">
                <a:latin typeface="Carlito"/>
                <a:cs typeface="Carlito"/>
              </a:rPr>
              <a:t>=</a:t>
            </a:r>
            <a:r>
              <a:rPr sz="2700" spc="-5" dirty="0">
                <a:latin typeface="Carlito"/>
                <a:cs typeface="Carlito"/>
              </a:rPr>
              <a:t> "Saab“</a:t>
            </a:r>
            <a:endParaRPr sz="2700">
              <a:latin typeface="Carlito"/>
              <a:cs typeface="Carlito"/>
            </a:endParaRPr>
          </a:p>
          <a:p>
            <a:pPr marL="12700" marR="2475230" indent="77470" algn="just">
              <a:lnSpc>
                <a:spcPct val="100000"/>
              </a:lnSpc>
            </a:pPr>
            <a:r>
              <a:rPr sz="2700" spc="-20" dirty="0">
                <a:latin typeface="Carlito"/>
                <a:cs typeface="Carlito"/>
              </a:rPr>
              <a:t>mycars[1] </a:t>
            </a:r>
            <a:r>
              <a:rPr sz="2700" dirty="0">
                <a:latin typeface="Carlito"/>
                <a:cs typeface="Carlito"/>
              </a:rPr>
              <a:t>= </a:t>
            </a:r>
            <a:r>
              <a:rPr sz="2700" spc="-25" dirty="0">
                <a:latin typeface="Carlito"/>
                <a:cs typeface="Carlito"/>
              </a:rPr>
              <a:t>"Volvo“  </a:t>
            </a:r>
            <a:r>
              <a:rPr sz="2700" spc="-20" dirty="0">
                <a:latin typeface="Carlito"/>
                <a:cs typeface="Carlito"/>
              </a:rPr>
              <a:t>mycars[2] </a:t>
            </a:r>
            <a:r>
              <a:rPr sz="2700" dirty="0">
                <a:latin typeface="Carlito"/>
                <a:cs typeface="Carlito"/>
              </a:rPr>
              <a:t>= </a:t>
            </a:r>
            <a:r>
              <a:rPr sz="2700" spc="-5" dirty="0">
                <a:latin typeface="Carlito"/>
                <a:cs typeface="Carlito"/>
              </a:rPr>
              <a:t>"BMW"  </a:t>
            </a:r>
            <a:r>
              <a:rPr sz="2700" spc="-25" dirty="0">
                <a:latin typeface="Carlito"/>
                <a:cs typeface="Carlito"/>
              </a:rPr>
              <a:t>for </a:t>
            </a:r>
            <a:r>
              <a:rPr sz="2700" spc="-5" dirty="0">
                <a:latin typeface="Carlito"/>
                <a:cs typeface="Carlito"/>
              </a:rPr>
              <a:t>(x </a:t>
            </a:r>
            <a:r>
              <a:rPr sz="2700" dirty="0">
                <a:latin typeface="Carlito"/>
                <a:cs typeface="Carlito"/>
              </a:rPr>
              <a:t>in </a:t>
            </a:r>
            <a:r>
              <a:rPr sz="2700" spc="-25" dirty="0">
                <a:latin typeface="Carlito"/>
                <a:cs typeface="Carlito"/>
              </a:rPr>
              <a:t>mycars)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Carlito"/>
                <a:cs typeface="Carlito"/>
              </a:rPr>
              <a:t>{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</a:pPr>
            <a:r>
              <a:rPr sz="2700" spc="-15" dirty="0">
                <a:latin typeface="Carlito"/>
                <a:cs typeface="Carlito"/>
              </a:rPr>
              <a:t>document.write(mycars[x] </a:t>
            </a:r>
            <a:r>
              <a:rPr sz="2700" dirty="0">
                <a:latin typeface="Carlito"/>
                <a:cs typeface="Carlito"/>
              </a:rPr>
              <a:t>+ </a:t>
            </a:r>
            <a:r>
              <a:rPr sz="2700" spc="-5" dirty="0">
                <a:latin typeface="Carlito"/>
                <a:cs typeface="Carlito"/>
              </a:rPr>
              <a:t>"&lt;br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/&gt;")</a:t>
            </a:r>
            <a:endParaRPr sz="27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700" dirty="0">
                <a:latin typeface="Carlito"/>
                <a:cs typeface="Carlito"/>
              </a:rPr>
              <a:t>}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</a:pPr>
            <a:r>
              <a:rPr sz="2700" spc="-10" dirty="0">
                <a:latin typeface="Carlito"/>
                <a:cs typeface="Carlito"/>
              </a:rPr>
              <a:t>&lt;/script&gt;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</a:pPr>
            <a:r>
              <a:rPr sz="2700" spc="-5" dirty="0">
                <a:latin typeface="Carlito"/>
                <a:cs typeface="Carlito"/>
              </a:rPr>
              <a:t>&lt;/body&gt;</a:t>
            </a:r>
            <a:endParaRPr sz="2700">
              <a:latin typeface="Carlito"/>
              <a:cs typeface="Carlito"/>
            </a:endParaRPr>
          </a:p>
          <a:p>
            <a:pPr marL="90170">
              <a:lnSpc>
                <a:spcPct val="100000"/>
              </a:lnSpc>
            </a:pPr>
            <a:r>
              <a:rPr sz="2700" spc="-5" dirty="0">
                <a:latin typeface="Carlito"/>
                <a:cs typeface="Carlito"/>
              </a:rPr>
              <a:t>&lt;/html&gt;</a:t>
            </a:r>
            <a:endParaRPr sz="27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</a:t>
            </a:r>
            <a:r>
              <a:rPr spc="-50" dirty="0"/>
              <a:t> </a:t>
            </a:r>
            <a:r>
              <a:rPr spc="-40" dirty="0"/>
              <a:t>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49781"/>
            <a:ext cx="7997190" cy="518922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355600" marR="5080" indent="-343535" algn="just">
              <a:lnSpc>
                <a:spcPts val="2380"/>
              </a:lnSpc>
              <a:spcBef>
                <a:spcPts val="39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20" dirty="0">
                <a:latin typeface="Carlito"/>
                <a:cs typeface="Carlito"/>
              </a:rPr>
              <a:t>Events </a:t>
            </a:r>
            <a:r>
              <a:rPr sz="2200" spc="-10" dirty="0">
                <a:latin typeface="Carlito"/>
                <a:cs typeface="Carlito"/>
              </a:rPr>
              <a:t>are </a:t>
            </a:r>
            <a:r>
              <a:rPr sz="2200" spc="-5" dirty="0">
                <a:latin typeface="Carlito"/>
                <a:cs typeface="Carlito"/>
              </a:rPr>
              <a:t>normally </a:t>
            </a:r>
            <a:r>
              <a:rPr sz="2200" spc="-10" dirty="0">
                <a:latin typeface="Carlito"/>
                <a:cs typeface="Carlito"/>
              </a:rPr>
              <a:t>used </a:t>
            </a:r>
            <a:r>
              <a:rPr sz="2200" spc="-5" dirty="0">
                <a:latin typeface="Carlito"/>
                <a:cs typeface="Carlito"/>
              </a:rPr>
              <a:t>in </a:t>
            </a:r>
            <a:r>
              <a:rPr sz="2200" spc="-10" dirty="0">
                <a:latin typeface="Carlito"/>
                <a:cs typeface="Carlito"/>
              </a:rPr>
              <a:t>combination </a:t>
            </a:r>
            <a:r>
              <a:rPr sz="2200" spc="-5" dirty="0">
                <a:latin typeface="Carlito"/>
                <a:cs typeface="Carlito"/>
              </a:rPr>
              <a:t>with functions, and the  </a:t>
            </a:r>
            <a:r>
              <a:rPr sz="2200" spc="-10" dirty="0">
                <a:latin typeface="Carlito"/>
                <a:cs typeface="Carlito"/>
              </a:rPr>
              <a:t>function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not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20" dirty="0">
                <a:latin typeface="Carlito"/>
                <a:cs typeface="Carlito"/>
              </a:rPr>
              <a:t>executed </a:t>
            </a:r>
            <a:r>
              <a:rPr sz="2200" spc="-25" dirty="0">
                <a:latin typeface="Carlito"/>
                <a:cs typeface="Carlito"/>
              </a:rPr>
              <a:t>before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event</a:t>
            </a:r>
            <a:r>
              <a:rPr sz="2200" spc="15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occurs!</a:t>
            </a:r>
            <a:endParaRPr sz="2200">
              <a:latin typeface="Carlito"/>
              <a:cs typeface="Carlito"/>
            </a:endParaRPr>
          </a:p>
          <a:p>
            <a:pPr marL="355600" indent="-343535" algn="just">
              <a:lnSpc>
                <a:spcPts val="2510"/>
              </a:lnSpc>
              <a:spcBef>
                <a:spcPts val="2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By </a:t>
            </a:r>
            <a:r>
              <a:rPr sz="2200" spc="-5" dirty="0">
                <a:latin typeface="Carlito"/>
                <a:cs typeface="Carlito"/>
              </a:rPr>
              <a:t>using </a:t>
            </a:r>
            <a:r>
              <a:rPr sz="2200" spc="-10" dirty="0">
                <a:latin typeface="Carlito"/>
                <a:cs typeface="Carlito"/>
              </a:rPr>
              <a:t>JavaScript, we </a:t>
            </a:r>
            <a:r>
              <a:rPr sz="2200" spc="-20" dirty="0">
                <a:latin typeface="Carlito"/>
                <a:cs typeface="Carlito"/>
              </a:rPr>
              <a:t>have </a:t>
            </a:r>
            <a:r>
              <a:rPr sz="2200" spc="-5" dirty="0">
                <a:latin typeface="Carlito"/>
                <a:cs typeface="Carlito"/>
              </a:rPr>
              <a:t>the ability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create </a:t>
            </a:r>
            <a:r>
              <a:rPr sz="2200" spc="-10" dirty="0">
                <a:latin typeface="Carlito"/>
                <a:cs typeface="Carlito"/>
              </a:rPr>
              <a:t>dynamic</a:t>
            </a:r>
            <a:r>
              <a:rPr sz="2200" spc="4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web</a:t>
            </a:r>
            <a:endParaRPr sz="2200">
              <a:latin typeface="Carlito"/>
              <a:cs typeface="Carlito"/>
            </a:endParaRPr>
          </a:p>
          <a:p>
            <a:pPr marL="355600" algn="just">
              <a:lnSpc>
                <a:spcPts val="2510"/>
              </a:lnSpc>
            </a:pPr>
            <a:r>
              <a:rPr sz="2200" spc="-10" dirty="0">
                <a:latin typeface="Carlito"/>
                <a:cs typeface="Carlito"/>
              </a:rPr>
              <a:t>pages. </a:t>
            </a:r>
            <a:r>
              <a:rPr sz="2200" spc="-20" dirty="0">
                <a:latin typeface="Carlito"/>
                <a:cs typeface="Carlito"/>
              </a:rPr>
              <a:t>Events </a:t>
            </a:r>
            <a:r>
              <a:rPr sz="2200" spc="-10" dirty="0">
                <a:latin typeface="Carlito"/>
                <a:cs typeface="Carlito"/>
              </a:rPr>
              <a:t>are </a:t>
            </a:r>
            <a:r>
              <a:rPr sz="2200" spc="-5" dirty="0">
                <a:latin typeface="Carlito"/>
                <a:cs typeface="Carlito"/>
              </a:rPr>
              <a:t>actions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detected </a:t>
            </a:r>
            <a:r>
              <a:rPr sz="2200" spc="-10" dirty="0">
                <a:latin typeface="Carlito"/>
                <a:cs typeface="Carlito"/>
              </a:rPr>
              <a:t>by</a:t>
            </a:r>
            <a:r>
              <a:rPr sz="2200" spc="16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JavaScript.</a:t>
            </a:r>
            <a:endParaRPr sz="2200">
              <a:latin typeface="Carlito"/>
              <a:cs typeface="Carlito"/>
            </a:endParaRPr>
          </a:p>
          <a:p>
            <a:pPr marL="355600" marR="6350" indent="-343535" algn="just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356235" algn="l"/>
              </a:tabLst>
            </a:pPr>
            <a:r>
              <a:rPr sz="2200" spc="-20" dirty="0">
                <a:latin typeface="Carlito"/>
                <a:cs typeface="Carlito"/>
              </a:rPr>
              <a:t>Every </a:t>
            </a:r>
            <a:r>
              <a:rPr sz="2200" spc="-5" dirty="0">
                <a:latin typeface="Carlito"/>
                <a:cs typeface="Carlito"/>
              </a:rPr>
              <a:t>element </a:t>
            </a:r>
            <a:r>
              <a:rPr sz="2200" dirty="0">
                <a:latin typeface="Carlito"/>
                <a:cs typeface="Carlito"/>
              </a:rPr>
              <a:t>on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web page has certain </a:t>
            </a:r>
            <a:r>
              <a:rPr sz="2200" spc="-15" dirty="0">
                <a:latin typeface="Carlito"/>
                <a:cs typeface="Carlito"/>
              </a:rPr>
              <a:t>events </a:t>
            </a:r>
            <a:r>
              <a:rPr sz="2200" spc="-5" dirty="0">
                <a:latin typeface="Carlito"/>
                <a:cs typeface="Carlito"/>
              </a:rPr>
              <a:t>which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trigger  </a:t>
            </a:r>
            <a:r>
              <a:rPr sz="2200" spc="-15" dirty="0">
                <a:latin typeface="Carlito"/>
                <a:cs typeface="Carlito"/>
              </a:rPr>
              <a:t>JavaScript </a:t>
            </a:r>
            <a:r>
              <a:rPr sz="2200" spc="-5" dirty="0">
                <a:latin typeface="Carlito"/>
                <a:cs typeface="Carlito"/>
              </a:rPr>
              <a:t>functions. </a:t>
            </a:r>
            <a:r>
              <a:rPr sz="2200" spc="-15" dirty="0">
                <a:latin typeface="Carlito"/>
                <a:cs typeface="Carlito"/>
              </a:rPr>
              <a:t>For example, </a:t>
            </a:r>
            <a:r>
              <a:rPr sz="2200" spc="-10" dirty="0">
                <a:latin typeface="Carlito"/>
                <a:cs typeface="Carlito"/>
              </a:rPr>
              <a:t>we can use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onClick </a:t>
            </a:r>
            <a:r>
              <a:rPr sz="2200" spc="-10" dirty="0">
                <a:latin typeface="Carlito"/>
                <a:cs typeface="Carlito"/>
              </a:rPr>
              <a:t>event </a:t>
            </a:r>
            <a:r>
              <a:rPr sz="2200" dirty="0">
                <a:latin typeface="Carlito"/>
                <a:cs typeface="Carlito"/>
              </a:rPr>
              <a:t>of 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20" dirty="0">
                <a:latin typeface="Carlito"/>
                <a:cs typeface="Carlito"/>
              </a:rPr>
              <a:t>button </a:t>
            </a:r>
            <a:r>
              <a:rPr sz="2200" spc="-5" dirty="0">
                <a:latin typeface="Carlito"/>
                <a:cs typeface="Carlito"/>
              </a:rPr>
              <a:t>element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indicate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function </a:t>
            </a:r>
            <a:r>
              <a:rPr sz="2200" spc="-5" dirty="0">
                <a:latin typeface="Carlito"/>
                <a:cs typeface="Carlito"/>
              </a:rPr>
              <a:t>will </a:t>
            </a:r>
            <a:r>
              <a:rPr sz="2200" spc="-10" dirty="0">
                <a:latin typeface="Carlito"/>
                <a:cs typeface="Carlito"/>
              </a:rPr>
              <a:t>run </a:t>
            </a:r>
            <a:r>
              <a:rPr sz="2200" spc="-5" dirty="0">
                <a:latin typeface="Carlito"/>
                <a:cs typeface="Carlito"/>
              </a:rPr>
              <a:t>when a user  </a:t>
            </a:r>
            <a:r>
              <a:rPr sz="2200" spc="-10" dirty="0">
                <a:latin typeface="Carlito"/>
                <a:cs typeface="Carlito"/>
              </a:rPr>
              <a:t>clicks </a:t>
            </a:r>
            <a:r>
              <a:rPr sz="2200" spc="-5" dirty="0">
                <a:latin typeface="Carlito"/>
                <a:cs typeface="Carlito"/>
              </a:rPr>
              <a:t>on the</a:t>
            </a:r>
            <a:r>
              <a:rPr sz="2200" spc="2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button.</a:t>
            </a:r>
            <a:endParaRPr sz="2200">
              <a:latin typeface="Carlito"/>
              <a:cs typeface="Carlito"/>
            </a:endParaRPr>
          </a:p>
          <a:p>
            <a:pPr marL="12700" algn="just">
              <a:lnSpc>
                <a:spcPct val="100000"/>
              </a:lnSpc>
              <a:spcBef>
                <a:spcPts val="219"/>
              </a:spcBef>
            </a:pPr>
            <a:r>
              <a:rPr sz="2200" spc="-10" dirty="0">
                <a:latin typeface="Carlito"/>
                <a:cs typeface="Carlito"/>
              </a:rPr>
              <a:t>Examples </a:t>
            </a:r>
            <a:r>
              <a:rPr sz="2200" spc="-5" dirty="0">
                <a:latin typeface="Carlito"/>
                <a:cs typeface="Carlito"/>
              </a:rPr>
              <a:t>of</a:t>
            </a:r>
            <a:r>
              <a:rPr sz="2200" spc="-3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events: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0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 mouse</a:t>
            </a:r>
            <a:r>
              <a:rPr sz="2200" spc="-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click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web page </a:t>
            </a:r>
            <a:r>
              <a:rPr sz="2200" dirty="0">
                <a:solidFill>
                  <a:srgbClr val="FF0000"/>
                </a:solidFill>
                <a:latin typeface="Carlito"/>
                <a:cs typeface="Carlito"/>
              </a:rPr>
              <a:t>or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an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image</a:t>
            </a:r>
            <a:r>
              <a:rPr sz="2200" spc="7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loading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70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Mousing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over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hot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spot </a:t>
            </a:r>
            <a:r>
              <a:rPr sz="2200" dirty="0">
                <a:solidFill>
                  <a:srgbClr val="FF0000"/>
                </a:solidFill>
                <a:latin typeface="Carlito"/>
                <a:cs typeface="Carlito"/>
              </a:rPr>
              <a:t>on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the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web</a:t>
            </a:r>
            <a:r>
              <a:rPr sz="2200" spc="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page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0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Selecting an input </a:t>
            </a:r>
            <a:r>
              <a:rPr sz="2200" spc="-25" dirty="0">
                <a:solidFill>
                  <a:srgbClr val="FF0000"/>
                </a:solidFill>
                <a:latin typeface="Carlito"/>
                <a:cs typeface="Carlito"/>
              </a:rPr>
              <a:t>box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in an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HTML</a:t>
            </a:r>
            <a:r>
              <a:rPr sz="2200" spc="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form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Submitting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an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HTML</a:t>
            </a:r>
            <a:r>
              <a:rPr sz="2200" spc="3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form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65"/>
              </a:spcBef>
              <a:buFont typeface="Wingdings"/>
              <a:buChar char=""/>
              <a:tabLst>
                <a:tab pos="356235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A</a:t>
            </a:r>
            <a:r>
              <a:rPr sz="220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30" dirty="0">
                <a:solidFill>
                  <a:srgbClr val="FF0000"/>
                </a:solidFill>
                <a:latin typeface="Carlito"/>
                <a:cs typeface="Carlito"/>
              </a:rPr>
              <a:t>keystroke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</a:t>
            </a:r>
            <a:r>
              <a:rPr spc="-50" dirty="0"/>
              <a:t> </a:t>
            </a:r>
            <a:r>
              <a:rPr spc="-40" dirty="0"/>
              <a:t>Event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85774"/>
            <a:ext cx="7573645" cy="55264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marR="97155" indent="-343535">
              <a:lnSpc>
                <a:spcPts val="3070"/>
              </a:lnSpc>
              <a:spcBef>
                <a:spcPts val="844"/>
              </a:spcBef>
            </a:pPr>
            <a:r>
              <a:rPr sz="3200" spc="-15" dirty="0">
                <a:latin typeface="Carlito"/>
                <a:cs typeface="Carlito"/>
              </a:rPr>
              <a:t>Each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every </a:t>
            </a:r>
            <a:r>
              <a:rPr sz="3200" spc="-5" dirty="0">
                <a:latin typeface="Carlito"/>
                <a:cs typeface="Carlito"/>
              </a:rPr>
              <a:t>element of the </a:t>
            </a:r>
            <a:r>
              <a:rPr sz="3200" spc="-20" dirty="0">
                <a:latin typeface="Carlito"/>
                <a:cs typeface="Carlito"/>
              </a:rPr>
              <a:t>form </a:t>
            </a:r>
            <a:r>
              <a:rPr sz="3200" dirty="0">
                <a:latin typeface="Carlito"/>
                <a:cs typeface="Carlito"/>
              </a:rPr>
              <a:t>will </a:t>
            </a:r>
            <a:r>
              <a:rPr sz="3200" spc="-25" dirty="0">
                <a:latin typeface="Carlito"/>
                <a:cs typeface="Carlito"/>
              </a:rPr>
              <a:t>have  </a:t>
            </a:r>
            <a:r>
              <a:rPr sz="3200" spc="-5" dirty="0">
                <a:latin typeface="Carlito"/>
                <a:cs typeface="Carlito"/>
              </a:rPr>
              <a:t>some </a:t>
            </a:r>
            <a:r>
              <a:rPr sz="3200" spc="-15" dirty="0">
                <a:latin typeface="Carlito"/>
                <a:cs typeface="Carlito"/>
              </a:rPr>
              <a:t>restricted events </a:t>
            </a:r>
            <a:r>
              <a:rPr sz="3200" spc="-10" dirty="0">
                <a:latin typeface="Carlito"/>
                <a:cs typeface="Carlito"/>
              </a:rPr>
              <a:t>associated </a:t>
            </a:r>
            <a:r>
              <a:rPr sz="3200" dirty="0">
                <a:latin typeface="Carlito"/>
                <a:cs typeface="Carlito"/>
              </a:rPr>
              <a:t>with</a:t>
            </a:r>
            <a:r>
              <a:rPr sz="3200" spc="-5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it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Carlito"/>
              <a:cs typeface="Carlito"/>
            </a:endParaRPr>
          </a:p>
          <a:p>
            <a:pPr marL="355600" marR="187325" indent="-343535">
              <a:lnSpc>
                <a:spcPts val="24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  <a:tab pos="1021715" algn="l"/>
              </a:tabLst>
            </a:pPr>
            <a:r>
              <a:rPr sz="2500" spc="-5" dirty="0">
                <a:latin typeface="Carlito"/>
                <a:cs typeface="Carlito"/>
              </a:rPr>
              <a:t>Blur	- </a:t>
            </a:r>
            <a:r>
              <a:rPr sz="2500" spc="-15" dirty="0">
                <a:latin typeface="Carlito"/>
                <a:cs typeface="Carlito"/>
              </a:rPr>
              <a:t>Button, Checkbox, </a:t>
            </a:r>
            <a:r>
              <a:rPr sz="2500" spc="-5" dirty="0">
                <a:latin typeface="Carlito"/>
                <a:cs typeface="Carlito"/>
              </a:rPr>
              <a:t>File </a:t>
            </a:r>
            <a:r>
              <a:rPr sz="2500" spc="-10" dirty="0">
                <a:latin typeface="Carlito"/>
                <a:cs typeface="Carlito"/>
              </a:rPr>
              <a:t>Upload, Frame, </a:t>
            </a:r>
            <a:r>
              <a:rPr sz="2500" spc="-55" dirty="0">
                <a:latin typeface="Carlito"/>
                <a:cs typeface="Carlito"/>
              </a:rPr>
              <a:t>Layer,  </a:t>
            </a:r>
            <a:r>
              <a:rPr sz="2500" spc="-20" dirty="0">
                <a:latin typeface="Carlito"/>
                <a:cs typeface="Carlito"/>
              </a:rPr>
              <a:t>Password, </a:t>
            </a:r>
            <a:r>
              <a:rPr sz="2500" spc="-10" dirty="0">
                <a:latin typeface="Carlito"/>
                <a:cs typeface="Carlito"/>
              </a:rPr>
              <a:t>Radio, Reset, </a:t>
            </a:r>
            <a:r>
              <a:rPr sz="2500" spc="-5" dirty="0">
                <a:latin typeface="Carlito"/>
                <a:cs typeface="Carlito"/>
              </a:rPr>
              <a:t>Select, </a:t>
            </a:r>
            <a:r>
              <a:rPr sz="2500" spc="-10" dirty="0">
                <a:latin typeface="Carlito"/>
                <a:cs typeface="Carlito"/>
              </a:rPr>
              <a:t>Submit, </a:t>
            </a:r>
            <a:r>
              <a:rPr sz="2500" spc="-55" dirty="0">
                <a:latin typeface="Carlito"/>
                <a:cs typeface="Carlito"/>
              </a:rPr>
              <a:t>Text, </a:t>
            </a:r>
            <a:r>
              <a:rPr sz="2500" spc="-65" dirty="0">
                <a:latin typeface="Carlito"/>
                <a:cs typeface="Carlito"/>
              </a:rPr>
              <a:t>Text </a:t>
            </a:r>
            <a:r>
              <a:rPr sz="2500" spc="-10" dirty="0">
                <a:latin typeface="Carlito"/>
                <a:cs typeface="Carlito"/>
              </a:rPr>
              <a:t>area,  </a:t>
            </a:r>
            <a:r>
              <a:rPr sz="2500" spc="-5" dirty="0">
                <a:latin typeface="Carlito"/>
                <a:cs typeface="Carlito"/>
              </a:rPr>
              <a:t>Window</a:t>
            </a:r>
            <a:endParaRPr sz="2500">
              <a:latin typeface="Carlito"/>
              <a:cs typeface="Carlito"/>
            </a:endParaRPr>
          </a:p>
          <a:p>
            <a:pPr marL="355600" marR="187325" indent="-343535">
              <a:lnSpc>
                <a:spcPts val="24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15" dirty="0">
                <a:latin typeface="Carlito"/>
                <a:cs typeface="Carlito"/>
              </a:rPr>
              <a:t>Focus </a:t>
            </a:r>
            <a:r>
              <a:rPr sz="2500" spc="-5" dirty="0">
                <a:latin typeface="Carlito"/>
                <a:cs typeface="Carlito"/>
              </a:rPr>
              <a:t>- </a:t>
            </a:r>
            <a:r>
              <a:rPr sz="2500" spc="-15" dirty="0">
                <a:latin typeface="Carlito"/>
                <a:cs typeface="Carlito"/>
              </a:rPr>
              <a:t>Button, Checkbox, </a:t>
            </a:r>
            <a:r>
              <a:rPr sz="2500" spc="-5" dirty="0">
                <a:latin typeface="Carlito"/>
                <a:cs typeface="Carlito"/>
              </a:rPr>
              <a:t>File </a:t>
            </a:r>
            <a:r>
              <a:rPr sz="2500" spc="-10" dirty="0">
                <a:latin typeface="Carlito"/>
                <a:cs typeface="Carlito"/>
              </a:rPr>
              <a:t>Upload, Frame, </a:t>
            </a:r>
            <a:r>
              <a:rPr sz="2500" spc="-55" dirty="0">
                <a:latin typeface="Carlito"/>
                <a:cs typeface="Carlito"/>
              </a:rPr>
              <a:t>Layer,  </a:t>
            </a:r>
            <a:r>
              <a:rPr sz="2500" spc="-20" dirty="0">
                <a:latin typeface="Carlito"/>
                <a:cs typeface="Carlito"/>
              </a:rPr>
              <a:t>Password, </a:t>
            </a:r>
            <a:r>
              <a:rPr sz="2500" spc="-10" dirty="0">
                <a:latin typeface="Carlito"/>
                <a:cs typeface="Carlito"/>
              </a:rPr>
              <a:t>Radio, Reset, </a:t>
            </a:r>
            <a:r>
              <a:rPr sz="2500" spc="-5" dirty="0">
                <a:latin typeface="Carlito"/>
                <a:cs typeface="Carlito"/>
              </a:rPr>
              <a:t>Select, </a:t>
            </a:r>
            <a:r>
              <a:rPr sz="2500" spc="-10" dirty="0">
                <a:latin typeface="Carlito"/>
                <a:cs typeface="Carlito"/>
              </a:rPr>
              <a:t>Submit, </a:t>
            </a:r>
            <a:r>
              <a:rPr sz="2500" spc="-55" dirty="0">
                <a:latin typeface="Carlito"/>
                <a:cs typeface="Carlito"/>
              </a:rPr>
              <a:t>Text, </a:t>
            </a:r>
            <a:r>
              <a:rPr sz="2500" spc="-65" dirty="0">
                <a:latin typeface="Carlito"/>
                <a:cs typeface="Carlito"/>
              </a:rPr>
              <a:t>Text </a:t>
            </a:r>
            <a:r>
              <a:rPr sz="2500" spc="-10" dirty="0">
                <a:latin typeface="Carlito"/>
                <a:cs typeface="Carlito"/>
              </a:rPr>
              <a:t>area,  </a:t>
            </a:r>
            <a:r>
              <a:rPr sz="2500" spc="-5" dirty="0">
                <a:latin typeface="Carlito"/>
                <a:cs typeface="Carlito"/>
              </a:rPr>
              <a:t>Window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Change </a:t>
            </a:r>
            <a:r>
              <a:rPr sz="2500" spc="-5" dirty="0">
                <a:latin typeface="Carlito"/>
                <a:cs typeface="Carlito"/>
              </a:rPr>
              <a:t>- FileUpload, Select, </a:t>
            </a:r>
            <a:r>
              <a:rPr sz="2500" spc="-55" dirty="0">
                <a:latin typeface="Carlito"/>
                <a:cs typeface="Carlito"/>
              </a:rPr>
              <a:t>Text, </a:t>
            </a:r>
            <a:r>
              <a:rPr sz="2500" spc="-65" dirty="0">
                <a:latin typeface="Carlito"/>
                <a:cs typeface="Carlito"/>
              </a:rPr>
              <a:t>Text</a:t>
            </a:r>
            <a:r>
              <a:rPr sz="2500" spc="8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area</a:t>
            </a:r>
            <a:endParaRPr sz="2500">
              <a:latin typeface="Carlito"/>
              <a:cs typeface="Carlito"/>
            </a:endParaRPr>
          </a:p>
          <a:p>
            <a:pPr marL="355600" marR="5080" indent="-343535">
              <a:lnSpc>
                <a:spcPts val="24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5" dirty="0">
                <a:latin typeface="Carlito"/>
                <a:cs typeface="Carlito"/>
              </a:rPr>
              <a:t>Click - </a:t>
            </a:r>
            <a:r>
              <a:rPr sz="2500" spc="-15" dirty="0">
                <a:latin typeface="Carlito"/>
                <a:cs typeface="Carlito"/>
              </a:rPr>
              <a:t>Button, Checkbox, </a:t>
            </a:r>
            <a:r>
              <a:rPr sz="2500" spc="-10" dirty="0">
                <a:latin typeface="Carlito"/>
                <a:cs typeface="Carlito"/>
              </a:rPr>
              <a:t>Document, Links, Radio, </a:t>
            </a:r>
            <a:r>
              <a:rPr sz="2500" spc="-15" dirty="0">
                <a:latin typeface="Carlito"/>
                <a:cs typeface="Carlito"/>
              </a:rPr>
              <a:t>Reset,  </a:t>
            </a:r>
            <a:r>
              <a:rPr sz="2500" spc="-10" dirty="0">
                <a:latin typeface="Carlito"/>
                <a:cs typeface="Carlito"/>
              </a:rPr>
              <a:t>Submit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10" dirty="0">
                <a:latin typeface="Carlito"/>
                <a:cs typeface="Carlito"/>
              </a:rPr>
              <a:t>Double Click </a:t>
            </a:r>
            <a:r>
              <a:rPr sz="2500" spc="-5" dirty="0">
                <a:latin typeface="Carlito"/>
                <a:cs typeface="Carlito"/>
              </a:rPr>
              <a:t>- </a:t>
            </a:r>
            <a:r>
              <a:rPr sz="2500" spc="-10" dirty="0">
                <a:latin typeface="Carlito"/>
                <a:cs typeface="Carlito"/>
              </a:rPr>
              <a:t>Area, Document,</a:t>
            </a:r>
            <a:r>
              <a:rPr sz="2500" spc="80" dirty="0">
                <a:latin typeface="Carlito"/>
                <a:cs typeface="Carlito"/>
              </a:rPr>
              <a:t> </a:t>
            </a:r>
            <a:r>
              <a:rPr sz="2500" spc="-15" dirty="0">
                <a:latin typeface="Carlito"/>
                <a:cs typeface="Carlito"/>
              </a:rPr>
              <a:t>Links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20" dirty="0">
                <a:latin typeface="Carlito"/>
                <a:cs typeface="Carlito"/>
              </a:rPr>
              <a:t>Key </a:t>
            </a:r>
            <a:r>
              <a:rPr sz="2500" spc="-10" dirty="0">
                <a:latin typeface="Carlito"/>
                <a:cs typeface="Carlito"/>
              </a:rPr>
              <a:t>Down </a:t>
            </a:r>
            <a:r>
              <a:rPr sz="2500" spc="-5" dirty="0">
                <a:latin typeface="Carlito"/>
                <a:cs typeface="Carlito"/>
              </a:rPr>
              <a:t>- Document, </a:t>
            </a:r>
            <a:r>
              <a:rPr sz="2500" spc="-10" dirty="0">
                <a:latin typeface="Carlito"/>
                <a:cs typeface="Carlito"/>
              </a:rPr>
              <a:t>Image, Links, </a:t>
            </a:r>
            <a:r>
              <a:rPr sz="2500" spc="-65" dirty="0">
                <a:latin typeface="Carlito"/>
                <a:cs typeface="Carlito"/>
              </a:rPr>
              <a:t>Text</a:t>
            </a:r>
            <a:r>
              <a:rPr sz="2500" spc="6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area</a:t>
            </a:r>
            <a:endParaRPr sz="25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500" spc="-25" dirty="0">
                <a:latin typeface="Carlito"/>
                <a:cs typeface="Carlito"/>
              </a:rPr>
              <a:t>Key </a:t>
            </a:r>
            <a:r>
              <a:rPr sz="2500" spc="-10" dirty="0">
                <a:latin typeface="Carlito"/>
                <a:cs typeface="Carlito"/>
              </a:rPr>
              <a:t>Up </a:t>
            </a:r>
            <a:r>
              <a:rPr sz="2500" spc="-5" dirty="0">
                <a:latin typeface="Carlito"/>
                <a:cs typeface="Carlito"/>
              </a:rPr>
              <a:t>- </a:t>
            </a:r>
            <a:r>
              <a:rPr sz="2500" spc="-10" dirty="0">
                <a:latin typeface="Carlito"/>
                <a:cs typeface="Carlito"/>
              </a:rPr>
              <a:t>Document, Image, Links, </a:t>
            </a:r>
            <a:r>
              <a:rPr sz="2500" spc="-70" dirty="0">
                <a:latin typeface="Carlito"/>
                <a:cs typeface="Carlito"/>
              </a:rPr>
              <a:t>Text</a:t>
            </a:r>
            <a:r>
              <a:rPr sz="2500" spc="80" dirty="0">
                <a:latin typeface="Carlito"/>
                <a:cs typeface="Carlito"/>
              </a:rPr>
              <a:t> </a:t>
            </a:r>
            <a:r>
              <a:rPr sz="2500" spc="-10" dirty="0">
                <a:latin typeface="Carlito"/>
                <a:cs typeface="Carlito"/>
              </a:rPr>
              <a:t>area</a:t>
            </a:r>
            <a:endParaRPr sz="25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244285"/>
            <a:ext cx="5351780" cy="44164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Load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5" dirty="0">
                <a:latin typeface="Carlito"/>
                <a:cs typeface="Carlito"/>
              </a:rPr>
              <a:t>Document, Image, </a:t>
            </a:r>
            <a:r>
              <a:rPr sz="2400" spc="-45" dirty="0">
                <a:latin typeface="Carlito"/>
                <a:cs typeface="Carlito"/>
              </a:rPr>
              <a:t>Layer,</a:t>
            </a:r>
            <a:r>
              <a:rPr sz="2400" spc="-9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Window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UnLoad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0" dirty="0">
                <a:latin typeface="Carlito"/>
                <a:cs typeface="Carlito"/>
              </a:rPr>
              <a:t>Document,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Window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Error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35" dirty="0">
                <a:latin typeface="Carlito"/>
                <a:cs typeface="Carlito"/>
              </a:rPr>
              <a:t>Window,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Image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Mouse </a:t>
            </a:r>
            <a:r>
              <a:rPr sz="2400" spc="-10" dirty="0">
                <a:latin typeface="Carlito"/>
                <a:cs typeface="Carlito"/>
              </a:rPr>
              <a:t>Down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5" dirty="0">
                <a:latin typeface="Carlito"/>
                <a:cs typeface="Carlito"/>
              </a:rPr>
              <a:t>Button, </a:t>
            </a:r>
            <a:r>
              <a:rPr sz="2400" spc="-5" dirty="0">
                <a:latin typeface="Carlito"/>
                <a:cs typeface="Carlito"/>
              </a:rPr>
              <a:t>Document,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Link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Mouse </a:t>
            </a:r>
            <a:r>
              <a:rPr sz="2400" spc="-5" dirty="0">
                <a:latin typeface="Carlito"/>
                <a:cs typeface="Carlito"/>
              </a:rPr>
              <a:t>Up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0" dirty="0">
                <a:latin typeface="Carlito"/>
                <a:cs typeface="Carlito"/>
              </a:rPr>
              <a:t>Button, </a:t>
            </a:r>
            <a:r>
              <a:rPr sz="2400" spc="-5" dirty="0">
                <a:latin typeface="Carlito"/>
                <a:cs typeface="Carlito"/>
              </a:rPr>
              <a:t>Document,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Link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Mouse </a:t>
            </a:r>
            <a:r>
              <a:rPr sz="2400" spc="-10" dirty="0">
                <a:latin typeface="Carlito"/>
                <a:cs typeface="Carlito"/>
              </a:rPr>
              <a:t>Over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0" dirty="0">
                <a:latin typeface="Carlito"/>
                <a:cs typeface="Carlito"/>
              </a:rPr>
              <a:t>Area, </a:t>
            </a:r>
            <a:r>
              <a:rPr sz="2400" spc="-50" dirty="0">
                <a:latin typeface="Carlito"/>
                <a:cs typeface="Carlito"/>
              </a:rPr>
              <a:t>Layer,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Link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Mouse </a:t>
            </a:r>
            <a:r>
              <a:rPr sz="2400" spc="-5" dirty="0">
                <a:latin typeface="Carlito"/>
                <a:cs typeface="Carlito"/>
              </a:rPr>
              <a:t>Out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5" dirty="0">
                <a:latin typeface="Carlito"/>
                <a:cs typeface="Carlito"/>
              </a:rPr>
              <a:t>Area, </a:t>
            </a:r>
            <a:r>
              <a:rPr sz="2400" spc="-45" dirty="0">
                <a:latin typeface="Carlito"/>
                <a:cs typeface="Carlito"/>
              </a:rPr>
              <a:t>Layer,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Link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Submit, </a:t>
            </a:r>
            <a:r>
              <a:rPr sz="2400" spc="-10" dirty="0">
                <a:latin typeface="Carlito"/>
                <a:cs typeface="Carlito"/>
              </a:rPr>
              <a:t>Reset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5" dirty="0">
                <a:latin typeface="Carlito"/>
                <a:cs typeface="Carlito"/>
              </a:rPr>
              <a:t>This </a:t>
            </a:r>
            <a:r>
              <a:rPr sz="2400" dirty="0">
                <a:latin typeface="Carlito"/>
                <a:cs typeface="Carlito"/>
              </a:rPr>
              <a:t>is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page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rlito"/>
                <a:cs typeface="Carlito"/>
              </a:rPr>
              <a:t>Select - </a:t>
            </a:r>
            <a:r>
              <a:rPr sz="2400" spc="-50" dirty="0">
                <a:latin typeface="Carlito"/>
                <a:cs typeface="Carlito"/>
              </a:rPr>
              <a:t>Text, </a:t>
            </a:r>
            <a:r>
              <a:rPr sz="2400" spc="-65" dirty="0">
                <a:latin typeface="Carlito"/>
                <a:cs typeface="Carlito"/>
              </a:rPr>
              <a:t>Text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Area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Resize </a:t>
            </a:r>
            <a:r>
              <a:rPr sz="2400" dirty="0">
                <a:latin typeface="Carlito"/>
                <a:cs typeface="Carlito"/>
              </a:rPr>
              <a:t>- </a:t>
            </a:r>
            <a:r>
              <a:rPr sz="2400" spc="-10" dirty="0">
                <a:latin typeface="Carlito"/>
                <a:cs typeface="Carlito"/>
              </a:rPr>
              <a:t>Frame,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Window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4016" y="508000"/>
            <a:ext cx="8345183" cy="474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9416" y="814903"/>
            <a:ext cx="8357383" cy="27480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484" y="888642"/>
            <a:ext cx="8217515" cy="43691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3585" y="192150"/>
            <a:ext cx="5119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C00000"/>
                </a:solidFill>
              </a:rPr>
              <a:t>JavaScript </a:t>
            </a:r>
            <a:r>
              <a:rPr spc="-5" dirty="0">
                <a:solidFill>
                  <a:srgbClr val="C00000"/>
                </a:solidFill>
              </a:rPr>
              <a:t>Object</a:t>
            </a:r>
            <a:r>
              <a:rPr spc="15" dirty="0">
                <a:solidFill>
                  <a:srgbClr val="C00000"/>
                </a:solidFill>
              </a:rPr>
              <a:t> </a:t>
            </a:r>
            <a:r>
              <a:rPr spc="-5" dirty="0">
                <a:solidFill>
                  <a:srgbClr val="C00000"/>
                </a:solidFill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917194"/>
            <a:ext cx="8075295" cy="542163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7620" indent="-343535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Carlito"/>
                <a:cs typeface="Carlito"/>
              </a:rPr>
              <a:t>Models HTML </a:t>
            </a:r>
            <a:r>
              <a:rPr sz="3000" spc="-10" dirty="0">
                <a:latin typeface="Carlito"/>
                <a:cs typeface="Carlito"/>
              </a:rPr>
              <a:t>documents </a:t>
            </a:r>
            <a:r>
              <a:rPr sz="3000" spc="-5" dirty="0">
                <a:latin typeface="Carlito"/>
                <a:cs typeface="Carlito"/>
              </a:rPr>
              <a:t>in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0" dirty="0">
                <a:latin typeface="Carlito"/>
                <a:cs typeface="Carlito"/>
              </a:rPr>
              <a:t>very </a:t>
            </a:r>
            <a:r>
              <a:rPr sz="3000" spc="-20" dirty="0">
                <a:latin typeface="Carlito"/>
                <a:cs typeface="Carlito"/>
              </a:rPr>
              <a:t>consistent </a:t>
            </a:r>
            <a:r>
              <a:rPr sz="3000" spc="-5" dirty="0">
                <a:latin typeface="Carlito"/>
                <a:cs typeface="Carlito"/>
              </a:rPr>
              <a:t>and  </a:t>
            </a:r>
            <a:r>
              <a:rPr sz="3000" spc="-10" dirty="0">
                <a:latin typeface="Carlito"/>
                <a:cs typeface="Carlito"/>
              </a:rPr>
              <a:t>intuitive</a:t>
            </a:r>
            <a:r>
              <a:rPr sz="3000" spc="-30" dirty="0">
                <a:latin typeface="Carlito"/>
                <a:cs typeface="Carlito"/>
              </a:rPr>
              <a:t> </a:t>
            </a:r>
            <a:r>
              <a:rPr sz="3000" spc="-35" dirty="0">
                <a:latin typeface="Carlito"/>
                <a:cs typeface="Carlito"/>
              </a:rPr>
              <a:t>way</a:t>
            </a:r>
            <a:endParaRPr sz="3000">
              <a:latin typeface="Carlito"/>
              <a:cs typeface="Carlito"/>
            </a:endParaRPr>
          </a:p>
          <a:p>
            <a:pPr marL="355600" marR="7620" indent="-343535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  <a:tab pos="356235" algn="l"/>
                <a:tab pos="1884045" algn="l"/>
                <a:tab pos="2475865" algn="l"/>
                <a:tab pos="4050029" algn="l"/>
                <a:tab pos="4583430" algn="l"/>
                <a:tab pos="5878195" algn="l"/>
                <a:tab pos="7477125" algn="l"/>
              </a:tabLst>
            </a:pPr>
            <a:r>
              <a:rPr sz="3000" dirty="0">
                <a:latin typeface="Carlito"/>
                <a:cs typeface="Carlito"/>
              </a:rPr>
              <a:t>P</a:t>
            </a:r>
            <a:r>
              <a:rPr sz="3000" spc="-60" dirty="0">
                <a:latin typeface="Carlito"/>
                <a:cs typeface="Carlito"/>
              </a:rPr>
              <a:t>r</a:t>
            </a:r>
            <a:r>
              <a:rPr sz="3000" spc="-10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vi</a:t>
            </a:r>
            <a:r>
              <a:rPr sz="3000" spc="-15" dirty="0">
                <a:latin typeface="Carlito"/>
                <a:cs typeface="Carlito"/>
              </a:rPr>
              <a:t>d</a:t>
            </a:r>
            <a:r>
              <a:rPr sz="3000" dirty="0">
                <a:latin typeface="Carlito"/>
                <a:cs typeface="Carlito"/>
              </a:rPr>
              <a:t>es	an	i</a:t>
            </a:r>
            <a:r>
              <a:rPr sz="3000" spc="-35" dirty="0">
                <a:latin typeface="Carlito"/>
                <a:cs typeface="Carlito"/>
              </a:rPr>
              <a:t>nt</a:t>
            </a:r>
            <a:r>
              <a:rPr sz="3000" dirty="0">
                <a:latin typeface="Carlito"/>
                <a:cs typeface="Carlito"/>
              </a:rPr>
              <a:t>e</a:t>
            </a:r>
            <a:r>
              <a:rPr sz="3000" spc="-15" dirty="0">
                <a:latin typeface="Carlito"/>
                <a:cs typeface="Carlito"/>
              </a:rPr>
              <a:t>r</a:t>
            </a:r>
            <a:r>
              <a:rPr sz="3000" spc="-80" dirty="0">
                <a:latin typeface="Carlito"/>
                <a:cs typeface="Carlito"/>
              </a:rPr>
              <a:t>f</a:t>
            </a:r>
            <a:r>
              <a:rPr sz="3000" dirty="0">
                <a:latin typeface="Carlito"/>
                <a:cs typeface="Carlito"/>
              </a:rPr>
              <a:t>ace	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o	</a:t>
            </a:r>
            <a:r>
              <a:rPr sz="3000" spc="-10" dirty="0">
                <a:latin typeface="Carlito"/>
                <a:cs typeface="Carlito"/>
              </a:rPr>
              <a:t>ac</a:t>
            </a:r>
            <a:r>
              <a:rPr sz="3000" dirty="0">
                <a:latin typeface="Carlito"/>
                <a:cs typeface="Carlito"/>
              </a:rPr>
              <a:t>cess,	</a:t>
            </a:r>
            <a:r>
              <a:rPr sz="3000" spc="-20" dirty="0">
                <a:latin typeface="Carlito"/>
                <a:cs typeface="Carlito"/>
              </a:rPr>
              <a:t>n</a:t>
            </a:r>
            <a:r>
              <a:rPr sz="3000" spc="-60" dirty="0">
                <a:latin typeface="Carlito"/>
                <a:cs typeface="Carlito"/>
              </a:rPr>
              <a:t>a</a:t>
            </a:r>
            <a:r>
              <a:rPr sz="3000" dirty="0">
                <a:latin typeface="Carlito"/>
                <a:cs typeface="Carlito"/>
              </a:rPr>
              <a:t>vi</a:t>
            </a:r>
            <a:r>
              <a:rPr sz="3000" spc="-65" dirty="0">
                <a:latin typeface="Carlito"/>
                <a:cs typeface="Carlito"/>
              </a:rPr>
              <a:t>g</a:t>
            </a:r>
            <a:r>
              <a:rPr sz="3000" spc="-25" dirty="0">
                <a:latin typeface="Carlito"/>
                <a:cs typeface="Carlito"/>
              </a:rPr>
              <a:t>a</a:t>
            </a:r>
            <a:r>
              <a:rPr sz="3000" spc="-3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e,	</a:t>
            </a:r>
            <a:r>
              <a:rPr sz="3000" spc="-10" dirty="0">
                <a:latin typeface="Carlito"/>
                <a:cs typeface="Carlito"/>
              </a:rPr>
              <a:t>a</a:t>
            </a:r>
            <a:r>
              <a:rPr sz="3000" spc="-5" dirty="0">
                <a:latin typeface="Carlito"/>
                <a:cs typeface="Carlito"/>
              </a:rPr>
              <a:t>nd  </a:t>
            </a:r>
            <a:r>
              <a:rPr sz="3000" spc="-10" dirty="0">
                <a:latin typeface="Carlito"/>
                <a:cs typeface="Carlito"/>
              </a:rPr>
              <a:t>manipulate web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page</a:t>
            </a:r>
            <a:endParaRPr sz="3000">
              <a:latin typeface="Carlito"/>
              <a:cs typeface="Carlito"/>
            </a:endParaRPr>
          </a:p>
          <a:p>
            <a:pPr marL="355600" marR="6350" indent="-343535">
              <a:lnSpc>
                <a:spcPct val="80000"/>
              </a:lnSpc>
              <a:spcBef>
                <a:spcPts val="745"/>
              </a:spcBef>
              <a:buFont typeface="Arial"/>
              <a:buChar char="•"/>
              <a:tabLst>
                <a:tab pos="355600" algn="l"/>
                <a:tab pos="356235" algn="l"/>
                <a:tab pos="1431290" algn="l"/>
                <a:tab pos="2670810" algn="l"/>
                <a:tab pos="3502660" algn="l"/>
                <a:tab pos="4093210" algn="l"/>
                <a:tab pos="5345430" algn="l"/>
                <a:tab pos="6190615" algn="l"/>
                <a:tab pos="7543800" algn="l"/>
              </a:tabLst>
            </a:pPr>
            <a:r>
              <a:rPr sz="3000" spc="-5" dirty="0">
                <a:latin typeface="Carlito"/>
                <a:cs typeface="Carlito"/>
              </a:rPr>
              <a:t>D</a:t>
            </a:r>
            <a:r>
              <a:rPr sz="3000" spc="5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M	al</a:t>
            </a:r>
            <a:r>
              <a:rPr sz="3000" spc="-10" dirty="0">
                <a:latin typeface="Carlito"/>
                <a:cs typeface="Carlito"/>
              </a:rPr>
              <a:t>lo</a:t>
            </a:r>
            <a:r>
              <a:rPr sz="3000" spc="-25" dirty="0">
                <a:latin typeface="Carlito"/>
                <a:cs typeface="Carlito"/>
              </a:rPr>
              <a:t>w</a:t>
            </a:r>
            <a:r>
              <a:rPr sz="3000" dirty="0">
                <a:latin typeface="Carlito"/>
                <a:cs typeface="Carlito"/>
              </a:rPr>
              <a:t>s	</a:t>
            </a:r>
            <a:r>
              <a:rPr sz="3000" spc="-40" dirty="0">
                <a:latin typeface="Carlito"/>
                <a:cs typeface="Carlito"/>
              </a:rPr>
              <a:t>y</a:t>
            </a:r>
            <a:r>
              <a:rPr sz="3000" spc="-5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u	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o	a</a:t>
            </a:r>
            <a:r>
              <a:rPr sz="3000" spc="-20" dirty="0">
                <a:latin typeface="Carlito"/>
                <a:cs typeface="Carlito"/>
              </a:rPr>
              <a:t>c</a:t>
            </a:r>
            <a:r>
              <a:rPr sz="3000" dirty="0">
                <a:latin typeface="Carlito"/>
                <a:cs typeface="Carlito"/>
              </a:rPr>
              <a:t>c</a:t>
            </a:r>
            <a:r>
              <a:rPr sz="3000" spc="-15" dirty="0">
                <a:latin typeface="Carlito"/>
                <a:cs typeface="Carlito"/>
              </a:rPr>
              <a:t>e</a:t>
            </a:r>
            <a:r>
              <a:rPr sz="3000" spc="-5" dirty="0">
                <a:latin typeface="Carlito"/>
                <a:cs typeface="Carlito"/>
              </a:rPr>
              <a:t>s</a:t>
            </a:r>
            <a:r>
              <a:rPr sz="3000" dirty="0">
                <a:latin typeface="Carlito"/>
                <a:cs typeface="Carlito"/>
              </a:rPr>
              <a:t>s	and	</a:t>
            </a:r>
            <a:r>
              <a:rPr sz="3000" spc="-5" dirty="0">
                <a:latin typeface="Carlito"/>
                <a:cs typeface="Carlito"/>
              </a:rPr>
              <a:t>upd</a:t>
            </a:r>
            <a:r>
              <a:rPr sz="3000" spc="-35" dirty="0">
                <a:latin typeface="Carlito"/>
                <a:cs typeface="Carlito"/>
              </a:rPr>
              <a:t>at</a:t>
            </a:r>
            <a:r>
              <a:rPr sz="3000" dirty="0">
                <a:latin typeface="Carlito"/>
                <a:cs typeface="Carlito"/>
              </a:rPr>
              <a:t>e	</a:t>
            </a:r>
            <a:r>
              <a:rPr sz="3000" spc="-10" dirty="0">
                <a:latin typeface="Carlito"/>
                <a:cs typeface="Carlito"/>
              </a:rPr>
              <a:t>t</a:t>
            </a:r>
            <a:r>
              <a:rPr sz="3000" spc="-5" dirty="0">
                <a:latin typeface="Carlito"/>
                <a:cs typeface="Carlito"/>
              </a:rPr>
              <a:t>he  </a:t>
            </a:r>
            <a:r>
              <a:rPr sz="3000" spc="-20" dirty="0">
                <a:latin typeface="Carlito"/>
                <a:cs typeface="Carlito"/>
              </a:rPr>
              <a:t>content, </a:t>
            </a:r>
            <a:r>
              <a:rPr sz="3000" spc="-10" dirty="0">
                <a:latin typeface="Carlito"/>
                <a:cs typeface="Carlito"/>
              </a:rPr>
              <a:t>structure,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style </a:t>
            </a:r>
            <a:r>
              <a:rPr sz="3000" dirty="0">
                <a:latin typeface="Carlito"/>
                <a:cs typeface="Carlito"/>
              </a:rPr>
              <a:t>of a</a:t>
            </a:r>
            <a:r>
              <a:rPr sz="3000" spc="-3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document</a:t>
            </a:r>
            <a:endParaRPr sz="3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35" dirty="0">
                <a:latin typeface="Carlito"/>
                <a:cs typeface="Carlito"/>
              </a:rPr>
              <a:t>To </a:t>
            </a:r>
            <a:r>
              <a:rPr sz="3000" spc="-15" dirty="0">
                <a:latin typeface="Carlito"/>
                <a:cs typeface="Carlito"/>
              </a:rPr>
              <a:t>provide </a:t>
            </a:r>
            <a:r>
              <a:rPr sz="3000" spc="-10" dirty="0">
                <a:latin typeface="Carlito"/>
                <a:cs typeface="Carlito"/>
              </a:rPr>
              <a:t>more </a:t>
            </a:r>
            <a:r>
              <a:rPr sz="3000" spc="-15" dirty="0">
                <a:latin typeface="Carlito"/>
                <a:cs typeface="Carlito"/>
              </a:rPr>
              <a:t>interactive </a:t>
            </a:r>
            <a:r>
              <a:rPr sz="3000" spc="-20" dirty="0">
                <a:latin typeface="Carlito"/>
                <a:cs typeface="Carlito"/>
              </a:rPr>
              <a:t>content </a:t>
            </a:r>
            <a:r>
              <a:rPr sz="3000" dirty="0">
                <a:latin typeface="Carlito"/>
                <a:cs typeface="Carlito"/>
              </a:rPr>
              <a:t>on the</a:t>
            </a:r>
            <a:r>
              <a:rPr sz="3000" spc="80" dirty="0">
                <a:latin typeface="Carlito"/>
                <a:cs typeface="Carlito"/>
              </a:rPr>
              <a:t> </a:t>
            </a:r>
            <a:r>
              <a:rPr sz="3000" spc="-40" dirty="0">
                <a:latin typeface="Carlito"/>
                <a:cs typeface="Carlito"/>
              </a:rPr>
              <a:t>Web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ts val="2880"/>
              </a:lnSpc>
              <a:spcBef>
                <a:spcPts val="695"/>
              </a:spcBef>
              <a:buFont typeface="Arial"/>
              <a:buChar char="•"/>
              <a:tabLst>
                <a:tab pos="355600" algn="l"/>
                <a:tab pos="356235" algn="l"/>
                <a:tab pos="1637030" algn="l"/>
                <a:tab pos="3079115" algn="l"/>
                <a:tab pos="4455795" algn="l"/>
                <a:tab pos="5248275" algn="l"/>
                <a:tab pos="6104890" algn="l"/>
              </a:tabLst>
            </a:pPr>
            <a:r>
              <a:rPr sz="3000" spc="-5" dirty="0">
                <a:latin typeface="Carlito"/>
                <a:cs typeface="Carlito"/>
              </a:rPr>
              <a:t>D</a:t>
            </a:r>
            <a:r>
              <a:rPr sz="3000" spc="5" dirty="0">
                <a:latin typeface="Carlito"/>
                <a:cs typeface="Carlito"/>
              </a:rPr>
              <a:t>O</a:t>
            </a:r>
            <a:r>
              <a:rPr sz="3000" dirty="0">
                <a:latin typeface="Carlito"/>
                <a:cs typeface="Carlito"/>
              </a:rPr>
              <a:t>M	a</a:t>
            </a:r>
            <a:r>
              <a:rPr sz="3000" spc="-15" dirty="0">
                <a:latin typeface="Carlito"/>
                <a:cs typeface="Carlito"/>
              </a:rPr>
              <a:t>l</a:t>
            </a:r>
            <a:r>
              <a:rPr sz="3000" dirty="0">
                <a:latin typeface="Carlito"/>
                <a:cs typeface="Carlito"/>
              </a:rPr>
              <a:t>l</a:t>
            </a:r>
            <a:r>
              <a:rPr sz="3000" spc="-15" dirty="0">
                <a:latin typeface="Carlito"/>
                <a:cs typeface="Carlito"/>
              </a:rPr>
              <a:t>o</a:t>
            </a:r>
            <a:r>
              <a:rPr sz="3000" spc="-25" dirty="0">
                <a:latin typeface="Carlito"/>
                <a:cs typeface="Carlito"/>
              </a:rPr>
              <a:t>w</a:t>
            </a:r>
            <a:r>
              <a:rPr sz="3000" dirty="0">
                <a:latin typeface="Carlito"/>
                <a:cs typeface="Carlito"/>
              </a:rPr>
              <a:t>s	HTML	</a:t>
            </a:r>
            <a:r>
              <a:rPr sz="3000" spc="-2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o	</a:t>
            </a:r>
            <a:r>
              <a:rPr sz="3000" spc="-5" dirty="0">
                <a:latin typeface="Carlito"/>
                <a:cs typeface="Carlito"/>
              </a:rPr>
              <a:t>b</a:t>
            </a:r>
            <a:r>
              <a:rPr sz="3000" dirty="0">
                <a:latin typeface="Carlito"/>
                <a:cs typeface="Carlito"/>
              </a:rPr>
              <a:t>e	manip</a:t>
            </a:r>
            <a:r>
              <a:rPr sz="3000" spc="-10" dirty="0">
                <a:latin typeface="Carlito"/>
                <a:cs typeface="Carlito"/>
              </a:rPr>
              <a:t>u</a:t>
            </a:r>
            <a:r>
              <a:rPr sz="3000" dirty="0">
                <a:latin typeface="Carlito"/>
                <a:cs typeface="Carlito"/>
              </a:rPr>
              <a:t>l</a:t>
            </a:r>
            <a:r>
              <a:rPr sz="3000" spc="-15" dirty="0">
                <a:latin typeface="Carlito"/>
                <a:cs typeface="Carlito"/>
              </a:rPr>
              <a:t>a</a:t>
            </a:r>
            <a:r>
              <a:rPr sz="3000" spc="-35" dirty="0">
                <a:latin typeface="Carlito"/>
                <a:cs typeface="Carlito"/>
              </a:rPr>
              <a:t>t</a:t>
            </a:r>
            <a:r>
              <a:rPr sz="3000" dirty="0">
                <a:latin typeface="Carlito"/>
                <a:cs typeface="Carlito"/>
              </a:rPr>
              <a:t>ed  </a:t>
            </a:r>
            <a:r>
              <a:rPr sz="3000" spc="-10" dirty="0">
                <a:latin typeface="Carlito"/>
                <a:cs typeface="Carlito"/>
              </a:rPr>
              <a:t>dynamically</a:t>
            </a:r>
            <a:endParaRPr sz="3000">
              <a:latin typeface="Carlito"/>
              <a:cs typeface="Carlito"/>
            </a:endParaRPr>
          </a:p>
          <a:p>
            <a:pPr marL="355600" marR="5080" indent="-343535">
              <a:lnSpc>
                <a:spcPts val="2880"/>
              </a:lnSpc>
              <a:spcBef>
                <a:spcPts val="7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Each </a:t>
            </a:r>
            <a:r>
              <a:rPr sz="3000" spc="-5" dirty="0">
                <a:latin typeface="Carlito"/>
                <a:cs typeface="Carlito"/>
              </a:rPr>
              <a:t>HTML </a:t>
            </a:r>
            <a:r>
              <a:rPr sz="3000" spc="-15" dirty="0">
                <a:latin typeface="Carlito"/>
                <a:cs typeface="Carlito"/>
              </a:rPr>
              <a:t>tag </a:t>
            </a:r>
            <a:r>
              <a:rPr sz="3000" spc="-10" dirty="0">
                <a:latin typeface="Carlito"/>
                <a:cs typeface="Carlito"/>
              </a:rPr>
              <a:t>can </a:t>
            </a:r>
            <a:r>
              <a:rPr sz="3000" spc="-5" dirty="0">
                <a:latin typeface="Carlito"/>
                <a:cs typeface="Carlito"/>
              </a:rPr>
              <a:t>be accessed </a:t>
            </a:r>
            <a:r>
              <a:rPr sz="3000" dirty="0">
                <a:latin typeface="Carlito"/>
                <a:cs typeface="Carlito"/>
              </a:rPr>
              <a:t>and </a:t>
            </a:r>
            <a:r>
              <a:rPr sz="3000" spc="-10" dirty="0">
                <a:latin typeface="Carlito"/>
                <a:cs typeface="Carlito"/>
              </a:rPr>
              <a:t>manipulated  </a:t>
            </a:r>
            <a:r>
              <a:rPr sz="3000" dirty="0">
                <a:latin typeface="Carlito"/>
                <a:cs typeface="Carlito"/>
              </a:rPr>
              <a:t>via its ID and NAME</a:t>
            </a:r>
            <a:r>
              <a:rPr sz="3000" spc="-55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attributes</a:t>
            </a:r>
            <a:endParaRPr sz="3000">
              <a:latin typeface="Carlito"/>
              <a:cs typeface="Carlito"/>
            </a:endParaRPr>
          </a:p>
          <a:p>
            <a:pPr marL="355600" marR="8255" indent="-343535">
              <a:lnSpc>
                <a:spcPts val="2880"/>
              </a:lnSpc>
              <a:spcBef>
                <a:spcPts val="7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spc="-15" dirty="0">
                <a:latin typeface="Carlito"/>
                <a:cs typeface="Carlito"/>
              </a:rPr>
              <a:t>Each </a:t>
            </a:r>
            <a:r>
              <a:rPr sz="3000" spc="-10" dirty="0">
                <a:latin typeface="Carlito"/>
                <a:cs typeface="Carlito"/>
              </a:rPr>
              <a:t>object </a:t>
            </a:r>
            <a:r>
              <a:rPr sz="3000" spc="-5" dirty="0">
                <a:latin typeface="Carlito"/>
                <a:cs typeface="Carlito"/>
              </a:rPr>
              <a:t>has </a:t>
            </a:r>
            <a:r>
              <a:rPr sz="3000" dirty="0">
                <a:latin typeface="Carlito"/>
                <a:cs typeface="Carlito"/>
              </a:rPr>
              <a:t>its </a:t>
            </a:r>
            <a:r>
              <a:rPr sz="3000" spc="-5" dirty="0">
                <a:latin typeface="Carlito"/>
                <a:cs typeface="Carlito"/>
              </a:rPr>
              <a:t>own </a:t>
            </a:r>
            <a:r>
              <a:rPr sz="3000" spc="-10" dirty="0">
                <a:latin typeface="Carlito"/>
                <a:cs typeface="Carlito"/>
              </a:rPr>
              <a:t>properties, </a:t>
            </a:r>
            <a:r>
              <a:rPr sz="3000" spc="-5" dirty="0">
                <a:latin typeface="Carlito"/>
                <a:cs typeface="Carlito"/>
              </a:rPr>
              <a:t>methods, and  </a:t>
            </a:r>
            <a:r>
              <a:rPr sz="3000" spc="-15" dirty="0">
                <a:latin typeface="Carlito"/>
                <a:cs typeface="Carlito"/>
              </a:rPr>
              <a:t>events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12165"/>
            <a:ext cx="7685405" cy="5759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127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Carlito"/>
                <a:cs typeface="Carlito"/>
              </a:rPr>
              <a:t>The Object Model </a:t>
            </a:r>
            <a:r>
              <a:rPr sz="3200" spc="-10" dirty="0">
                <a:latin typeface="Carlito"/>
                <a:cs typeface="Carlito"/>
              </a:rPr>
              <a:t>allows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25" dirty="0">
                <a:latin typeface="Carlito"/>
                <a:cs typeface="Carlito"/>
              </a:rPr>
              <a:t>to navigate  </a:t>
            </a:r>
            <a:r>
              <a:rPr sz="3200" dirty="0">
                <a:latin typeface="Carlito"/>
                <a:cs typeface="Carlito"/>
              </a:rPr>
              <a:t>along the </a:t>
            </a:r>
            <a:r>
              <a:rPr sz="3200" spc="-5" dirty="0">
                <a:latin typeface="Carlito"/>
                <a:cs typeface="Carlito"/>
              </a:rPr>
              <a:t>document </a:t>
            </a:r>
            <a:r>
              <a:rPr sz="3200" spc="-10" dirty="0">
                <a:latin typeface="Carlito"/>
                <a:cs typeface="Carlito"/>
              </a:rPr>
              <a:t>tree, </a:t>
            </a:r>
            <a:r>
              <a:rPr sz="3200" spc="-5" dirty="0">
                <a:latin typeface="Carlito"/>
                <a:cs typeface="Carlito"/>
              </a:rPr>
              <a:t>up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down, </a:t>
            </a:r>
            <a:r>
              <a:rPr sz="3200" dirty="0">
                <a:latin typeface="Carlito"/>
                <a:cs typeface="Carlito"/>
              </a:rPr>
              <a:t>and 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sides</a:t>
            </a:r>
            <a:endParaRPr sz="32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spc="-85" dirty="0">
                <a:latin typeface="Carlito"/>
                <a:cs typeface="Carlito"/>
              </a:rPr>
              <a:t>You </a:t>
            </a:r>
            <a:r>
              <a:rPr sz="3200" spc="-5" dirty="0">
                <a:latin typeface="Carlito"/>
                <a:cs typeface="Carlito"/>
              </a:rPr>
              <a:t>can use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child, </a:t>
            </a:r>
            <a:r>
              <a:rPr sz="3200" spc="-10" dirty="0">
                <a:latin typeface="Carlito"/>
                <a:cs typeface="Carlito"/>
              </a:rPr>
              <a:t>parent,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sibling  relationships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15" dirty="0">
                <a:latin typeface="Carlito"/>
                <a:cs typeface="Carlito"/>
              </a:rPr>
              <a:t>go from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particular </a:t>
            </a:r>
            <a:r>
              <a:rPr sz="3200" spc="-10" dirty="0">
                <a:latin typeface="Carlito"/>
                <a:cs typeface="Carlito"/>
              </a:rPr>
              <a:t>point </a:t>
            </a:r>
            <a:r>
              <a:rPr sz="3200" spc="-25" dirty="0">
                <a:latin typeface="Carlito"/>
                <a:cs typeface="Carlito"/>
              </a:rPr>
              <a:t>to  </a:t>
            </a:r>
            <a:r>
              <a:rPr sz="3200" spc="-20" dirty="0">
                <a:latin typeface="Carlito"/>
                <a:cs typeface="Carlito"/>
              </a:rPr>
              <a:t>any </a:t>
            </a:r>
            <a:r>
              <a:rPr sz="3200" spc="-5" dirty="0">
                <a:latin typeface="Carlito"/>
                <a:cs typeface="Carlito"/>
              </a:rPr>
              <a:t>other </a:t>
            </a:r>
            <a:r>
              <a:rPr sz="3200" spc="-10" dirty="0">
                <a:latin typeface="Carlito"/>
                <a:cs typeface="Carlito"/>
              </a:rPr>
              <a:t>point </a:t>
            </a:r>
            <a:r>
              <a:rPr sz="3200" dirty="0">
                <a:latin typeface="Carlito"/>
                <a:cs typeface="Carlito"/>
              </a:rPr>
              <a:t>on </a:t>
            </a:r>
            <a:r>
              <a:rPr sz="3200" spc="-10" dirty="0">
                <a:latin typeface="Carlito"/>
                <a:cs typeface="Carlito"/>
              </a:rPr>
              <a:t>your page</a:t>
            </a:r>
            <a:r>
              <a:rPr sz="3200" spc="30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tree</a:t>
            </a:r>
            <a:endParaRPr sz="32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har char="•"/>
            </a:pPr>
            <a:endParaRPr sz="4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solidFill>
                  <a:srgbClr val="006FC0"/>
                </a:solidFill>
                <a:latin typeface="Carlito"/>
                <a:cs typeface="Carlito"/>
              </a:rPr>
              <a:t>Model is </a:t>
            </a:r>
            <a:r>
              <a:rPr sz="3200" spc="-5" dirty="0">
                <a:solidFill>
                  <a:srgbClr val="006FC0"/>
                </a:solidFill>
                <a:latin typeface="Carlito"/>
                <a:cs typeface="Carlito"/>
              </a:rPr>
              <a:t>divided </a:t>
            </a:r>
            <a:r>
              <a:rPr sz="3200" spc="-20" dirty="0">
                <a:solidFill>
                  <a:srgbClr val="006FC0"/>
                </a:solidFill>
                <a:latin typeface="Carlito"/>
                <a:cs typeface="Carlito"/>
              </a:rPr>
              <a:t>into </a:t>
            </a:r>
            <a:r>
              <a:rPr sz="3200" spc="-10" dirty="0">
                <a:solidFill>
                  <a:srgbClr val="006FC0"/>
                </a:solidFill>
                <a:latin typeface="Carlito"/>
                <a:cs typeface="Carlito"/>
              </a:rPr>
              <a:t>three</a:t>
            </a:r>
            <a:r>
              <a:rPr sz="3200" spc="3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200" spc="-10" dirty="0">
                <a:solidFill>
                  <a:srgbClr val="006FC0"/>
                </a:solidFill>
                <a:latin typeface="Carlito"/>
                <a:cs typeface="Carlito"/>
              </a:rPr>
              <a:t>sub-groups</a:t>
            </a:r>
            <a:endParaRPr sz="32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SzPct val="96428"/>
              <a:buFont typeface="Wingdings"/>
              <a:buChar char=""/>
              <a:tabLst>
                <a:tab pos="756920" algn="l"/>
              </a:tabLst>
            </a:pP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Language</a:t>
            </a: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  <a:endParaRPr sz="28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756920" algn="l"/>
              </a:tabLst>
            </a:pP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Form-field</a:t>
            </a:r>
            <a:r>
              <a:rPr sz="2800" spc="1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  <a:endParaRPr sz="28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756920" algn="l"/>
              </a:tabLst>
            </a:pPr>
            <a:r>
              <a:rPr sz="2800" spc="-15" dirty="0">
                <a:solidFill>
                  <a:srgbClr val="C00000"/>
                </a:solidFill>
                <a:latin typeface="Carlito"/>
                <a:cs typeface="Carlito"/>
              </a:rPr>
              <a:t>Browser</a:t>
            </a:r>
            <a:r>
              <a:rPr sz="280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5097" y="400584"/>
            <a:ext cx="7364803" cy="64574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1977" y="0"/>
            <a:ext cx="3397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25" dirty="0">
                <a:solidFill>
                  <a:srgbClr val="C00000"/>
                </a:solidFill>
                <a:latin typeface="Carlito"/>
                <a:cs typeface="Carlito"/>
              </a:rPr>
              <a:t>Browser</a:t>
            </a:r>
            <a:r>
              <a:rPr b="0" spc="-6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b="0" spc="-5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762660"/>
            <a:ext cx="1783714" cy="46355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5" dirty="0">
                <a:latin typeface="Carlito"/>
                <a:cs typeface="Carlito"/>
              </a:rPr>
              <a:t>navigator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window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5" dirty="0">
                <a:latin typeface="Carlito"/>
                <a:cs typeface="Carlito"/>
              </a:rPr>
              <a:t>document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location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5" dirty="0">
                <a:latin typeface="Carlito"/>
                <a:cs typeface="Carlito"/>
              </a:rPr>
              <a:t>history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5" dirty="0">
                <a:latin typeface="Carlito"/>
                <a:cs typeface="Carlito"/>
              </a:rPr>
              <a:t>anchor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link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0" dirty="0">
                <a:latin typeface="Carlito"/>
                <a:cs typeface="Carlito"/>
              </a:rPr>
              <a:t>frame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image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2898" y="0"/>
            <a:ext cx="39160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5" dirty="0">
                <a:solidFill>
                  <a:srgbClr val="C00000"/>
                </a:solidFill>
                <a:latin typeface="Carlito"/>
                <a:cs typeface="Carlito"/>
              </a:rPr>
              <a:t>Form-Field</a:t>
            </a:r>
            <a:r>
              <a:rPr b="0" spc="-5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b="0" spc="-5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839238"/>
            <a:ext cx="1696720" cy="51466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0" dirty="0">
                <a:latin typeface="Carlito"/>
                <a:cs typeface="Carlito"/>
              </a:rPr>
              <a:t>Button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5" dirty="0">
                <a:latin typeface="Carlito"/>
                <a:cs typeface="Carlito"/>
              </a:rPr>
              <a:t>Checkbox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5" dirty="0">
                <a:latin typeface="Carlito"/>
                <a:cs typeface="Carlito"/>
              </a:rPr>
              <a:t>Radio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75" dirty="0">
                <a:latin typeface="Carlito"/>
                <a:cs typeface="Carlito"/>
              </a:rPr>
              <a:t>Text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5" dirty="0">
                <a:latin typeface="Carlito"/>
                <a:cs typeface="Carlito"/>
              </a:rPr>
              <a:t>Reset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75" dirty="0">
                <a:latin typeface="Carlito"/>
                <a:cs typeface="Carlito"/>
              </a:rPr>
              <a:t>Text</a:t>
            </a:r>
            <a:r>
              <a:rPr sz="2800" spc="-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Area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0" dirty="0">
                <a:latin typeface="Carlito"/>
                <a:cs typeface="Carlito"/>
              </a:rPr>
              <a:t>Password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5" dirty="0">
                <a:latin typeface="Carlito"/>
                <a:cs typeface="Carlito"/>
              </a:rPr>
              <a:t>Select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Submit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Hidden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0914" y="0"/>
            <a:ext cx="36595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solidFill>
                  <a:srgbClr val="C00000"/>
                </a:solidFill>
                <a:latin typeface="Carlito"/>
                <a:cs typeface="Carlito"/>
              </a:rPr>
              <a:t>Language</a:t>
            </a:r>
            <a:r>
              <a:rPr b="0" spc="-5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b="0" spc="-10" dirty="0">
                <a:solidFill>
                  <a:srgbClr val="C00000"/>
                </a:solidFill>
                <a:latin typeface="Carlito"/>
                <a:cs typeface="Carlito"/>
              </a:rPr>
              <a:t>Objects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144038"/>
            <a:ext cx="1150620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7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0" dirty="0">
                <a:latin typeface="Carlito"/>
                <a:cs typeface="Carlito"/>
              </a:rPr>
              <a:t>Date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25" dirty="0">
                <a:latin typeface="Carlito"/>
                <a:cs typeface="Carlito"/>
              </a:rPr>
              <a:t>Array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5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Math</a:t>
            </a:r>
            <a:endParaRPr sz="28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299720" algn="l"/>
              </a:tabLst>
            </a:pPr>
            <a:r>
              <a:rPr sz="2800" spc="-10" dirty="0">
                <a:latin typeface="Carlito"/>
                <a:cs typeface="Carlito"/>
              </a:rPr>
              <a:t>Str</a:t>
            </a:r>
            <a:r>
              <a:rPr sz="2800" spc="-20" dirty="0">
                <a:latin typeface="Carlito"/>
                <a:cs typeface="Carlito"/>
              </a:rPr>
              <a:t>i</a:t>
            </a:r>
            <a:r>
              <a:rPr sz="2800" spc="-10" dirty="0">
                <a:latin typeface="Carlito"/>
                <a:cs typeface="Carlito"/>
              </a:rPr>
              <a:t>ng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697" y="223101"/>
            <a:ext cx="8737302" cy="5149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5890" y="0"/>
            <a:ext cx="67303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JavaScript </a:t>
            </a:r>
            <a:r>
              <a:rPr spc="-60" dirty="0"/>
              <a:t>Try...Catch</a:t>
            </a:r>
            <a:r>
              <a:rPr spc="-5" dirty="0"/>
              <a:t> </a:t>
            </a:r>
            <a:r>
              <a:rPr spc="-25" dirty="0"/>
              <a:t>Statement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338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3380" algn="l"/>
                <a:tab pos="374015" algn="l"/>
              </a:tabLst>
            </a:pPr>
            <a:r>
              <a:rPr spc="-10" dirty="0"/>
              <a:t>The </a:t>
            </a:r>
            <a:r>
              <a:rPr spc="-30" dirty="0"/>
              <a:t>try...catch </a:t>
            </a:r>
            <a:r>
              <a:rPr spc="-20" dirty="0"/>
              <a:t>statement </a:t>
            </a:r>
            <a:r>
              <a:rPr spc="-10" dirty="0"/>
              <a:t>allows </a:t>
            </a:r>
            <a:r>
              <a:rPr spc="-20" dirty="0"/>
              <a:t>you to test </a:t>
            </a:r>
            <a:r>
              <a:rPr spc="-5" dirty="0"/>
              <a:t>a </a:t>
            </a:r>
            <a:r>
              <a:rPr spc="-10" dirty="0"/>
              <a:t>block  </a:t>
            </a:r>
            <a:r>
              <a:rPr spc="-5" dirty="0"/>
              <a:t>of </a:t>
            </a:r>
            <a:r>
              <a:rPr spc="-10" dirty="0"/>
              <a:t>code </a:t>
            </a:r>
            <a:r>
              <a:rPr spc="-25" dirty="0"/>
              <a:t>for </a:t>
            </a:r>
            <a:r>
              <a:rPr spc="-20" dirty="0"/>
              <a:t>errors. </a:t>
            </a:r>
            <a:r>
              <a:rPr spc="-5" dirty="0"/>
              <a:t>The try </a:t>
            </a:r>
            <a:r>
              <a:rPr spc="-10" dirty="0"/>
              <a:t>block </a:t>
            </a:r>
            <a:r>
              <a:rPr spc="-15" dirty="0"/>
              <a:t>contains </a:t>
            </a:r>
            <a:r>
              <a:rPr spc="-5" dirty="0"/>
              <a:t>the </a:t>
            </a:r>
            <a:r>
              <a:rPr spc="-10" dirty="0"/>
              <a:t>code </a:t>
            </a:r>
            <a:r>
              <a:rPr spc="-20" dirty="0"/>
              <a:t>to  </a:t>
            </a:r>
            <a:r>
              <a:rPr spc="-5" dirty="0"/>
              <a:t>be </a:t>
            </a:r>
            <a:r>
              <a:rPr spc="-10" dirty="0"/>
              <a:t>run, </a:t>
            </a:r>
            <a:r>
              <a:rPr spc="-5" dirty="0"/>
              <a:t>and the </a:t>
            </a:r>
            <a:r>
              <a:rPr spc="-20" dirty="0"/>
              <a:t>catch </a:t>
            </a:r>
            <a:r>
              <a:rPr spc="-10" dirty="0"/>
              <a:t>block </a:t>
            </a:r>
            <a:r>
              <a:rPr spc="-15" dirty="0"/>
              <a:t>contains </a:t>
            </a:r>
            <a:r>
              <a:rPr spc="-5" dirty="0"/>
              <a:t>the </a:t>
            </a:r>
            <a:r>
              <a:rPr spc="-10" dirty="0"/>
              <a:t>code </a:t>
            </a:r>
            <a:r>
              <a:rPr spc="-20" dirty="0"/>
              <a:t>to </a:t>
            </a:r>
            <a:r>
              <a:rPr spc="-10" dirty="0"/>
              <a:t>be  </a:t>
            </a:r>
            <a:r>
              <a:rPr spc="-25" dirty="0"/>
              <a:t>executed </a:t>
            </a:r>
            <a:r>
              <a:rPr spc="-5" dirty="0"/>
              <a:t>if an </a:t>
            </a:r>
            <a:r>
              <a:rPr spc="-15" dirty="0"/>
              <a:t>error</a:t>
            </a:r>
            <a:r>
              <a:rPr spc="35" dirty="0"/>
              <a:t> </a:t>
            </a:r>
            <a:r>
              <a:rPr spc="-15" dirty="0"/>
              <a:t>occurs.</a:t>
            </a:r>
          </a:p>
          <a:p>
            <a:pPr marL="373380" marR="177800" indent="-343535">
              <a:lnSpc>
                <a:spcPct val="100000"/>
              </a:lnSpc>
              <a:spcBef>
                <a:spcPts val="755"/>
              </a:spcBef>
            </a:pPr>
            <a:r>
              <a:rPr sz="3200" spc="-10" dirty="0"/>
              <a:t>There </a:t>
            </a:r>
            <a:r>
              <a:rPr sz="3200" spc="-15" dirty="0"/>
              <a:t>are </a:t>
            </a:r>
            <a:r>
              <a:rPr sz="3200" spc="-10" dirty="0"/>
              <a:t>two </a:t>
            </a:r>
            <a:r>
              <a:rPr sz="3200" spc="-30" dirty="0"/>
              <a:t>ways </a:t>
            </a:r>
            <a:r>
              <a:rPr sz="3200" dirty="0"/>
              <a:t>of </a:t>
            </a:r>
            <a:r>
              <a:rPr sz="3200" spc="-10" dirty="0"/>
              <a:t>catching </a:t>
            </a:r>
            <a:r>
              <a:rPr sz="3200" spc="-20" dirty="0"/>
              <a:t>errors </a:t>
            </a:r>
            <a:r>
              <a:rPr sz="3200" dirty="0"/>
              <a:t>in a </a:t>
            </a:r>
            <a:r>
              <a:rPr sz="3200" spc="-35" dirty="0"/>
              <a:t>Web  </a:t>
            </a:r>
            <a:r>
              <a:rPr sz="3200" spc="-10" dirty="0"/>
              <a:t>page:</a:t>
            </a:r>
            <a:endParaRPr sz="3200"/>
          </a:p>
          <a:p>
            <a:pPr marL="373380" marR="236854" indent="-343535">
              <a:lnSpc>
                <a:spcPct val="100000"/>
              </a:lnSpc>
              <a:spcBef>
                <a:spcPts val="620"/>
              </a:spcBef>
              <a:buFont typeface="Wingdings"/>
              <a:buChar char=""/>
              <a:tabLst>
                <a:tab pos="374015" algn="l"/>
              </a:tabLst>
            </a:pPr>
            <a:r>
              <a:rPr sz="2400" spc="-15" dirty="0"/>
              <a:t>By </a:t>
            </a:r>
            <a:r>
              <a:rPr sz="2400" spc="-5" dirty="0"/>
              <a:t>using </a:t>
            </a:r>
            <a:r>
              <a:rPr sz="2400" dirty="0"/>
              <a:t>the </a:t>
            </a:r>
            <a:r>
              <a:rPr sz="2400" b="1" spc="-25" dirty="0">
                <a:latin typeface="Carlito"/>
                <a:cs typeface="Carlito"/>
              </a:rPr>
              <a:t>try...catch </a:t>
            </a:r>
            <a:r>
              <a:rPr sz="2400" spc="-15" dirty="0"/>
              <a:t>statement </a:t>
            </a:r>
            <a:r>
              <a:rPr sz="2400" spc="-10" dirty="0"/>
              <a:t>(available </a:t>
            </a:r>
            <a:r>
              <a:rPr sz="2400" dirty="0"/>
              <a:t>in </a:t>
            </a:r>
            <a:r>
              <a:rPr sz="2400" spc="-5" dirty="0"/>
              <a:t>IE5+, </a:t>
            </a:r>
            <a:r>
              <a:rPr sz="2400" spc="-10" dirty="0"/>
              <a:t>Mozilla  </a:t>
            </a:r>
            <a:r>
              <a:rPr sz="2400" spc="-5" dirty="0"/>
              <a:t>1.0, </a:t>
            </a:r>
            <a:r>
              <a:rPr sz="2400" dirty="0"/>
              <a:t>and </a:t>
            </a:r>
            <a:r>
              <a:rPr sz="2400" spc="-5" dirty="0"/>
              <a:t>Netscape</a:t>
            </a:r>
            <a:r>
              <a:rPr sz="2400" spc="-25" dirty="0"/>
              <a:t> </a:t>
            </a:r>
            <a:r>
              <a:rPr sz="2400" dirty="0"/>
              <a:t>6)</a:t>
            </a:r>
            <a:endParaRPr sz="2400">
              <a:latin typeface="Carlito"/>
              <a:cs typeface="Carlito"/>
            </a:endParaRPr>
          </a:p>
          <a:p>
            <a:pPr marL="373380" marR="200660" indent="-343535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74015" algn="l"/>
              </a:tabLst>
            </a:pPr>
            <a:r>
              <a:rPr sz="2400" spc="-15" dirty="0"/>
              <a:t>By </a:t>
            </a:r>
            <a:r>
              <a:rPr sz="2400" spc="-5" dirty="0"/>
              <a:t>using </a:t>
            </a:r>
            <a:r>
              <a:rPr sz="2400" dirty="0"/>
              <a:t>the </a:t>
            </a:r>
            <a:r>
              <a:rPr sz="2400" b="1" spc="-5" dirty="0">
                <a:latin typeface="Carlito"/>
                <a:cs typeface="Carlito"/>
              </a:rPr>
              <a:t>onerror </a:t>
            </a:r>
            <a:r>
              <a:rPr sz="2400" spc="-10" dirty="0"/>
              <a:t>event. </a:t>
            </a:r>
            <a:r>
              <a:rPr sz="2400" spc="-5" dirty="0"/>
              <a:t>This </a:t>
            </a:r>
            <a:r>
              <a:rPr sz="2400" dirty="0"/>
              <a:t>is the </a:t>
            </a:r>
            <a:r>
              <a:rPr sz="2400" spc="-5" dirty="0"/>
              <a:t>old </a:t>
            </a:r>
            <a:r>
              <a:rPr sz="2400" spc="-15" dirty="0"/>
              <a:t>standard </a:t>
            </a:r>
            <a:r>
              <a:rPr sz="2400" spc="-5" dirty="0"/>
              <a:t>solution  </a:t>
            </a:r>
            <a:r>
              <a:rPr sz="2400" spc="-15" dirty="0"/>
              <a:t>to catch errors </a:t>
            </a:r>
            <a:r>
              <a:rPr sz="2400" spc="-10" dirty="0"/>
              <a:t>(available </a:t>
            </a:r>
            <a:r>
              <a:rPr sz="2400" spc="-5" dirty="0"/>
              <a:t>since Netscape</a:t>
            </a:r>
            <a:r>
              <a:rPr sz="2400" spc="-40" dirty="0"/>
              <a:t> </a:t>
            </a:r>
            <a:r>
              <a:rPr sz="2400" dirty="0"/>
              <a:t>3)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780" y="0"/>
            <a:ext cx="50311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solidFill>
                  <a:srgbClr val="006FC0"/>
                </a:solidFill>
              </a:rPr>
              <a:t>JavaScript Form</a:t>
            </a:r>
            <a:r>
              <a:rPr sz="3600" spc="-20" dirty="0">
                <a:solidFill>
                  <a:srgbClr val="006FC0"/>
                </a:solidFill>
              </a:rPr>
              <a:t> </a:t>
            </a:r>
            <a:r>
              <a:rPr sz="3600" spc="-30" dirty="0">
                <a:solidFill>
                  <a:srgbClr val="006FC0"/>
                </a:solidFill>
              </a:rPr>
              <a:t>Validation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2140" y="546861"/>
            <a:ext cx="7997825" cy="595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353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10" dirty="0">
                <a:latin typeface="Carlito"/>
                <a:cs typeface="Carlito"/>
              </a:rPr>
              <a:t>JavaScript </a:t>
            </a:r>
            <a:r>
              <a:rPr sz="2400" spc="-15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used </a:t>
            </a:r>
            <a:r>
              <a:rPr sz="2400" spc="-20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validate </a:t>
            </a:r>
            <a:r>
              <a:rPr sz="2400" spc="-20" dirty="0">
                <a:latin typeface="Carlito"/>
                <a:cs typeface="Carlito"/>
              </a:rPr>
              <a:t>data </a:t>
            </a:r>
            <a:r>
              <a:rPr sz="2400" dirty="0">
                <a:latin typeface="Carlito"/>
                <a:cs typeface="Carlito"/>
              </a:rPr>
              <a:t>in </a:t>
            </a:r>
            <a:r>
              <a:rPr sz="2400" spc="-5" dirty="0">
                <a:latin typeface="Carlito"/>
                <a:cs typeface="Carlito"/>
              </a:rPr>
              <a:t>HTML </a:t>
            </a:r>
            <a:r>
              <a:rPr sz="2400" spc="-15" dirty="0">
                <a:latin typeface="Carlito"/>
                <a:cs typeface="Carlito"/>
              </a:rPr>
              <a:t>forms </a:t>
            </a:r>
            <a:r>
              <a:rPr sz="2400" spc="-25" dirty="0">
                <a:latin typeface="Carlito"/>
                <a:cs typeface="Carlito"/>
              </a:rPr>
              <a:t>before  </a:t>
            </a:r>
            <a:r>
              <a:rPr sz="2400" spc="-5" dirty="0">
                <a:latin typeface="Carlito"/>
                <a:cs typeface="Carlito"/>
              </a:rPr>
              <a:t>sending </a:t>
            </a:r>
            <a:r>
              <a:rPr sz="2400" spc="-15" dirty="0">
                <a:latin typeface="Carlito"/>
                <a:cs typeface="Carlito"/>
              </a:rPr>
              <a:t>off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content to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15" dirty="0">
                <a:latin typeface="Carlito"/>
                <a:cs typeface="Carlito"/>
              </a:rPr>
              <a:t> </a:t>
            </a:r>
            <a:r>
              <a:rPr sz="2400" spc="-35" dirty="0">
                <a:latin typeface="Carlito"/>
                <a:cs typeface="Carlito"/>
              </a:rPr>
              <a:t>server.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15" dirty="0">
                <a:latin typeface="Carlito"/>
                <a:cs typeface="Carlito"/>
              </a:rPr>
              <a:t>Form data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spc="-5" dirty="0">
                <a:latin typeface="Carlito"/>
                <a:cs typeface="Carlito"/>
              </a:rPr>
              <a:t>typically </a:t>
            </a:r>
            <a:r>
              <a:rPr sz="2400" spc="-15" dirty="0">
                <a:latin typeface="Carlito"/>
                <a:cs typeface="Carlito"/>
              </a:rPr>
              <a:t>are </a:t>
            </a:r>
            <a:r>
              <a:rPr sz="2400" spc="-10" dirty="0">
                <a:latin typeface="Carlito"/>
                <a:cs typeface="Carlito"/>
              </a:rPr>
              <a:t>checked by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JavaScript could </a:t>
            </a:r>
            <a:r>
              <a:rPr sz="2400" dirty="0">
                <a:latin typeface="Carlito"/>
                <a:cs typeface="Carlito"/>
              </a:rPr>
              <a:t>be: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has the user </a:t>
            </a:r>
            <a:r>
              <a:rPr sz="2400" spc="-10" dirty="0">
                <a:latin typeface="Carlito"/>
                <a:cs typeface="Carlito"/>
              </a:rPr>
              <a:t>left required </a:t>
            </a:r>
            <a:r>
              <a:rPr sz="2400" spc="-5" dirty="0">
                <a:latin typeface="Carlito"/>
                <a:cs typeface="Carlito"/>
              </a:rPr>
              <a:t>fields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empty?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entered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valid </a:t>
            </a:r>
            <a:r>
              <a:rPr sz="2400" dirty="0">
                <a:latin typeface="Carlito"/>
                <a:cs typeface="Carlito"/>
              </a:rPr>
              <a:t>e-mail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address?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user </a:t>
            </a:r>
            <a:r>
              <a:rPr sz="2400" spc="-15" dirty="0">
                <a:latin typeface="Carlito"/>
                <a:cs typeface="Carlito"/>
              </a:rPr>
              <a:t>entered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valid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date?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has the user </a:t>
            </a:r>
            <a:r>
              <a:rPr sz="2400" spc="-15" dirty="0">
                <a:latin typeface="Carlito"/>
                <a:cs typeface="Carlito"/>
              </a:rPr>
              <a:t>entered text </a:t>
            </a:r>
            <a:r>
              <a:rPr sz="2400" dirty="0">
                <a:latin typeface="Carlito"/>
                <a:cs typeface="Carlito"/>
              </a:rPr>
              <a:t>in a </a:t>
            </a:r>
            <a:r>
              <a:rPr sz="2400" spc="-5" dirty="0">
                <a:latin typeface="Carlito"/>
                <a:cs typeface="Carlito"/>
              </a:rPr>
              <a:t>numeric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field?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3600" b="1" spc="-5" dirty="0">
                <a:solidFill>
                  <a:srgbClr val="006FC0"/>
                </a:solidFill>
                <a:latin typeface="Carlito"/>
                <a:cs typeface="Carlito"/>
              </a:rPr>
              <a:t>E-mail</a:t>
            </a:r>
            <a:r>
              <a:rPr sz="3600" b="1" spc="-10" dirty="0">
                <a:solidFill>
                  <a:srgbClr val="006FC0"/>
                </a:solidFill>
                <a:latin typeface="Carlito"/>
                <a:cs typeface="Carlito"/>
              </a:rPr>
              <a:t> </a:t>
            </a:r>
            <a:r>
              <a:rPr sz="3600" b="1" spc="-25" dirty="0">
                <a:solidFill>
                  <a:srgbClr val="006FC0"/>
                </a:solidFill>
                <a:latin typeface="Carlito"/>
                <a:cs typeface="Carlito"/>
              </a:rPr>
              <a:t>Validation</a:t>
            </a:r>
            <a:endParaRPr sz="3600">
              <a:latin typeface="Carlito"/>
              <a:cs typeface="Carlito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50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function </a:t>
            </a:r>
            <a:r>
              <a:rPr sz="2400" spc="-10" dirty="0">
                <a:latin typeface="Carlito"/>
                <a:cs typeface="Carlito"/>
              </a:rPr>
              <a:t>below </a:t>
            </a:r>
            <a:r>
              <a:rPr sz="2400" spc="-5" dirty="0">
                <a:latin typeface="Carlito"/>
                <a:cs typeface="Carlito"/>
              </a:rPr>
              <a:t>checks </a:t>
            </a:r>
            <a:r>
              <a:rPr sz="2400" dirty="0">
                <a:latin typeface="Carlito"/>
                <a:cs typeface="Carlito"/>
              </a:rPr>
              <a:t>if the </a:t>
            </a:r>
            <a:r>
              <a:rPr sz="2400" spc="-15" dirty="0">
                <a:latin typeface="Carlito"/>
                <a:cs typeface="Carlito"/>
              </a:rPr>
              <a:t>content </a:t>
            </a:r>
            <a:r>
              <a:rPr sz="2400" spc="-5" dirty="0">
                <a:latin typeface="Carlito"/>
                <a:cs typeface="Carlito"/>
              </a:rPr>
              <a:t>has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general  </a:t>
            </a:r>
            <a:r>
              <a:rPr sz="2400" spc="-25" dirty="0">
                <a:latin typeface="Carlito"/>
                <a:cs typeface="Carlito"/>
              </a:rPr>
              <a:t>syntax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an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email.</a:t>
            </a:r>
            <a:endParaRPr sz="24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This </a:t>
            </a:r>
            <a:r>
              <a:rPr sz="2400" dirty="0">
                <a:latin typeface="Carlito"/>
                <a:cs typeface="Carlito"/>
              </a:rPr>
              <a:t>means </a:t>
            </a:r>
            <a:r>
              <a:rPr sz="2400" spc="-10" dirty="0">
                <a:latin typeface="Carlito"/>
                <a:cs typeface="Carlito"/>
              </a:rPr>
              <a:t>that </a:t>
            </a:r>
            <a:r>
              <a:rPr sz="2400" dirty="0">
                <a:latin typeface="Carlito"/>
                <a:cs typeface="Carlito"/>
              </a:rPr>
              <a:t>the input </a:t>
            </a:r>
            <a:r>
              <a:rPr sz="2400" spc="-15" dirty="0">
                <a:latin typeface="Carlito"/>
                <a:cs typeface="Carlito"/>
              </a:rPr>
              <a:t>data </a:t>
            </a: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dirty="0">
                <a:latin typeface="Carlito"/>
                <a:cs typeface="Carlito"/>
              </a:rPr>
              <a:t>an @ </a:t>
            </a:r>
            <a:r>
              <a:rPr sz="2400" spc="-5" dirty="0">
                <a:latin typeface="Carlito"/>
                <a:cs typeface="Carlito"/>
              </a:rPr>
              <a:t>sign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25" dirty="0">
                <a:latin typeface="Carlito"/>
                <a:cs typeface="Carlito"/>
              </a:rPr>
              <a:t>at  </a:t>
            </a:r>
            <a:r>
              <a:rPr sz="2400" spc="-5" dirty="0">
                <a:latin typeface="Carlito"/>
                <a:cs typeface="Carlito"/>
              </a:rPr>
              <a:t>least one </a:t>
            </a:r>
            <a:r>
              <a:rPr sz="2400" spc="-10" dirty="0">
                <a:latin typeface="Carlito"/>
                <a:cs typeface="Carlito"/>
              </a:rPr>
              <a:t>dot </a:t>
            </a:r>
            <a:r>
              <a:rPr sz="2400" spc="-5" dirty="0">
                <a:latin typeface="Carlito"/>
                <a:cs typeface="Carlito"/>
              </a:rPr>
              <a:t>(.). </a:t>
            </a:r>
            <a:r>
              <a:rPr sz="2400" spc="-15" dirty="0">
                <a:latin typeface="Carlito"/>
                <a:cs typeface="Carlito"/>
              </a:rPr>
              <a:t>Also, </a:t>
            </a:r>
            <a:r>
              <a:rPr sz="2400" dirty="0">
                <a:latin typeface="Carlito"/>
                <a:cs typeface="Carlito"/>
              </a:rPr>
              <a:t>the @ </a:t>
            </a:r>
            <a:r>
              <a:rPr sz="2400" spc="-10" dirty="0">
                <a:latin typeface="Carlito"/>
                <a:cs typeface="Carlito"/>
              </a:rPr>
              <a:t>must </a:t>
            </a:r>
            <a:r>
              <a:rPr sz="2400" spc="-5" dirty="0">
                <a:latin typeface="Carlito"/>
                <a:cs typeface="Carlito"/>
              </a:rPr>
              <a:t>not </a:t>
            </a:r>
            <a:r>
              <a:rPr sz="2400" dirty="0">
                <a:latin typeface="Carlito"/>
                <a:cs typeface="Carlito"/>
              </a:rPr>
              <a:t>be the </a:t>
            </a:r>
            <a:r>
              <a:rPr sz="2400" spc="-15" dirty="0">
                <a:latin typeface="Carlito"/>
                <a:cs typeface="Carlito"/>
              </a:rPr>
              <a:t>first </a:t>
            </a:r>
            <a:r>
              <a:rPr sz="2400" spc="-10" dirty="0">
                <a:latin typeface="Carlito"/>
                <a:cs typeface="Carlito"/>
              </a:rPr>
              <a:t>character  </a:t>
            </a:r>
            <a:r>
              <a:rPr sz="2400" spc="-5" dirty="0">
                <a:latin typeface="Carlito"/>
                <a:cs typeface="Carlito"/>
              </a:rPr>
              <a:t>of </a:t>
            </a:r>
            <a:r>
              <a:rPr sz="2400" dirty="0">
                <a:latin typeface="Carlito"/>
                <a:cs typeface="Carlito"/>
              </a:rPr>
              <a:t>the email </a:t>
            </a:r>
            <a:r>
              <a:rPr sz="2400" spc="-5" dirty="0">
                <a:latin typeface="Carlito"/>
                <a:cs typeface="Carlito"/>
              </a:rPr>
              <a:t>address, </a:t>
            </a:r>
            <a:r>
              <a:rPr sz="2400" dirty="0">
                <a:latin typeface="Carlito"/>
                <a:cs typeface="Carlito"/>
              </a:rPr>
              <a:t>and the </a:t>
            </a:r>
            <a:r>
              <a:rPr sz="2400" spc="-10" dirty="0">
                <a:latin typeface="Carlito"/>
                <a:cs typeface="Carlito"/>
              </a:rPr>
              <a:t>last dot must </a:t>
            </a:r>
            <a:r>
              <a:rPr sz="2400" spc="-5" dirty="0">
                <a:latin typeface="Carlito"/>
                <a:cs typeface="Carlito"/>
              </a:rPr>
              <a:t>be </a:t>
            </a:r>
            <a:r>
              <a:rPr sz="2400" spc="-10" dirty="0">
                <a:latin typeface="Carlito"/>
                <a:cs typeface="Carlito"/>
              </a:rPr>
              <a:t>present after 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dirty="0">
                <a:latin typeface="Carlito"/>
                <a:cs typeface="Carlito"/>
              </a:rPr>
              <a:t>@ </a:t>
            </a:r>
            <a:r>
              <a:rPr sz="2400" spc="-5" dirty="0">
                <a:latin typeface="Carlito"/>
                <a:cs typeface="Carlito"/>
              </a:rPr>
              <a:t>sign, </a:t>
            </a:r>
            <a:r>
              <a:rPr sz="2400" dirty="0">
                <a:latin typeface="Carlito"/>
                <a:cs typeface="Carlito"/>
              </a:rPr>
              <a:t>and minimum 2 </a:t>
            </a:r>
            <a:r>
              <a:rPr sz="2400" spc="-10" dirty="0">
                <a:latin typeface="Carlito"/>
                <a:cs typeface="Carlito"/>
              </a:rPr>
              <a:t>characters </a:t>
            </a:r>
            <a:r>
              <a:rPr sz="2400" spc="-25" dirty="0">
                <a:latin typeface="Carlito"/>
                <a:cs typeface="Carlito"/>
              </a:rPr>
              <a:t>before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end.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7317" y="207010"/>
            <a:ext cx="1768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Carlito"/>
                <a:cs typeface="Carlito"/>
              </a:rPr>
              <a:t>E</a:t>
            </a:r>
            <a:r>
              <a:rPr b="0" spc="-75" dirty="0">
                <a:latin typeface="Carlito"/>
                <a:cs typeface="Carlito"/>
              </a:rPr>
              <a:t>x</a:t>
            </a:r>
            <a:r>
              <a:rPr b="0" spc="-5" dirty="0">
                <a:latin typeface="Carlito"/>
                <a:cs typeface="Carlito"/>
              </a:rPr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74165"/>
            <a:ext cx="7830184" cy="5391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Carlito"/>
                <a:cs typeface="Carlito"/>
              </a:rPr>
              <a:t>function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5" dirty="0">
                <a:latin typeface="Carlito"/>
                <a:cs typeface="Carlito"/>
              </a:rPr>
              <a:t>validateForm()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355600" marR="5080">
              <a:lnSpc>
                <a:spcPct val="100000"/>
              </a:lnSpc>
            </a:pPr>
            <a:r>
              <a:rPr sz="3200" spc="-15" dirty="0">
                <a:latin typeface="Carlito"/>
                <a:cs typeface="Carlito"/>
              </a:rPr>
              <a:t>var  x=document.forms["myForm"]["fname"].valu  </a:t>
            </a:r>
            <a:r>
              <a:rPr sz="3200" dirty="0">
                <a:latin typeface="Carlito"/>
                <a:cs typeface="Carlito"/>
              </a:rPr>
              <a:t>e;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latin typeface="Carlito"/>
                <a:cs typeface="Carlito"/>
              </a:rPr>
              <a:t>if </a:t>
            </a:r>
            <a:r>
              <a:rPr sz="3200" spc="-5" dirty="0">
                <a:latin typeface="Carlito"/>
                <a:cs typeface="Carlito"/>
              </a:rPr>
              <a:t>(x==null ||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x=="")</a:t>
            </a:r>
            <a:endParaRPr sz="3200">
              <a:latin typeface="Carlito"/>
              <a:cs typeface="Carlito"/>
            </a:endParaRPr>
          </a:p>
          <a:p>
            <a:pPr marL="53975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{</a:t>
            </a:r>
            <a:endParaRPr sz="3200">
              <a:latin typeface="Carlito"/>
              <a:cs typeface="Carlito"/>
            </a:endParaRPr>
          </a:p>
          <a:p>
            <a:pPr marL="539750" marR="1098550">
              <a:lnSpc>
                <a:spcPct val="100000"/>
              </a:lnSpc>
            </a:pPr>
            <a:r>
              <a:rPr sz="3200" spc="-15" dirty="0">
                <a:latin typeface="Carlito"/>
                <a:cs typeface="Carlito"/>
              </a:rPr>
              <a:t>alert("First </a:t>
            </a:r>
            <a:r>
              <a:rPr sz="3200" spc="-5" dirty="0">
                <a:latin typeface="Carlito"/>
                <a:cs typeface="Carlito"/>
              </a:rPr>
              <a:t>name </a:t>
            </a:r>
            <a:r>
              <a:rPr sz="3200" spc="-10" dirty="0">
                <a:latin typeface="Carlito"/>
                <a:cs typeface="Carlito"/>
              </a:rPr>
              <a:t>must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spc="-5" dirty="0">
                <a:latin typeface="Carlito"/>
                <a:cs typeface="Carlito"/>
              </a:rPr>
              <a:t>filled out");  </a:t>
            </a:r>
            <a:r>
              <a:rPr sz="3200" spc="-10" dirty="0">
                <a:latin typeface="Carlito"/>
                <a:cs typeface="Carlito"/>
              </a:rPr>
              <a:t>return </a:t>
            </a:r>
            <a:r>
              <a:rPr sz="3200" spc="-15" dirty="0">
                <a:latin typeface="Carlito"/>
                <a:cs typeface="Carlito"/>
              </a:rPr>
              <a:t>false;</a:t>
            </a:r>
            <a:endParaRPr sz="3200">
              <a:latin typeface="Carlito"/>
              <a:cs typeface="Carlito"/>
            </a:endParaRPr>
          </a:p>
          <a:p>
            <a:pPr marL="53975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3200" dirty="0">
                <a:latin typeface="Carlito"/>
                <a:cs typeface="Carlito"/>
              </a:rPr>
              <a:t>}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7317" y="207010"/>
            <a:ext cx="17684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spc="-10" dirty="0">
                <a:latin typeface="Carlito"/>
                <a:cs typeface="Carlito"/>
              </a:rPr>
              <a:t>E</a:t>
            </a:r>
            <a:r>
              <a:rPr b="0" spc="-75" dirty="0">
                <a:latin typeface="Carlito"/>
                <a:cs typeface="Carlito"/>
              </a:rPr>
              <a:t>x</a:t>
            </a:r>
            <a:r>
              <a:rPr b="0" spc="-5" dirty="0">
                <a:latin typeface="Carlito"/>
                <a:cs typeface="Carlito"/>
              </a:rPr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29970"/>
            <a:ext cx="7505700" cy="542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20"/>
              </a:lnSpc>
              <a:spcBef>
                <a:spcPts val="100"/>
              </a:spcBef>
            </a:pPr>
            <a:r>
              <a:rPr sz="3000" spc="-5" dirty="0">
                <a:latin typeface="Carlito"/>
                <a:cs typeface="Carlito"/>
              </a:rPr>
              <a:t>function</a:t>
            </a:r>
            <a:r>
              <a:rPr sz="3000" spc="-15" dirty="0">
                <a:latin typeface="Carlito"/>
                <a:cs typeface="Carlito"/>
              </a:rPr>
              <a:t> validateForm()</a:t>
            </a:r>
            <a:endParaRPr sz="3000">
              <a:latin typeface="Carlito"/>
              <a:cs typeface="Carlito"/>
            </a:endParaRPr>
          </a:p>
          <a:p>
            <a:pPr marL="355600">
              <a:lnSpc>
                <a:spcPts val="3240"/>
              </a:lnSpc>
            </a:pPr>
            <a:r>
              <a:rPr sz="3000" dirty="0">
                <a:latin typeface="Carlito"/>
                <a:cs typeface="Carlito"/>
              </a:rPr>
              <a:t>{</a:t>
            </a:r>
            <a:endParaRPr sz="3000">
              <a:latin typeface="Carlito"/>
              <a:cs typeface="Carlito"/>
            </a:endParaRPr>
          </a:p>
          <a:p>
            <a:pPr marL="355600" marR="5080">
              <a:lnSpc>
                <a:spcPts val="3240"/>
              </a:lnSpc>
              <a:spcBef>
                <a:spcPts val="229"/>
              </a:spcBef>
            </a:pPr>
            <a:r>
              <a:rPr sz="3000" spc="-20" dirty="0">
                <a:latin typeface="Carlito"/>
                <a:cs typeface="Carlito"/>
              </a:rPr>
              <a:t>var  </a:t>
            </a:r>
            <a:r>
              <a:rPr sz="3000" spc="-15" dirty="0">
                <a:latin typeface="Carlito"/>
                <a:cs typeface="Carlito"/>
              </a:rPr>
              <a:t>x=document.forms["myForm"]["email"].value;  </a:t>
            </a:r>
            <a:r>
              <a:rPr sz="3000" spc="-20" dirty="0">
                <a:latin typeface="Carlito"/>
                <a:cs typeface="Carlito"/>
              </a:rPr>
              <a:t>var</a:t>
            </a:r>
            <a:r>
              <a:rPr sz="3000" spc="-15" dirty="0">
                <a:latin typeface="Carlito"/>
                <a:cs typeface="Carlito"/>
              </a:rPr>
              <a:t> </a:t>
            </a:r>
            <a:r>
              <a:rPr sz="3000" spc="-10" dirty="0">
                <a:latin typeface="Carlito"/>
                <a:cs typeface="Carlito"/>
              </a:rPr>
              <a:t>atpos=x.indexOf("@");</a:t>
            </a:r>
            <a:endParaRPr sz="3000">
              <a:latin typeface="Carlito"/>
              <a:cs typeface="Carlito"/>
            </a:endParaRPr>
          </a:p>
          <a:p>
            <a:pPr marL="355600">
              <a:lnSpc>
                <a:spcPts val="3015"/>
              </a:lnSpc>
            </a:pPr>
            <a:r>
              <a:rPr sz="3000" spc="-20" dirty="0">
                <a:latin typeface="Carlito"/>
                <a:cs typeface="Carlito"/>
              </a:rPr>
              <a:t>var</a:t>
            </a:r>
            <a:r>
              <a:rPr sz="3000" spc="-10" dirty="0">
                <a:latin typeface="Carlito"/>
                <a:cs typeface="Carlito"/>
              </a:rPr>
              <a:t> dotpos=x.lastIndexOf(".");</a:t>
            </a:r>
            <a:endParaRPr sz="3000">
              <a:latin typeface="Carlito"/>
              <a:cs typeface="Carlito"/>
            </a:endParaRPr>
          </a:p>
          <a:p>
            <a:pPr marL="355600" marR="2021839">
              <a:lnSpc>
                <a:spcPts val="3240"/>
              </a:lnSpc>
              <a:spcBef>
                <a:spcPts val="225"/>
              </a:spcBef>
            </a:pPr>
            <a:r>
              <a:rPr sz="3000" dirty="0">
                <a:latin typeface="Carlito"/>
                <a:cs typeface="Carlito"/>
              </a:rPr>
              <a:t>if </a:t>
            </a:r>
            <a:r>
              <a:rPr sz="3000" spc="-5" dirty="0">
                <a:latin typeface="Carlito"/>
                <a:cs typeface="Carlito"/>
              </a:rPr>
              <a:t>(atpos&lt;1 || dotpos&lt;atpos+2 ||  dotpos+2&gt;=x.length)</a:t>
            </a:r>
            <a:endParaRPr sz="3000">
              <a:latin typeface="Carlito"/>
              <a:cs typeface="Carlito"/>
            </a:endParaRPr>
          </a:p>
          <a:p>
            <a:pPr marL="527685">
              <a:lnSpc>
                <a:spcPts val="3015"/>
              </a:lnSpc>
            </a:pPr>
            <a:r>
              <a:rPr sz="3000" dirty="0">
                <a:latin typeface="Carlito"/>
                <a:cs typeface="Carlito"/>
              </a:rPr>
              <a:t>{</a:t>
            </a:r>
            <a:endParaRPr sz="3000">
              <a:latin typeface="Carlito"/>
              <a:cs typeface="Carlito"/>
            </a:endParaRPr>
          </a:p>
          <a:p>
            <a:pPr marL="527685" marR="1619250">
              <a:lnSpc>
                <a:spcPts val="3240"/>
              </a:lnSpc>
              <a:spcBef>
                <a:spcPts val="229"/>
              </a:spcBef>
            </a:pPr>
            <a:r>
              <a:rPr sz="3000" spc="-5" dirty="0">
                <a:latin typeface="Carlito"/>
                <a:cs typeface="Carlito"/>
              </a:rPr>
              <a:t>alert("Not </a:t>
            </a:r>
            <a:r>
              <a:rPr sz="3000" dirty="0">
                <a:latin typeface="Carlito"/>
                <a:cs typeface="Carlito"/>
              </a:rPr>
              <a:t>a </a:t>
            </a:r>
            <a:r>
              <a:rPr sz="3000" spc="-15" dirty="0">
                <a:latin typeface="Carlito"/>
                <a:cs typeface="Carlito"/>
              </a:rPr>
              <a:t>valid </a:t>
            </a:r>
            <a:r>
              <a:rPr sz="3000" dirty="0">
                <a:latin typeface="Carlito"/>
                <a:cs typeface="Carlito"/>
              </a:rPr>
              <a:t>e-mail </a:t>
            </a:r>
            <a:r>
              <a:rPr sz="3000" spc="-5" dirty="0">
                <a:latin typeface="Carlito"/>
                <a:cs typeface="Carlito"/>
              </a:rPr>
              <a:t>address");  </a:t>
            </a:r>
            <a:r>
              <a:rPr sz="3000" spc="-10" dirty="0">
                <a:latin typeface="Carlito"/>
                <a:cs typeface="Carlito"/>
              </a:rPr>
              <a:t>return</a:t>
            </a:r>
            <a:r>
              <a:rPr sz="3000" spc="-20" dirty="0">
                <a:latin typeface="Carlito"/>
                <a:cs typeface="Carlito"/>
              </a:rPr>
              <a:t> </a:t>
            </a:r>
            <a:r>
              <a:rPr sz="3000" spc="-15" dirty="0">
                <a:latin typeface="Carlito"/>
                <a:cs typeface="Carlito"/>
              </a:rPr>
              <a:t>false;</a:t>
            </a:r>
            <a:endParaRPr sz="3000">
              <a:latin typeface="Carlito"/>
              <a:cs typeface="Carlito"/>
            </a:endParaRPr>
          </a:p>
          <a:p>
            <a:pPr marL="527685">
              <a:lnSpc>
                <a:spcPts val="3010"/>
              </a:lnSpc>
            </a:pPr>
            <a:r>
              <a:rPr sz="3000" dirty="0">
                <a:latin typeface="Carlito"/>
                <a:cs typeface="Carlito"/>
              </a:rPr>
              <a:t>}</a:t>
            </a:r>
            <a:endParaRPr sz="3000">
              <a:latin typeface="Carlito"/>
              <a:cs typeface="Carlito"/>
            </a:endParaRPr>
          </a:p>
          <a:p>
            <a:pPr marL="355600">
              <a:lnSpc>
                <a:spcPts val="3420"/>
              </a:lnSpc>
            </a:pPr>
            <a:r>
              <a:rPr sz="3000" dirty="0">
                <a:latin typeface="Carlito"/>
                <a:cs typeface="Carlito"/>
              </a:rPr>
              <a:t>}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9642" y="0"/>
            <a:ext cx="4201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The Window</a:t>
            </a:r>
            <a:r>
              <a:rPr spc="-6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007110"/>
            <a:ext cx="7997825" cy="51739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The window object </a:t>
            </a:r>
            <a:r>
              <a:rPr sz="2400" spc="-10" dirty="0">
                <a:latin typeface="Carlito"/>
                <a:cs typeface="Carlito"/>
              </a:rPr>
              <a:t>represents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5" dirty="0">
                <a:latin typeface="Carlito"/>
                <a:cs typeface="Carlito"/>
              </a:rPr>
              <a:t>open window </a:t>
            </a:r>
            <a:r>
              <a:rPr sz="2400" dirty="0">
                <a:latin typeface="Carlito"/>
                <a:cs typeface="Carlito"/>
              </a:rPr>
              <a:t>in a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45" dirty="0">
                <a:latin typeface="Carlito"/>
                <a:cs typeface="Carlito"/>
              </a:rPr>
              <a:t>browser.</a:t>
            </a:r>
            <a:endParaRPr sz="2400">
              <a:latin typeface="Carlito"/>
              <a:cs typeface="Carlito"/>
            </a:endParaRPr>
          </a:p>
          <a:p>
            <a:pPr marL="355600" marR="5715" indent="-343535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latin typeface="Carlito"/>
                <a:cs typeface="Carlito"/>
              </a:rPr>
              <a:t>If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10" dirty="0">
                <a:latin typeface="Carlito"/>
                <a:cs typeface="Carlito"/>
              </a:rPr>
              <a:t>document </a:t>
            </a:r>
            <a:r>
              <a:rPr sz="2400" spc="-15" dirty="0">
                <a:latin typeface="Carlito"/>
                <a:cs typeface="Carlito"/>
              </a:rPr>
              <a:t>contain </a:t>
            </a:r>
            <a:r>
              <a:rPr sz="2400" spc="-10" dirty="0">
                <a:latin typeface="Carlito"/>
                <a:cs typeface="Carlito"/>
              </a:rPr>
              <a:t>frames (&lt;frame&gt; </a:t>
            </a:r>
            <a:r>
              <a:rPr sz="2400" spc="-5" dirty="0">
                <a:latin typeface="Carlito"/>
                <a:cs typeface="Carlito"/>
              </a:rPr>
              <a:t>or </a:t>
            </a:r>
            <a:r>
              <a:rPr sz="2400" spc="-10" dirty="0">
                <a:latin typeface="Carlito"/>
                <a:cs typeface="Carlito"/>
              </a:rPr>
              <a:t>&lt;iframe&gt; tags), the  </a:t>
            </a:r>
            <a:r>
              <a:rPr sz="2400" spc="-15" dirty="0">
                <a:latin typeface="Carlito"/>
                <a:cs typeface="Carlito"/>
              </a:rPr>
              <a:t>browser creates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spc="-10" dirty="0">
                <a:latin typeface="Carlito"/>
                <a:cs typeface="Carlito"/>
              </a:rPr>
              <a:t>window </a:t>
            </a:r>
            <a:r>
              <a:rPr sz="2400" spc="-5" dirty="0">
                <a:latin typeface="Carlito"/>
                <a:cs typeface="Carlito"/>
              </a:rPr>
              <a:t>object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the HTML </a:t>
            </a:r>
            <a:r>
              <a:rPr sz="2400" spc="-10" dirty="0">
                <a:latin typeface="Carlito"/>
                <a:cs typeface="Carlito"/>
              </a:rPr>
              <a:t>document, 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one </a:t>
            </a:r>
            <a:r>
              <a:rPr sz="2400" dirty="0">
                <a:latin typeface="Carlito"/>
                <a:cs typeface="Carlito"/>
              </a:rPr>
              <a:t>additional </a:t>
            </a:r>
            <a:r>
              <a:rPr sz="2400" spc="-5" dirty="0">
                <a:latin typeface="Carlito"/>
                <a:cs typeface="Carlito"/>
              </a:rPr>
              <a:t>window object </a:t>
            </a:r>
            <a:r>
              <a:rPr sz="2400" spc="-20" dirty="0">
                <a:latin typeface="Carlito"/>
                <a:cs typeface="Carlito"/>
              </a:rPr>
              <a:t>for </a:t>
            </a:r>
            <a:r>
              <a:rPr sz="2400" dirty="0">
                <a:latin typeface="Carlito"/>
                <a:cs typeface="Carlito"/>
              </a:rPr>
              <a:t>each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frame.</a:t>
            </a:r>
            <a:endParaRPr sz="24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200" b="1" spc="-5" dirty="0">
                <a:latin typeface="Carlito"/>
                <a:cs typeface="Carlito"/>
              </a:rPr>
              <a:t>Document</a:t>
            </a:r>
            <a:r>
              <a:rPr sz="3200" b="1" spc="-25" dirty="0">
                <a:latin typeface="Carlito"/>
                <a:cs typeface="Carlito"/>
              </a:rPr>
              <a:t> </a:t>
            </a:r>
            <a:r>
              <a:rPr sz="3200" b="1" spc="-5" dirty="0">
                <a:latin typeface="Carlito"/>
                <a:cs typeface="Carlito"/>
              </a:rPr>
              <a:t>Object</a:t>
            </a:r>
            <a:endParaRPr sz="3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rlito"/>
                <a:cs typeface="Carlito"/>
              </a:rPr>
              <a:t>Each</a:t>
            </a:r>
            <a:r>
              <a:rPr sz="2200" spc="30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HTML</a:t>
            </a:r>
            <a:r>
              <a:rPr sz="2200" spc="32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document</a:t>
            </a:r>
            <a:r>
              <a:rPr sz="2200" spc="3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loaded</a:t>
            </a:r>
            <a:r>
              <a:rPr sz="2200" spc="30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into</a:t>
            </a:r>
            <a:r>
              <a:rPr sz="2200" spc="3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31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browser</a:t>
            </a:r>
            <a:r>
              <a:rPr sz="2200" spc="33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window</a:t>
            </a:r>
            <a:r>
              <a:rPr sz="2200" spc="30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becomes</a:t>
            </a:r>
            <a:r>
              <a:rPr sz="2200" spc="33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latin typeface="Carlito"/>
                <a:cs typeface="Carlito"/>
              </a:rPr>
              <a:t>Document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object.</a:t>
            </a:r>
            <a:endParaRPr sz="22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latin typeface="Carlito"/>
                <a:cs typeface="Carlito"/>
              </a:rPr>
              <a:t>The </a:t>
            </a:r>
            <a:r>
              <a:rPr sz="2200" spc="-5" dirty="0">
                <a:latin typeface="Carlito"/>
                <a:cs typeface="Carlito"/>
              </a:rPr>
              <a:t>Document object </a:t>
            </a:r>
            <a:r>
              <a:rPr sz="2200" spc="-10" dirty="0">
                <a:latin typeface="Carlito"/>
                <a:cs typeface="Carlito"/>
              </a:rPr>
              <a:t>provides </a:t>
            </a:r>
            <a:r>
              <a:rPr sz="2200" spc="-5" dirty="0">
                <a:latin typeface="Carlito"/>
                <a:cs typeface="Carlito"/>
              </a:rPr>
              <a:t>access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all HTML elements in a  </a:t>
            </a:r>
            <a:r>
              <a:rPr sz="2200" spc="-10" dirty="0">
                <a:latin typeface="Carlito"/>
                <a:cs typeface="Carlito"/>
              </a:rPr>
              <a:t>page, </a:t>
            </a:r>
            <a:r>
              <a:rPr sz="2200" spc="-15" dirty="0">
                <a:latin typeface="Carlito"/>
                <a:cs typeface="Carlito"/>
              </a:rPr>
              <a:t>from </a:t>
            </a:r>
            <a:r>
              <a:rPr sz="2200" spc="-5" dirty="0">
                <a:latin typeface="Carlito"/>
                <a:cs typeface="Carlito"/>
              </a:rPr>
              <a:t>within a</a:t>
            </a:r>
            <a:r>
              <a:rPr sz="2200" spc="4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script.</a:t>
            </a:r>
            <a:endParaRPr sz="22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spc="-5" dirty="0">
                <a:latin typeface="Carlito"/>
                <a:cs typeface="Carlito"/>
              </a:rPr>
              <a:t>Tip:</a:t>
            </a:r>
            <a:r>
              <a:rPr sz="2200" b="1" spc="21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22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Document</a:t>
            </a:r>
            <a:r>
              <a:rPr sz="2200" spc="22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object</a:t>
            </a:r>
            <a:r>
              <a:rPr sz="2200" spc="2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is</a:t>
            </a:r>
            <a:r>
              <a:rPr sz="2200" spc="229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also</a:t>
            </a:r>
            <a:r>
              <a:rPr sz="2200" spc="22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part</a:t>
            </a:r>
            <a:r>
              <a:rPr sz="2200" spc="22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of</a:t>
            </a:r>
            <a:r>
              <a:rPr sz="2200" spc="2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23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Window</a:t>
            </a:r>
            <a:r>
              <a:rPr sz="2200" spc="2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object,</a:t>
            </a:r>
            <a:r>
              <a:rPr sz="2200" spc="229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and</a:t>
            </a:r>
            <a:endParaRPr sz="22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accessed </a:t>
            </a:r>
            <a:r>
              <a:rPr sz="2200" spc="-10" dirty="0">
                <a:latin typeface="Carlito"/>
                <a:cs typeface="Carlito"/>
              </a:rPr>
              <a:t>through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20" dirty="0">
                <a:latin typeface="Carlito"/>
                <a:cs typeface="Carlito"/>
              </a:rPr>
              <a:t>window.document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25" dirty="0">
                <a:latin typeface="Carlito"/>
                <a:cs typeface="Carlito"/>
              </a:rPr>
              <a:t>property.</a:t>
            </a:r>
            <a:endParaRPr sz="2200">
              <a:latin typeface="Carlito"/>
              <a:cs typeface="Carlito"/>
            </a:endParaRPr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  <a:tab pos="1161415" algn="l"/>
                <a:tab pos="1745614" algn="l"/>
                <a:tab pos="3086735" algn="l"/>
                <a:tab pos="3958590" algn="l"/>
                <a:tab pos="4512310" algn="l"/>
                <a:tab pos="5127625" algn="l"/>
                <a:tab pos="5682615" algn="l"/>
                <a:tab pos="6223635" algn="l"/>
                <a:tab pos="7557770" algn="l"/>
              </a:tabLst>
            </a:pPr>
            <a:r>
              <a:rPr sz="2200" b="1" spc="-5" dirty="0">
                <a:latin typeface="Carlito"/>
                <a:cs typeface="Carlito"/>
              </a:rPr>
              <a:t>No</a:t>
            </a:r>
            <a:r>
              <a:rPr sz="2200" b="1" spc="-25" dirty="0">
                <a:latin typeface="Carlito"/>
                <a:cs typeface="Carlito"/>
              </a:rPr>
              <a:t>t</a:t>
            </a:r>
            <a:r>
              <a:rPr sz="2200" b="1" dirty="0">
                <a:latin typeface="Carlito"/>
                <a:cs typeface="Carlito"/>
              </a:rPr>
              <a:t>e</a:t>
            </a:r>
            <a:r>
              <a:rPr sz="2200" b="1" spc="-5" dirty="0">
                <a:latin typeface="Carlito"/>
                <a:cs typeface="Carlito"/>
              </a:rPr>
              <a:t>:</a:t>
            </a:r>
            <a:r>
              <a:rPr sz="2200" b="1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T</a:t>
            </a:r>
            <a:r>
              <a:rPr sz="2200" dirty="0">
                <a:latin typeface="Carlito"/>
                <a:cs typeface="Carlito"/>
              </a:rPr>
              <a:t>h</a:t>
            </a:r>
            <a:r>
              <a:rPr sz="2200" spc="-5" dirty="0">
                <a:latin typeface="Carlito"/>
                <a:cs typeface="Carlito"/>
              </a:rPr>
              <a:t>e</a:t>
            </a:r>
            <a:r>
              <a:rPr sz="2200" dirty="0">
                <a:latin typeface="Carlito"/>
                <a:cs typeface="Carlito"/>
              </a:rPr>
              <a:t>	D</a:t>
            </a:r>
            <a:r>
              <a:rPr sz="2200" spc="-5" dirty="0">
                <a:latin typeface="Carlito"/>
                <a:cs typeface="Carlito"/>
              </a:rPr>
              <a:t>ocum</a:t>
            </a:r>
            <a:r>
              <a:rPr sz="2200" spc="-15" dirty="0">
                <a:latin typeface="Carlito"/>
                <a:cs typeface="Carlito"/>
              </a:rPr>
              <a:t>e</a:t>
            </a:r>
            <a:r>
              <a:rPr sz="2200" spc="-30" dirty="0">
                <a:latin typeface="Carlito"/>
                <a:cs typeface="Carlito"/>
              </a:rPr>
              <a:t>n</a:t>
            </a:r>
            <a:r>
              <a:rPr sz="2200" spc="-5" dirty="0">
                <a:latin typeface="Carlito"/>
                <a:cs typeface="Carlito"/>
              </a:rPr>
              <a:t>t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10" dirty="0">
                <a:latin typeface="Carlito"/>
                <a:cs typeface="Carlito"/>
              </a:rPr>
              <a:t>o</a:t>
            </a:r>
            <a:r>
              <a:rPr sz="2200" spc="-10" dirty="0">
                <a:latin typeface="Carlito"/>
                <a:cs typeface="Carlito"/>
              </a:rPr>
              <a:t>bjec</a:t>
            </a:r>
            <a:r>
              <a:rPr sz="2200" spc="-5" dirty="0">
                <a:latin typeface="Carlito"/>
                <a:cs typeface="Carlito"/>
              </a:rPr>
              <a:t>t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35" dirty="0">
                <a:latin typeface="Carlito"/>
                <a:cs typeface="Carlito"/>
              </a:rPr>
              <a:t>c</a:t>
            </a:r>
            <a:r>
              <a:rPr sz="2200" spc="-5" dirty="0">
                <a:latin typeface="Carlito"/>
                <a:cs typeface="Carlito"/>
              </a:rPr>
              <a:t>an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5" dirty="0">
                <a:latin typeface="Carlito"/>
                <a:cs typeface="Carlito"/>
              </a:rPr>
              <a:t>l</a:t>
            </a:r>
            <a:r>
              <a:rPr sz="2200" spc="-10" dirty="0">
                <a:latin typeface="Carlito"/>
                <a:cs typeface="Carlito"/>
              </a:rPr>
              <a:t>s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us</a:t>
            </a:r>
            <a:r>
              <a:rPr sz="2200" spc="-5" dirty="0">
                <a:latin typeface="Carlito"/>
                <a:cs typeface="Carlito"/>
              </a:rPr>
              <a:t>e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p</a:t>
            </a:r>
            <a:r>
              <a:rPr sz="2200" spc="-45" dirty="0">
                <a:latin typeface="Carlito"/>
                <a:cs typeface="Carlito"/>
              </a:rPr>
              <a:t>r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spc="-10" dirty="0">
                <a:latin typeface="Carlito"/>
                <a:cs typeface="Carlito"/>
              </a:rPr>
              <a:t>perti</a:t>
            </a:r>
            <a:r>
              <a:rPr sz="2200" spc="-15" dirty="0">
                <a:latin typeface="Carlito"/>
                <a:cs typeface="Carlito"/>
              </a:rPr>
              <a:t>e</a:t>
            </a:r>
            <a:r>
              <a:rPr sz="2200" spc="-5" dirty="0">
                <a:latin typeface="Carlito"/>
                <a:cs typeface="Carlito"/>
              </a:rPr>
              <a:t>s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5" dirty="0">
                <a:latin typeface="Carlito"/>
                <a:cs typeface="Carlito"/>
              </a:rPr>
              <a:t>and  methods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5" dirty="0">
                <a:solidFill>
                  <a:srgbClr val="0D0D0D"/>
                </a:solidFill>
                <a:latin typeface="Carlito"/>
                <a:cs typeface="Carlito"/>
              </a:rPr>
              <a:t>Node</a:t>
            </a:r>
            <a:r>
              <a:rPr sz="2200" spc="50" dirty="0">
                <a:solidFill>
                  <a:srgbClr val="0D0D0D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0D0D0D"/>
                </a:solidFill>
                <a:latin typeface="Carlito"/>
                <a:cs typeface="Carlito"/>
              </a:rPr>
              <a:t>object.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69642" y="0"/>
            <a:ext cx="4201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The Window</a:t>
            </a:r>
            <a:r>
              <a:rPr spc="-6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54709"/>
            <a:ext cx="8072755" cy="3806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The </a:t>
            </a:r>
            <a:r>
              <a:rPr sz="2000" b="1" spc="-5" dirty="0">
                <a:latin typeface="Carlito"/>
                <a:cs typeface="Carlito"/>
              </a:rPr>
              <a:t>window </a:t>
            </a:r>
            <a:r>
              <a:rPr sz="2000" spc="-5" dirty="0">
                <a:latin typeface="Carlito"/>
                <a:cs typeface="Carlito"/>
              </a:rPr>
              <a:t>object is supported by </a:t>
            </a:r>
            <a:r>
              <a:rPr sz="2000" dirty="0">
                <a:latin typeface="Carlito"/>
                <a:cs typeface="Carlito"/>
              </a:rPr>
              <a:t>all </a:t>
            </a:r>
            <a:r>
              <a:rPr sz="2000" spc="-15" dirty="0">
                <a:latin typeface="Carlito"/>
                <a:cs typeface="Carlito"/>
              </a:rPr>
              <a:t>browsers. </a:t>
            </a:r>
            <a:r>
              <a:rPr sz="2000" dirty="0">
                <a:latin typeface="Carlito"/>
                <a:cs typeface="Carlito"/>
              </a:rPr>
              <a:t>It </a:t>
            </a:r>
            <a:r>
              <a:rPr sz="2000" spc="-10" dirty="0">
                <a:latin typeface="Carlito"/>
                <a:cs typeface="Carlito"/>
              </a:rPr>
              <a:t>represent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5" dirty="0">
                <a:latin typeface="Carlito"/>
                <a:cs typeface="Carlito"/>
              </a:rPr>
              <a:t>browsers  </a:t>
            </a:r>
            <a:r>
              <a:rPr sz="2000" spc="-25" dirty="0">
                <a:latin typeface="Carlito"/>
                <a:cs typeface="Carlito"/>
              </a:rPr>
              <a:t>window.</a:t>
            </a:r>
            <a:endParaRPr sz="2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  <a:tab pos="797560" algn="l"/>
                <a:tab pos="1602105" algn="l"/>
                <a:tab pos="2800350" algn="l"/>
                <a:tab pos="3789679" algn="l"/>
                <a:tab pos="4993640" algn="l"/>
                <a:tab pos="5560695" algn="l"/>
                <a:tab pos="6659880" algn="l"/>
              </a:tabLst>
            </a:pPr>
            <a:r>
              <a:rPr sz="2000" dirty="0">
                <a:latin typeface="Carlito"/>
                <a:cs typeface="Carlito"/>
              </a:rPr>
              <a:t>All	global	</a:t>
            </a:r>
            <a:r>
              <a:rPr sz="2000" spc="-10" dirty="0">
                <a:latin typeface="Carlito"/>
                <a:cs typeface="Carlito"/>
              </a:rPr>
              <a:t>JavaScript	</a:t>
            </a:r>
            <a:r>
              <a:rPr sz="2000" spc="-5" dirty="0">
                <a:latin typeface="Carlito"/>
                <a:cs typeface="Carlito"/>
              </a:rPr>
              <a:t>objects,	functions,	</a:t>
            </a:r>
            <a:r>
              <a:rPr sz="2000" dirty="0">
                <a:latin typeface="Carlito"/>
                <a:cs typeface="Carlito"/>
              </a:rPr>
              <a:t>and	</a:t>
            </a:r>
            <a:r>
              <a:rPr sz="2000" spc="-5" dirty="0">
                <a:latin typeface="Carlito"/>
                <a:cs typeface="Carlito"/>
              </a:rPr>
              <a:t>variables	automatically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become </a:t>
            </a:r>
            <a:r>
              <a:rPr sz="2000" spc="-10" dirty="0">
                <a:latin typeface="Carlito"/>
                <a:cs typeface="Carlito"/>
              </a:rPr>
              <a:t>members </a:t>
            </a:r>
            <a:r>
              <a:rPr sz="2000" dirty="0">
                <a:latin typeface="Carlito"/>
                <a:cs typeface="Carlito"/>
              </a:rPr>
              <a:t>of the </a:t>
            </a:r>
            <a:r>
              <a:rPr sz="2000" spc="-5" dirty="0">
                <a:latin typeface="Carlito"/>
                <a:cs typeface="Carlito"/>
              </a:rPr>
              <a:t>window</a:t>
            </a:r>
            <a:r>
              <a:rPr sz="2000" spc="-2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object.</a:t>
            </a:r>
            <a:endParaRPr sz="2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Global variables </a:t>
            </a:r>
            <a:r>
              <a:rPr sz="2000" spc="-10" dirty="0">
                <a:latin typeface="Carlito"/>
                <a:cs typeface="Carlito"/>
              </a:rPr>
              <a:t>are properties </a:t>
            </a:r>
            <a:r>
              <a:rPr sz="2000" spc="-5" dirty="0">
                <a:latin typeface="Carlito"/>
                <a:cs typeface="Carlito"/>
              </a:rPr>
              <a:t>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window</a:t>
            </a:r>
            <a:r>
              <a:rPr sz="2000" spc="6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object.</a:t>
            </a:r>
            <a:endParaRPr sz="2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Global </a:t>
            </a:r>
            <a:r>
              <a:rPr sz="2000" dirty="0">
                <a:latin typeface="Carlito"/>
                <a:cs typeface="Carlito"/>
              </a:rPr>
              <a:t>functions </a:t>
            </a:r>
            <a:r>
              <a:rPr sz="2000" spc="-10" dirty="0">
                <a:latin typeface="Carlito"/>
                <a:cs typeface="Carlito"/>
              </a:rPr>
              <a:t>are </a:t>
            </a:r>
            <a:r>
              <a:rPr sz="2000" spc="-5" dirty="0">
                <a:latin typeface="Carlito"/>
                <a:cs typeface="Carlito"/>
              </a:rPr>
              <a:t>methods 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window</a:t>
            </a:r>
            <a:r>
              <a:rPr sz="2000" spc="-10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object.</a:t>
            </a:r>
            <a:endParaRPr sz="2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20" dirty="0">
                <a:latin typeface="Carlito"/>
                <a:cs typeface="Carlito"/>
              </a:rPr>
              <a:t>Even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10" dirty="0">
                <a:latin typeface="Carlito"/>
                <a:cs typeface="Carlito"/>
              </a:rPr>
              <a:t>document </a:t>
            </a:r>
            <a:r>
              <a:rPr sz="2000" spc="-5" dirty="0">
                <a:latin typeface="Carlito"/>
                <a:cs typeface="Carlito"/>
              </a:rPr>
              <a:t>object (of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HTML DOM) is </a:t>
            </a:r>
            <a:r>
              <a:rPr sz="2000" dirty="0">
                <a:latin typeface="Carlito"/>
                <a:cs typeface="Carlito"/>
              </a:rPr>
              <a:t>a </a:t>
            </a:r>
            <a:r>
              <a:rPr sz="2000" spc="-10" dirty="0">
                <a:latin typeface="Carlito"/>
                <a:cs typeface="Carlito"/>
              </a:rPr>
              <a:t>property </a:t>
            </a:r>
            <a:r>
              <a:rPr sz="2000" spc="-5" dirty="0">
                <a:latin typeface="Carlito"/>
                <a:cs typeface="Carlito"/>
              </a:rPr>
              <a:t>of the</a:t>
            </a:r>
            <a:r>
              <a:rPr sz="2000" spc="155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window</a:t>
            </a:r>
            <a:endParaRPr sz="2000">
              <a:latin typeface="Carlito"/>
              <a:cs typeface="Carlito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object:</a:t>
            </a:r>
            <a:endParaRPr sz="2000">
              <a:latin typeface="Carlito"/>
              <a:cs typeface="Carlito"/>
            </a:endParaRPr>
          </a:p>
          <a:p>
            <a:pPr marL="12700" marR="2926080">
              <a:lnSpc>
                <a:spcPct val="120000"/>
              </a:lnSpc>
              <a:spcBef>
                <a:spcPts val="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10" dirty="0">
                <a:latin typeface="Carlito"/>
                <a:cs typeface="Carlito"/>
              </a:rPr>
              <a:t>window.document.getElementById("header");  </a:t>
            </a:r>
            <a:r>
              <a:rPr sz="2000" spc="-5" dirty="0">
                <a:latin typeface="Carlito"/>
                <a:cs typeface="Carlito"/>
              </a:rPr>
              <a:t>is </a:t>
            </a:r>
            <a:r>
              <a:rPr sz="2000" dirty="0">
                <a:latin typeface="Carlito"/>
                <a:cs typeface="Carlito"/>
              </a:rPr>
              <a:t>the </a:t>
            </a:r>
            <a:r>
              <a:rPr sz="2000" spc="-5" dirty="0">
                <a:latin typeface="Carlito"/>
                <a:cs typeface="Carlito"/>
              </a:rPr>
              <a:t>same</a:t>
            </a:r>
            <a:r>
              <a:rPr sz="2000" spc="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as:</a:t>
            </a:r>
            <a:endParaRPr sz="20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latin typeface="Carlito"/>
                <a:cs typeface="Carlito"/>
              </a:rPr>
              <a:t>document.getElementById("header");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7260" y="0"/>
            <a:ext cx="57277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Document Object</a:t>
            </a:r>
            <a:r>
              <a:rPr spc="-30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/>
          <p:nvPr/>
        </p:nvSpPr>
        <p:spPr>
          <a:xfrm>
            <a:off x="342900" y="960119"/>
            <a:ext cx="8648700" cy="39885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4085" y="0"/>
            <a:ext cx="47415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JavaScript </a:t>
            </a:r>
            <a:r>
              <a:rPr spc="-30" dirty="0"/>
              <a:t>Date</a:t>
            </a:r>
            <a:r>
              <a:rPr spc="-20" dirty="0"/>
              <a:t> </a:t>
            </a:r>
            <a:r>
              <a:rPr spc="-5" dirty="0"/>
              <a:t>Object</a:t>
            </a:r>
          </a:p>
        </p:txBody>
      </p:sp>
      <p:sp>
        <p:nvSpPr>
          <p:cNvPr id="3" name="object 3"/>
          <p:cNvSpPr/>
          <p:nvPr/>
        </p:nvSpPr>
        <p:spPr>
          <a:xfrm>
            <a:off x="440065" y="763310"/>
            <a:ext cx="8399134" cy="47230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7738" y="0"/>
            <a:ext cx="2667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Math</a:t>
            </a:r>
            <a:r>
              <a:rPr spc="-60" dirty="0"/>
              <a:t> </a:t>
            </a:r>
            <a:r>
              <a:rPr spc="-10" dirty="0"/>
              <a:t>Object</a:t>
            </a:r>
          </a:p>
        </p:txBody>
      </p:sp>
      <p:sp>
        <p:nvSpPr>
          <p:cNvPr id="3" name="object 3"/>
          <p:cNvSpPr/>
          <p:nvPr/>
        </p:nvSpPr>
        <p:spPr>
          <a:xfrm>
            <a:off x="381000" y="457199"/>
            <a:ext cx="8382000" cy="64007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7518</Words>
  <Application>Microsoft Office PowerPoint</Application>
  <PresentationFormat>On-screen Show (4:3)</PresentationFormat>
  <Paragraphs>938</Paragraphs>
  <Slides>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6" baseType="lpstr">
      <vt:lpstr>Arial</vt:lpstr>
      <vt:lpstr>Calibri</vt:lpstr>
      <vt:lpstr>Carlito</vt:lpstr>
      <vt:lpstr>Symbol</vt:lpstr>
      <vt:lpstr>Times New Roman</vt:lpstr>
      <vt:lpstr>Verdana</vt:lpstr>
      <vt:lpstr>Wingdings</vt:lpstr>
      <vt:lpstr>Office Theme</vt:lpstr>
      <vt:lpstr>JavaScript Introduction</vt:lpstr>
      <vt:lpstr>What can a JavaScript do?</vt:lpstr>
      <vt:lpstr>Limitations with JavaScript</vt:lpstr>
      <vt:lpstr>JavaScript Vs Java</vt:lpstr>
      <vt:lpstr>Advantages of JavaScript</vt:lpstr>
      <vt:lpstr>JavaScript Syntax</vt:lpstr>
      <vt:lpstr>JavaScript Syntax</vt:lpstr>
      <vt:lpstr>JavaScript Placement in HTML File</vt:lpstr>
      <vt:lpstr>JavaScript Placement in HTML File</vt:lpstr>
      <vt:lpstr>JavaScript in &lt;head&gt;&lt;/head&gt; section</vt:lpstr>
      <vt:lpstr>JavaScript in &lt;body&gt;&lt;/body&gt; section:</vt:lpstr>
      <vt:lpstr>JavaScript in External File</vt:lpstr>
      <vt:lpstr>JavaScript Variables and DataTypes</vt:lpstr>
      <vt:lpstr>JavaScript Data Types</vt:lpstr>
      <vt:lpstr>JavaScript Numbers</vt:lpstr>
      <vt:lpstr>JavaScript Arrays</vt:lpstr>
      <vt:lpstr>Undefined and Null</vt:lpstr>
      <vt:lpstr>PowerPoint Presentation</vt:lpstr>
      <vt:lpstr>Operators</vt:lpstr>
      <vt:lpstr>JavaScript Arithmetic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JavaScript Objects</vt:lpstr>
      <vt:lpstr>Data Type Conversions</vt:lpstr>
      <vt:lpstr>Decision Constructs</vt:lpstr>
      <vt:lpstr>Sample Program</vt:lpstr>
      <vt:lpstr>Switch…case</vt:lpstr>
      <vt:lpstr>JavaScript Popup Boxes</vt:lpstr>
      <vt:lpstr>Prompt Box</vt:lpstr>
      <vt:lpstr>JavaScript Functions</vt:lpstr>
      <vt:lpstr>JavaScript Function Syntax</vt:lpstr>
      <vt:lpstr>JavaScript Functions</vt:lpstr>
      <vt:lpstr>Functions With a Return Value</vt:lpstr>
      <vt:lpstr>PowerPoint Presentation</vt:lpstr>
      <vt:lpstr>Functions With a Return Value</vt:lpstr>
      <vt:lpstr>Examples</vt:lpstr>
      <vt:lpstr>JavaScript For...In Statement</vt:lpstr>
      <vt:lpstr>Example</vt:lpstr>
      <vt:lpstr>JavaScript Event</vt:lpstr>
      <vt:lpstr>JavaScript Event</vt:lpstr>
      <vt:lpstr>PowerPoint Presentation</vt:lpstr>
      <vt:lpstr>PowerPoint Presentation</vt:lpstr>
      <vt:lpstr>PowerPoint Presentation</vt:lpstr>
      <vt:lpstr>PowerPoint Presentation</vt:lpstr>
      <vt:lpstr>JavaScript Object Model</vt:lpstr>
      <vt:lpstr>PowerPoint Presentation</vt:lpstr>
      <vt:lpstr>PowerPoint Presentation</vt:lpstr>
      <vt:lpstr>Browser Objects</vt:lpstr>
      <vt:lpstr>Form-Field Objects</vt:lpstr>
      <vt:lpstr>Language Objects</vt:lpstr>
      <vt:lpstr>PowerPoint Presentation</vt:lpstr>
      <vt:lpstr>JavaScript Try...Catch Statement</vt:lpstr>
      <vt:lpstr>JavaScript Form Validation</vt:lpstr>
      <vt:lpstr>Example</vt:lpstr>
      <vt:lpstr>Example</vt:lpstr>
      <vt:lpstr>The Window Object</vt:lpstr>
      <vt:lpstr>The Window Object</vt:lpstr>
      <vt:lpstr>Document Object Methods</vt:lpstr>
      <vt:lpstr>JavaScript Date Object</vt:lpstr>
      <vt:lpstr>Math Object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Introduction</dc:title>
  <cp:lastModifiedBy>Sultan Ahammad</cp:lastModifiedBy>
  <cp:revision>4</cp:revision>
  <dcterms:created xsi:type="dcterms:W3CDTF">2023-08-10T07:12:20Z</dcterms:created>
  <dcterms:modified xsi:type="dcterms:W3CDTF">2023-08-10T08:39:00Z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2015-03-21T00:00:00Z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2023-08-10T00:00:00Z</vt:filetime>
  </property>
</Properties>
</file>