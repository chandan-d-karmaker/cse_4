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builds directly on the taxonomy from Day 1. Having classified relationships into four types, we now define quantitative measures over the resulting graph, and examine how such a graph is represented as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plainly that today is quantitative: every formula introduced will be applied to a concrete example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terms are sufficient for everything covered today. Degree is defined here in general terms; the next slide gives its formula and a worked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Degree centrality is the simplest and most intuitive measure — a direct count of connections, normalised for comparability. Its limitation sets up the next slide's two additional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measures answer different questions: degree asks 'how connected is this node directly', closeness asks 'how quickly can this node reach everything else', betweenness asks 'how much does traffic depend on passing through this node'.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reuses the exact graph shown visually on Day 1's colour-coded diagram, so students can check the calculation against a figure they already have. Point out that in a larger, realistic graph, most nodes would not have centrality this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metric is adapted from software-module coupling; here the 'modules' are content nodes and 'dependency' is a structural edge. A page with low instability (heavily depended upon) is exactly the kind of node where the case study later in this session shows a redesign going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in the final bullet is the pedagogical point: instability gives a numeric basis for prioritising redesign risk, rather than relying on intuition about which pages 'feel' important.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five-node graph used throughout today's session, expressed as data rather than a diagram. Point out that the 'type' field on each edge is exactly Day 1's taxonomy — the JSON representation and the coloured diagram are two views of the same underlying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a bridge between the abstract formula and a concrete implementation students could write themselves in a few lines of code — degree centrality is, at its core, a loop over an edge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connects directly back to Week 3's course-catalog case study, now analysed with the quantitative tools introduced today rather than only qualitative usability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and third errors are the most common in student work — both stem from not applying Day 1's taxonomy consistently when computing today's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3's second focus area. Week 7 moves to maintenance and evolution, where today's coupling metric reappears as one input to prioritising technical debt.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 before moving to the references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references support today's formulas and terminology and may be consulted directly for further depth beyond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Methodology Deep Dive &amp; Relationship Analysis</a:t>
            </a:r>
            <a:endParaRPr lang="en-US" sz="1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6, Day 2 — Graph Metrics and Modeling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Degree and centrality measures, coupling metrics, and the JSON representation of a typed relationship graph.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 · DAY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Outline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graph theory terminology used in relationship analysis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Degree and centrality measures, with worked calculations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Coupling metrics, adapted from software engineering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Representing a typed relationship graph as JSON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worked example applying these metrics to a real Web site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 to Day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established what an edge means (Structural, Navigational, Semantic, Temporal). Today's metrics are computed per edge type, since averaging across types would not be meaningful.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PRELIMINARIES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Theory Terminology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3840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Term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Definition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Example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Node (vertex)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single entity in the graph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page, article, or content item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connection between two nodes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link, containment, or type relation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Directed edge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edge with a direction, A → 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hyperlink from page A to page 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Degree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number of edges incident to a node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many links point to or from a page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sequence of edges connecting two nodes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click-path from the homepage to a product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996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Terminology follows standard usage in Newman, M.E.J. (2010). Networks: An Introduction. Oxford University Press, Ch. 6.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DEGREE CENTRALITY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Degree Centrality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C_D(v) = deg(v) / (n - 1)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04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Normalised Degree Centrality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deg(v) is the number of edges at node v; n is the total number of nodes in the graph. The result lies between 0 and 1, allowing comparison across graphs of different sizes.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— a node with a high degree centrality is directly connected to a large fraction of the graph.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— degree centrality only counts direct connections; it does not capture a node's importance as a bridge between otherwise distant parts of the graph.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limitation motivates the two further measures on the next slide: closeness and betweenness centrality.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996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 follows Newman (2010), Networks: An Introduction, §7.2.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CENTRALITY MEASURES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Centrality Measures Compared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52120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Measure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Formula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Captures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Degree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C_D(v) = deg(v) / (n-1)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connections only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Closeness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C_C(v) = (n-1) / Σ d(v,u)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Average distance to every other node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Betweenness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C_B(v) = Σ σst(v) / σst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often v lies on the shortest path between others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7000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 Betweenness Formula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074920"/>
            <a:ext cx="10661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σst is the total number of shortest paths between nodes s and t; σst(v) is the number of those paths that pass through v. A node with high betweenness is a structural bottleneck — removing it lengthens many other paths.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996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Definitions follow Newman (2010), Networks: An Introduction, Ch. 7.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Computing Degree Centrality on a Small Graph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— the five-node graph from Day 1: the "HTTP" article, its Category, a linked term, its schema.org type, and its superseded predecessor. n = 5.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count edges at the "HTTP" node: it connects to all four other nodes, so deg(HTTP) = 4.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apply the formula: C_D(HTTP) = 4 / (5 - 1) = 4 / 4 = 1.0.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compute the same value for the Category node: it connects only to "HTTP", so deg(Category) = 1, giving C_D(Category) = 1 / 4 = 0.25.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— the "HTTP" node has maximal degree centrality in this small graph; it is the hub through which every relationship type passes, which is expected of the central article in a link-graph example.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COUPLING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Coupling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I(v) = Ce(v) / (Ca(v) + Ce(v))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04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Instability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Ca(v): afferent coupling — the number of nodes that depend on v. Ce(v): efferent coupling — the number of nodes v depends on. I(v) ranges from 0 (fully stable, only depended upon) to 1 (fully unstable, only depending on others).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— a node with I(v) close to 0 is heavily relied upon; changing it risks breaking many dependents.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node with I(v) close to 1 depends on many others but is depended upon by few; it can change more freely.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relationship graph, coupling is typically computed on structural edges specifically, since those represent genuine dependency rather than an optional navigational link.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996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Instability metric after Martin, R.C. (2002). Agile Software Development: Principles, Patterns, and Practices. Prentice Hall, Ch. 20. Afferent/efferent coupling terminology after Fenton, N. &amp; Bieman, J. (2014). Software Metrics: A Rigorous and Practical Approach (3rd ed.). CRC Press.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Computing Instability for a Product Page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an e-commerce "Product" content type. Three other node types have a structural edge into it: Category, Review, and Order Line Item, so Ca(Product) = 3.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Product node itself has a structural edge out to exactly one other type, Manufacturer, so Ce(Product) = 1.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apply the formula: I(Product) = Ce / (Ca + Ce) = 1 / (3 + 1) = 0.25.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— an instability of 0.25 indicates the Product node is relatively stable: it is depended upon by three other node types and depends on only one. Changing its schema is comparatively risky.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Contrast — a "Promotional Banner" node with Ca = 0 and Ce = 2 would have I = 2/2 = 1.0, fully unstable, and could be redesigned with little downstream risk.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DATA REPRESENTATION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Representing a Typed Graph as JSON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relationship graph is, structurally, a list of nodes and a list of typed edges — directly serialisable.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251960"/>
          </a:xfrm>
          <a:prstGeom prst="roundRect">
            <a:avLst>
              <a:gd name="adj" fmla="val 1290"/>
            </a:avLst>
          </a:prstGeom>
          <a:solidFill>
            <a:srgbClr val="1B2733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0515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"nodes": [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"http_article", "label": "HTTP"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"category",     "label": "Internet protocols"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"web_eng",      "label": "Web Engineering"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"schema_type",  "label": "schema.org: WebPage"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"http10",       "label": "HTTP/1.0"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"edges": [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"from": "http_article", "to": "category",    "type": "structural"  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"from": "http_article", "to": "web_eng",      "type": "navigational"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"from": "http_article", "to": "schema_type",  "type": "semantic"     },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"from": "http_article", "to": "http10",       "type": "temporal"    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Computing Degree Directly from the JSON 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 the JSON structure from the previous slide, degree can be computed programmatically rather than by inspection.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— for each node id, count the number of edge objects where "from" or "to" equals that id.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to "http_article" — it appears as "from" in all four edge objects, giving deg(http_article) = 4, matching the earlier by-hand calculation.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to "category" — it appears in exactly one edge object, giving deg(category) = 1.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basis of any graph-analysis tool: the same nodes/edges structure that renders a diagram also supports metric computation, filtering by edge type, and impact-analysis queries such as "what depends on this node."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Centrality to Prioritise a Redesign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 — a university course-catalog site (introduced in Week 3) is being redesigned, and the team must decide which pages to review most carefully.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the team builds the structural and navigational edge graph for the site and computes degree centrality for every page.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the "Course Detail" page template has the highest degree centrality: it is the structural target of every category and search-result listing, and the navigational target of hundreds of internal links.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the team also computes instability for the same node: Ca is very high (many pages link into it) and Ce is low, giving I close to 0 — confirming it is a stable, heavily depended-upon node.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— the redesign schedule allocates the most review time and the most rigorous testing to the Course Detail template specifically, based on the numeric metrics rather than informal judgement.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 COMMON ERRORS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Errors in Applying Graph Metrics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931920"/>
                <a:gridCol w="35661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Consequence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Computing degree across all edge types combined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Structural and navigational importance are conflated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Compute centrality separately per relationship type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Treating high degree as automatically high importance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page with many low-value links can outrank a genuinely critical one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Consider betweenness or coupling alongside degree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Computing coupling on navigational edges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Ordinary hyperlinks are treated as hard dependencies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Restrict coupling calculations to structural edges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Storing the graph only as a diagram, never as data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Metrics must be recomputed manually after every change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 the JSON (or equivalent) representation as the source of truth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core graph terminology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node, edge, degree, and path correctly in describing a relationship graph.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degree centrality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formula to a small graph and interpret the result.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the three centrality measures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what degree, closeness, and betweenness each capture.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coupling and instability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Ca, Ce, and I(v) to a content-model example.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 a graph as JSON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and construct a typed nodes/edges JSON structure.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Degree centrality, C_D(v) = deg(v)/(n-1), measures direct connectedness; closeness and betweenness capture different, complementary aspects of a node's position in the graph.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Coupling metrics, adapted from software engineering (afferent/efferent coupling and instability), quantify how heavily a content node is depended upon versus how much it depends on others.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metrics should be computed per relationship type established in Day 1's taxonomy, not averaged across incompatible edge types.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typed relationship graph can be represented directly as JSON, with the same structure supporting diagrams, metric computation, and impact-analysis queries.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to a real site, these metrics give a quantitative basis for prioritising redesign effort, replacing informal judgement with a measurable ranking.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Kappel, G., Pröll, B., Reich, S., &amp; Retschitzegger, W. (2006). Web Engineering: The Discipline of Systematic Development of Web Applications. Wiley. (Ch. 3, Web Application Modeling)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Newman, M. E. J. (2010). Networks: An Introduction. Oxford University Press. (Ch. 6–7, Graph theory and centrality measures)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Martin, R. C. (2002). Agile Software Development: Principles, Patterns, and Practices. Prentice Hall. (Ch. 20, Instability metric)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Fenton, N., &amp; Bieman, J. (2014). Software Metrics: A Rigorous and Practical Approach (3rd ed.). CRC Press. (Coupling metrics)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Pressman, R. S., &amp; Lowe, D. (2009). Web Engineering: A Practitioner's Approach. McGraw-Hill.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Graph Metrics &amp; Modeling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2026-09-03T11:28:33Z</dcterms:created>
  <dcterms:modified xsi:type="dcterms:W3CDTF">2026-09-03T11:28:33Z</dcterms:modified>
</cp:coreProperties>
</file>