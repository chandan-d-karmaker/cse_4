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Relative cost to fix</c:v>
                </c:pt>
              </c:strCache>
            </c:strRef>
          </c:tx>
          <c:spPr>
            <a:solidFill>
              <a:srgbClr val="1F3B57"/>
            </a:solidFill>
            <a:ln w="38100" cap="flat">
              <a:solidFill>
                <a:srgbClr val="1F3B57"/>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F3B57"/>
              </a:solidFill>
              <a:ln w="9525" cap="flat">
                <a:solidFill>
                  <a:srgbClr val="1F3B57"/>
                </a:solidFill>
                <a:prstDash val="solid"/>
                <a:round/>
              </a:ln>
              <a:effectLst/>
            </c:spPr>
          </c:marker>
          <c:cat>
            <c:multiLvlStrRef>
              <c:f>Sheet1!$A$2:$A$6</c:f>
              <c:multiLvlStrCache>
                <c:ptCount val="5"/>
                <c:lvl>
                  <c:pt idx="0">
                    <c:v>Requirements</c:v>
                  </c:pt>
                  <c:pt idx="1">
                    <c:v>Design</c:v>
                  </c:pt>
                  <c:pt idx="2">
                    <c:v>Implementation</c:v>
                  </c:pt>
                  <c:pt idx="3">
                    <c:v>Testing</c:v>
                  </c:pt>
                  <c:pt idx="4">
                    <c:v>Production</c:v>
                  </c:pt>
                </c:lvl>
              </c:multiLvlStrCache>
            </c:multiLvlStrRef>
          </c:cat>
          <c:val>
            <c:numRef>
              <c:f>Sheet1!$B$2:$B$6</c:f>
              <c:numCache>
                <c:formatCode>General</c:formatCode>
                <c:ptCount val="5"/>
                <c:pt idx="0">
                  <c:v>1</c:v>
                </c:pt>
                <c:pt idx="1">
                  <c:v>3</c:v>
                </c:pt>
                <c:pt idx="2">
                  <c:v>8</c:v>
                </c:pt>
                <c:pt idx="3">
                  <c:v>25</c:v>
                </c:pt>
                <c:pt idx="4">
                  <c:v>100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2B2B"/>
                </a:solidFill>
                <a:latin typeface="Times New Roman"/>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0E6EB"/>
              </a:solidFill>
              <a:prstDash val="solid"/>
              <a:round/>
            </a:ln>
          </c:spPr>
        </c:majorGridlines>
        <c:title>
          <c:tx>
            <c:rich>
              <a:bodyPr/>
              <a:lstStyle/>
              <a:p>
                <a:pPr>
                  <a:defRPr b="0" i="0" u="none" strike="noStrike">
                    <a:solidFill>
                      <a:srgbClr val="000000"/>
                    </a:solidFill>
                    <a:latin typeface="Arial"/>
                  </a:defRPr>
                </a:pPr>
                <a:r>
                  <a:rPr b="0" i="0" u="none" strike="noStrike">
                    <a:solidFill>
                      <a:srgbClr val="000000"/>
                    </a:solidFill>
                    <a:latin typeface="Arial"/>
                  </a:rPr>
                  <a:t>Relative cost to fix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2B2B2B"/>
                </a:solidFill>
                <a:latin typeface="Times New Roman"/>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from Day 1: we introduced Spiral and Agile at a survey level. Today we go deep on two things: the Spiral Model's expanding risk cycles, and the specific roles and rituals that make Agile/Scrum work day to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five topics. This session directly deepens two of Day 1's four models, using the Cost-of-Change curve as the unifying justification for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clockwise from Start through all four quadrants for Loop 1, emphasise the risk-analysis checkpoint, then show how Loop 2 repeats the same four quadrants at a larger radius (cost). This is the 'off-ramp' property that makes Spiral suited to high-risk projects: bad ideas get killed cheaply, in an early loop, before large sums are committed.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example shows the spiral diagram from the previous slide applied concretely — each loop has a genuinely different, specific risk, and the cost only escalates after that risk is addressed, not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relative multipliers (1x/3x/8x/25x/100x) are the classic, widely-taught illustrative figures from Barry Boehm's software economics research — exact multiples vary by study, but the exponential shape is the consistently reproduced finding, and it's the whole justification for both Agile's short feedback loops and Spiral's early risk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arithmetic makes the exponential curve concrete and personal — the same tiny 20-minute fix becomes a 33-hour production incident purely because of when it was caught, not because the bug itself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 Responsible For' column is deliberately included — the most common real-world Scrum dysfunction is a Product Owner dictating implementation details, or a Scrum Master acting as a traditional project manager assigning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Daily Standup is the odd one out — it's the only ritual that repeats every single day rather than once per sprint, which is why it's highlighted differently. The Retrospective's output should visibly change the next sprint, or the ritual becomes pointless box-checking.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practical reference students can literally use to run their own course project's Scrum process — durations scale down proportionally for shorter sprints.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maps every ritual from the previous two slides onto a literal calendar — use it as a template students can adapt directly for their own course-project sprints.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case study deliberately mirrors the burndown-pattern table from Day 1 ('flat line, then steep drop' pattern) and shows the Retrospective ritual as the mechanism that actually fixes it — tying today's content directly back to yesterday's.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pitfall here is a ritual or model element being performed in name only, without its actual purpose — the fixes all point back to re-connecting the ritual to why it exists in the first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self-check before Week 6, which shifts to Module 3's second focus: Relationship Analysis Principles — taxonomy classification and graph visualisation.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five key points. Bridge to Week 6: Relationship Analysis Principles, which shifts from process methodology to modeling how content relates — taxonomy classification and graph visualisation.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B57"/>
        </a:solidFill>
      </p:bgPr>
    </p:bg>
    <p:spTree>
      <p:nvGrpSpPr>
        <p:cNvPr id="1" name=""/>
        <p:cNvGrpSpPr/>
        <p:nvPr/>
      </p:nvGrpSpPr>
      <p:grpSpPr>
        <a:xfrm>
          <a:off x="0" y="0"/>
          <a:ext cx="0" cy="0"/>
          <a:chOff x="0" y="0"/>
          <a:chExt cx="0" cy="0"/>
        </a:xfrm>
      </p:grpSpPr>
      <p:sp>
        <p:nvSpPr>
          <p:cNvPr id="2" name="Text 0"/>
          <p:cNvSpPr txBox="1"/>
          <p:nvPr/>
        </p:nvSpPr>
        <p:spPr>
          <a:xfrm>
            <a:off x="548640" y="2331720"/>
            <a:ext cx="11064240" cy="365760"/>
          </a:xfrm>
          <a:prstGeom prst="rect">
            <a:avLst/>
          </a:prstGeom>
          <a:noFill/>
          <a:ln/>
        </p:spPr>
        <p:txBody>
          <a:bodyPr wrap="square" lIns="0" tIns="0" rIns="0" bIns="0" rtlCol="0" anchor="ctr"/>
          <a:lstStyle/>
          <a:p>
            <a:pPr indent="0" marL="0">
              <a:buNone/>
            </a:pPr>
            <a:r>
              <a:rPr lang="en-US" sz="1500" dirty="0">
                <a:solidFill>
                  <a:srgbClr val="9FB3C8"/>
                </a:solidFill>
                <a:latin typeface="Times New Roman" pitchFamily="34" charset="0"/>
                <a:ea typeface="Times New Roman" pitchFamily="34" charset="-122"/>
                <a:cs typeface="Times New Roman" pitchFamily="34" charset="-120"/>
              </a:rPr>
              <a:t>CSE 0613-2209 · Web Programming</a:t>
            </a:r>
            <a:endParaRPr lang="en-US" sz="1500" dirty="0"/>
          </a:p>
        </p:txBody>
      </p:sp>
      <p:sp>
        <p:nvSpPr>
          <p:cNvPr id="3" name="Text 1"/>
          <p:cNvSpPr txBox="1"/>
          <p:nvPr/>
        </p:nvSpPr>
        <p:spPr>
          <a:xfrm>
            <a:off x="548640" y="2697480"/>
            <a:ext cx="11064240" cy="502920"/>
          </a:xfrm>
          <a:prstGeom prst="rect">
            <a:avLst/>
          </a:prstGeom>
          <a:noFill/>
          <a:ln/>
        </p:spPr>
        <p:txBody>
          <a:bodyPr wrap="square" lIns="0" tIns="0" rIns="0" bIns="0" rtlCol="0" anchor="ctr"/>
          <a:lstStyle/>
          <a:p>
            <a:pPr indent="0" marL="0">
              <a:buNone/>
            </a:pPr>
            <a:r>
              <a:rPr lang="en-US" sz="1850" b="1" dirty="0">
                <a:solidFill>
                  <a:srgbClr val="CADCFC"/>
                </a:solidFill>
                <a:latin typeface="Times New Roman" pitchFamily="34" charset="0"/>
                <a:ea typeface="Times New Roman" pitchFamily="34" charset="-122"/>
                <a:cs typeface="Times New Roman" pitchFamily="34" charset="-120"/>
              </a:rPr>
              <a:t>Module 3: Methodology Deep Dive &amp; Relationship Analysis</a:t>
            </a:r>
            <a:endParaRPr lang="en-US" sz="1850" dirty="0"/>
          </a:p>
        </p:txBody>
      </p:sp>
      <p:sp>
        <p:nvSpPr>
          <p:cNvPr id="4" name="Text 2"/>
          <p:cNvSpPr txBox="1"/>
          <p:nvPr/>
        </p:nvSpPr>
        <p:spPr>
          <a:xfrm>
            <a:off x="548640" y="3200400"/>
            <a:ext cx="11064240" cy="822960"/>
          </a:xfrm>
          <a:prstGeom prst="rect">
            <a:avLst/>
          </a:prstGeom>
          <a:noFill/>
          <a:ln/>
        </p:spPr>
        <p:txBody>
          <a:bodyPr wrap="square" lIns="0" tIns="0" rIns="0" bIns="0" rtlCol="0" anchor="ctr"/>
          <a:lstStyle/>
          <a:p>
            <a:pPr indent="0" marL="0">
              <a:buNone/>
            </a:pPr>
            <a:r>
              <a:rPr lang="en-US" sz="3200" b="1" dirty="0">
                <a:solidFill>
                  <a:srgbClr val="FFFFFF"/>
                </a:solidFill>
                <a:latin typeface="Times New Roman" pitchFamily="34" charset="0"/>
                <a:ea typeface="Times New Roman" pitchFamily="34" charset="-122"/>
                <a:cs typeface="Times New Roman" pitchFamily="34" charset="-120"/>
              </a:rPr>
              <a:t>Week 5, Day 2 — Agile Rituals &amp; Spiral Risk</a:t>
            </a:r>
            <a:endParaRPr lang="en-US" sz="3200" dirty="0"/>
          </a:p>
        </p:txBody>
      </p:sp>
      <p:sp>
        <p:nvSpPr>
          <p:cNvPr id="5" name="Shape 3"/>
          <p:cNvSpPr/>
          <p:nvPr/>
        </p:nvSpPr>
        <p:spPr>
          <a:xfrm>
            <a:off x="548640" y="4160520"/>
            <a:ext cx="2011680" cy="0"/>
          </a:xfrm>
          <a:prstGeom prst="line">
            <a:avLst/>
          </a:prstGeom>
          <a:noFill/>
          <a:ln w="19050">
            <a:solidFill>
              <a:srgbClr val="AFC2D2"/>
            </a:solidFill>
            <a:prstDash val="solid"/>
          </a:ln>
        </p:spPr>
      </p:sp>
      <p:sp>
        <p:nvSpPr>
          <p:cNvPr id="6" name="Text 4"/>
          <p:cNvSpPr txBox="1"/>
          <p:nvPr/>
        </p:nvSpPr>
        <p:spPr>
          <a:xfrm>
            <a:off x="548640" y="4343400"/>
            <a:ext cx="9509760" cy="640080"/>
          </a:xfrm>
          <a:prstGeom prst="rect">
            <a:avLst/>
          </a:prstGeom>
          <a:noFill/>
          <a:ln/>
        </p:spPr>
        <p:txBody>
          <a:bodyPr wrap="square" lIns="0" tIns="0" rIns="0" bIns="0" rtlCol="0" anchor="ctr"/>
          <a:lstStyle/>
          <a:p>
            <a:pPr indent="0" marL="0">
              <a:buNone/>
            </a:pPr>
            <a:r>
              <a:rPr lang="en-US" sz="1500" dirty="0">
                <a:solidFill>
                  <a:srgbClr val="D6E0EA"/>
                </a:solidFill>
                <a:latin typeface="Times New Roman" pitchFamily="34" charset="0"/>
                <a:ea typeface="Times New Roman" pitchFamily="34" charset="-122"/>
                <a:cs typeface="Times New Roman" pitchFamily="34" charset="-120"/>
              </a:rPr>
              <a:t>A deeper look at the Spiral Model's risk cycles, the Cost-of-Change curve, and every Scrum role and ceremony explained.</a:t>
            </a:r>
            <a:endParaRPr lang="en-US" sz="1500" dirty="0"/>
          </a:p>
        </p:txBody>
      </p:sp>
      <p:sp>
        <p:nvSpPr>
          <p:cNvPr id="7" name="Text 5"/>
          <p:cNvSpPr txBox="1"/>
          <p:nvPr/>
        </p:nvSpPr>
        <p:spPr>
          <a:xfrm>
            <a:off x="548640" y="6126480"/>
            <a:ext cx="11064240" cy="320040"/>
          </a:xfrm>
          <a:prstGeom prst="rect">
            <a:avLst/>
          </a:prstGeom>
          <a:noFill/>
          <a:ln/>
        </p:spPr>
        <p:txBody>
          <a:bodyPr wrap="square" lIns="0" tIns="0" rIns="0" bIns="0" rtlCol="0" anchor="ctr"/>
          <a:lstStyle/>
          <a:p>
            <a:pPr indent="0" marL="0">
              <a:buNone/>
            </a:pPr>
            <a:r>
              <a:rPr lang="en-US" sz="1200" dirty="0">
                <a:solidFill>
                  <a:srgbClr val="7A93AC"/>
                </a:solidFill>
                <a:latin typeface="Times New Roman" pitchFamily="34" charset="0"/>
                <a:ea typeface="Times New Roman" pitchFamily="34" charset="-122"/>
                <a:cs typeface="Times New Roman" pitchFamily="34" charset="-120"/>
              </a:rPr>
              <a:t>Department of Computer Science and Engineering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274320"/>
          </a:xfrm>
          <a:prstGeom prst="rect">
            <a:avLst/>
          </a:prstGeom>
          <a:noFill/>
          <a:ln/>
        </p:spPr>
        <p:txBody>
          <a:bodyPr wrap="square" lIns="0" tIns="0" rIns="0" bIns="0" rtlCol="0" anchor="ctr"/>
          <a:lstStyle/>
          <a:p>
            <a:pPr indent="0" marL="0">
              <a:buNone/>
            </a:pPr>
            <a:r>
              <a:rPr lang="en-US" sz="1200" b="1" spc="100" kern="0" dirty="0">
                <a:solidFill>
                  <a:srgbClr val="5C7A96"/>
                </a:solidFill>
                <a:latin typeface="Times New Roman" pitchFamily="34" charset="0"/>
                <a:ea typeface="Times New Roman" pitchFamily="34" charset="-122"/>
                <a:cs typeface="Times New Roman" pitchFamily="34" charset="-120"/>
              </a:rPr>
              <a:t>WEEK 5 · DAY 2</a:t>
            </a:r>
            <a:endParaRPr lang="en-US" sz="1200" dirty="0"/>
          </a:p>
        </p:txBody>
      </p:sp>
      <p:sp>
        <p:nvSpPr>
          <p:cNvPr id="3" name="Text 1"/>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2800" b="1" dirty="0">
                <a:solidFill>
                  <a:srgbClr val="1F3B57"/>
                </a:solidFill>
                <a:latin typeface="Times New Roman" pitchFamily="34" charset="0"/>
                <a:ea typeface="Times New Roman" pitchFamily="34" charset="-122"/>
                <a:cs typeface="Times New Roman" pitchFamily="34" charset="-120"/>
              </a:rPr>
              <a:t>This Session at a Glance</a:t>
            </a:r>
            <a:endParaRPr lang="en-US" sz="2800" dirty="0"/>
          </a:p>
        </p:txBody>
      </p:sp>
      <p:sp>
        <p:nvSpPr>
          <p:cNvPr id="4" name="Text 2"/>
          <p:cNvSpPr txBox="1"/>
          <p:nvPr/>
        </p:nvSpPr>
        <p:spPr>
          <a:xfrm>
            <a:off x="548640" y="1371600"/>
            <a:ext cx="6949440" cy="4572000"/>
          </a:xfrm>
          <a:prstGeom prst="rect">
            <a:avLst/>
          </a:prstGeom>
          <a:noFill/>
          <a:ln/>
        </p:spPr>
        <p:txBody>
          <a:bodyPr wrap="square" lIns="0" tIns="0" rIns="0" bIns="0" rtlCol="0" anchor="t"/>
          <a:lstStyle/>
          <a:p>
            <a:pPr marL="228600" indent="-228600">
              <a:spcAft>
                <a:spcPts val="1100"/>
              </a:spcAft>
              <a:buSzPct val="100000"/>
              <a:buChar char="▪"/>
            </a:pPr>
            <a:r>
              <a:rPr lang="en-US" sz="1650" dirty="0">
                <a:solidFill>
                  <a:srgbClr val="2B2B2B"/>
                </a:solidFill>
                <a:latin typeface="Times New Roman" pitchFamily="34" charset="0"/>
                <a:ea typeface="Times New Roman" pitchFamily="34" charset="-122"/>
                <a:cs typeface="Times New Roman" pitchFamily="34" charset="-120"/>
              </a:rPr>
              <a:t>The Spiral Model's risk cycles, drawn as expanding loops</a:t>
            </a:r>
            <a:endParaRPr lang="en-US" sz="1650" dirty="0"/>
          </a:p>
          <a:p>
            <a:pPr marL="228600" indent="-228600">
              <a:spcAft>
                <a:spcPts val="1100"/>
              </a:spcAft>
              <a:buSzPct val="100000"/>
              <a:buChar char="▪"/>
            </a:pPr>
            <a:r>
              <a:rPr lang="en-US" sz="1650" dirty="0">
                <a:solidFill>
                  <a:srgbClr val="2B2B2B"/>
                </a:solidFill>
                <a:latin typeface="Times New Roman" pitchFamily="34" charset="0"/>
                <a:ea typeface="Times New Roman" pitchFamily="34" charset="-122"/>
                <a:cs typeface="Times New Roman" pitchFamily="34" charset="-120"/>
              </a:rPr>
              <a:t>The Cost-of-Change curve — why late-discovered defects cost exponentially more</a:t>
            </a:r>
            <a:endParaRPr lang="en-US" sz="1650" dirty="0"/>
          </a:p>
          <a:p>
            <a:pPr marL="228600" indent="-228600">
              <a:spcAft>
                <a:spcPts val="1100"/>
              </a:spcAft>
              <a:buSzPct val="100000"/>
              <a:buChar char="▪"/>
            </a:pPr>
            <a:r>
              <a:rPr lang="en-US" sz="1650" dirty="0">
                <a:solidFill>
                  <a:srgbClr val="2B2B2B"/>
                </a:solidFill>
                <a:latin typeface="Times New Roman" pitchFamily="34" charset="0"/>
                <a:ea typeface="Times New Roman" pitchFamily="34" charset="-122"/>
                <a:cs typeface="Times New Roman" pitchFamily="34" charset="-120"/>
              </a:rPr>
              <a:t>Every Scrum role and its responsibilities</a:t>
            </a:r>
            <a:endParaRPr lang="en-US" sz="1650" dirty="0"/>
          </a:p>
          <a:p>
            <a:pPr marL="228600" indent="-228600">
              <a:spcAft>
                <a:spcPts val="1100"/>
              </a:spcAft>
              <a:buSzPct val="100000"/>
              <a:buChar char="▪"/>
            </a:pPr>
            <a:r>
              <a:rPr lang="en-US" sz="1650" dirty="0">
                <a:solidFill>
                  <a:srgbClr val="2B2B2B"/>
                </a:solidFill>
                <a:latin typeface="Times New Roman" pitchFamily="34" charset="0"/>
                <a:ea typeface="Times New Roman" pitchFamily="34" charset="-122"/>
                <a:cs typeface="Times New Roman" pitchFamily="34" charset="-120"/>
              </a:rPr>
              <a:t>Every Scrum ritual — purpose, frequency, and participants</a:t>
            </a:r>
            <a:endParaRPr lang="en-US" sz="1650" dirty="0"/>
          </a:p>
          <a:p>
            <a:pPr marL="228600" indent="-228600">
              <a:spcAft>
                <a:spcPts val="1100"/>
              </a:spcAft>
              <a:buSzPct val="100000"/>
              <a:buChar char="▪"/>
            </a:pPr>
            <a:r>
              <a:rPr lang="en-US" sz="1650" dirty="0">
                <a:solidFill>
                  <a:srgbClr val="2B2B2B"/>
                </a:solidFill>
                <a:latin typeface="Times New Roman" pitchFamily="34" charset="0"/>
                <a:ea typeface="Times New Roman" pitchFamily="34" charset="-122"/>
                <a:cs typeface="Times New Roman" pitchFamily="34" charset="-120"/>
              </a:rPr>
              <a:t>A real two-week sprint, mapped day by day</a:t>
            </a:r>
            <a:endParaRPr lang="en-US" sz="1650" dirty="0"/>
          </a:p>
        </p:txBody>
      </p:sp>
      <p:sp>
        <p:nvSpPr>
          <p:cNvPr id="5" name="Shape 3"/>
          <p:cNvSpPr/>
          <p:nvPr/>
        </p:nvSpPr>
        <p:spPr>
          <a:xfrm>
            <a:off x="7680960" y="1371600"/>
            <a:ext cx="3017520" cy="4206240"/>
          </a:xfrm>
          <a:prstGeom prst="roundRect">
            <a:avLst>
              <a:gd name="adj" fmla="val 2424"/>
            </a:avLst>
          </a:prstGeom>
          <a:solidFill>
            <a:srgbClr val="E8EEF3"/>
          </a:solidFill>
          <a:ln w="15875">
            <a:solidFill>
              <a:srgbClr val="1F3B57"/>
            </a:solidFill>
            <a:prstDash val="solid"/>
          </a:ln>
        </p:spPr>
      </p:sp>
      <p:sp>
        <p:nvSpPr>
          <p:cNvPr id="6" name="Text 4"/>
          <p:cNvSpPr txBox="1"/>
          <p:nvPr/>
        </p:nvSpPr>
        <p:spPr>
          <a:xfrm>
            <a:off x="7882128" y="1499616"/>
            <a:ext cx="2615184" cy="365760"/>
          </a:xfrm>
          <a:prstGeom prst="rect">
            <a:avLst/>
          </a:prstGeom>
          <a:noFill/>
          <a:ln/>
        </p:spPr>
        <p:txBody>
          <a:bodyPr wrap="square" lIns="0" tIns="0" rIns="0" bIns="0" rtlCol="0" anchor="ctr"/>
          <a:lstStyle/>
          <a:p>
            <a:pPr indent="0" marL="0">
              <a:buNone/>
            </a:pPr>
            <a:r>
              <a:rPr lang="en-US" sz="1600" b="1" dirty="0">
                <a:solidFill>
                  <a:srgbClr val="1F3B57"/>
                </a:solidFill>
                <a:latin typeface="Times New Roman" pitchFamily="34" charset="0"/>
                <a:ea typeface="Times New Roman" pitchFamily="34" charset="-122"/>
                <a:cs typeface="Times New Roman" pitchFamily="34" charset="-120"/>
              </a:rPr>
              <a:t>Why This Matters</a:t>
            </a:r>
            <a:endParaRPr lang="en-US" sz="1600" dirty="0"/>
          </a:p>
        </p:txBody>
      </p:sp>
      <p:sp>
        <p:nvSpPr>
          <p:cNvPr id="7" name="Text 5"/>
          <p:cNvSpPr txBox="1"/>
          <p:nvPr/>
        </p:nvSpPr>
        <p:spPr>
          <a:xfrm>
            <a:off x="7882128" y="1874520"/>
            <a:ext cx="2615184" cy="3566160"/>
          </a:xfrm>
          <a:prstGeom prst="rect">
            <a:avLst/>
          </a:prstGeom>
          <a:noFill/>
          <a:ln/>
        </p:spPr>
        <p:txBody>
          <a:bodyPr wrap="square" lIns="0" tIns="0" rIns="0" bIns="0" rtlCol="0" anchor="t"/>
          <a:lstStyle/>
          <a:p>
            <a:pPr indent="0" marL="0">
              <a:lnSpc>
                <a:spcPct val="105000"/>
              </a:lnSpc>
              <a:buNone/>
            </a:pPr>
            <a:r>
              <a:rPr lang="en-US" sz="1300" dirty="0">
                <a:solidFill>
                  <a:srgbClr val="2B2B2B"/>
                </a:solidFill>
                <a:latin typeface="Times New Roman" pitchFamily="34" charset="0"/>
                <a:ea typeface="Times New Roman" pitchFamily="34" charset="-122"/>
                <a:cs typeface="Times New Roman" pitchFamily="34" charset="-120"/>
              </a:rPr>
              <a:t>The Cost-of-Change curve is the mathematical justification for why Agile's short cycles and Spiral's risk analysis both exist — catching problems early isn't just tidier, it's dramatically cheaper.</a:t>
            </a:r>
            <a:endParaRPr lang="en-US" sz="1300" dirty="0"/>
          </a:p>
        </p:txBody>
      </p:sp>
      <p:sp>
        <p:nvSpPr>
          <p:cNvPr id="8" name="Text 6"/>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7A8B9A"/>
                </a:solidFill>
                <a:latin typeface="Times New Roman" pitchFamily="34" charset="0"/>
                <a:ea typeface="Times New Roman" pitchFamily="34" charset="-122"/>
                <a:cs typeface="Times New Roman" pitchFamily="34" charset="-120"/>
              </a:rPr>
              <a:t>CSE 0613-2209 · Web Programming   |   Week 5 · Agile Rituals &amp; Spiral Risk</a:t>
            </a:r>
            <a:endParaRPr lang="en-US" sz="1000" dirty="0"/>
          </a:p>
        </p:txBody>
      </p:sp>
      <p:sp>
        <p:nvSpPr>
          <p:cNvPr id="9" name="Text 7"/>
          <p:cNvSpPr txBox="1"/>
          <p:nvPr/>
        </p:nvSpPr>
        <p:spPr>
          <a:xfrm>
            <a:off x="11064240" y="6510528"/>
            <a:ext cx="457200" cy="274320"/>
          </a:xfrm>
          <a:prstGeom prst="rect">
            <a:avLst/>
          </a:prstGeom>
          <a:noFill/>
          <a:ln/>
        </p:spPr>
        <p:txBody>
          <a:bodyPr wrap="square" lIns="0" tIns="0" rIns="0" bIns="0" rtlCol="0" anchor="ctr"/>
          <a:lstStyle/>
          <a:p>
            <a:pPr algn="r" indent="0" marL="0">
              <a:buNone/>
            </a:pPr>
            <a:r>
              <a:rPr lang="en-US" sz="1000" dirty="0">
                <a:solidFill>
                  <a:srgbClr val="7A8B9A"/>
                </a:solidFill>
                <a:latin typeface="Times New Roman" pitchFamily="34" charset="0"/>
                <a:ea typeface="Times New Roman" pitchFamily="34" charset="-122"/>
                <a:cs typeface="Times New Roman"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5F8"/>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274320"/>
          </a:xfrm>
          <a:prstGeom prst="rect">
            <a:avLst/>
          </a:prstGeom>
          <a:noFill/>
          <a:ln/>
        </p:spPr>
        <p:txBody>
          <a:bodyPr wrap="square" lIns="0" tIns="0" rIns="0" bIns="0" rtlCol="0" anchor="ctr"/>
          <a:lstStyle/>
          <a:p>
            <a:pPr indent="0" marL="0">
              <a:buNone/>
            </a:pPr>
            <a:r>
              <a:rPr lang="en-US" sz="1200" b="1" spc="100" kern="0" dirty="0">
                <a:solidFill>
                  <a:srgbClr val="5C7A96"/>
                </a:solidFill>
                <a:latin typeface="Times New Roman" pitchFamily="34" charset="0"/>
                <a:ea typeface="Times New Roman" pitchFamily="34" charset="-122"/>
                <a:cs typeface="Times New Roman" pitchFamily="34" charset="-120"/>
              </a:rPr>
              <a:t>FIGURE 5.6</a:t>
            </a:r>
            <a:endParaRPr lang="en-US" sz="1200" dirty="0"/>
          </a:p>
        </p:txBody>
      </p:sp>
      <p:sp>
        <p:nvSpPr>
          <p:cNvPr id="3" name="Text 1"/>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2800" b="1" dirty="0">
                <a:solidFill>
                  <a:srgbClr val="1F3B57"/>
                </a:solidFill>
                <a:latin typeface="Times New Roman" pitchFamily="34" charset="0"/>
                <a:ea typeface="Times New Roman" pitchFamily="34" charset="-122"/>
                <a:cs typeface="Times New Roman" pitchFamily="34" charset="-120"/>
              </a:rPr>
              <a:t>The Spiral Model's Expanding Risk Cycles</a:t>
            </a:r>
            <a:endParaRPr lang="en-US" sz="2800" dirty="0"/>
          </a:p>
        </p:txBody>
      </p:sp>
      <p:sp>
        <p:nvSpPr>
          <p:cNvPr id="4" name="Text 2"/>
          <p:cNvSpPr txBox="1"/>
          <p:nvPr/>
        </p:nvSpPr>
        <p:spPr>
          <a:xfrm>
            <a:off x="548640" y="1188720"/>
            <a:ext cx="11064240" cy="457200"/>
          </a:xfrm>
          <a:prstGeom prst="rect">
            <a:avLst/>
          </a:prstGeom>
          <a:noFill/>
          <a:ln/>
        </p:spPr>
        <p:txBody>
          <a:bodyPr wrap="square" lIns="0" tIns="0" rIns="0" bIns="0" rtlCol="0" anchor="ctr"/>
          <a:lstStyle/>
          <a:p>
            <a:pPr indent="0" marL="0">
              <a:buNone/>
            </a:pPr>
            <a:r>
              <a:rPr lang="en-US" sz="1300" i="1" dirty="0">
                <a:solidFill>
                  <a:srgbClr val="2B2B2B"/>
                </a:solidFill>
                <a:latin typeface="Times New Roman" pitchFamily="34" charset="0"/>
                <a:ea typeface="Times New Roman" pitchFamily="34" charset="-122"/>
                <a:cs typeface="Times New Roman" pitchFamily="34" charset="-120"/>
              </a:rPr>
              <a:t>Each loop outward represents one full pass through Objectives → Risk Analysis → Engineering → Planning, at increasing scale and cost.</a:t>
            </a:r>
            <a:endParaRPr lang="en-US" sz="1300" dirty="0"/>
          </a:p>
        </p:txBody>
      </p:sp>
      <p:sp>
        <p:nvSpPr>
          <p:cNvPr id="5" name="Shape 3"/>
          <p:cNvSpPr/>
          <p:nvPr/>
        </p:nvSpPr>
        <p:spPr>
          <a:xfrm>
            <a:off x="3520440" y="3657600"/>
            <a:ext cx="1005840" cy="1005840"/>
          </a:xfrm>
          <a:prstGeom prst="ellipse">
            <a:avLst/>
          </a:prstGeom>
          <a:solidFill>
            <a:srgbClr val="FFFFFF">
              <a:alpha val="0"/>
            </a:srgbClr>
          </a:solidFill>
          <a:ln w="15875">
            <a:solidFill>
              <a:srgbClr val="9FB3C8"/>
            </a:solidFill>
            <a:prstDash val="dash"/>
          </a:ln>
        </p:spPr>
      </p:sp>
      <p:sp>
        <p:nvSpPr>
          <p:cNvPr id="6" name="Shape 4"/>
          <p:cNvSpPr/>
          <p:nvPr/>
        </p:nvSpPr>
        <p:spPr>
          <a:xfrm>
            <a:off x="2971800" y="3108960"/>
            <a:ext cx="2103120" cy="2103120"/>
          </a:xfrm>
          <a:prstGeom prst="ellipse">
            <a:avLst/>
          </a:prstGeom>
          <a:solidFill>
            <a:srgbClr val="FFFFFF">
              <a:alpha val="0"/>
            </a:srgbClr>
          </a:solidFill>
          <a:ln w="15875">
            <a:solidFill>
              <a:srgbClr val="9FB3C8"/>
            </a:solidFill>
            <a:prstDash val="dash"/>
          </a:ln>
        </p:spPr>
      </p:sp>
      <p:sp>
        <p:nvSpPr>
          <p:cNvPr id="7" name="Shape 5"/>
          <p:cNvSpPr/>
          <p:nvPr/>
        </p:nvSpPr>
        <p:spPr>
          <a:xfrm>
            <a:off x="2331720" y="2468880"/>
            <a:ext cx="3383280" cy="3383280"/>
          </a:xfrm>
          <a:prstGeom prst="ellipse">
            <a:avLst/>
          </a:prstGeom>
          <a:solidFill>
            <a:srgbClr val="FFFFFF">
              <a:alpha val="0"/>
            </a:srgbClr>
          </a:solidFill>
          <a:ln w="15875">
            <a:solidFill>
              <a:srgbClr val="9FB3C8"/>
            </a:solidFill>
            <a:prstDash val="dash"/>
          </a:ln>
        </p:spPr>
      </p:sp>
      <p:sp>
        <p:nvSpPr>
          <p:cNvPr id="8" name="Shape 6"/>
          <p:cNvSpPr/>
          <p:nvPr/>
        </p:nvSpPr>
        <p:spPr>
          <a:xfrm>
            <a:off x="4023360" y="4160520"/>
            <a:ext cx="1874520" cy="0"/>
          </a:xfrm>
          <a:prstGeom prst="line">
            <a:avLst/>
          </a:prstGeom>
          <a:noFill/>
          <a:ln w="12700">
            <a:solidFill>
              <a:srgbClr val="CBD5E0"/>
            </a:solidFill>
            <a:prstDash val="solid"/>
            <a:tailEnd type="none"/>
          </a:ln>
        </p:spPr>
      </p:sp>
      <p:sp>
        <p:nvSpPr>
          <p:cNvPr id="9" name="Shape 7"/>
          <p:cNvSpPr/>
          <p:nvPr/>
        </p:nvSpPr>
        <p:spPr>
          <a:xfrm>
            <a:off x="4023360" y="4160520"/>
            <a:ext cx="0" cy="1874520"/>
          </a:xfrm>
          <a:prstGeom prst="line">
            <a:avLst/>
          </a:prstGeom>
          <a:noFill/>
          <a:ln w="12700">
            <a:solidFill>
              <a:srgbClr val="CBD5E0"/>
            </a:solidFill>
            <a:prstDash val="solid"/>
            <a:tailEnd type="none"/>
          </a:ln>
        </p:spPr>
      </p:sp>
      <p:sp>
        <p:nvSpPr>
          <p:cNvPr id="10" name="Shape 8"/>
          <p:cNvSpPr/>
          <p:nvPr/>
        </p:nvSpPr>
        <p:spPr>
          <a:xfrm flipH="1">
            <a:off x="2148840" y="4160520"/>
            <a:ext cx="1874520" cy="0"/>
          </a:xfrm>
          <a:prstGeom prst="line">
            <a:avLst/>
          </a:prstGeom>
          <a:noFill/>
          <a:ln w="12700">
            <a:solidFill>
              <a:srgbClr val="CBD5E0"/>
            </a:solidFill>
            <a:prstDash val="solid"/>
            <a:tailEnd type="none"/>
          </a:ln>
        </p:spPr>
      </p:sp>
      <p:sp>
        <p:nvSpPr>
          <p:cNvPr id="11" name="Shape 9"/>
          <p:cNvSpPr/>
          <p:nvPr/>
        </p:nvSpPr>
        <p:spPr>
          <a:xfrm flipV="1">
            <a:off x="4023360" y="2286000"/>
            <a:ext cx="0" cy="1874520"/>
          </a:xfrm>
          <a:prstGeom prst="line">
            <a:avLst/>
          </a:prstGeom>
          <a:noFill/>
          <a:ln w="12700">
            <a:solidFill>
              <a:srgbClr val="CBD5E0"/>
            </a:solidFill>
            <a:prstDash val="solid"/>
            <a:tailEnd type="none"/>
          </a:ln>
        </p:spPr>
      </p:sp>
      <p:sp>
        <p:nvSpPr>
          <p:cNvPr id="12" name="Shape 10"/>
          <p:cNvSpPr/>
          <p:nvPr/>
        </p:nvSpPr>
        <p:spPr>
          <a:xfrm>
            <a:off x="3657600" y="3794760"/>
            <a:ext cx="731520" cy="731520"/>
          </a:xfrm>
          <a:prstGeom prst="ellipse">
            <a:avLst/>
          </a:prstGeom>
          <a:solidFill>
            <a:srgbClr val="1F3B57"/>
          </a:solidFill>
          <a:ln w="12700">
            <a:solidFill>
              <a:srgbClr val="1F3B57"/>
            </a:solidFill>
            <a:prstDash val="solid"/>
          </a:ln>
        </p:spPr>
      </p:sp>
      <p:sp>
        <p:nvSpPr>
          <p:cNvPr id="13" name="Text 11"/>
          <p:cNvSpPr txBox="1"/>
          <p:nvPr/>
        </p:nvSpPr>
        <p:spPr>
          <a:xfrm>
            <a:off x="3657600" y="3794760"/>
            <a:ext cx="731520" cy="731520"/>
          </a:xfrm>
          <a:prstGeom prst="rect">
            <a:avLst/>
          </a:prstGeom>
          <a:noFill/>
          <a:ln/>
        </p:spPr>
        <p:txBody>
          <a:bodyPr wrap="square" lIns="0" tIns="0" rIns="0" bIns="0" rtlCol="0" anchor="ctr"/>
          <a:lstStyle/>
          <a:p>
            <a:pPr algn="ctr" indent="0" marL="0">
              <a:buNone/>
            </a:pPr>
            <a:r>
              <a:rPr lang="en-US" sz="1100" b="1" dirty="0">
                <a:solidFill>
                  <a:srgbClr val="FFFFFF"/>
                </a:solidFill>
                <a:latin typeface="Times New Roman" pitchFamily="34" charset="0"/>
                <a:ea typeface="Times New Roman" pitchFamily="34" charset="-122"/>
                <a:cs typeface="Times New Roman" pitchFamily="34" charset="-120"/>
              </a:rPr>
              <a:t>Start</a:t>
            </a:r>
            <a:endParaRPr lang="en-US" sz="1100" dirty="0"/>
          </a:p>
        </p:txBody>
      </p:sp>
      <p:sp>
        <p:nvSpPr>
          <p:cNvPr id="14" name="Shape 12"/>
          <p:cNvSpPr/>
          <p:nvPr/>
        </p:nvSpPr>
        <p:spPr>
          <a:xfrm>
            <a:off x="3693178" y="3640310"/>
            <a:ext cx="1371600" cy="329184"/>
          </a:xfrm>
          <a:prstGeom prst="rect">
            <a:avLst/>
          </a:prstGeom>
          <a:solidFill>
            <a:srgbClr val="F2F5F8"/>
          </a:solidFill>
          <a:ln w="9525">
            <a:solidFill>
              <a:srgbClr val="9FB3C8"/>
            </a:solidFill>
            <a:prstDash val="solid"/>
          </a:ln>
        </p:spPr>
      </p:sp>
      <p:sp>
        <p:nvSpPr>
          <p:cNvPr id="15" name="Text 13"/>
          <p:cNvSpPr txBox="1"/>
          <p:nvPr/>
        </p:nvSpPr>
        <p:spPr>
          <a:xfrm>
            <a:off x="3693178" y="3640310"/>
            <a:ext cx="1371600" cy="329184"/>
          </a:xfrm>
          <a:prstGeom prst="rect">
            <a:avLst/>
          </a:prstGeom>
          <a:noFill/>
          <a:ln/>
        </p:spPr>
        <p:txBody>
          <a:bodyPr wrap="square" lIns="0" tIns="0" rIns="0" bIns="0" rtlCol="0" anchor="ctr"/>
          <a:lstStyle/>
          <a:p>
            <a:pPr algn="ctr" indent="0" marL="0">
              <a:buNone/>
            </a:pPr>
            <a:r>
              <a:rPr lang="en-US" sz="950" b="1" dirty="0">
                <a:solidFill>
                  <a:srgbClr val="1F3B57"/>
                </a:solidFill>
                <a:latin typeface="Times New Roman" pitchFamily="34" charset="0"/>
                <a:ea typeface="Times New Roman" pitchFamily="34" charset="-122"/>
                <a:cs typeface="Times New Roman" pitchFamily="34" charset="-120"/>
              </a:rPr>
              <a:t>Loop 1: Concept</a:t>
            </a:r>
            <a:endParaRPr lang="en-US" sz="950" dirty="0"/>
          </a:p>
        </p:txBody>
      </p:sp>
      <p:sp>
        <p:nvSpPr>
          <p:cNvPr id="16" name="Shape 14"/>
          <p:cNvSpPr/>
          <p:nvPr/>
        </p:nvSpPr>
        <p:spPr>
          <a:xfrm>
            <a:off x="4081125" y="3252363"/>
            <a:ext cx="1371600" cy="329184"/>
          </a:xfrm>
          <a:prstGeom prst="rect">
            <a:avLst/>
          </a:prstGeom>
          <a:solidFill>
            <a:srgbClr val="F2F5F8"/>
          </a:solidFill>
          <a:ln w="9525">
            <a:solidFill>
              <a:srgbClr val="9FB3C8"/>
            </a:solidFill>
            <a:prstDash val="solid"/>
          </a:ln>
        </p:spPr>
      </p:sp>
      <p:sp>
        <p:nvSpPr>
          <p:cNvPr id="17" name="Text 15"/>
          <p:cNvSpPr txBox="1"/>
          <p:nvPr/>
        </p:nvSpPr>
        <p:spPr>
          <a:xfrm>
            <a:off x="4081125" y="3252363"/>
            <a:ext cx="1371600" cy="329184"/>
          </a:xfrm>
          <a:prstGeom prst="rect">
            <a:avLst/>
          </a:prstGeom>
          <a:noFill/>
          <a:ln/>
        </p:spPr>
        <p:txBody>
          <a:bodyPr wrap="square" lIns="0" tIns="0" rIns="0" bIns="0" rtlCol="0" anchor="ctr"/>
          <a:lstStyle/>
          <a:p>
            <a:pPr algn="ctr" indent="0" marL="0">
              <a:buNone/>
            </a:pPr>
            <a:r>
              <a:rPr lang="en-US" sz="950" b="1" dirty="0">
                <a:solidFill>
                  <a:srgbClr val="1F3B57"/>
                </a:solidFill>
                <a:latin typeface="Times New Roman" pitchFamily="34" charset="0"/>
                <a:ea typeface="Times New Roman" pitchFamily="34" charset="-122"/>
                <a:cs typeface="Times New Roman" pitchFamily="34" charset="-120"/>
              </a:rPr>
              <a:t>Loop 2: Prototype</a:t>
            </a:r>
            <a:endParaRPr lang="en-US" sz="950" dirty="0"/>
          </a:p>
        </p:txBody>
      </p:sp>
      <p:sp>
        <p:nvSpPr>
          <p:cNvPr id="18" name="Shape 16"/>
          <p:cNvSpPr/>
          <p:nvPr/>
        </p:nvSpPr>
        <p:spPr>
          <a:xfrm>
            <a:off x="4533730" y="2799758"/>
            <a:ext cx="1371600" cy="329184"/>
          </a:xfrm>
          <a:prstGeom prst="rect">
            <a:avLst/>
          </a:prstGeom>
          <a:solidFill>
            <a:srgbClr val="F2F5F8"/>
          </a:solidFill>
          <a:ln w="9525">
            <a:solidFill>
              <a:srgbClr val="9FB3C8"/>
            </a:solidFill>
            <a:prstDash val="solid"/>
          </a:ln>
        </p:spPr>
      </p:sp>
      <p:sp>
        <p:nvSpPr>
          <p:cNvPr id="19" name="Text 17"/>
          <p:cNvSpPr txBox="1"/>
          <p:nvPr/>
        </p:nvSpPr>
        <p:spPr>
          <a:xfrm>
            <a:off x="4533730" y="2799758"/>
            <a:ext cx="1371600" cy="329184"/>
          </a:xfrm>
          <a:prstGeom prst="rect">
            <a:avLst/>
          </a:prstGeom>
          <a:noFill/>
          <a:ln/>
        </p:spPr>
        <p:txBody>
          <a:bodyPr wrap="square" lIns="0" tIns="0" rIns="0" bIns="0" rtlCol="0" anchor="ctr"/>
          <a:lstStyle/>
          <a:p>
            <a:pPr algn="ctr" indent="0" marL="0">
              <a:buNone/>
            </a:pPr>
            <a:r>
              <a:rPr lang="en-US" sz="950" b="1" dirty="0">
                <a:solidFill>
                  <a:srgbClr val="1F3B57"/>
                </a:solidFill>
                <a:latin typeface="Times New Roman" pitchFamily="34" charset="0"/>
                <a:ea typeface="Times New Roman" pitchFamily="34" charset="-122"/>
                <a:cs typeface="Times New Roman" pitchFamily="34" charset="-120"/>
              </a:rPr>
              <a:t>Loop 3: Production</a:t>
            </a:r>
            <a:endParaRPr lang="en-US" sz="950" dirty="0"/>
          </a:p>
        </p:txBody>
      </p:sp>
      <p:sp>
        <p:nvSpPr>
          <p:cNvPr id="20" name="Text 18"/>
          <p:cNvSpPr txBox="1"/>
          <p:nvPr/>
        </p:nvSpPr>
        <p:spPr>
          <a:xfrm>
            <a:off x="3108960" y="1892808"/>
            <a:ext cx="1828800" cy="329184"/>
          </a:xfrm>
          <a:prstGeom prst="rect">
            <a:avLst/>
          </a:prstGeom>
          <a:noFill/>
          <a:ln/>
        </p:spPr>
        <p:txBody>
          <a:bodyPr wrap="square" lIns="0" tIns="0" rIns="0" bIns="0" rtlCol="0" anchor="ctr"/>
          <a:lstStyle/>
          <a:p>
            <a:pPr algn="ctr" indent="0" marL="0">
              <a:buNone/>
            </a:pPr>
            <a:r>
              <a:rPr lang="en-US" sz="1100" b="1" dirty="0">
                <a:solidFill>
                  <a:srgbClr val="1F3B57"/>
                </a:solidFill>
                <a:latin typeface="Times New Roman" pitchFamily="34" charset="0"/>
                <a:ea typeface="Times New Roman" pitchFamily="34" charset="-122"/>
                <a:cs typeface="Times New Roman" pitchFamily="34" charset="-120"/>
              </a:rPr>
              <a:t>1. Objectives</a:t>
            </a:r>
            <a:endParaRPr lang="en-US" sz="1100" dirty="0"/>
          </a:p>
        </p:txBody>
      </p:sp>
      <p:sp>
        <p:nvSpPr>
          <p:cNvPr id="21" name="Text 19"/>
          <p:cNvSpPr txBox="1"/>
          <p:nvPr/>
        </p:nvSpPr>
        <p:spPr>
          <a:xfrm>
            <a:off x="5212080" y="3995928"/>
            <a:ext cx="1828800" cy="329184"/>
          </a:xfrm>
          <a:prstGeom prst="rect">
            <a:avLst/>
          </a:prstGeom>
          <a:noFill/>
          <a:ln/>
        </p:spPr>
        <p:txBody>
          <a:bodyPr wrap="square" lIns="0" tIns="0" rIns="0" bIns="0" rtlCol="0" anchor="ctr"/>
          <a:lstStyle/>
          <a:p>
            <a:pPr algn="ctr" indent="0" marL="0">
              <a:buNone/>
            </a:pPr>
            <a:r>
              <a:rPr lang="en-US" sz="1100" b="1" dirty="0">
                <a:solidFill>
                  <a:srgbClr val="1F3B57"/>
                </a:solidFill>
                <a:latin typeface="Times New Roman" pitchFamily="34" charset="0"/>
                <a:ea typeface="Times New Roman" pitchFamily="34" charset="-122"/>
                <a:cs typeface="Times New Roman" pitchFamily="34" charset="-120"/>
              </a:rPr>
              <a:t>2. Risk Analysis</a:t>
            </a:r>
            <a:endParaRPr lang="en-US" sz="1100" dirty="0"/>
          </a:p>
        </p:txBody>
      </p:sp>
      <p:sp>
        <p:nvSpPr>
          <p:cNvPr id="22" name="Text 20"/>
          <p:cNvSpPr txBox="1"/>
          <p:nvPr/>
        </p:nvSpPr>
        <p:spPr>
          <a:xfrm>
            <a:off x="3108960" y="6099048"/>
            <a:ext cx="1828800" cy="329184"/>
          </a:xfrm>
          <a:prstGeom prst="rect">
            <a:avLst/>
          </a:prstGeom>
          <a:noFill/>
          <a:ln/>
        </p:spPr>
        <p:txBody>
          <a:bodyPr wrap="square" lIns="0" tIns="0" rIns="0" bIns="0" rtlCol="0" anchor="ctr"/>
          <a:lstStyle/>
          <a:p>
            <a:pPr algn="ctr" indent="0" marL="0">
              <a:buNone/>
            </a:pPr>
            <a:r>
              <a:rPr lang="en-US" sz="1100" b="1" dirty="0">
                <a:solidFill>
                  <a:srgbClr val="1F3B57"/>
                </a:solidFill>
                <a:latin typeface="Times New Roman" pitchFamily="34" charset="0"/>
                <a:ea typeface="Times New Roman" pitchFamily="34" charset="-122"/>
                <a:cs typeface="Times New Roman" pitchFamily="34" charset="-120"/>
              </a:rPr>
              <a:t>3. Engineering</a:t>
            </a:r>
            <a:endParaRPr lang="en-US" sz="1100" dirty="0"/>
          </a:p>
        </p:txBody>
      </p:sp>
      <p:sp>
        <p:nvSpPr>
          <p:cNvPr id="23" name="Text 21"/>
          <p:cNvSpPr txBox="1"/>
          <p:nvPr/>
        </p:nvSpPr>
        <p:spPr>
          <a:xfrm>
            <a:off x="1005840" y="3995928"/>
            <a:ext cx="1828800" cy="329184"/>
          </a:xfrm>
          <a:prstGeom prst="rect">
            <a:avLst/>
          </a:prstGeom>
          <a:noFill/>
          <a:ln/>
        </p:spPr>
        <p:txBody>
          <a:bodyPr wrap="square" lIns="0" tIns="0" rIns="0" bIns="0" rtlCol="0" anchor="ctr"/>
          <a:lstStyle/>
          <a:p>
            <a:pPr algn="ctr" indent="0" marL="0">
              <a:buNone/>
            </a:pPr>
            <a:r>
              <a:rPr lang="en-US" sz="1100" b="1" dirty="0">
                <a:solidFill>
                  <a:srgbClr val="1F3B57"/>
                </a:solidFill>
                <a:latin typeface="Times New Roman" pitchFamily="34" charset="0"/>
                <a:ea typeface="Times New Roman" pitchFamily="34" charset="-122"/>
                <a:cs typeface="Times New Roman" pitchFamily="34" charset="-120"/>
              </a:rPr>
              <a:t>4. Planning</a:t>
            </a:r>
            <a:endParaRPr lang="en-US" sz="1100" dirty="0"/>
          </a:p>
        </p:txBody>
      </p:sp>
      <p:sp>
        <p:nvSpPr>
          <p:cNvPr id="24" name="Shape 22"/>
          <p:cNvSpPr/>
          <p:nvPr/>
        </p:nvSpPr>
        <p:spPr>
          <a:xfrm>
            <a:off x="6675120" y="1920240"/>
            <a:ext cx="4709160" cy="4572000"/>
          </a:xfrm>
          <a:prstGeom prst="roundRect">
            <a:avLst>
              <a:gd name="adj" fmla="val 1600"/>
            </a:avLst>
          </a:prstGeom>
          <a:solidFill>
            <a:srgbClr val="E8EEF3"/>
          </a:solidFill>
          <a:ln w="15875">
            <a:solidFill>
              <a:srgbClr val="1F3B57"/>
            </a:solidFill>
            <a:prstDash val="solid"/>
          </a:ln>
        </p:spPr>
      </p:sp>
      <p:sp>
        <p:nvSpPr>
          <p:cNvPr id="25" name="Text 23"/>
          <p:cNvSpPr txBox="1"/>
          <p:nvPr/>
        </p:nvSpPr>
        <p:spPr>
          <a:xfrm>
            <a:off x="6876288" y="2048256"/>
            <a:ext cx="4306824" cy="365760"/>
          </a:xfrm>
          <a:prstGeom prst="rect">
            <a:avLst/>
          </a:prstGeom>
          <a:noFill/>
          <a:ln/>
        </p:spPr>
        <p:txBody>
          <a:bodyPr wrap="square" lIns="0" tIns="0" rIns="0" bIns="0" rtlCol="0" anchor="ctr"/>
          <a:lstStyle/>
          <a:p>
            <a:pPr indent="0" marL="0">
              <a:buNone/>
            </a:pPr>
            <a:r>
              <a:rPr lang="en-US" sz="1600" b="1" dirty="0">
                <a:solidFill>
                  <a:srgbClr val="1F3B57"/>
                </a:solidFill>
                <a:latin typeface="Times New Roman" pitchFamily="34" charset="0"/>
                <a:ea typeface="Times New Roman" pitchFamily="34" charset="-122"/>
                <a:cs typeface="Times New Roman" pitchFamily="34" charset="-120"/>
              </a:rPr>
              <a:t>Reading This Diagram</a:t>
            </a:r>
            <a:endParaRPr lang="en-US" sz="1600" dirty="0"/>
          </a:p>
        </p:txBody>
      </p:sp>
      <p:sp>
        <p:nvSpPr>
          <p:cNvPr id="26" name="Text 24"/>
          <p:cNvSpPr txBox="1"/>
          <p:nvPr/>
        </p:nvSpPr>
        <p:spPr>
          <a:xfrm>
            <a:off x="6876288" y="2423160"/>
            <a:ext cx="4306824" cy="3931920"/>
          </a:xfrm>
          <a:prstGeom prst="rect">
            <a:avLst/>
          </a:prstGeom>
          <a:noFill/>
          <a:ln/>
        </p:spPr>
        <p:txBody>
          <a:bodyPr wrap="square" lIns="0" tIns="0" rIns="0" bIns="0" rtlCol="0" anchor="t"/>
          <a:lstStyle/>
          <a:p>
            <a:pPr indent="0" marL="0">
              <a:lnSpc>
                <a:spcPct val="105000"/>
              </a:lnSpc>
              <a:buNone/>
            </a:pPr>
            <a:r>
              <a:rPr lang="en-US" sz="1300" dirty="0">
                <a:solidFill>
                  <a:srgbClr val="2B2B2B"/>
                </a:solidFill>
                <a:latin typeface="Times New Roman" pitchFamily="34" charset="0"/>
                <a:ea typeface="Times New Roman" pitchFamily="34" charset="-122"/>
                <a:cs typeface="Times New Roman" pitchFamily="34" charset="-120"/>
              </a:rPr>
              <a:t>Each loop is a complete cycle through all four quadrants. The radius represents cumulative cost and commitment — Loop 1 might be a cheap paper prototype; Loop 3 might be the production-ready release.</a:t>
            </a:r>
            <a:endParaRPr lang="en-US" sz="1300" dirty="0"/>
          </a:p>
          <a:p>
            <a:pPr indent="0" marL="0">
              <a:lnSpc>
                <a:spcPct val="105000"/>
              </a:lnSpc>
              <a:buNone/>
            </a:pPr>
            <a:endParaRPr lang="en-US" sz="1300" dirty="0"/>
          </a:p>
          <a:p>
            <a:pPr indent="0" marL="0">
              <a:lnSpc>
                <a:spcPct val="105000"/>
              </a:lnSpc>
              <a:buNone/>
            </a:pPr>
            <a:r>
              <a:rPr lang="en-US" sz="1300" dirty="0">
                <a:solidFill>
                  <a:srgbClr val="2B2B2B"/>
                </a:solidFill>
                <a:latin typeface="Times New Roman" pitchFamily="34" charset="0"/>
                <a:ea typeface="Times New Roman" pitchFamily="34" charset="-122"/>
                <a:cs typeface="Times New Roman" pitchFamily="34" charset="-120"/>
              </a:rPr>
              <a:t>Crucially, risk analysis (quadrant 2) happens every single loop — the project can be cancelled or redirected at the end of any loop if risk analysis reveals it's not worth continuing, before the next, more expensive loop begins.</a:t>
            </a:r>
            <a:endParaRPr lang="en-US" sz="1300" dirty="0"/>
          </a:p>
        </p:txBody>
      </p:sp>
      <p:sp>
        <p:nvSpPr>
          <p:cNvPr id="27" name="Text 25"/>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7A8B9A"/>
                </a:solidFill>
                <a:latin typeface="Times New Roman" pitchFamily="34" charset="0"/>
                <a:ea typeface="Times New Roman" pitchFamily="34" charset="-122"/>
                <a:cs typeface="Times New Roman" pitchFamily="34" charset="-120"/>
              </a:rPr>
              <a:t>CSE 0613-2209 · Web Programming   |   Week 5 · Agile Rituals &amp; Spiral Risk</a:t>
            </a:r>
            <a:endParaRPr lang="en-US" sz="1000" dirty="0"/>
          </a:p>
        </p:txBody>
      </p:sp>
      <p:sp>
        <p:nvSpPr>
          <p:cNvPr id="28" name="Text 26"/>
          <p:cNvSpPr txBox="1"/>
          <p:nvPr/>
        </p:nvSpPr>
        <p:spPr>
          <a:xfrm>
            <a:off x="11064240" y="6510528"/>
            <a:ext cx="457200" cy="274320"/>
          </a:xfrm>
          <a:prstGeom prst="rect">
            <a:avLst/>
          </a:prstGeom>
          <a:noFill/>
          <a:ln/>
        </p:spPr>
        <p:txBody>
          <a:bodyPr wrap="square" lIns="0" tIns="0" rIns="0" bIns="0" rtlCol="0" anchor="ctr"/>
          <a:lstStyle/>
          <a:p>
            <a:pPr algn="r" indent="0" marL="0">
              <a:buNone/>
            </a:pPr>
            <a:r>
              <a:rPr lang="en-US" sz="1000" dirty="0">
                <a:solidFill>
                  <a:srgbClr val="7A8B9A"/>
                </a:solidFill>
                <a:latin typeface="Times New Roman" pitchFamily="34" charset="0"/>
                <a:ea typeface="Times New Roman" pitchFamily="34" charset="-122"/>
                <a:cs typeface="Times New Roman"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274320"/>
          </a:xfrm>
          <a:prstGeom prst="rect">
            <a:avLst/>
          </a:prstGeom>
          <a:noFill/>
          <a:ln/>
        </p:spPr>
        <p:txBody>
          <a:bodyPr wrap="square" lIns="0" tIns="0" rIns="0" bIns="0" rtlCol="0" anchor="ctr"/>
          <a:lstStyle/>
          <a:p>
            <a:pPr indent="0" marL="0">
              <a:buNone/>
            </a:pPr>
            <a:r>
              <a:rPr lang="en-US" sz="1200" b="1" spc="100" kern="0" dirty="0">
                <a:solidFill>
                  <a:srgbClr val="5C7A96"/>
                </a:solidFill>
                <a:latin typeface="Times New Roman" pitchFamily="34" charset="0"/>
                <a:ea typeface="Times New Roman" pitchFamily="34" charset="-122"/>
                <a:cs typeface="Times New Roman" pitchFamily="34" charset="-120"/>
              </a:rPr>
              <a:t>WORKED EXAMPLE</a:t>
            </a:r>
            <a:endParaRPr lang="en-US" sz="1200" dirty="0"/>
          </a:p>
        </p:txBody>
      </p:sp>
      <p:sp>
        <p:nvSpPr>
          <p:cNvPr id="3" name="Text 1"/>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2800" b="1" dirty="0">
                <a:solidFill>
                  <a:srgbClr val="1F3B57"/>
                </a:solidFill>
                <a:latin typeface="Times New Roman" pitchFamily="34" charset="0"/>
                <a:ea typeface="Times New Roman" pitchFamily="34" charset="-122"/>
                <a:cs typeface="Times New Roman" pitchFamily="34" charset="-120"/>
              </a:rPr>
              <a:t>Worked Example — A Spiral Loop in Practice</a:t>
            </a:r>
            <a:endParaRPr lang="en-US" sz="2800" dirty="0"/>
          </a:p>
        </p:txBody>
      </p:sp>
      <p:sp>
        <p:nvSpPr>
          <p:cNvPr id="4" name="Text 2"/>
          <p:cNvSpPr txBox="1"/>
          <p:nvPr/>
        </p:nvSpPr>
        <p:spPr>
          <a:xfrm>
            <a:off x="548640" y="1463040"/>
            <a:ext cx="10424160" cy="4389120"/>
          </a:xfrm>
          <a:prstGeom prst="rect">
            <a:avLst/>
          </a:prstGeom>
          <a:noFill/>
          <a:ln/>
        </p:spPr>
        <p:txBody>
          <a:bodyPr wrap="square" lIns="0" tIns="0" rIns="0" bIns="0" rtlCol="0" anchor="t"/>
          <a:lstStyle/>
          <a:p>
            <a:pPr marL="228600" indent="-228600">
              <a:spcAft>
                <a:spcPts val="1100"/>
              </a:spcAft>
              <a:buSzPct val="100000"/>
              <a:buChar char="▪"/>
            </a:pPr>
            <a:r>
              <a:rPr lang="en-US" sz="1380" dirty="0">
                <a:solidFill>
                  <a:srgbClr val="2B2B2B"/>
                </a:solidFill>
                <a:latin typeface="Times New Roman" pitchFamily="34" charset="0"/>
                <a:ea typeface="Times New Roman" pitchFamily="34" charset="-122"/>
                <a:cs typeface="Times New Roman" pitchFamily="34" charset="-120"/>
              </a:rPr>
              <a:t>Scenario — a startup is building a novel AR shopping app; the biggest unknown is whether users will trust AR-based size recommendations enough to buy.</a:t>
            </a:r>
            <a:endParaRPr lang="en-US" sz="1380" dirty="0"/>
          </a:p>
          <a:p>
            <a:pPr marL="228600" indent="-228600">
              <a:spcAft>
                <a:spcPts val="1100"/>
              </a:spcAft>
              <a:buSzPct val="100000"/>
              <a:buChar char="▪"/>
            </a:pPr>
            <a:r>
              <a:rPr lang="en-US" sz="1380" dirty="0">
                <a:solidFill>
                  <a:srgbClr val="2B2B2B"/>
                </a:solidFill>
                <a:latin typeface="Times New Roman" pitchFamily="34" charset="0"/>
                <a:ea typeface="Times New Roman" pitchFamily="34" charset="-122"/>
                <a:cs typeface="Times New Roman" pitchFamily="34" charset="-120"/>
              </a:rPr>
              <a:t>Loop 1 (cheap) — Objectives: validate user trust. Risk Analysis: the risk is 'nobody trusts it', mitigated by testing with 20 users on a paper-prototype video, not real code. Engineering: build a clickable mockup only. Planning: if trust is low, pivot before writing a line of production code.</a:t>
            </a:r>
            <a:endParaRPr lang="en-US" sz="1380" dirty="0"/>
          </a:p>
          <a:p>
            <a:pPr marL="228600" indent="-228600">
              <a:spcAft>
                <a:spcPts val="1100"/>
              </a:spcAft>
              <a:buSzPct val="100000"/>
              <a:buChar char="▪"/>
            </a:pPr>
            <a:r>
              <a:rPr lang="en-US" sz="1380" dirty="0">
                <a:solidFill>
                  <a:srgbClr val="2B2B2B"/>
                </a:solidFill>
                <a:latin typeface="Times New Roman" pitchFamily="34" charset="0"/>
                <a:ea typeface="Times New Roman" pitchFamily="34" charset="-122"/>
                <a:cs typeface="Times New Roman" pitchFamily="34" charset="-120"/>
              </a:rPr>
              <a:t>Loop 2 (moderate cost) — Objectives: validate technical feasibility. Risk Analysis: the risk is 'AR sizing is inaccurate on real devices', mitigated by a working prototype tested on 5 phone models. Engineering: build a minimal real AR feature. Planning: proceed only if accuracy meets a defined threshold.</a:t>
            </a:r>
            <a:endParaRPr lang="en-US" sz="1380" dirty="0"/>
          </a:p>
          <a:p>
            <a:pPr marL="228600" indent="-228600">
              <a:spcAft>
                <a:spcPts val="1100"/>
              </a:spcAft>
              <a:buSzPct val="100000"/>
              <a:buChar char="▪"/>
            </a:pPr>
            <a:r>
              <a:rPr lang="en-US" sz="1380" dirty="0">
                <a:solidFill>
                  <a:srgbClr val="2B2B2B"/>
                </a:solidFill>
                <a:latin typeface="Times New Roman" pitchFamily="34" charset="0"/>
                <a:ea typeface="Times New Roman" pitchFamily="34" charset="-122"/>
                <a:cs typeface="Times New Roman" pitchFamily="34" charset="-120"/>
              </a:rPr>
              <a:t>Loop 3 (full investment) — Objectives: full feature build. Risk Analysis: risk is now scaling and app-store approval, not user trust or feasibility — those were already retired in Loops 1 and 2. Engineering: full production build. Planning: launch.</a:t>
            </a:r>
            <a:endParaRPr lang="en-US" sz="1380" dirty="0"/>
          </a:p>
          <a:p>
            <a:pPr marL="228600" indent="-228600">
              <a:spcAft>
                <a:spcPts val="1100"/>
              </a:spcAft>
              <a:buSzPct val="100000"/>
              <a:buChar char="▪"/>
            </a:pPr>
            <a:r>
              <a:rPr lang="en-US" sz="1380" dirty="0">
                <a:solidFill>
                  <a:srgbClr val="2B2B2B"/>
                </a:solidFill>
                <a:latin typeface="Times New Roman" pitchFamily="34" charset="0"/>
                <a:ea typeface="Times New Roman" pitchFamily="34" charset="-122"/>
                <a:cs typeface="Times New Roman" pitchFamily="34" charset="-120"/>
              </a:rPr>
              <a:t>Key insight — each loop retires the single biggest remaining risk before spending more, so the most expensive commitment (Loop 3) only happens once the riskiest unknowns are already resolved cheaply.</a:t>
            </a:r>
            <a:endParaRPr lang="en-US" sz="1380" dirty="0"/>
          </a:p>
        </p:txBody>
      </p:sp>
      <p:sp>
        <p:nvSpPr>
          <p:cNvPr id="5" name="Text 3"/>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7A8B9A"/>
                </a:solidFill>
                <a:latin typeface="Times New Roman" pitchFamily="34" charset="0"/>
                <a:ea typeface="Times New Roman" pitchFamily="34" charset="-122"/>
                <a:cs typeface="Times New Roman" pitchFamily="34" charset="-120"/>
              </a:rPr>
              <a:t>CSE 0613-2209 · Web Programming   |   Week 5 · Agile Rituals &amp; Spiral Risk</a:t>
            </a:r>
            <a:endParaRPr lang="en-US" sz="1000" dirty="0"/>
          </a:p>
        </p:txBody>
      </p:sp>
      <p:sp>
        <p:nvSpPr>
          <p:cNvPr id="6" name="Text 4"/>
          <p:cNvSpPr txBox="1"/>
          <p:nvPr/>
        </p:nvSpPr>
        <p:spPr>
          <a:xfrm>
            <a:off x="11064240" y="6510528"/>
            <a:ext cx="457200" cy="274320"/>
          </a:xfrm>
          <a:prstGeom prst="rect">
            <a:avLst/>
          </a:prstGeom>
          <a:noFill/>
          <a:ln/>
        </p:spPr>
        <p:txBody>
          <a:bodyPr wrap="square" lIns="0" tIns="0" rIns="0" bIns="0" rtlCol="0" anchor="ctr"/>
          <a:lstStyle/>
          <a:p>
            <a:pPr algn="r" indent="0" marL="0">
              <a:buNone/>
            </a:pPr>
            <a:r>
              <a:rPr lang="en-US" sz="1000" dirty="0">
                <a:solidFill>
                  <a:srgbClr val="7A8B9A"/>
                </a:solidFill>
                <a:latin typeface="Times New Roman" pitchFamily="34" charset="0"/>
                <a:ea typeface="Times New Roman" pitchFamily="34" charset="-122"/>
                <a:cs typeface="Times New Roman"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5F8"/>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274320"/>
          </a:xfrm>
          <a:prstGeom prst="rect">
            <a:avLst/>
          </a:prstGeom>
          <a:noFill/>
          <a:ln/>
        </p:spPr>
        <p:txBody>
          <a:bodyPr wrap="square" lIns="0" tIns="0" rIns="0" bIns="0" rtlCol="0" anchor="ctr"/>
          <a:lstStyle/>
          <a:p>
            <a:pPr indent="0" marL="0">
              <a:buNone/>
            </a:pPr>
            <a:r>
              <a:rPr lang="en-US" sz="1200" b="1" spc="100" kern="0" dirty="0">
                <a:solidFill>
                  <a:srgbClr val="5C7A96"/>
                </a:solidFill>
                <a:latin typeface="Times New Roman" pitchFamily="34" charset="0"/>
                <a:ea typeface="Times New Roman" pitchFamily="34" charset="-122"/>
                <a:cs typeface="Times New Roman" pitchFamily="34" charset="-120"/>
              </a:rPr>
              <a:t>FIGURE 5.7</a:t>
            </a:r>
            <a:endParaRPr lang="en-US" sz="1200" dirty="0"/>
          </a:p>
        </p:txBody>
      </p:sp>
      <p:sp>
        <p:nvSpPr>
          <p:cNvPr id="3" name="Text 1"/>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2800" b="1" dirty="0">
                <a:solidFill>
                  <a:srgbClr val="1F3B57"/>
                </a:solidFill>
                <a:latin typeface="Times New Roman" pitchFamily="34" charset="0"/>
                <a:ea typeface="Times New Roman" pitchFamily="34" charset="-122"/>
                <a:cs typeface="Times New Roman" pitchFamily="34" charset="-120"/>
              </a:rPr>
              <a:t>The Cost-of-Change Curve</a:t>
            </a:r>
            <a:endParaRPr lang="en-US" sz="2800" dirty="0"/>
          </a:p>
        </p:txBody>
      </p:sp>
      <p:sp>
        <p:nvSpPr>
          <p:cNvPr id="4" name="Text 2"/>
          <p:cNvSpPr txBox="1"/>
          <p:nvPr/>
        </p:nvSpPr>
        <p:spPr>
          <a:xfrm>
            <a:off x="548640" y="1188720"/>
            <a:ext cx="11064240" cy="365760"/>
          </a:xfrm>
          <a:prstGeom prst="rect">
            <a:avLst/>
          </a:prstGeom>
          <a:noFill/>
          <a:ln/>
        </p:spPr>
        <p:txBody>
          <a:bodyPr wrap="square" lIns="0" tIns="0" rIns="0" bIns="0" rtlCol="0" anchor="ctr"/>
          <a:lstStyle/>
          <a:p>
            <a:pPr indent="0" marL="0">
              <a:buNone/>
            </a:pPr>
            <a:r>
              <a:rPr lang="en-US" sz="1350" i="1" dirty="0">
                <a:solidFill>
                  <a:srgbClr val="2B2B2B"/>
                </a:solidFill>
                <a:latin typeface="Times New Roman" pitchFamily="34" charset="0"/>
                <a:ea typeface="Times New Roman" pitchFamily="34" charset="-122"/>
                <a:cs typeface="Times New Roman" pitchFamily="34" charset="-120"/>
              </a:rPr>
              <a:t>The relative cost of fixing a defect grows exponentially the later it's discovered in the process.</a:t>
            </a:r>
            <a:endParaRPr lang="en-US" sz="1350" dirty="0"/>
          </a:p>
        </p:txBody>
      </p:sp>
      <p:graphicFrame>
        <p:nvGraphicFramePr>
          <p:cNvPr id="5" name="Chart 0" descr=""/>
          <p:cNvGraphicFramePr/>
          <p:nvPr/>
        </p:nvGraphicFramePr>
        <p:xfrm>
          <a:off x="548640" y="1691640"/>
          <a:ext cx="11064240" cy="41148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7A8B9A"/>
                </a:solidFill>
                <a:latin typeface="Times New Roman" pitchFamily="34" charset="0"/>
                <a:ea typeface="Times New Roman" pitchFamily="34" charset="-122"/>
                <a:cs typeface="Times New Roman" pitchFamily="34" charset="-120"/>
              </a:rPr>
              <a:t>CSE 0613-2209 · Web Programming   |   Week 5 · Agile Rituals &amp; Spiral Risk</a:t>
            </a:r>
            <a:endParaRPr lang="en-US" sz="1000" dirty="0"/>
          </a:p>
        </p:txBody>
      </p:sp>
      <p:sp>
        <p:nvSpPr>
          <p:cNvPr id="7" name="Text 4"/>
          <p:cNvSpPr txBox="1"/>
          <p:nvPr/>
        </p:nvSpPr>
        <p:spPr>
          <a:xfrm>
            <a:off x="11064240" y="6510528"/>
            <a:ext cx="457200" cy="274320"/>
          </a:xfrm>
          <a:prstGeom prst="rect">
            <a:avLst/>
          </a:prstGeom>
          <a:noFill/>
          <a:ln/>
        </p:spPr>
        <p:txBody>
          <a:bodyPr wrap="square" lIns="0" tIns="0" rIns="0" bIns="0" rtlCol="0" anchor="ctr"/>
          <a:lstStyle/>
          <a:p>
            <a:pPr algn="r" indent="0" marL="0">
              <a:buNone/>
            </a:pPr>
            <a:r>
              <a:rPr lang="en-US" sz="1000" dirty="0">
                <a:solidFill>
                  <a:srgbClr val="7A8B9A"/>
                </a:solidFill>
                <a:latin typeface="Times New Roman" pitchFamily="34" charset="0"/>
                <a:ea typeface="Times New Roman" pitchFamily="34" charset="-122"/>
                <a:cs typeface="Times New Roman"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274320"/>
          </a:xfrm>
          <a:prstGeom prst="rect">
            <a:avLst/>
          </a:prstGeom>
          <a:noFill/>
          <a:ln/>
        </p:spPr>
        <p:txBody>
          <a:bodyPr wrap="square" lIns="0" tIns="0" rIns="0" bIns="0" rtlCol="0" anchor="ctr"/>
          <a:lstStyle/>
          <a:p>
            <a:pPr indent="0" marL="0">
              <a:buNone/>
            </a:pPr>
            <a:r>
              <a:rPr lang="en-US" sz="1200" b="1" spc="100" kern="0" dirty="0">
                <a:solidFill>
                  <a:srgbClr val="5C7A96"/>
                </a:solidFill>
                <a:latin typeface="Times New Roman" pitchFamily="34" charset="0"/>
                <a:ea typeface="Times New Roman" pitchFamily="34" charset="-122"/>
                <a:cs typeface="Times New Roman" pitchFamily="34" charset="-120"/>
              </a:rPr>
              <a:t>WORKED EXAMPLE</a:t>
            </a:r>
            <a:endParaRPr lang="en-US" sz="1200" dirty="0"/>
          </a:p>
        </p:txBody>
      </p:sp>
      <p:sp>
        <p:nvSpPr>
          <p:cNvPr id="3" name="Text 1"/>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2800" b="1" dirty="0">
                <a:solidFill>
                  <a:srgbClr val="1F3B57"/>
                </a:solidFill>
                <a:latin typeface="Times New Roman" pitchFamily="34" charset="0"/>
                <a:ea typeface="Times New Roman" pitchFamily="34" charset="-122"/>
                <a:cs typeface="Times New Roman" pitchFamily="34" charset="-120"/>
              </a:rPr>
              <a:t>Worked Example — Same Bug, Different Discovery Point</a:t>
            </a:r>
            <a:endParaRPr lang="en-US" sz="2800" dirty="0"/>
          </a:p>
        </p:txBody>
      </p:sp>
      <p:sp>
        <p:nvSpPr>
          <p:cNvPr id="4" name="Text 2"/>
          <p:cNvSpPr txBox="1"/>
          <p:nvPr/>
        </p:nvSpPr>
        <p:spPr>
          <a:xfrm>
            <a:off x="548640" y="1463040"/>
            <a:ext cx="10424160" cy="4297680"/>
          </a:xfrm>
          <a:prstGeom prst="rect">
            <a:avLst/>
          </a:prstGeom>
          <a:noFill/>
          <a:ln/>
        </p:spPr>
        <p:txBody>
          <a:bodyPr wrap="square" lIns="0" tIns="0" rIns="0" bIns="0" rtlCol="0" anchor="t"/>
          <a:lstStyle/>
          <a:p>
            <a:pPr marL="228600" indent="-228600">
              <a:spcAft>
                <a:spcPts val="1100"/>
              </a:spcAft>
              <a:buSzPct val="100000"/>
              <a:buChar char="▪"/>
            </a:pPr>
            <a:r>
              <a:rPr lang="en-US" sz="1500" dirty="0">
                <a:solidFill>
                  <a:srgbClr val="2B2B2B"/>
                </a:solidFill>
                <a:latin typeface="Times New Roman" pitchFamily="34" charset="0"/>
                <a:ea typeface="Times New Roman" pitchFamily="34" charset="-122"/>
                <a:cs typeface="Times New Roman" pitchFamily="34" charset="-120"/>
              </a:rPr>
              <a:t>Scenario — a missing null-check on a payment form field would take a developer about 20 minutes to fix if caught while writing the code.</a:t>
            </a:r>
            <a:endParaRPr lang="en-US" sz="1500" dirty="0"/>
          </a:p>
          <a:p>
            <a:pPr marL="228600" indent="-228600">
              <a:spcAft>
                <a:spcPts val="1100"/>
              </a:spcAft>
              <a:buSzPct val="100000"/>
              <a:buChar char="▪"/>
            </a:pPr>
            <a:r>
              <a:rPr lang="en-US" sz="1500" dirty="0">
                <a:solidFill>
                  <a:srgbClr val="2B2B2B"/>
                </a:solidFill>
                <a:latin typeface="Times New Roman" pitchFamily="34" charset="0"/>
                <a:ea typeface="Times New Roman" pitchFamily="34" charset="-122"/>
                <a:cs typeface="Times New Roman" pitchFamily="34" charset="-120"/>
              </a:rPr>
              <a:t>Caught in Requirements review — cost ≈ 20 minutes × 1 = 20 minutes (just a documentation note).</a:t>
            </a:r>
            <a:endParaRPr lang="en-US" sz="1500" dirty="0"/>
          </a:p>
          <a:p>
            <a:pPr marL="228600" indent="-228600">
              <a:spcAft>
                <a:spcPts val="1100"/>
              </a:spcAft>
              <a:buSzPct val="100000"/>
              <a:buChar char="▪"/>
            </a:pPr>
            <a:r>
              <a:rPr lang="en-US" sz="1500" dirty="0">
                <a:solidFill>
                  <a:srgbClr val="2B2B2B"/>
                </a:solidFill>
                <a:latin typeface="Times New Roman" pitchFamily="34" charset="0"/>
                <a:ea typeface="Times New Roman" pitchFamily="34" charset="-122"/>
                <a:cs typeface="Times New Roman" pitchFamily="34" charset="-120"/>
              </a:rPr>
              <a:t>Caught in Testing — cost ≈ 20 minutes × 25 = ~8.3 hours (root-causing a hard-to-reproduce bug, retesting, redeploying to the test environment).</a:t>
            </a:r>
            <a:endParaRPr lang="en-US" sz="1500" dirty="0"/>
          </a:p>
          <a:p>
            <a:pPr marL="228600" indent="-228600">
              <a:spcAft>
                <a:spcPts val="1100"/>
              </a:spcAft>
              <a:buSzPct val="100000"/>
              <a:buChar char="▪"/>
            </a:pPr>
            <a:r>
              <a:rPr lang="en-US" sz="1500" dirty="0">
                <a:solidFill>
                  <a:srgbClr val="2B2B2B"/>
                </a:solidFill>
                <a:latin typeface="Times New Roman" pitchFamily="34" charset="0"/>
                <a:ea typeface="Times New Roman" pitchFamily="34" charset="-122"/>
                <a:cs typeface="Times New Roman" pitchFamily="34" charset="-120"/>
              </a:rPr>
              <a:t>Caught in Production — cost ≈ 20 minutes × 100 = ~33 hours (incident response, hotfix, emergency deploy, customer communication, and possible reputational cost).</a:t>
            </a:r>
            <a:endParaRPr lang="en-US" sz="1500" dirty="0"/>
          </a:p>
          <a:p>
            <a:pPr marL="228600" indent="-228600">
              <a:spcAft>
                <a:spcPts val="1100"/>
              </a:spcAft>
              <a:buSzPct val="100000"/>
              <a:buChar char="▪"/>
            </a:pPr>
            <a:r>
              <a:rPr lang="en-US" sz="1500" dirty="0">
                <a:solidFill>
                  <a:srgbClr val="2B2B2B"/>
                </a:solidFill>
                <a:latin typeface="Times New Roman" pitchFamily="34" charset="0"/>
                <a:ea typeface="Times New Roman" pitchFamily="34" charset="-122"/>
                <a:cs typeface="Times New Roman" pitchFamily="34" charset="-120"/>
              </a:rPr>
              <a:t>Takeaway — this is precisely why Agile's short sprints (fast feedback) and Spiral's early risk analysis both exist: the goal in both models is to move the discovery point as far left on this curve as possible.</a:t>
            </a:r>
            <a:endParaRPr lang="en-US" sz="1500" dirty="0"/>
          </a:p>
        </p:txBody>
      </p:sp>
      <p:sp>
        <p:nvSpPr>
          <p:cNvPr id="5" name="Text 3"/>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7A8B9A"/>
                </a:solidFill>
                <a:latin typeface="Times New Roman" pitchFamily="34" charset="0"/>
                <a:ea typeface="Times New Roman" pitchFamily="34" charset="-122"/>
                <a:cs typeface="Times New Roman" pitchFamily="34" charset="-120"/>
              </a:rPr>
              <a:t>CSE 0613-2209 · Web Programming   |   Week 5 · Agile Rituals &amp; Spiral Risk</a:t>
            </a:r>
            <a:endParaRPr lang="en-US" sz="1000" dirty="0"/>
          </a:p>
        </p:txBody>
      </p:sp>
      <p:sp>
        <p:nvSpPr>
          <p:cNvPr id="6" name="Text 4"/>
          <p:cNvSpPr txBox="1"/>
          <p:nvPr/>
        </p:nvSpPr>
        <p:spPr>
          <a:xfrm>
            <a:off x="11064240" y="6510528"/>
            <a:ext cx="457200" cy="274320"/>
          </a:xfrm>
          <a:prstGeom prst="rect">
            <a:avLst/>
          </a:prstGeom>
          <a:noFill/>
          <a:ln/>
        </p:spPr>
        <p:txBody>
          <a:bodyPr wrap="square" lIns="0" tIns="0" rIns="0" bIns="0" rtlCol="0" anchor="ctr"/>
          <a:lstStyle/>
          <a:p>
            <a:pPr algn="r" indent="0" marL="0">
              <a:buNone/>
            </a:pPr>
            <a:r>
              <a:rPr lang="en-US" sz="1000" dirty="0">
                <a:solidFill>
                  <a:srgbClr val="7A8B9A"/>
                </a:solidFill>
                <a:latin typeface="Times New Roman" pitchFamily="34" charset="0"/>
                <a:ea typeface="Times New Roman" pitchFamily="34" charset="-122"/>
                <a:cs typeface="Times New Roman"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5F8"/>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274320"/>
          </a:xfrm>
          <a:prstGeom prst="rect">
            <a:avLst/>
          </a:prstGeom>
          <a:noFill/>
          <a:ln/>
        </p:spPr>
        <p:txBody>
          <a:bodyPr wrap="square" lIns="0" tIns="0" rIns="0" bIns="0" rtlCol="0" anchor="ctr"/>
          <a:lstStyle/>
          <a:p>
            <a:pPr indent="0" marL="0">
              <a:buNone/>
            </a:pPr>
            <a:r>
              <a:rPr lang="en-US" sz="1200" b="1" spc="100" kern="0" dirty="0">
                <a:solidFill>
                  <a:srgbClr val="5C7A96"/>
                </a:solidFill>
                <a:latin typeface="Times New Roman" pitchFamily="34" charset="0"/>
                <a:ea typeface="Times New Roman" pitchFamily="34" charset="-122"/>
                <a:cs typeface="Times New Roman" pitchFamily="34" charset="-120"/>
              </a:rPr>
              <a:t>5.2 SCRUM ROLES</a:t>
            </a:r>
            <a:endParaRPr lang="en-US" sz="1200" dirty="0"/>
          </a:p>
        </p:txBody>
      </p:sp>
      <p:sp>
        <p:nvSpPr>
          <p:cNvPr id="3" name="Text 1"/>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2800" b="1" dirty="0">
                <a:solidFill>
                  <a:srgbClr val="1F3B57"/>
                </a:solidFill>
                <a:latin typeface="Times New Roman" pitchFamily="34" charset="0"/>
                <a:ea typeface="Times New Roman" pitchFamily="34" charset="-122"/>
                <a:cs typeface="Times New Roman" pitchFamily="34" charset="-120"/>
              </a:rPr>
              <a:t>The Three Scrum Roles</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377440"/>
                <a:gridCol w="5120640"/>
                <a:gridCol w="3566160"/>
              </a:tblGrid>
              <a:tr h="868680">
                <a:tc>
                  <a:txBody>
                    <a:bodyPr/>
                    <a:lstStyle/>
                    <a:p>
                      <a:pPr algn="l" indent="0" marL="0">
                        <a:buNone/>
                      </a:pPr>
                      <a:r>
                        <a:rPr lang="en-US" sz="1400" b="1" dirty="0">
                          <a:solidFill>
                            <a:srgbClr val="FFFFFF"/>
                          </a:solidFill>
                          <a:latin typeface="Times New Roman" pitchFamily="34" charset="0"/>
                          <a:ea typeface="Times New Roman" pitchFamily="34" charset="-122"/>
                          <a:cs typeface="Times New Roman" pitchFamily="34" charset="-120"/>
                        </a:rPr>
                        <a:t>Role</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F3B57"/>
                    </a:solidFill>
                  </a:tcPr>
                </a:tc>
                <a:tc>
                  <a:txBody>
                    <a:bodyPr/>
                    <a:lstStyle/>
                    <a:p>
                      <a:pPr algn="l" indent="0" marL="0">
                        <a:buNone/>
                      </a:pPr>
                      <a:r>
                        <a:rPr lang="en-US" sz="1400" b="1" dirty="0">
                          <a:solidFill>
                            <a:srgbClr val="FFFFFF"/>
                          </a:solidFill>
                          <a:latin typeface="Times New Roman" pitchFamily="34" charset="0"/>
                          <a:ea typeface="Times New Roman" pitchFamily="34" charset="-122"/>
                          <a:cs typeface="Times New Roman" pitchFamily="34" charset="-120"/>
                        </a:rPr>
                        <a:t>Responsible For</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F3B57"/>
                    </a:solidFill>
                  </a:tcPr>
                </a:tc>
                <a:tc>
                  <a:txBody>
                    <a:bodyPr/>
                    <a:lstStyle/>
                    <a:p>
                      <a:pPr algn="l" indent="0" marL="0">
                        <a:buNone/>
                      </a:pPr>
                      <a:r>
                        <a:rPr lang="en-US" sz="1400" b="1" dirty="0">
                          <a:solidFill>
                            <a:srgbClr val="FFFFFF"/>
                          </a:solidFill>
                          <a:latin typeface="Times New Roman" pitchFamily="34" charset="0"/>
                          <a:ea typeface="Times New Roman" pitchFamily="34" charset="-122"/>
                          <a:cs typeface="Times New Roman" pitchFamily="34" charset="-120"/>
                        </a:rPr>
                        <a:t>Not Responsible For</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F3B57"/>
                    </a:solidFill>
                  </a:tcPr>
                </a:tc>
              </a:tr>
              <a:tr h="868680">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Product Owner</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Prioritising the backlog; deciding what gets built and in what order, representing business/user needs</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How the team implements a story technically</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868680">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Scrum Master</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Facilitating rituals, removing blockers, protecting the team from scope disruption mid-sprint</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Assigning tasks or dictating technical decisions</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r>
              <a:tr h="868680">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Development Team</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Estimating, building, and testing the work; deciding how to implement each story</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Deciding what to build or in what priority order</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7A8B9A"/>
                </a:solidFill>
                <a:latin typeface="Times New Roman" pitchFamily="34" charset="0"/>
                <a:ea typeface="Times New Roman" pitchFamily="34" charset="-122"/>
                <a:cs typeface="Times New Roman" pitchFamily="34" charset="-120"/>
              </a:rPr>
              <a:t>CSE 0613-2209 · Web Programming   |   Week 5 · Agile Rituals &amp; Spiral Risk</a:t>
            </a:r>
            <a:endParaRPr lang="en-US" sz="1000" dirty="0"/>
          </a:p>
        </p:txBody>
      </p:sp>
      <p:sp>
        <p:nvSpPr>
          <p:cNvPr id="6" name="Text 3"/>
          <p:cNvSpPr txBox="1"/>
          <p:nvPr/>
        </p:nvSpPr>
        <p:spPr>
          <a:xfrm>
            <a:off x="11064240" y="6510528"/>
            <a:ext cx="457200" cy="274320"/>
          </a:xfrm>
          <a:prstGeom prst="rect">
            <a:avLst/>
          </a:prstGeom>
          <a:noFill/>
          <a:ln/>
        </p:spPr>
        <p:txBody>
          <a:bodyPr wrap="square" lIns="0" tIns="0" rIns="0" bIns="0" rtlCol="0" anchor="ctr"/>
          <a:lstStyle/>
          <a:p>
            <a:pPr algn="r" indent="0" marL="0">
              <a:buNone/>
            </a:pPr>
            <a:r>
              <a:rPr lang="en-US" sz="1000" dirty="0">
                <a:solidFill>
                  <a:srgbClr val="7A8B9A"/>
                </a:solidFill>
                <a:latin typeface="Times New Roman" pitchFamily="34" charset="0"/>
                <a:ea typeface="Times New Roman" pitchFamily="34" charset="-122"/>
                <a:cs typeface="Times New Roman"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274320"/>
          </a:xfrm>
          <a:prstGeom prst="rect">
            <a:avLst/>
          </a:prstGeom>
          <a:noFill/>
          <a:ln/>
        </p:spPr>
        <p:txBody>
          <a:bodyPr wrap="square" lIns="0" tIns="0" rIns="0" bIns="0" rtlCol="0" anchor="ctr"/>
          <a:lstStyle/>
          <a:p>
            <a:pPr indent="0" marL="0">
              <a:buNone/>
            </a:pPr>
            <a:r>
              <a:rPr lang="en-US" sz="1200" b="1" spc="100" kern="0" dirty="0">
                <a:solidFill>
                  <a:srgbClr val="5C7A96"/>
                </a:solidFill>
                <a:latin typeface="Times New Roman" pitchFamily="34" charset="0"/>
                <a:ea typeface="Times New Roman" pitchFamily="34" charset="-122"/>
                <a:cs typeface="Times New Roman" pitchFamily="34" charset="-120"/>
              </a:rPr>
              <a:t>FIGURE 5.8</a:t>
            </a:r>
            <a:endParaRPr lang="en-US" sz="1200" dirty="0"/>
          </a:p>
        </p:txBody>
      </p:sp>
      <p:sp>
        <p:nvSpPr>
          <p:cNvPr id="3" name="Text 1"/>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2800" b="1" dirty="0">
                <a:solidFill>
                  <a:srgbClr val="1F3B57"/>
                </a:solidFill>
                <a:latin typeface="Times New Roman" pitchFamily="34" charset="0"/>
                <a:ea typeface="Times New Roman" pitchFamily="34" charset="-122"/>
                <a:cs typeface="Times New Roman" pitchFamily="34" charset="-120"/>
              </a:rPr>
              <a:t>The Scrum Ritual Cycle</a:t>
            </a:r>
            <a:endParaRPr lang="en-US" sz="2800" dirty="0"/>
          </a:p>
        </p:txBody>
      </p:sp>
      <p:sp>
        <p:nvSpPr>
          <p:cNvPr id="4" name="Text 2"/>
          <p:cNvSpPr txBox="1"/>
          <p:nvPr/>
        </p:nvSpPr>
        <p:spPr>
          <a:xfrm>
            <a:off x="548640" y="1234440"/>
            <a:ext cx="11064240" cy="365760"/>
          </a:xfrm>
          <a:prstGeom prst="rect">
            <a:avLst/>
          </a:prstGeom>
          <a:noFill/>
          <a:ln/>
        </p:spPr>
        <p:txBody>
          <a:bodyPr wrap="square" lIns="0" tIns="0" rIns="0" bIns="0" rtlCol="0" anchor="ctr"/>
          <a:lstStyle/>
          <a:p>
            <a:pPr indent="0" marL="0">
              <a:buNone/>
            </a:pPr>
            <a:r>
              <a:rPr lang="en-US" sz="1350" i="1" dirty="0">
                <a:solidFill>
                  <a:srgbClr val="2B2B2B"/>
                </a:solidFill>
                <a:latin typeface="Times New Roman" pitchFamily="34" charset="0"/>
                <a:ea typeface="Times New Roman" pitchFamily="34" charset="-122"/>
                <a:cs typeface="Times New Roman" pitchFamily="34" charset="-120"/>
              </a:rPr>
              <a:t>Four ceremonies structure every sprint, plus one daily ritual that repeats throughout.</a:t>
            </a:r>
            <a:endParaRPr lang="en-US" sz="1350" dirty="0"/>
          </a:p>
        </p:txBody>
      </p:sp>
      <p:sp>
        <p:nvSpPr>
          <p:cNvPr id="5" name="Shape 3"/>
          <p:cNvSpPr/>
          <p:nvPr/>
        </p:nvSpPr>
        <p:spPr>
          <a:xfrm>
            <a:off x="548640" y="2103120"/>
            <a:ext cx="2331720" cy="1463040"/>
          </a:xfrm>
          <a:prstGeom prst="roundRect">
            <a:avLst>
              <a:gd name="adj" fmla="val 3750"/>
            </a:avLst>
          </a:prstGeom>
          <a:solidFill>
            <a:srgbClr val="E8EEF3"/>
          </a:solidFill>
          <a:ln w="15875">
            <a:solidFill>
              <a:srgbClr val="1F3B57"/>
            </a:solidFill>
            <a:prstDash val="solid"/>
          </a:ln>
        </p:spPr>
      </p:sp>
      <p:sp>
        <p:nvSpPr>
          <p:cNvPr id="6" name="Text 4"/>
          <p:cNvSpPr txBox="1"/>
          <p:nvPr/>
        </p:nvSpPr>
        <p:spPr>
          <a:xfrm>
            <a:off x="621792" y="2103120"/>
            <a:ext cx="2185416" cy="877824"/>
          </a:xfrm>
          <a:prstGeom prst="rect">
            <a:avLst/>
          </a:prstGeom>
          <a:noFill/>
          <a:ln/>
        </p:spPr>
        <p:txBody>
          <a:bodyPr wrap="square" lIns="0" tIns="0" rIns="0" bIns="0" rtlCol="0" anchor="ctr"/>
          <a:lstStyle/>
          <a:p>
            <a:pPr algn="ctr" indent="0" marL="0">
              <a:buNone/>
            </a:pPr>
            <a:r>
              <a:rPr lang="en-US" sz="1250" b="1" dirty="0">
                <a:solidFill>
                  <a:srgbClr val="1F3B57"/>
                </a:solidFill>
                <a:latin typeface="Times New Roman" pitchFamily="34" charset="0"/>
                <a:ea typeface="Times New Roman" pitchFamily="34" charset="-122"/>
                <a:cs typeface="Times New Roman" pitchFamily="34" charset="-120"/>
              </a:rPr>
              <a:t>Sprint Planning</a:t>
            </a:r>
            <a:endParaRPr lang="en-US" sz="1250" dirty="0"/>
          </a:p>
        </p:txBody>
      </p:sp>
      <p:sp>
        <p:nvSpPr>
          <p:cNvPr id="7" name="Text 5"/>
          <p:cNvSpPr txBox="1"/>
          <p:nvPr/>
        </p:nvSpPr>
        <p:spPr>
          <a:xfrm>
            <a:off x="621792" y="2907792"/>
            <a:ext cx="2185416" cy="585216"/>
          </a:xfrm>
          <a:prstGeom prst="rect">
            <a:avLst/>
          </a:prstGeom>
          <a:noFill/>
          <a:ln/>
        </p:spPr>
        <p:txBody>
          <a:bodyPr wrap="square" lIns="0" tIns="0" rIns="0" bIns="0" rtlCol="0" anchor="t"/>
          <a:lstStyle/>
          <a:p>
            <a:pPr algn="ctr" indent="0" marL="0">
              <a:buNone/>
            </a:pPr>
            <a:r>
              <a:rPr lang="en-US" sz="1050" dirty="0">
                <a:solidFill>
                  <a:srgbClr val="2B2B2B"/>
                </a:solidFill>
                <a:latin typeface="Times New Roman" pitchFamily="34" charset="0"/>
                <a:ea typeface="Times New Roman" pitchFamily="34" charset="-122"/>
                <a:cs typeface="Times New Roman" pitchFamily="34" charset="-120"/>
              </a:rPr>
              <a:t>Team commits to a scoped set of backlog items for the sprint</a:t>
            </a:r>
            <a:endParaRPr lang="en-US" sz="1050" dirty="0"/>
          </a:p>
        </p:txBody>
      </p:sp>
      <p:sp>
        <p:nvSpPr>
          <p:cNvPr id="8" name="Shape 6"/>
          <p:cNvSpPr/>
          <p:nvPr/>
        </p:nvSpPr>
        <p:spPr>
          <a:xfrm>
            <a:off x="3200400" y="2103120"/>
            <a:ext cx="2331720" cy="1463040"/>
          </a:xfrm>
          <a:prstGeom prst="roundRect">
            <a:avLst>
              <a:gd name="adj" fmla="val 3750"/>
            </a:avLst>
          </a:prstGeom>
          <a:solidFill>
            <a:srgbClr val="1F3B57"/>
          </a:solidFill>
          <a:ln w="15875">
            <a:solidFill>
              <a:srgbClr val="1F3B57"/>
            </a:solidFill>
            <a:prstDash val="solid"/>
          </a:ln>
        </p:spPr>
      </p:sp>
      <p:sp>
        <p:nvSpPr>
          <p:cNvPr id="9" name="Text 7"/>
          <p:cNvSpPr txBox="1"/>
          <p:nvPr/>
        </p:nvSpPr>
        <p:spPr>
          <a:xfrm>
            <a:off x="3273552" y="2103120"/>
            <a:ext cx="2185416" cy="877824"/>
          </a:xfrm>
          <a:prstGeom prst="rect">
            <a:avLst/>
          </a:prstGeom>
          <a:noFill/>
          <a:ln/>
        </p:spPr>
        <p:txBody>
          <a:bodyPr wrap="square" lIns="0" tIns="0" rIns="0" bIns="0" rtlCol="0" anchor="ctr"/>
          <a:lstStyle/>
          <a:p>
            <a:pPr algn="ctr" indent="0" marL="0">
              <a:buNone/>
            </a:pPr>
            <a:r>
              <a:rPr lang="en-US" sz="1250" b="1" dirty="0">
                <a:solidFill>
                  <a:srgbClr val="FFFFFF"/>
                </a:solidFill>
                <a:latin typeface="Times New Roman" pitchFamily="34" charset="0"/>
                <a:ea typeface="Times New Roman" pitchFamily="34" charset="-122"/>
                <a:cs typeface="Times New Roman" pitchFamily="34" charset="-120"/>
              </a:rPr>
              <a:t>Daily Standup</a:t>
            </a:r>
            <a:endParaRPr lang="en-US" sz="1250" dirty="0"/>
          </a:p>
        </p:txBody>
      </p:sp>
      <p:sp>
        <p:nvSpPr>
          <p:cNvPr id="10" name="Text 8"/>
          <p:cNvSpPr txBox="1"/>
          <p:nvPr/>
        </p:nvSpPr>
        <p:spPr>
          <a:xfrm>
            <a:off x="3273552" y="2907792"/>
            <a:ext cx="2185416" cy="585216"/>
          </a:xfrm>
          <a:prstGeom prst="rect">
            <a:avLst/>
          </a:prstGeom>
          <a:noFill/>
          <a:ln/>
        </p:spPr>
        <p:txBody>
          <a:bodyPr wrap="square" lIns="0" tIns="0" rIns="0" bIns="0" rtlCol="0" anchor="t"/>
          <a:lstStyle/>
          <a:p>
            <a:pPr algn="ctr" indent="0" marL="0">
              <a:buNone/>
            </a:pPr>
            <a:r>
              <a:rPr lang="en-US" sz="1050" dirty="0">
                <a:solidFill>
                  <a:srgbClr val="D6E0EA"/>
                </a:solidFill>
                <a:latin typeface="Times New Roman" pitchFamily="34" charset="0"/>
                <a:ea typeface="Times New Roman" pitchFamily="34" charset="-122"/>
                <a:cs typeface="Times New Roman" pitchFamily="34" charset="-120"/>
              </a:rPr>
              <a:t>15-min daily sync: progress, plans, blockers — repeats every day</a:t>
            </a:r>
            <a:endParaRPr lang="en-US" sz="1050" dirty="0"/>
          </a:p>
        </p:txBody>
      </p:sp>
      <p:sp>
        <p:nvSpPr>
          <p:cNvPr id="11" name="Shape 9"/>
          <p:cNvSpPr/>
          <p:nvPr/>
        </p:nvSpPr>
        <p:spPr>
          <a:xfrm>
            <a:off x="5852160" y="2103120"/>
            <a:ext cx="2331720" cy="1463040"/>
          </a:xfrm>
          <a:prstGeom prst="roundRect">
            <a:avLst>
              <a:gd name="adj" fmla="val 3750"/>
            </a:avLst>
          </a:prstGeom>
          <a:solidFill>
            <a:srgbClr val="E8EEF3"/>
          </a:solidFill>
          <a:ln w="15875">
            <a:solidFill>
              <a:srgbClr val="1F3B57"/>
            </a:solidFill>
            <a:prstDash val="solid"/>
          </a:ln>
        </p:spPr>
      </p:sp>
      <p:sp>
        <p:nvSpPr>
          <p:cNvPr id="12" name="Text 10"/>
          <p:cNvSpPr txBox="1"/>
          <p:nvPr/>
        </p:nvSpPr>
        <p:spPr>
          <a:xfrm>
            <a:off x="5925312" y="2103120"/>
            <a:ext cx="2185416" cy="877824"/>
          </a:xfrm>
          <a:prstGeom prst="rect">
            <a:avLst/>
          </a:prstGeom>
          <a:noFill/>
          <a:ln/>
        </p:spPr>
        <p:txBody>
          <a:bodyPr wrap="square" lIns="0" tIns="0" rIns="0" bIns="0" rtlCol="0" anchor="ctr"/>
          <a:lstStyle/>
          <a:p>
            <a:pPr algn="ctr" indent="0" marL="0">
              <a:buNone/>
            </a:pPr>
            <a:r>
              <a:rPr lang="en-US" sz="1250" b="1" dirty="0">
                <a:solidFill>
                  <a:srgbClr val="1F3B57"/>
                </a:solidFill>
                <a:latin typeface="Times New Roman" pitchFamily="34" charset="0"/>
                <a:ea typeface="Times New Roman" pitchFamily="34" charset="-122"/>
                <a:cs typeface="Times New Roman" pitchFamily="34" charset="-120"/>
              </a:rPr>
              <a:t>Sprint Review</a:t>
            </a:r>
            <a:endParaRPr lang="en-US" sz="1250" dirty="0"/>
          </a:p>
        </p:txBody>
      </p:sp>
      <p:sp>
        <p:nvSpPr>
          <p:cNvPr id="13" name="Text 11"/>
          <p:cNvSpPr txBox="1"/>
          <p:nvPr/>
        </p:nvSpPr>
        <p:spPr>
          <a:xfrm>
            <a:off x="5925312" y="2907792"/>
            <a:ext cx="2185416" cy="585216"/>
          </a:xfrm>
          <a:prstGeom prst="rect">
            <a:avLst/>
          </a:prstGeom>
          <a:noFill/>
          <a:ln/>
        </p:spPr>
        <p:txBody>
          <a:bodyPr wrap="square" lIns="0" tIns="0" rIns="0" bIns="0" rtlCol="0" anchor="t"/>
          <a:lstStyle/>
          <a:p>
            <a:pPr algn="ctr" indent="0" marL="0">
              <a:buNone/>
            </a:pPr>
            <a:r>
              <a:rPr lang="en-US" sz="1050" dirty="0">
                <a:solidFill>
                  <a:srgbClr val="2B2B2B"/>
                </a:solidFill>
                <a:latin typeface="Times New Roman" pitchFamily="34" charset="0"/>
                <a:ea typeface="Times New Roman" pitchFamily="34" charset="-122"/>
                <a:cs typeface="Times New Roman" pitchFamily="34" charset="-120"/>
              </a:rPr>
              <a:t>Demo completed work to stakeholders for feedback</a:t>
            </a:r>
            <a:endParaRPr lang="en-US" sz="1050" dirty="0"/>
          </a:p>
        </p:txBody>
      </p:sp>
      <p:sp>
        <p:nvSpPr>
          <p:cNvPr id="14" name="Shape 12"/>
          <p:cNvSpPr/>
          <p:nvPr/>
        </p:nvSpPr>
        <p:spPr>
          <a:xfrm>
            <a:off x="8503920" y="2103120"/>
            <a:ext cx="2331720" cy="1463040"/>
          </a:xfrm>
          <a:prstGeom prst="roundRect">
            <a:avLst>
              <a:gd name="adj" fmla="val 3750"/>
            </a:avLst>
          </a:prstGeom>
          <a:solidFill>
            <a:srgbClr val="E8EEF3"/>
          </a:solidFill>
          <a:ln w="15875">
            <a:solidFill>
              <a:srgbClr val="1F3B57"/>
            </a:solidFill>
            <a:prstDash val="solid"/>
          </a:ln>
        </p:spPr>
      </p:sp>
      <p:sp>
        <p:nvSpPr>
          <p:cNvPr id="15" name="Text 13"/>
          <p:cNvSpPr txBox="1"/>
          <p:nvPr/>
        </p:nvSpPr>
        <p:spPr>
          <a:xfrm>
            <a:off x="8577072" y="2103120"/>
            <a:ext cx="2185416" cy="877824"/>
          </a:xfrm>
          <a:prstGeom prst="rect">
            <a:avLst/>
          </a:prstGeom>
          <a:noFill/>
          <a:ln/>
        </p:spPr>
        <p:txBody>
          <a:bodyPr wrap="square" lIns="0" tIns="0" rIns="0" bIns="0" rtlCol="0" anchor="ctr"/>
          <a:lstStyle/>
          <a:p>
            <a:pPr algn="ctr" indent="0" marL="0">
              <a:buNone/>
            </a:pPr>
            <a:r>
              <a:rPr lang="en-US" sz="1250" b="1" dirty="0">
                <a:solidFill>
                  <a:srgbClr val="1F3B57"/>
                </a:solidFill>
                <a:latin typeface="Times New Roman" pitchFamily="34" charset="0"/>
                <a:ea typeface="Times New Roman" pitchFamily="34" charset="-122"/>
                <a:cs typeface="Times New Roman" pitchFamily="34" charset="-120"/>
              </a:rPr>
              <a:t>Retrospective</a:t>
            </a:r>
            <a:endParaRPr lang="en-US" sz="1250" dirty="0"/>
          </a:p>
        </p:txBody>
      </p:sp>
      <p:sp>
        <p:nvSpPr>
          <p:cNvPr id="16" name="Text 14"/>
          <p:cNvSpPr txBox="1"/>
          <p:nvPr/>
        </p:nvSpPr>
        <p:spPr>
          <a:xfrm>
            <a:off x="8577072" y="2907792"/>
            <a:ext cx="2185416" cy="585216"/>
          </a:xfrm>
          <a:prstGeom prst="rect">
            <a:avLst/>
          </a:prstGeom>
          <a:noFill/>
          <a:ln/>
        </p:spPr>
        <p:txBody>
          <a:bodyPr wrap="square" lIns="0" tIns="0" rIns="0" bIns="0" rtlCol="0" anchor="t"/>
          <a:lstStyle/>
          <a:p>
            <a:pPr algn="ctr" indent="0" marL="0">
              <a:buNone/>
            </a:pPr>
            <a:r>
              <a:rPr lang="en-US" sz="1050" dirty="0">
                <a:solidFill>
                  <a:srgbClr val="2B2B2B"/>
                </a:solidFill>
                <a:latin typeface="Times New Roman" pitchFamily="34" charset="0"/>
                <a:ea typeface="Times New Roman" pitchFamily="34" charset="-122"/>
                <a:cs typeface="Times New Roman" pitchFamily="34" charset="-120"/>
              </a:rPr>
              <a:t>Team reflects on process: what to keep, stop, start</a:t>
            </a:r>
            <a:endParaRPr lang="en-US" sz="1050" dirty="0"/>
          </a:p>
        </p:txBody>
      </p:sp>
      <p:sp>
        <p:nvSpPr>
          <p:cNvPr id="17" name="Shape 15"/>
          <p:cNvSpPr/>
          <p:nvPr/>
        </p:nvSpPr>
        <p:spPr>
          <a:xfrm>
            <a:off x="2880360" y="2834640"/>
            <a:ext cx="320040" cy="0"/>
          </a:xfrm>
          <a:prstGeom prst="line">
            <a:avLst/>
          </a:prstGeom>
          <a:noFill/>
          <a:ln w="15875">
            <a:solidFill>
              <a:srgbClr val="AFC2D2"/>
            </a:solidFill>
            <a:prstDash val="solid"/>
            <a:tailEnd type="triangle"/>
          </a:ln>
        </p:spPr>
      </p:sp>
      <p:sp>
        <p:nvSpPr>
          <p:cNvPr id="18" name="Shape 16"/>
          <p:cNvSpPr/>
          <p:nvPr/>
        </p:nvSpPr>
        <p:spPr>
          <a:xfrm>
            <a:off x="5532120" y="2834640"/>
            <a:ext cx="320040" cy="0"/>
          </a:xfrm>
          <a:prstGeom prst="line">
            <a:avLst/>
          </a:prstGeom>
          <a:noFill/>
          <a:ln w="15875">
            <a:solidFill>
              <a:srgbClr val="AFC2D2"/>
            </a:solidFill>
            <a:prstDash val="solid"/>
            <a:tailEnd type="triangle"/>
          </a:ln>
        </p:spPr>
      </p:sp>
      <p:sp>
        <p:nvSpPr>
          <p:cNvPr id="19" name="Shape 17"/>
          <p:cNvSpPr/>
          <p:nvPr/>
        </p:nvSpPr>
        <p:spPr>
          <a:xfrm>
            <a:off x="8183880" y="2834640"/>
            <a:ext cx="320040" cy="0"/>
          </a:xfrm>
          <a:prstGeom prst="line">
            <a:avLst/>
          </a:prstGeom>
          <a:noFill/>
          <a:ln w="15875">
            <a:solidFill>
              <a:srgbClr val="AFC2D2"/>
            </a:solidFill>
            <a:prstDash val="solid"/>
            <a:tailEnd type="triangle"/>
          </a:ln>
        </p:spPr>
      </p:sp>
      <p:sp>
        <p:nvSpPr>
          <p:cNvPr id="20" name="Shape 18"/>
          <p:cNvSpPr/>
          <p:nvPr/>
        </p:nvSpPr>
        <p:spPr>
          <a:xfrm flipH="1">
            <a:off x="1714500" y="3566160"/>
            <a:ext cx="7955280" cy="640080"/>
          </a:xfrm>
          <a:prstGeom prst="line">
            <a:avLst/>
          </a:prstGeom>
          <a:noFill/>
          <a:ln w="15875">
            <a:solidFill>
              <a:srgbClr val="9FB3C8"/>
            </a:solidFill>
            <a:prstDash val="solid"/>
            <a:tailEnd type="triangle"/>
          </a:ln>
        </p:spPr>
      </p:sp>
      <p:sp>
        <p:nvSpPr>
          <p:cNvPr id="21" name="Text 19"/>
          <p:cNvSpPr txBox="1"/>
          <p:nvPr/>
        </p:nvSpPr>
        <p:spPr>
          <a:xfrm>
            <a:off x="548640" y="3886200"/>
            <a:ext cx="11064240" cy="274320"/>
          </a:xfrm>
          <a:prstGeom prst="rect">
            <a:avLst/>
          </a:prstGeom>
          <a:noFill/>
          <a:ln/>
        </p:spPr>
        <p:txBody>
          <a:bodyPr wrap="square" lIns="0" tIns="0" rIns="0" bIns="0" rtlCol="0" anchor="ctr"/>
          <a:lstStyle/>
          <a:p>
            <a:pPr algn="ctr" indent="0" marL="0">
              <a:buNone/>
            </a:pPr>
            <a:r>
              <a:rPr lang="en-US" sz="1050" i="1" dirty="0">
                <a:solidFill>
                  <a:srgbClr val="2B2B2B"/>
                </a:solidFill>
                <a:latin typeface="Times New Roman" pitchFamily="34" charset="0"/>
                <a:ea typeface="Times New Roman" pitchFamily="34" charset="-122"/>
                <a:cs typeface="Times New Roman" pitchFamily="34" charset="-120"/>
              </a:rPr>
              <a:t>Cycle repeats every sprint (1-4 weeks)</a:t>
            </a:r>
            <a:endParaRPr lang="en-US" sz="1050" dirty="0"/>
          </a:p>
        </p:txBody>
      </p:sp>
      <p:sp>
        <p:nvSpPr>
          <p:cNvPr id="22" name="Text 20"/>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7A8B9A"/>
                </a:solidFill>
                <a:latin typeface="Times New Roman" pitchFamily="34" charset="0"/>
                <a:ea typeface="Times New Roman" pitchFamily="34" charset="-122"/>
                <a:cs typeface="Times New Roman" pitchFamily="34" charset="-120"/>
              </a:rPr>
              <a:t>CSE 0613-2209 · Web Programming   |   Week 5 · Agile Rituals &amp; Spiral Risk</a:t>
            </a:r>
            <a:endParaRPr lang="en-US" sz="1000" dirty="0"/>
          </a:p>
        </p:txBody>
      </p:sp>
      <p:sp>
        <p:nvSpPr>
          <p:cNvPr id="23" name="Text 21"/>
          <p:cNvSpPr txBox="1"/>
          <p:nvPr/>
        </p:nvSpPr>
        <p:spPr>
          <a:xfrm>
            <a:off x="11064240" y="6510528"/>
            <a:ext cx="457200" cy="274320"/>
          </a:xfrm>
          <a:prstGeom prst="rect">
            <a:avLst/>
          </a:prstGeom>
          <a:noFill/>
          <a:ln/>
        </p:spPr>
        <p:txBody>
          <a:bodyPr wrap="square" lIns="0" tIns="0" rIns="0" bIns="0" rtlCol="0" anchor="ctr"/>
          <a:lstStyle/>
          <a:p>
            <a:pPr algn="r" indent="0" marL="0">
              <a:buNone/>
            </a:pPr>
            <a:r>
              <a:rPr lang="en-US" sz="1000" dirty="0">
                <a:solidFill>
                  <a:srgbClr val="7A8B9A"/>
                </a:solidFill>
                <a:latin typeface="Times New Roman" pitchFamily="34" charset="0"/>
                <a:ea typeface="Times New Roman" pitchFamily="34" charset="-122"/>
                <a:cs typeface="Times New Roman"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5F8"/>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274320"/>
          </a:xfrm>
          <a:prstGeom prst="rect">
            <a:avLst/>
          </a:prstGeom>
          <a:noFill/>
          <a:ln/>
        </p:spPr>
        <p:txBody>
          <a:bodyPr wrap="square" lIns="0" tIns="0" rIns="0" bIns="0" rtlCol="0" anchor="ctr"/>
          <a:lstStyle/>
          <a:p>
            <a:pPr indent="0" marL="0">
              <a:buNone/>
            </a:pPr>
            <a:r>
              <a:rPr lang="en-US" sz="1200" b="1" spc="100" kern="0" dirty="0">
                <a:solidFill>
                  <a:srgbClr val="5C7A96"/>
                </a:solidFill>
                <a:latin typeface="Times New Roman" pitchFamily="34" charset="0"/>
                <a:ea typeface="Times New Roman" pitchFamily="34" charset="-122"/>
                <a:cs typeface="Times New Roman" pitchFamily="34" charset="-120"/>
              </a:rPr>
              <a:t>5.2 RITUAL DETAILS</a:t>
            </a:r>
            <a:endParaRPr lang="en-US" sz="1200" dirty="0"/>
          </a:p>
        </p:txBody>
      </p:sp>
      <p:sp>
        <p:nvSpPr>
          <p:cNvPr id="3" name="Text 1"/>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2800" b="1" dirty="0">
                <a:solidFill>
                  <a:srgbClr val="1F3B57"/>
                </a:solidFill>
                <a:latin typeface="Times New Roman" pitchFamily="34" charset="0"/>
                <a:ea typeface="Times New Roman" pitchFamily="34" charset="-122"/>
                <a:cs typeface="Times New Roman" pitchFamily="34" charset="-120"/>
              </a:rPr>
              <a:t>Every Ritual — Purpose, Timing, and Participants</a:t>
            </a:r>
            <a:endParaRPr lang="en-US" sz="2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1737360"/>
                <a:gridCol w="2468880"/>
                <a:gridCol w="3840480"/>
                <a:gridCol w="3017520"/>
              </a:tblGrid>
              <a:tr h="685800">
                <a:tc>
                  <a:txBody>
                    <a:bodyPr/>
                    <a:lstStyle/>
                    <a:p>
                      <a:pPr algn="l" indent="0" marL="0">
                        <a:buNone/>
                      </a:pPr>
                      <a:r>
                        <a:rPr lang="en-US" sz="1400" b="1" dirty="0">
                          <a:solidFill>
                            <a:srgbClr val="FFFFFF"/>
                          </a:solidFill>
                          <a:latin typeface="Times New Roman" pitchFamily="34" charset="0"/>
                          <a:ea typeface="Times New Roman" pitchFamily="34" charset="-122"/>
                          <a:cs typeface="Times New Roman" pitchFamily="34" charset="-120"/>
                        </a:rPr>
                        <a:t>Ritual</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F3B57"/>
                    </a:solidFill>
                  </a:tcPr>
                </a:tc>
                <a:tc>
                  <a:txBody>
                    <a:bodyPr/>
                    <a:lstStyle/>
                    <a:p>
                      <a:pPr algn="l" indent="0" marL="0">
                        <a:buNone/>
                      </a:pPr>
                      <a:r>
                        <a:rPr lang="en-US" sz="1400" b="1" dirty="0">
                          <a:solidFill>
                            <a:srgbClr val="FFFFFF"/>
                          </a:solidFill>
                          <a:latin typeface="Times New Roman" pitchFamily="34" charset="0"/>
                          <a:ea typeface="Times New Roman" pitchFamily="34" charset="-122"/>
                          <a:cs typeface="Times New Roman" pitchFamily="34" charset="-120"/>
                        </a:rPr>
                        <a:t>Frequency / Duration</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F3B57"/>
                    </a:solidFill>
                  </a:tcPr>
                </a:tc>
                <a:tc>
                  <a:txBody>
                    <a:bodyPr/>
                    <a:lstStyle/>
                    <a:p>
                      <a:pPr algn="l" indent="0" marL="0">
                        <a:buNone/>
                      </a:pPr>
                      <a:r>
                        <a:rPr lang="en-US" sz="1400" b="1" dirty="0">
                          <a:solidFill>
                            <a:srgbClr val="FFFFFF"/>
                          </a:solidFill>
                          <a:latin typeface="Times New Roman" pitchFamily="34" charset="0"/>
                          <a:ea typeface="Times New Roman" pitchFamily="34" charset="-122"/>
                          <a:cs typeface="Times New Roman" pitchFamily="34" charset="-120"/>
                        </a:rPr>
                        <a:t>Purpose</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F3B57"/>
                    </a:solidFill>
                  </a:tcPr>
                </a:tc>
                <a:tc>
                  <a:txBody>
                    <a:bodyPr/>
                    <a:lstStyle/>
                    <a:p>
                      <a:pPr algn="l" indent="0" marL="0">
                        <a:buNone/>
                      </a:pPr>
                      <a:r>
                        <a:rPr lang="en-US" sz="1400" b="1" dirty="0">
                          <a:solidFill>
                            <a:srgbClr val="FFFFFF"/>
                          </a:solidFill>
                          <a:latin typeface="Times New Roman" pitchFamily="34" charset="0"/>
                          <a:ea typeface="Times New Roman" pitchFamily="34" charset="-122"/>
                          <a:cs typeface="Times New Roman" pitchFamily="34" charset="-120"/>
                        </a:rPr>
                        <a:t>Participants</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F3B57"/>
                    </a:solidFill>
                  </a:tcPr>
                </a:tc>
              </a:tr>
              <a:tr h="685800">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Sprint Planning</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Once per sprint, ~2 hrs for a 2-week sprint</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Select and commit to sprint scope</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Whole team</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685800">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Daily Standup</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Every day, ~15 minutes</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Sync on progress and surface blockers early</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Development team (+ Scrum Master)</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r>
              <a:tr h="685800">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Sprint Review</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Once per sprint, ~1 hr</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Demo working software; gather stakeholder feedback</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Whole team + stakeholders</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685800">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Retrospective</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Once per sprint, ~45 min</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Improve how the team works, not what it builds</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Whole team</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r>
            </a:tbl>
          </a:graphicData>
        </a:graphic>
      </p:graphicFrame>
      <p:sp>
        <p:nvSpPr>
          <p:cNvPr id="5" name="Text 2"/>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7A8B9A"/>
                </a:solidFill>
                <a:latin typeface="Times New Roman" pitchFamily="34" charset="0"/>
                <a:ea typeface="Times New Roman" pitchFamily="34" charset="-122"/>
                <a:cs typeface="Times New Roman" pitchFamily="34" charset="-120"/>
              </a:rPr>
              <a:t>CSE 0613-2209 · Web Programming   |   Week 5 · Agile Rituals &amp; Spiral Risk</a:t>
            </a:r>
            <a:endParaRPr lang="en-US" sz="1000" dirty="0"/>
          </a:p>
        </p:txBody>
      </p:sp>
      <p:sp>
        <p:nvSpPr>
          <p:cNvPr id="6" name="Text 3"/>
          <p:cNvSpPr txBox="1"/>
          <p:nvPr/>
        </p:nvSpPr>
        <p:spPr>
          <a:xfrm>
            <a:off x="11064240" y="6510528"/>
            <a:ext cx="457200" cy="274320"/>
          </a:xfrm>
          <a:prstGeom prst="rect">
            <a:avLst/>
          </a:prstGeom>
          <a:noFill/>
          <a:ln/>
        </p:spPr>
        <p:txBody>
          <a:bodyPr wrap="square" lIns="0" tIns="0" rIns="0" bIns="0" rtlCol="0" anchor="ctr"/>
          <a:lstStyle/>
          <a:p>
            <a:pPr algn="r" indent="0" marL="0">
              <a:buNone/>
            </a:pPr>
            <a:r>
              <a:rPr lang="en-US" sz="1000" dirty="0">
                <a:solidFill>
                  <a:srgbClr val="7A8B9A"/>
                </a:solidFill>
                <a:latin typeface="Times New Roman" pitchFamily="34" charset="0"/>
                <a:ea typeface="Times New Roman" pitchFamily="34" charset="-122"/>
                <a:cs typeface="Times New Roman"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274320"/>
          </a:xfrm>
          <a:prstGeom prst="rect">
            <a:avLst/>
          </a:prstGeom>
          <a:noFill/>
          <a:ln/>
        </p:spPr>
        <p:txBody>
          <a:bodyPr wrap="square" lIns="0" tIns="0" rIns="0" bIns="0" rtlCol="0" anchor="ctr"/>
          <a:lstStyle/>
          <a:p>
            <a:pPr indent="0" marL="0">
              <a:buNone/>
            </a:pPr>
            <a:r>
              <a:rPr lang="en-US" sz="1200" b="1" spc="100" kern="0" dirty="0">
                <a:solidFill>
                  <a:srgbClr val="5C7A96"/>
                </a:solidFill>
                <a:latin typeface="Times New Roman" pitchFamily="34" charset="0"/>
                <a:ea typeface="Times New Roman" pitchFamily="34" charset="-122"/>
                <a:cs typeface="Times New Roman" pitchFamily="34" charset="-120"/>
              </a:rPr>
              <a:t>WORKED EXAMPLE</a:t>
            </a:r>
            <a:endParaRPr lang="en-US" sz="1200" dirty="0"/>
          </a:p>
        </p:txBody>
      </p:sp>
      <p:sp>
        <p:nvSpPr>
          <p:cNvPr id="3" name="Text 1"/>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2800" b="1" dirty="0">
                <a:solidFill>
                  <a:srgbClr val="1F3B57"/>
                </a:solidFill>
                <a:latin typeface="Times New Roman" pitchFamily="34" charset="0"/>
                <a:ea typeface="Times New Roman" pitchFamily="34" charset="-122"/>
                <a:cs typeface="Times New Roman" pitchFamily="34" charset="-120"/>
              </a:rPr>
              <a:t>A Real Two-Week Sprint, Day by Day</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194560"/>
                <a:gridCol w="8869680"/>
              </a:tblGrid>
              <a:tr h="713232">
                <a:tc>
                  <a:txBody>
                    <a:bodyPr/>
                    <a:lstStyle/>
                    <a:p>
                      <a:pPr algn="l" indent="0" marL="0">
                        <a:buNone/>
                      </a:pPr>
                      <a:r>
                        <a:rPr lang="en-US" sz="1400" b="1" dirty="0">
                          <a:solidFill>
                            <a:srgbClr val="FFFFFF"/>
                          </a:solidFill>
                          <a:latin typeface="Times New Roman" pitchFamily="34" charset="0"/>
                          <a:ea typeface="Times New Roman" pitchFamily="34" charset="-122"/>
                          <a:cs typeface="Times New Roman" pitchFamily="34" charset="-120"/>
                        </a:rPr>
                        <a:t>Day</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F3B57"/>
                    </a:solidFill>
                  </a:tcPr>
                </a:tc>
                <a:tc>
                  <a:txBody>
                    <a:bodyPr/>
                    <a:lstStyle/>
                    <a:p>
                      <a:pPr algn="l" indent="0" marL="0">
                        <a:buNone/>
                      </a:pPr>
                      <a:r>
                        <a:rPr lang="en-US" sz="1400" b="1" dirty="0">
                          <a:solidFill>
                            <a:srgbClr val="FFFFFF"/>
                          </a:solidFill>
                          <a:latin typeface="Times New Roman" pitchFamily="34" charset="0"/>
                          <a:ea typeface="Times New Roman" pitchFamily="34" charset="-122"/>
                          <a:cs typeface="Times New Roman" pitchFamily="34" charset="-120"/>
                        </a:rPr>
                        <a:t>What Happens</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F3B57"/>
                    </a:solidFill>
                  </a:tcPr>
                </a:tc>
              </a:tr>
              <a:tr h="713232">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Day 1 (Monday)</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Sprint Planning in the morning; team begins work on top-priority stories in the afternoon</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713232">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Days 2–4</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Daily Standup each morning; development and testing proceed on committed stories</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r>
              <a:tr h="713232">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Days 5</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Daily Standup; mid-sprint check — burndown reviewed (Day 1's chart) to catch drift early</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713232">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Days 6–9</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Daily Standup continues; remaining stories completed, code reviewed, and merged</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r>
              <a:tr h="713232">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Day 10 (Friday)</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Sprint Review (demo to stakeholders) in the morning; Retrospective in the afternoon; next Sprint Planning begins the following Monday</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7A8B9A"/>
                </a:solidFill>
                <a:latin typeface="Times New Roman" pitchFamily="34" charset="0"/>
                <a:ea typeface="Times New Roman" pitchFamily="34" charset="-122"/>
                <a:cs typeface="Times New Roman" pitchFamily="34" charset="-120"/>
              </a:rPr>
              <a:t>CSE 0613-2209 · Web Programming   |   Week 5 · Agile Rituals &amp; Spiral Risk</a:t>
            </a:r>
            <a:endParaRPr lang="en-US" sz="1000" dirty="0"/>
          </a:p>
        </p:txBody>
      </p:sp>
      <p:sp>
        <p:nvSpPr>
          <p:cNvPr id="6" name="Text 3"/>
          <p:cNvSpPr txBox="1"/>
          <p:nvPr/>
        </p:nvSpPr>
        <p:spPr>
          <a:xfrm>
            <a:off x="11064240" y="6510528"/>
            <a:ext cx="457200" cy="274320"/>
          </a:xfrm>
          <a:prstGeom prst="rect">
            <a:avLst/>
          </a:prstGeom>
          <a:noFill/>
          <a:ln/>
        </p:spPr>
        <p:txBody>
          <a:bodyPr wrap="square" lIns="0" tIns="0" rIns="0" bIns="0" rtlCol="0" anchor="ctr"/>
          <a:lstStyle/>
          <a:p>
            <a:pPr algn="r" indent="0" marL="0">
              <a:buNone/>
            </a:pPr>
            <a:r>
              <a:rPr lang="en-US" sz="1000" dirty="0">
                <a:solidFill>
                  <a:srgbClr val="7A8B9A"/>
                </a:solidFill>
                <a:latin typeface="Times New Roman" pitchFamily="34" charset="0"/>
                <a:ea typeface="Times New Roman" pitchFamily="34" charset="-122"/>
                <a:cs typeface="Times New Roman"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5F8"/>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274320"/>
          </a:xfrm>
          <a:prstGeom prst="rect">
            <a:avLst/>
          </a:prstGeom>
          <a:noFill/>
          <a:ln/>
        </p:spPr>
        <p:txBody>
          <a:bodyPr wrap="square" lIns="0" tIns="0" rIns="0" bIns="0" rtlCol="0" anchor="ctr"/>
          <a:lstStyle/>
          <a:p>
            <a:pPr indent="0" marL="0">
              <a:buNone/>
            </a:pPr>
            <a:r>
              <a:rPr lang="en-US" sz="1200" b="1" spc="100" kern="0" dirty="0">
                <a:solidFill>
                  <a:srgbClr val="5C7A96"/>
                </a:solidFill>
                <a:latin typeface="Times New Roman" pitchFamily="34" charset="0"/>
                <a:ea typeface="Times New Roman" pitchFamily="34" charset="-122"/>
                <a:cs typeface="Times New Roman" pitchFamily="34" charset="-120"/>
              </a:rPr>
              <a:t>PRACTICAL CONTEXT</a:t>
            </a:r>
            <a:endParaRPr lang="en-US" sz="1200" dirty="0"/>
          </a:p>
        </p:txBody>
      </p:sp>
      <p:sp>
        <p:nvSpPr>
          <p:cNvPr id="3" name="Text 1"/>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2800" b="1" dirty="0">
                <a:solidFill>
                  <a:srgbClr val="1F3B57"/>
                </a:solidFill>
                <a:latin typeface="Times New Roman" pitchFamily="34" charset="0"/>
                <a:ea typeface="Times New Roman" pitchFamily="34" charset="-122"/>
                <a:cs typeface="Times New Roman" pitchFamily="34" charset="-120"/>
              </a:rPr>
              <a:t>Case in Point — A Retrospective That Actually Changed Something</a:t>
            </a:r>
            <a:endParaRPr lang="en-US" sz="2800" dirty="0"/>
          </a:p>
        </p:txBody>
      </p:sp>
      <p:sp>
        <p:nvSpPr>
          <p:cNvPr id="4" name="Text 2"/>
          <p:cNvSpPr txBox="1"/>
          <p:nvPr/>
        </p:nvSpPr>
        <p:spPr>
          <a:xfrm>
            <a:off x="548640" y="1463040"/>
            <a:ext cx="10424160" cy="4389120"/>
          </a:xfrm>
          <a:prstGeom prst="rect">
            <a:avLst/>
          </a:prstGeom>
          <a:noFill/>
          <a:ln/>
        </p:spPr>
        <p:txBody>
          <a:bodyPr wrap="square" lIns="0" tIns="0" rIns="0" bIns="0" rtlCol="0" anchor="t"/>
          <a:lstStyle/>
          <a:p>
            <a:pPr marL="228600" indent="-228600">
              <a:spcAft>
                <a:spcPts val="1100"/>
              </a:spcAft>
              <a:buSzPct val="100000"/>
              <a:buChar char="▪"/>
            </a:pPr>
            <a:r>
              <a:rPr lang="en-US" sz="1450" dirty="0">
                <a:solidFill>
                  <a:srgbClr val="2B2B2B"/>
                </a:solidFill>
                <a:latin typeface="Times New Roman" pitchFamily="34" charset="0"/>
                <a:ea typeface="Times New Roman" pitchFamily="34" charset="-122"/>
                <a:cs typeface="Times New Roman" pitchFamily="34" charset="-120"/>
              </a:rPr>
              <a:t>Symptom — a student team's burndown chart showed the same pattern every sprint: flat for a week, then a rushed drop right before the Sprint Review.</a:t>
            </a:r>
            <a:endParaRPr lang="en-US" sz="1450" dirty="0"/>
          </a:p>
          <a:p>
            <a:pPr marL="228600" indent="-228600">
              <a:spcAft>
                <a:spcPts val="1100"/>
              </a:spcAft>
              <a:buSzPct val="100000"/>
              <a:buChar char="▪"/>
            </a:pPr>
            <a:r>
              <a:rPr lang="en-US" sz="1450" dirty="0">
                <a:solidFill>
                  <a:srgbClr val="2B2B2B"/>
                </a:solidFill>
                <a:latin typeface="Times New Roman" pitchFamily="34" charset="0"/>
                <a:ea typeface="Times New Roman" pitchFamily="34" charset="-122"/>
                <a:cs typeface="Times New Roman" pitchFamily="34" charset="-120"/>
              </a:rPr>
              <a:t>Retrospective discussion — the team realised stories weren't being marked 'done' until fully polished, so real progress was invisible on the board until the very end.</a:t>
            </a:r>
            <a:endParaRPr lang="en-US" sz="1450" dirty="0"/>
          </a:p>
          <a:p>
            <a:pPr marL="228600" indent="-228600">
              <a:spcAft>
                <a:spcPts val="1100"/>
              </a:spcAft>
              <a:buSzPct val="100000"/>
              <a:buChar char="▪"/>
            </a:pPr>
            <a:r>
              <a:rPr lang="en-US" sz="1450" dirty="0">
                <a:solidFill>
                  <a:srgbClr val="2B2B2B"/>
                </a:solidFill>
                <a:latin typeface="Times New Roman" pitchFamily="34" charset="0"/>
                <a:ea typeface="Times New Roman" pitchFamily="34" charset="-122"/>
                <a:cs typeface="Times New Roman" pitchFamily="34" charset="-120"/>
              </a:rPr>
              <a:t>Change agreed — split the Definition of Done into visible sub-states (In Progress → Code Review → Testing → Done) so the board reflects real progress daily, not just at the finish line.</a:t>
            </a:r>
            <a:endParaRPr lang="en-US" sz="1450" dirty="0"/>
          </a:p>
          <a:p>
            <a:pPr marL="228600" indent="-228600">
              <a:spcAft>
                <a:spcPts val="1100"/>
              </a:spcAft>
              <a:buSzPct val="100000"/>
              <a:buChar char="▪"/>
            </a:pPr>
            <a:r>
              <a:rPr lang="en-US" sz="1450" dirty="0">
                <a:solidFill>
                  <a:srgbClr val="2B2B2B"/>
                </a:solidFill>
                <a:latin typeface="Times New Roman" pitchFamily="34" charset="0"/>
                <a:ea typeface="Times New Roman" pitchFamily="34" charset="-122"/>
                <a:cs typeface="Times New Roman" pitchFamily="34" charset="-120"/>
              </a:rPr>
              <a:t>Result — the next sprint's burndown tracked much closer to the ideal line, and the team caught a scope problem on Day 6 instead of Day 9, giving them time to descope rather than rush.</a:t>
            </a:r>
            <a:endParaRPr lang="en-US" sz="1450" dirty="0"/>
          </a:p>
          <a:p>
            <a:pPr marL="228600" indent="-228600">
              <a:spcAft>
                <a:spcPts val="1100"/>
              </a:spcAft>
              <a:buSzPct val="100000"/>
              <a:buChar char="▪"/>
            </a:pPr>
            <a:r>
              <a:rPr lang="en-US" sz="1450" dirty="0">
                <a:solidFill>
                  <a:srgbClr val="2B2B2B"/>
                </a:solidFill>
                <a:latin typeface="Times New Roman" pitchFamily="34" charset="0"/>
                <a:ea typeface="Times New Roman" pitchFamily="34" charset="-122"/>
                <a:cs typeface="Times New Roman" pitchFamily="34" charset="-120"/>
              </a:rPr>
              <a:t>Lesson — this is exactly the Cost-of-Change principle applied to process itself: catching a process problem in the Retrospective (cheap) is far better than discovering it via a missed deadline (expensive).</a:t>
            </a:r>
            <a:endParaRPr lang="en-US" sz="1450" dirty="0"/>
          </a:p>
        </p:txBody>
      </p:sp>
      <p:sp>
        <p:nvSpPr>
          <p:cNvPr id="5" name="Text 3"/>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7A8B9A"/>
                </a:solidFill>
                <a:latin typeface="Times New Roman" pitchFamily="34" charset="0"/>
                <a:ea typeface="Times New Roman" pitchFamily="34" charset="-122"/>
                <a:cs typeface="Times New Roman" pitchFamily="34" charset="-120"/>
              </a:rPr>
              <a:t>CSE 0613-2209 · Web Programming   |   Week 5 · Agile Rituals &amp; Spiral Risk</a:t>
            </a:r>
            <a:endParaRPr lang="en-US" sz="1000" dirty="0"/>
          </a:p>
        </p:txBody>
      </p:sp>
      <p:sp>
        <p:nvSpPr>
          <p:cNvPr id="6" name="Text 4"/>
          <p:cNvSpPr txBox="1"/>
          <p:nvPr/>
        </p:nvSpPr>
        <p:spPr>
          <a:xfrm>
            <a:off x="11064240" y="6510528"/>
            <a:ext cx="457200" cy="274320"/>
          </a:xfrm>
          <a:prstGeom prst="rect">
            <a:avLst/>
          </a:prstGeom>
          <a:noFill/>
          <a:ln/>
        </p:spPr>
        <p:txBody>
          <a:bodyPr wrap="square" lIns="0" tIns="0" rIns="0" bIns="0" rtlCol="0" anchor="ctr"/>
          <a:lstStyle/>
          <a:p>
            <a:pPr algn="r" indent="0" marL="0">
              <a:buNone/>
            </a:pPr>
            <a:r>
              <a:rPr lang="en-US" sz="1000" dirty="0">
                <a:solidFill>
                  <a:srgbClr val="7A8B9A"/>
                </a:solidFill>
                <a:latin typeface="Times New Roman" pitchFamily="34" charset="0"/>
                <a:ea typeface="Times New Roman" pitchFamily="34" charset="-122"/>
                <a:cs typeface="Times New Roman"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274320"/>
          </a:xfrm>
          <a:prstGeom prst="rect">
            <a:avLst/>
          </a:prstGeom>
          <a:noFill/>
          <a:ln/>
        </p:spPr>
        <p:txBody>
          <a:bodyPr wrap="square" lIns="0" tIns="0" rIns="0" bIns="0" rtlCol="0" anchor="ctr"/>
          <a:lstStyle/>
          <a:p>
            <a:pPr indent="0" marL="0">
              <a:buNone/>
            </a:pPr>
            <a:r>
              <a:rPr lang="en-US" sz="1200" b="1" spc="100" kern="0" dirty="0">
                <a:solidFill>
                  <a:srgbClr val="5C7A96"/>
                </a:solidFill>
                <a:latin typeface="Times New Roman" pitchFamily="34" charset="0"/>
                <a:ea typeface="Times New Roman" pitchFamily="34" charset="-122"/>
                <a:cs typeface="Times New Roman" pitchFamily="34" charset="-120"/>
              </a:rPr>
              <a:t>5.2 PITFALLS</a:t>
            </a:r>
            <a:endParaRPr lang="en-US" sz="1200" dirty="0"/>
          </a:p>
        </p:txBody>
      </p:sp>
      <p:sp>
        <p:nvSpPr>
          <p:cNvPr id="3" name="Text 1"/>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2800" b="1" dirty="0">
                <a:solidFill>
                  <a:srgbClr val="1F3B57"/>
                </a:solidFill>
                <a:latin typeface="Times New Roman" pitchFamily="34" charset="0"/>
                <a:ea typeface="Times New Roman" pitchFamily="34" charset="-122"/>
                <a:cs typeface="Times New Roman" pitchFamily="34" charset="-120"/>
              </a:rPr>
              <a:t>Common Pitfalls in Agile Rituals &amp; Spiral Risk</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3291840"/>
                <a:gridCol w="4206240"/>
                <a:gridCol w="3566160"/>
              </a:tblGrid>
              <a:tr h="777240">
                <a:tc>
                  <a:txBody>
                    <a:bodyPr/>
                    <a:lstStyle/>
                    <a:p>
                      <a:pPr algn="l" indent="0" marL="0">
                        <a:buNone/>
                      </a:pPr>
                      <a:r>
                        <a:rPr lang="en-US" sz="1400" b="1" dirty="0">
                          <a:solidFill>
                            <a:srgbClr val="FFFFFF"/>
                          </a:solidFill>
                          <a:latin typeface="Times New Roman" pitchFamily="34" charset="0"/>
                          <a:ea typeface="Times New Roman" pitchFamily="34" charset="-122"/>
                          <a:cs typeface="Times New Roman" pitchFamily="34" charset="-120"/>
                        </a:rPr>
                        <a:t>Pitfall</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F3B57"/>
                    </a:solidFill>
                  </a:tcPr>
                </a:tc>
                <a:tc>
                  <a:txBody>
                    <a:bodyPr/>
                    <a:lstStyle/>
                    <a:p>
                      <a:pPr algn="l" indent="0" marL="0">
                        <a:buNone/>
                      </a:pPr>
                      <a:r>
                        <a:rPr lang="en-US" sz="1400" b="1" dirty="0">
                          <a:solidFill>
                            <a:srgbClr val="FFFFFF"/>
                          </a:solidFill>
                          <a:latin typeface="Times New Roman" pitchFamily="34" charset="0"/>
                          <a:ea typeface="Times New Roman" pitchFamily="34" charset="-122"/>
                          <a:cs typeface="Times New Roman" pitchFamily="34" charset="-120"/>
                        </a:rPr>
                        <a:t>Why It's a Problem</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F3B57"/>
                    </a:solidFill>
                  </a:tcPr>
                </a:tc>
                <a:tc>
                  <a:txBody>
                    <a:bodyPr/>
                    <a:lstStyle/>
                    <a:p>
                      <a:pPr algn="l" indent="0" marL="0">
                        <a:buNone/>
                      </a:pPr>
                      <a:r>
                        <a:rPr lang="en-US" sz="1400" b="1" dirty="0">
                          <a:solidFill>
                            <a:srgbClr val="FFFFFF"/>
                          </a:solidFill>
                          <a:latin typeface="Times New Roman" pitchFamily="34" charset="0"/>
                          <a:ea typeface="Times New Roman" pitchFamily="34" charset="-122"/>
                          <a:cs typeface="Times New Roman" pitchFamily="34" charset="-120"/>
                        </a:rPr>
                        <a:t>Fix</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1F3B57"/>
                    </a:solidFill>
                  </a:tcPr>
                </a:tc>
              </a:tr>
              <a:tr h="777240">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Daily Standup becomes a status report to the Scrum Master</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Kills the peer-to-peer coordination the ritual exists for</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Redirect: team talks to each other, not to one person</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777240">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Retrospective identifies problems but nothing changes</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The ritual becomes a scheduled complaint session</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Agree on one concrete, assigned action item per retro</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r>
              <a:tr h="777240">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Spiral risk analysis skipped 'because we're confident'</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Confidence is not the same as an evaluated risk</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Require a named risk and mitigation before each loop, always</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FFFFF"/>
                    </a:solidFill>
                  </a:tcPr>
                </a:tc>
              </a:tr>
              <a:tr h="777240">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Product Owner absent from Sprint Review</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Team loses the feedback loop that justifies the whole process</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c>
                  <a:txBody>
                    <a:bodyPr/>
                    <a:lstStyle/>
                    <a:p>
                      <a:pPr algn="l" indent="0" marL="0">
                        <a:buNone/>
                      </a:pPr>
                      <a:r>
                        <a:rPr lang="en-US" sz="1300" dirty="0">
                          <a:solidFill>
                            <a:srgbClr val="2B2B2B"/>
                          </a:solidFill>
                          <a:latin typeface="Times New Roman" pitchFamily="34" charset="0"/>
                          <a:ea typeface="Times New Roman" pitchFamily="34" charset="-122"/>
                          <a:cs typeface="Times New Roman" pitchFamily="34" charset="-120"/>
                        </a:rPr>
                        <a:t>Treat Sprint Review attendance as non-negotiable</a:t>
                      </a:r>
                      <a:endParaRPr lang="en-US" sz="1300" dirty="0">
                        <a:latin typeface="Times New Roman" charset="0"/>
                        <a:ea typeface="Times New Roman" charset="0"/>
                        <a:cs typeface="Times New Roman" charset="0"/>
                      </a:endParaRPr>
                    </a:p>
                  </a:txBody>
                  <a:tcPr marL="91440" marR="91440" marT="45720" marB="45720" anchor="ctr">
                    <a:lnL w="9525" cap="flat" cmpd="sng" algn="ctr">
                      <a:solidFill>
                        <a:srgbClr val="CBD5E0"/>
                      </a:solidFill>
                      <a:prstDash val="solid"/>
                      <a:round/>
                      <a:headEnd type="none" w="med" len="med"/>
                      <a:tailEnd type="none" w="med" len="med"/>
                    </a:lnL>
                    <a:lnR w="9525" cap="flat" cmpd="sng" algn="ctr">
                      <a:solidFill>
                        <a:srgbClr val="CBD5E0"/>
                      </a:solidFill>
                      <a:prstDash val="solid"/>
                      <a:round/>
                      <a:headEnd type="none" w="med" len="med"/>
                      <a:tailEnd type="none" w="med" len="med"/>
                    </a:lnR>
                    <a:lnT w="9525" cap="flat" cmpd="sng" algn="ctr">
                      <a:solidFill>
                        <a:srgbClr val="CBD5E0"/>
                      </a:solidFill>
                      <a:prstDash val="solid"/>
                      <a:round/>
                      <a:headEnd type="none" w="med" len="med"/>
                      <a:tailEnd type="none" w="med" len="med"/>
                    </a:lnT>
                    <a:lnB w="9525" cap="flat" cmpd="sng" algn="ctr">
                      <a:solidFill>
                        <a:srgbClr val="CBD5E0"/>
                      </a:solidFill>
                      <a:prstDash val="solid"/>
                      <a:round/>
                      <a:headEnd type="none" w="med" len="med"/>
                      <a:tailEnd type="none" w="med" len="med"/>
                    </a:lnB>
                    <a:solidFill>
                      <a:srgbClr val="F2F5F8"/>
                    </a:solidFill>
                  </a:tcPr>
                </a:tc>
              </a:tr>
            </a:tbl>
          </a:graphicData>
        </a:graphic>
      </p:graphicFrame>
      <p:sp>
        <p:nvSpPr>
          <p:cNvPr id="5" name="Text 2"/>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7A8B9A"/>
                </a:solidFill>
                <a:latin typeface="Times New Roman" pitchFamily="34" charset="0"/>
                <a:ea typeface="Times New Roman" pitchFamily="34" charset="-122"/>
                <a:cs typeface="Times New Roman" pitchFamily="34" charset="-120"/>
              </a:rPr>
              <a:t>CSE 0613-2209 · Web Programming   |   Week 5 · Agile Rituals &amp; Spiral Risk</a:t>
            </a:r>
            <a:endParaRPr lang="en-US" sz="1000" dirty="0"/>
          </a:p>
        </p:txBody>
      </p:sp>
      <p:sp>
        <p:nvSpPr>
          <p:cNvPr id="6" name="Text 3"/>
          <p:cNvSpPr txBox="1"/>
          <p:nvPr/>
        </p:nvSpPr>
        <p:spPr>
          <a:xfrm>
            <a:off x="11064240" y="6510528"/>
            <a:ext cx="457200" cy="274320"/>
          </a:xfrm>
          <a:prstGeom prst="rect">
            <a:avLst/>
          </a:prstGeom>
          <a:noFill/>
          <a:ln/>
        </p:spPr>
        <p:txBody>
          <a:bodyPr wrap="square" lIns="0" tIns="0" rIns="0" bIns="0" rtlCol="0" anchor="ctr"/>
          <a:lstStyle/>
          <a:p>
            <a:pPr algn="r" indent="0" marL="0">
              <a:buNone/>
            </a:pPr>
            <a:r>
              <a:rPr lang="en-US" sz="1000" dirty="0">
                <a:solidFill>
                  <a:srgbClr val="7A8B9A"/>
                </a:solidFill>
                <a:latin typeface="Times New Roman" pitchFamily="34" charset="0"/>
                <a:ea typeface="Times New Roman" pitchFamily="34" charset="-122"/>
                <a:cs typeface="Times New Roman"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F5F8"/>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274320"/>
          </a:xfrm>
          <a:prstGeom prst="rect">
            <a:avLst/>
          </a:prstGeom>
          <a:noFill/>
          <a:ln/>
        </p:spPr>
        <p:txBody>
          <a:bodyPr wrap="square" lIns="0" tIns="0" rIns="0" bIns="0" rtlCol="0" anchor="ctr"/>
          <a:lstStyle/>
          <a:p>
            <a:pPr indent="0" marL="0">
              <a:buNone/>
            </a:pPr>
            <a:r>
              <a:rPr lang="en-US" sz="1200" b="1" spc="100" kern="0" dirty="0">
                <a:solidFill>
                  <a:srgbClr val="5C7A96"/>
                </a:solidFill>
                <a:latin typeface="Times New Roman" pitchFamily="34" charset="0"/>
                <a:ea typeface="Times New Roman" pitchFamily="34" charset="-122"/>
                <a:cs typeface="Times New Roman" pitchFamily="34" charset="-120"/>
              </a:rPr>
              <a:t>RECAP</a:t>
            </a:r>
            <a:endParaRPr lang="en-US" sz="1200" dirty="0"/>
          </a:p>
        </p:txBody>
      </p:sp>
      <p:sp>
        <p:nvSpPr>
          <p:cNvPr id="3" name="Text 1"/>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2800" b="1" dirty="0">
                <a:solidFill>
                  <a:srgbClr val="1F3B57"/>
                </a:solidFill>
                <a:latin typeface="Times New Roman" pitchFamily="34" charset="0"/>
                <a:ea typeface="Times New Roman" pitchFamily="34" charset="-122"/>
                <a:cs typeface="Times New Roman" pitchFamily="34" charset="-120"/>
              </a:rPr>
              <a:t>By the End of Today You Can…</a:t>
            </a:r>
            <a:endParaRPr lang="en-US" sz="2800" dirty="0"/>
          </a:p>
        </p:txBody>
      </p:sp>
      <p:sp>
        <p:nvSpPr>
          <p:cNvPr id="4" name="Shape 2"/>
          <p:cNvSpPr/>
          <p:nvPr/>
        </p:nvSpPr>
        <p:spPr>
          <a:xfrm>
            <a:off x="548640" y="1463040"/>
            <a:ext cx="365760" cy="365760"/>
          </a:xfrm>
          <a:prstGeom prst="ellipse">
            <a:avLst/>
          </a:prstGeom>
          <a:solidFill>
            <a:srgbClr val="1F3B57"/>
          </a:solidFill>
          <a:ln w="12700">
            <a:solidFill>
              <a:srgbClr val="1F3B57"/>
            </a:solidFill>
            <a:prstDash val="solid"/>
          </a:ln>
        </p:spPr>
      </p:sp>
      <p:sp>
        <p:nvSpPr>
          <p:cNvPr id="5" name="Text 3"/>
          <p:cNvSpPr txBox="1"/>
          <p:nvPr/>
        </p:nvSpPr>
        <p:spPr>
          <a:xfrm>
            <a:off x="548640" y="14630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1</a:t>
            </a:r>
            <a:endParaRPr lang="en-US" sz="1400" dirty="0"/>
          </a:p>
        </p:txBody>
      </p:sp>
      <p:sp>
        <p:nvSpPr>
          <p:cNvPr id="6" name="Text 4"/>
          <p:cNvSpPr txBox="1"/>
          <p:nvPr/>
        </p:nvSpPr>
        <p:spPr>
          <a:xfrm>
            <a:off x="1097280" y="1417320"/>
            <a:ext cx="10058400" cy="457200"/>
          </a:xfrm>
          <a:prstGeom prst="rect">
            <a:avLst/>
          </a:prstGeom>
          <a:noFill/>
          <a:ln/>
        </p:spPr>
        <p:txBody>
          <a:bodyPr wrap="square" lIns="0" tIns="0" rIns="0" bIns="0" rtlCol="0" anchor="ctr"/>
          <a:lstStyle/>
          <a:p>
            <a:pPr indent="0" marL="0">
              <a:buNone/>
            </a:pPr>
            <a:r>
              <a:rPr lang="en-US" sz="1500" b="1" dirty="0">
                <a:solidFill>
                  <a:srgbClr val="1F3B57"/>
                </a:solidFill>
                <a:latin typeface="Times New Roman" pitchFamily="34" charset="0"/>
                <a:ea typeface="Times New Roman" pitchFamily="34" charset="-122"/>
                <a:cs typeface="Times New Roman" pitchFamily="34" charset="-120"/>
              </a:rPr>
              <a:t>Diagram Spiral risk cycles — </a:t>
            </a:r>
            <a:pPr indent="0" marL="0">
              <a:buNone/>
            </a:pPr>
            <a:r>
              <a:rPr lang="en-US" sz="1500" dirty="0">
                <a:solidFill>
                  <a:srgbClr val="2B2B2B"/>
                </a:solidFill>
                <a:latin typeface="Times New Roman" pitchFamily="34" charset="0"/>
                <a:ea typeface="Times New Roman" pitchFamily="34" charset="-122"/>
                <a:cs typeface="Times New Roman" pitchFamily="34" charset="-120"/>
              </a:rPr>
              <a:t>Explain what each expanding loop represents and why risk analysis repeats every loop.</a:t>
            </a:r>
            <a:endParaRPr lang="en-US" sz="1500" dirty="0"/>
          </a:p>
        </p:txBody>
      </p:sp>
      <p:sp>
        <p:nvSpPr>
          <p:cNvPr id="7" name="Shape 5"/>
          <p:cNvSpPr/>
          <p:nvPr/>
        </p:nvSpPr>
        <p:spPr>
          <a:xfrm>
            <a:off x="548640" y="2240280"/>
            <a:ext cx="365760" cy="365760"/>
          </a:xfrm>
          <a:prstGeom prst="ellipse">
            <a:avLst/>
          </a:prstGeom>
          <a:solidFill>
            <a:srgbClr val="1F3B57"/>
          </a:solidFill>
          <a:ln w="12700">
            <a:solidFill>
              <a:srgbClr val="1F3B57"/>
            </a:solidFill>
            <a:prstDash val="solid"/>
          </a:ln>
        </p:spPr>
      </p:sp>
      <p:sp>
        <p:nvSpPr>
          <p:cNvPr id="8" name="Text 6"/>
          <p:cNvSpPr txBox="1"/>
          <p:nvPr/>
        </p:nvSpPr>
        <p:spPr>
          <a:xfrm>
            <a:off x="548640" y="22402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2</a:t>
            </a:r>
            <a:endParaRPr lang="en-US" sz="1400" dirty="0"/>
          </a:p>
        </p:txBody>
      </p:sp>
      <p:sp>
        <p:nvSpPr>
          <p:cNvPr id="9" name="Text 7"/>
          <p:cNvSpPr txBox="1"/>
          <p:nvPr/>
        </p:nvSpPr>
        <p:spPr>
          <a:xfrm>
            <a:off x="1097280" y="2194560"/>
            <a:ext cx="10058400" cy="457200"/>
          </a:xfrm>
          <a:prstGeom prst="rect">
            <a:avLst/>
          </a:prstGeom>
          <a:noFill/>
          <a:ln/>
        </p:spPr>
        <p:txBody>
          <a:bodyPr wrap="square" lIns="0" tIns="0" rIns="0" bIns="0" rtlCol="0" anchor="ctr"/>
          <a:lstStyle/>
          <a:p>
            <a:pPr indent="0" marL="0">
              <a:buNone/>
            </a:pPr>
            <a:r>
              <a:rPr lang="en-US" sz="1500" b="1" dirty="0">
                <a:solidFill>
                  <a:srgbClr val="1F3B57"/>
                </a:solidFill>
                <a:latin typeface="Times New Roman" pitchFamily="34" charset="0"/>
                <a:ea typeface="Times New Roman" pitchFamily="34" charset="-122"/>
                <a:cs typeface="Times New Roman" pitchFamily="34" charset="-120"/>
              </a:rPr>
              <a:t>Apply the Cost-of-Change curve — </a:t>
            </a:r>
            <a:pPr indent="0" marL="0">
              <a:buNone/>
            </a:pPr>
            <a:r>
              <a:rPr lang="en-US" sz="1500" dirty="0">
                <a:solidFill>
                  <a:srgbClr val="2B2B2B"/>
                </a:solidFill>
                <a:latin typeface="Times New Roman" pitchFamily="34" charset="0"/>
                <a:ea typeface="Times New Roman" pitchFamily="34" charset="-122"/>
                <a:cs typeface="Times New Roman" pitchFamily="34" charset="-120"/>
              </a:rPr>
              <a:t>Estimate how much more expensive a defect becomes the later it's caught.</a:t>
            </a:r>
            <a:endParaRPr lang="en-US" sz="1500" dirty="0"/>
          </a:p>
        </p:txBody>
      </p:sp>
      <p:sp>
        <p:nvSpPr>
          <p:cNvPr id="10" name="Shape 8"/>
          <p:cNvSpPr/>
          <p:nvPr/>
        </p:nvSpPr>
        <p:spPr>
          <a:xfrm>
            <a:off x="548640" y="3017520"/>
            <a:ext cx="365760" cy="365760"/>
          </a:xfrm>
          <a:prstGeom prst="ellipse">
            <a:avLst/>
          </a:prstGeom>
          <a:solidFill>
            <a:srgbClr val="1F3B57"/>
          </a:solidFill>
          <a:ln w="12700">
            <a:solidFill>
              <a:srgbClr val="1F3B57"/>
            </a:solidFill>
            <a:prstDash val="solid"/>
          </a:ln>
        </p:spPr>
      </p:sp>
      <p:sp>
        <p:nvSpPr>
          <p:cNvPr id="11" name="Text 9"/>
          <p:cNvSpPr txBox="1"/>
          <p:nvPr/>
        </p:nvSpPr>
        <p:spPr>
          <a:xfrm>
            <a:off x="548640" y="30175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3</a:t>
            </a:r>
            <a:endParaRPr lang="en-US" sz="1400" dirty="0"/>
          </a:p>
        </p:txBody>
      </p:sp>
      <p:sp>
        <p:nvSpPr>
          <p:cNvPr id="12" name="Text 10"/>
          <p:cNvSpPr txBox="1"/>
          <p:nvPr/>
        </p:nvSpPr>
        <p:spPr>
          <a:xfrm>
            <a:off x="1097280" y="2971800"/>
            <a:ext cx="10058400" cy="457200"/>
          </a:xfrm>
          <a:prstGeom prst="rect">
            <a:avLst/>
          </a:prstGeom>
          <a:noFill/>
          <a:ln/>
        </p:spPr>
        <p:txBody>
          <a:bodyPr wrap="square" lIns="0" tIns="0" rIns="0" bIns="0" rtlCol="0" anchor="ctr"/>
          <a:lstStyle/>
          <a:p>
            <a:pPr indent="0" marL="0">
              <a:buNone/>
            </a:pPr>
            <a:r>
              <a:rPr lang="en-US" sz="1500" b="1" dirty="0">
                <a:solidFill>
                  <a:srgbClr val="1F3B57"/>
                </a:solidFill>
                <a:latin typeface="Times New Roman" pitchFamily="34" charset="0"/>
                <a:ea typeface="Times New Roman" pitchFamily="34" charset="-122"/>
                <a:cs typeface="Times New Roman" pitchFamily="34" charset="-120"/>
              </a:rPr>
              <a:t>Name Agile roles — </a:t>
            </a:r>
            <a:pPr indent="0" marL="0">
              <a:buNone/>
            </a:pPr>
            <a:r>
              <a:rPr lang="en-US" sz="1500" dirty="0">
                <a:solidFill>
                  <a:srgbClr val="2B2B2B"/>
                </a:solidFill>
                <a:latin typeface="Times New Roman" pitchFamily="34" charset="0"/>
                <a:ea typeface="Times New Roman" pitchFamily="34" charset="-122"/>
                <a:cs typeface="Times New Roman" pitchFamily="34" charset="-120"/>
              </a:rPr>
              <a:t>Distinguish Product Owner, Scrum Master, and Development Team responsibilities.</a:t>
            </a:r>
            <a:endParaRPr lang="en-US" sz="1500" dirty="0"/>
          </a:p>
        </p:txBody>
      </p:sp>
      <p:sp>
        <p:nvSpPr>
          <p:cNvPr id="13" name="Shape 11"/>
          <p:cNvSpPr/>
          <p:nvPr/>
        </p:nvSpPr>
        <p:spPr>
          <a:xfrm>
            <a:off x="548640" y="3794760"/>
            <a:ext cx="365760" cy="365760"/>
          </a:xfrm>
          <a:prstGeom prst="ellipse">
            <a:avLst/>
          </a:prstGeom>
          <a:solidFill>
            <a:srgbClr val="1F3B57"/>
          </a:solidFill>
          <a:ln w="12700">
            <a:solidFill>
              <a:srgbClr val="1F3B57"/>
            </a:solidFill>
            <a:prstDash val="solid"/>
          </a:ln>
        </p:spPr>
      </p:sp>
      <p:sp>
        <p:nvSpPr>
          <p:cNvPr id="14" name="Text 12"/>
          <p:cNvSpPr txBox="1"/>
          <p:nvPr/>
        </p:nvSpPr>
        <p:spPr>
          <a:xfrm>
            <a:off x="548640" y="37947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4</a:t>
            </a:r>
            <a:endParaRPr lang="en-US" sz="1400" dirty="0"/>
          </a:p>
        </p:txBody>
      </p:sp>
      <p:sp>
        <p:nvSpPr>
          <p:cNvPr id="15" name="Text 13"/>
          <p:cNvSpPr txBox="1"/>
          <p:nvPr/>
        </p:nvSpPr>
        <p:spPr>
          <a:xfrm>
            <a:off x="1097280" y="3749040"/>
            <a:ext cx="10058400" cy="457200"/>
          </a:xfrm>
          <a:prstGeom prst="rect">
            <a:avLst/>
          </a:prstGeom>
          <a:noFill/>
          <a:ln/>
        </p:spPr>
        <p:txBody>
          <a:bodyPr wrap="square" lIns="0" tIns="0" rIns="0" bIns="0" rtlCol="0" anchor="ctr"/>
          <a:lstStyle/>
          <a:p>
            <a:pPr indent="0" marL="0">
              <a:buNone/>
            </a:pPr>
            <a:r>
              <a:rPr lang="en-US" sz="1500" b="1" dirty="0">
                <a:solidFill>
                  <a:srgbClr val="1F3B57"/>
                </a:solidFill>
                <a:latin typeface="Times New Roman" pitchFamily="34" charset="0"/>
                <a:ea typeface="Times New Roman" pitchFamily="34" charset="-122"/>
                <a:cs typeface="Times New Roman" pitchFamily="34" charset="-120"/>
              </a:rPr>
              <a:t>Explain Scrum rituals — </a:t>
            </a:r>
            <a:pPr indent="0" marL="0">
              <a:buNone/>
            </a:pPr>
            <a:r>
              <a:rPr lang="en-US" sz="1500" dirty="0">
                <a:solidFill>
                  <a:srgbClr val="2B2B2B"/>
                </a:solidFill>
                <a:latin typeface="Times New Roman" pitchFamily="34" charset="0"/>
                <a:ea typeface="Times New Roman" pitchFamily="34" charset="-122"/>
                <a:cs typeface="Times New Roman" pitchFamily="34" charset="-120"/>
              </a:rPr>
              <a:t>State the purpose, timing, and participants of each of the four ceremonies.</a:t>
            </a:r>
            <a:endParaRPr lang="en-US" sz="1500" dirty="0"/>
          </a:p>
        </p:txBody>
      </p:sp>
      <p:sp>
        <p:nvSpPr>
          <p:cNvPr id="16" name="Shape 14"/>
          <p:cNvSpPr/>
          <p:nvPr/>
        </p:nvSpPr>
        <p:spPr>
          <a:xfrm>
            <a:off x="548640" y="4572000"/>
            <a:ext cx="365760" cy="365760"/>
          </a:xfrm>
          <a:prstGeom prst="ellipse">
            <a:avLst/>
          </a:prstGeom>
          <a:solidFill>
            <a:srgbClr val="1F3B57"/>
          </a:solidFill>
          <a:ln w="12700">
            <a:solidFill>
              <a:srgbClr val="1F3B57"/>
            </a:solidFill>
            <a:prstDash val="solid"/>
          </a:ln>
        </p:spPr>
      </p:sp>
      <p:sp>
        <p:nvSpPr>
          <p:cNvPr id="17" name="Text 15"/>
          <p:cNvSpPr txBox="1"/>
          <p:nvPr/>
        </p:nvSpPr>
        <p:spPr>
          <a:xfrm>
            <a:off x="548640" y="45720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5</a:t>
            </a:r>
            <a:endParaRPr lang="en-US" sz="1400" dirty="0"/>
          </a:p>
        </p:txBody>
      </p:sp>
      <p:sp>
        <p:nvSpPr>
          <p:cNvPr id="18" name="Text 16"/>
          <p:cNvSpPr txBox="1"/>
          <p:nvPr/>
        </p:nvSpPr>
        <p:spPr>
          <a:xfrm>
            <a:off x="1097280" y="4526280"/>
            <a:ext cx="10058400" cy="457200"/>
          </a:xfrm>
          <a:prstGeom prst="rect">
            <a:avLst/>
          </a:prstGeom>
          <a:noFill/>
          <a:ln/>
        </p:spPr>
        <p:txBody>
          <a:bodyPr wrap="square" lIns="0" tIns="0" rIns="0" bIns="0" rtlCol="0" anchor="ctr"/>
          <a:lstStyle/>
          <a:p>
            <a:pPr indent="0" marL="0">
              <a:buNone/>
            </a:pPr>
            <a:r>
              <a:rPr lang="en-US" sz="1500" b="1" dirty="0">
                <a:solidFill>
                  <a:srgbClr val="1F3B57"/>
                </a:solidFill>
                <a:latin typeface="Times New Roman" pitchFamily="34" charset="0"/>
                <a:ea typeface="Times New Roman" pitchFamily="34" charset="-122"/>
                <a:cs typeface="Times New Roman" pitchFamily="34" charset="-120"/>
              </a:rPr>
              <a:t>Run a real sprint — </a:t>
            </a:r>
            <a:pPr indent="0" marL="0">
              <a:buNone/>
            </a:pPr>
            <a:r>
              <a:rPr lang="en-US" sz="1500" dirty="0">
                <a:solidFill>
                  <a:srgbClr val="2B2B2B"/>
                </a:solidFill>
                <a:latin typeface="Times New Roman" pitchFamily="34" charset="0"/>
                <a:ea typeface="Times New Roman" pitchFamily="34" charset="-122"/>
                <a:cs typeface="Times New Roman" pitchFamily="34" charset="-120"/>
              </a:rPr>
              <a:t>Map all rituals onto a literal two-week calendar for a course project.</a:t>
            </a:r>
            <a:endParaRPr lang="en-US" sz="1500" dirty="0"/>
          </a:p>
        </p:txBody>
      </p:sp>
      <p:sp>
        <p:nvSpPr>
          <p:cNvPr id="19" name="Text 17"/>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7A8B9A"/>
                </a:solidFill>
                <a:latin typeface="Times New Roman" pitchFamily="34" charset="0"/>
                <a:ea typeface="Times New Roman" pitchFamily="34" charset="-122"/>
                <a:cs typeface="Times New Roman" pitchFamily="34" charset="-120"/>
              </a:rPr>
              <a:t>CSE 0613-2209 · Web Programming   |   Week 5 · Agile Rituals &amp; Spiral Risk</a:t>
            </a:r>
            <a:endParaRPr lang="en-US" sz="1000" dirty="0"/>
          </a:p>
        </p:txBody>
      </p:sp>
      <p:sp>
        <p:nvSpPr>
          <p:cNvPr id="20" name="Text 18"/>
          <p:cNvSpPr txBox="1"/>
          <p:nvPr/>
        </p:nvSpPr>
        <p:spPr>
          <a:xfrm>
            <a:off x="11064240" y="6510528"/>
            <a:ext cx="457200" cy="274320"/>
          </a:xfrm>
          <a:prstGeom prst="rect">
            <a:avLst/>
          </a:prstGeom>
          <a:noFill/>
          <a:ln/>
        </p:spPr>
        <p:txBody>
          <a:bodyPr wrap="square" lIns="0" tIns="0" rIns="0" bIns="0" rtlCol="0" anchor="ctr"/>
          <a:lstStyle/>
          <a:p>
            <a:pPr algn="r" indent="0" marL="0">
              <a:buNone/>
            </a:pPr>
            <a:r>
              <a:rPr lang="en-US" sz="1000" dirty="0">
                <a:solidFill>
                  <a:srgbClr val="7A8B9A"/>
                </a:solidFill>
                <a:latin typeface="Times New Roman" pitchFamily="34" charset="0"/>
                <a:ea typeface="Times New Roman" pitchFamily="34" charset="-122"/>
                <a:cs typeface="Times New Roman"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4592"/>
            <a:ext cx="11064240" cy="274320"/>
          </a:xfrm>
          <a:prstGeom prst="rect">
            <a:avLst/>
          </a:prstGeom>
          <a:noFill/>
          <a:ln/>
        </p:spPr>
        <p:txBody>
          <a:bodyPr wrap="square" lIns="0" tIns="0" rIns="0" bIns="0" rtlCol="0" anchor="ctr"/>
          <a:lstStyle/>
          <a:p>
            <a:pPr indent="0" marL="0">
              <a:buNone/>
            </a:pPr>
            <a:r>
              <a:rPr lang="en-US" sz="1200" b="1" spc="100" kern="0" dirty="0">
                <a:solidFill>
                  <a:srgbClr val="5C7A96"/>
                </a:solidFill>
                <a:latin typeface="Times New Roman" pitchFamily="34" charset="0"/>
                <a:ea typeface="Times New Roman" pitchFamily="34" charset="-122"/>
                <a:cs typeface="Times New Roman" pitchFamily="34" charset="-120"/>
              </a:rPr>
              <a:t>SUMMARY</a:t>
            </a:r>
            <a:endParaRPr lang="en-US" sz="1200" dirty="0"/>
          </a:p>
        </p:txBody>
      </p:sp>
      <p:sp>
        <p:nvSpPr>
          <p:cNvPr id="3" name="Text 1"/>
          <p:cNvSpPr txBox="1"/>
          <p:nvPr/>
        </p:nvSpPr>
        <p:spPr>
          <a:xfrm>
            <a:off x="548640" y="411480"/>
            <a:ext cx="11064240" cy="777240"/>
          </a:xfrm>
          <a:prstGeom prst="rect">
            <a:avLst/>
          </a:prstGeom>
          <a:noFill/>
          <a:ln/>
        </p:spPr>
        <p:txBody>
          <a:bodyPr wrap="square" lIns="0" tIns="0" rIns="0" bIns="0" rtlCol="0" anchor="ctr"/>
          <a:lstStyle/>
          <a:p>
            <a:pPr indent="0" marL="0">
              <a:buNone/>
            </a:pPr>
            <a:r>
              <a:rPr lang="en-US" sz="2800" b="1" dirty="0">
                <a:solidFill>
                  <a:srgbClr val="1F3B57"/>
                </a:solidFill>
                <a:latin typeface="Times New Roman" pitchFamily="34" charset="0"/>
                <a:ea typeface="Times New Roman" pitchFamily="34" charset="-122"/>
                <a:cs typeface="Times New Roman" pitchFamily="34" charset="-120"/>
              </a:rPr>
              <a:t>Key Takeaways</a:t>
            </a:r>
            <a:endParaRPr lang="en-US" sz="2800" dirty="0"/>
          </a:p>
        </p:txBody>
      </p:sp>
      <p:sp>
        <p:nvSpPr>
          <p:cNvPr id="4" name="Text 2"/>
          <p:cNvSpPr txBox="1"/>
          <p:nvPr/>
        </p:nvSpPr>
        <p:spPr>
          <a:xfrm>
            <a:off x="548640" y="1463040"/>
            <a:ext cx="10424160" cy="4297680"/>
          </a:xfrm>
          <a:prstGeom prst="rect">
            <a:avLst/>
          </a:prstGeom>
          <a:noFill/>
          <a:ln/>
        </p:spPr>
        <p:txBody>
          <a:bodyPr wrap="square" lIns="0" tIns="0" rIns="0" bIns="0" rtlCol="0" anchor="t"/>
          <a:lstStyle/>
          <a:p>
            <a:pPr marL="228600" indent="-228600">
              <a:spcAft>
                <a:spcPts val="1100"/>
              </a:spcAft>
              <a:buSzPct val="100000"/>
              <a:buChar char="▪"/>
            </a:pPr>
            <a:r>
              <a:rPr lang="en-US" sz="1500" dirty="0">
                <a:solidFill>
                  <a:srgbClr val="2B2B2B"/>
                </a:solidFill>
                <a:latin typeface="Times New Roman" pitchFamily="34" charset="0"/>
                <a:ea typeface="Times New Roman" pitchFamily="34" charset="-122"/>
                <a:cs typeface="Times New Roman" pitchFamily="34" charset="-120"/>
              </a:rPr>
              <a:t>The Spiral Model's loops expand in cost and commitment, but risk analysis repeats every loop — bad ideas can be killed cheaply in an early loop before expensive commitment.</a:t>
            </a:r>
            <a:endParaRPr lang="en-US" sz="1500" dirty="0"/>
          </a:p>
          <a:p>
            <a:pPr marL="228600" indent="-228600">
              <a:spcAft>
                <a:spcPts val="1100"/>
              </a:spcAft>
              <a:buSzPct val="100000"/>
              <a:buChar char="▪"/>
            </a:pPr>
            <a:r>
              <a:rPr lang="en-US" sz="1500" dirty="0">
                <a:solidFill>
                  <a:srgbClr val="2B2B2B"/>
                </a:solidFill>
                <a:latin typeface="Times New Roman" pitchFamily="34" charset="0"/>
                <a:ea typeface="Times New Roman" pitchFamily="34" charset="-122"/>
                <a:cs typeface="Times New Roman" pitchFamily="34" charset="-120"/>
              </a:rPr>
              <a:t>The Cost-of-Change curve is exponential: the same defect can cost roughly 100× more to fix in production than in requirements review — this is the shared justification for Agile's short cycles and Spiral's early risk analysis.</a:t>
            </a:r>
            <a:endParaRPr lang="en-US" sz="1500" dirty="0"/>
          </a:p>
          <a:p>
            <a:pPr marL="228600" indent="-228600">
              <a:spcAft>
                <a:spcPts val="1100"/>
              </a:spcAft>
              <a:buSzPct val="100000"/>
              <a:buChar char="▪"/>
            </a:pPr>
            <a:r>
              <a:rPr lang="en-US" sz="1500" dirty="0">
                <a:solidFill>
                  <a:srgbClr val="2B2B2B"/>
                </a:solidFill>
                <a:latin typeface="Times New Roman" pitchFamily="34" charset="0"/>
                <a:ea typeface="Times New Roman" pitchFamily="34" charset="-122"/>
                <a:cs typeface="Times New Roman" pitchFamily="34" charset="-120"/>
              </a:rPr>
              <a:t>Scrum has three roles (Product Owner, Scrum Master, Development Team) with clearly separated responsibilities.</a:t>
            </a:r>
            <a:endParaRPr lang="en-US" sz="1500" dirty="0"/>
          </a:p>
          <a:p>
            <a:pPr marL="228600" indent="-228600">
              <a:spcAft>
                <a:spcPts val="1100"/>
              </a:spcAft>
              <a:buSzPct val="100000"/>
              <a:buChar char="▪"/>
            </a:pPr>
            <a:r>
              <a:rPr lang="en-US" sz="1500" dirty="0">
                <a:solidFill>
                  <a:srgbClr val="2B2B2B"/>
                </a:solidFill>
                <a:latin typeface="Times New Roman" pitchFamily="34" charset="0"/>
                <a:ea typeface="Times New Roman" pitchFamily="34" charset="-122"/>
                <a:cs typeface="Times New Roman" pitchFamily="34" charset="-120"/>
              </a:rPr>
              <a:t>Scrum has four core rituals (Planning, Daily Standup, Review, Retrospective) plus the daily standup — each with a specific purpose that fails if performed in name only.</a:t>
            </a:r>
            <a:endParaRPr lang="en-US" sz="1500" dirty="0"/>
          </a:p>
          <a:p>
            <a:pPr marL="228600" indent="-228600">
              <a:spcAft>
                <a:spcPts val="1100"/>
              </a:spcAft>
              <a:buSzPct val="100000"/>
              <a:buChar char="▪"/>
            </a:pPr>
            <a:r>
              <a:rPr lang="en-US" sz="1500" dirty="0">
                <a:solidFill>
                  <a:srgbClr val="2B2B2B"/>
                </a:solidFill>
                <a:latin typeface="Times New Roman" pitchFamily="34" charset="0"/>
                <a:ea typeface="Times New Roman" pitchFamily="34" charset="-122"/>
                <a:cs typeface="Times New Roman" pitchFamily="34" charset="-120"/>
              </a:rPr>
              <a:t>A real sprint maps every ritual onto a literal calendar — use the Day-by-Day template directly for your own course project.</a:t>
            </a:r>
            <a:endParaRPr lang="en-US" sz="1500" dirty="0"/>
          </a:p>
        </p:txBody>
      </p:sp>
      <p:sp>
        <p:nvSpPr>
          <p:cNvPr id="5" name="Text 3"/>
          <p:cNvSpPr txBox="1"/>
          <p:nvPr/>
        </p:nvSpPr>
        <p:spPr>
          <a:xfrm>
            <a:off x="548640" y="6510528"/>
            <a:ext cx="7315200" cy="274320"/>
          </a:xfrm>
          <a:prstGeom prst="rect">
            <a:avLst/>
          </a:prstGeom>
          <a:noFill/>
          <a:ln/>
        </p:spPr>
        <p:txBody>
          <a:bodyPr wrap="square" lIns="0" tIns="0" rIns="0" bIns="0" rtlCol="0" anchor="ctr"/>
          <a:lstStyle/>
          <a:p>
            <a:pPr indent="0" marL="0">
              <a:buNone/>
            </a:pPr>
            <a:r>
              <a:rPr lang="en-US" sz="1000" dirty="0">
                <a:solidFill>
                  <a:srgbClr val="7A8B9A"/>
                </a:solidFill>
                <a:latin typeface="Times New Roman" pitchFamily="34" charset="0"/>
                <a:ea typeface="Times New Roman" pitchFamily="34" charset="-122"/>
                <a:cs typeface="Times New Roman" pitchFamily="34" charset="-120"/>
              </a:rPr>
              <a:t>CSE 0613-2209 · Web Programming   |   Week 5 · Agile Rituals &amp; Spiral Risk</a:t>
            </a:r>
            <a:endParaRPr lang="en-US" sz="1000" dirty="0"/>
          </a:p>
        </p:txBody>
      </p:sp>
      <p:sp>
        <p:nvSpPr>
          <p:cNvPr id="6" name="Text 4"/>
          <p:cNvSpPr txBox="1"/>
          <p:nvPr/>
        </p:nvSpPr>
        <p:spPr>
          <a:xfrm>
            <a:off x="11064240" y="6510528"/>
            <a:ext cx="457200" cy="274320"/>
          </a:xfrm>
          <a:prstGeom prst="rect">
            <a:avLst/>
          </a:prstGeom>
          <a:noFill/>
          <a:ln/>
        </p:spPr>
        <p:txBody>
          <a:bodyPr wrap="square" lIns="0" tIns="0" rIns="0" bIns="0" rtlCol="0" anchor="ctr"/>
          <a:lstStyle/>
          <a:p>
            <a:pPr algn="r" indent="0" marL="0">
              <a:buNone/>
            </a:pPr>
            <a:r>
              <a:rPr lang="en-US" sz="1000" dirty="0">
                <a:solidFill>
                  <a:srgbClr val="7A8B9A"/>
                </a:solidFill>
                <a:latin typeface="Times New Roman" pitchFamily="34" charset="0"/>
                <a:ea typeface="Times New Roman" pitchFamily="34" charset="-122"/>
                <a:cs typeface="Times New Roman" pitchFamily="34" charset="-120"/>
              </a:rPr>
              <a:t>14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2026-09-02T21:27:46Z</dcterms:created>
  <dcterms:modified xsi:type="dcterms:W3CDTF">2026-09-02T21:27:46Z</dcterms:modified>
</cp:coreProperties>
</file>