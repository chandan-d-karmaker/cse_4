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Day 1: yesterday we wrote requirements. Today those requirements become three concrete models — navigational (how users move around), structural (how content is organised), and interaction (how a user's actions play out over time). We ground every model in a real, familiar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five topics. Every model today is anchored in a real, well-known system so the abstractions have a concrete referent students can check for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analogy if helpful: structural model = the nouns of your system; navigational model = the roads connecting them; interaction model = the verbs, played out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real example on the next slide: Wikipedia is a good teaching example because its navigation is almost entirely link-based rather than menu-based, which makes the model easy to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real paths a student could verify themselves: from the HTTP article, they can reach related articles via inline links, arrive via search, browse via a category page, or follow a citation. Note there's no single 'home' hierarchy — this is intentionally a graph, unlike a typical e-commerce site's tree structure (next example).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directly with the Wikipedia graph: here every leaf page has exactly one path from the root. This tree shape is what most 'sitemap.xml' files literally encode for search engines, and it's what breadcrumbs (Home &gt; Electronics &gt; Laptops) are designed to expose to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structure answers 'what data exists and how does it relate', while navigation (previous slides) answers 'how does a user get to it'. Students sometimes conflate the two — this slide exists to separate them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foreign key relationships explicitly: Product belongs to a Category (1:many from Category's side); Product has many Reviews (1:many from Product's side). This is the same modeling students will formalise with actual ER diagrams in a database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clearly from navigation: navigation is the map of all possible destinations; interaction is turn-by-turn directions for one specific journey, like completing a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branch explicitly: after 'Check Seats', the flow forks based on a real condition (seat availability) — this is what distinguishes an interaction model from a simple linear list of steps. Ask students what should happen if the waitlist itself is full (a further branch they could add).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payoff — showing the same vague feature request from Day 1's requirements discussion transformed into three concrete, buildable models. This is a good candidate for a short in-class exercise: have students sketch this out themselves before revealing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region and name which model informed it: the sidebar exists because of the navigational model's cross-links; the main content's fields exist because of the structural model's Room entity; the booking form's behaviour comes from the interaction model's conflict-check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the anchor recap — each row's 'real example' column should let students recall the specific diagram from earlier in the session, reinforcing that these aren't abstract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study demonstrates diagnosing a UX problem by auditing each of the three models separately — the fix wasn't 'make it prettier', it was fixing specific gaps in structure, navigation, and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pitfall (missing error paths) is directly illustrated by the course-registration case study — the original design had exactly this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self-check before Week 4, which shifts into Security Fundamentals — the structural model from today (what data exists) becomes the basis for deciding what needs to be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points. Bridge to Week 4: Security Fundamentals, where the structural model (what data exists) becomes the starting point for threat modeling — you can't protect data you haven't identified.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Methodologies &amp;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3, Day 2 — Web Modeling &amp;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Navigational, structural, and interaction models — grounded in real sites you already use, not abstract diagrams.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3 · DAY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Session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Web design needs three separate models, not just one diagram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 models — worked through Wikipedia's real link structure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models — worked through Amazon's real product-catalog data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 models — worked through a real university course-registration flow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Turning all three models into an architectural page layout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three models are the direct bridge from yesterday's requirements to the page-level HTML/CSS structure and JavaScript interactions you'll build starting Week 8.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Model Navigation, Structure, and Interaction Separately?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Diagram Isn't Enough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wireframe shows what one screen looks like — but not how a user gets there, how the underlying content relates, or what happens over a multi-step process. Each concern needs its own model.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Complementary Views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Navigational: how screens/pages connect. Structural: how content/data is organised, independent of any one page. Interaction: how a user's actions unfold as a sequence over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96849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They Work Together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343400"/>
            <a:ext cx="10661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structural model defines what content exists (e.g. a Product entity with a name, price, and reviews). The navigational model decides how a user reaches that content (via search, category browse, or a direct link). The interaction model captures what happens when they act on it (add to cart, checkout). All three inform the same page's final layout.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 NAVIGATIONAL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Navigational Model?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map of how a user can move between pages or views — which links, menus, and buttons connect one screen to another, and what paths exist to reach any given piece of content.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Captures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Entry points (home, search, direct link), navigation structure (hierarchical menus, breadcrumbs), and cross-links (related items, 'see also' references).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Notations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Site maps (tree diagrams), navigation flow diagrams, and breadcrumb trails — all show 'where can I go from here?' at a glance.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Goal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Minimise the number of clicks to reach important content, while keeping the user oriented — they should always know where they are and how to get back.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3.2 · REAL-WORLD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 Model — Wikipedia's Article Network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Wikipedia's actual navigation is a graph, not a tree: articles link to each other directly, alongside three fixed entry points.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00600" y="36576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73752" y="365760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Article: "HTTP"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1188720" y="2103120"/>
            <a:ext cx="4617720" cy="1874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5806440" y="2103120"/>
            <a:ext cx="3703320" cy="1874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005840" y="3977640"/>
            <a:ext cx="4800600" cy="178308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06440" y="3977640"/>
            <a:ext cx="3886200" cy="178308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3977640"/>
            <a:ext cx="0" cy="201168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8600" y="17830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752" y="17830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17830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22792" y="17830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"Web Engineering" (linked term)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" y="54406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" y="5440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Category: Internet protocols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32520" y="54406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05672" y="5440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"See also: HTTPS"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56692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9472" y="56692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/ citations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3.3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Contrast — A Tree-Structured Site 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e-commerce sites use a strict hierarchy instead of Wikipedia's graph — every page has exactly one 'parent' category.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20640" y="19202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93792" y="1920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10896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3108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1965960" y="2468880"/>
            <a:ext cx="4114800" cy="64008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310896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3108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>
            <a:off x="5440680" y="2468880"/>
            <a:ext cx="640080" cy="64008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8432" y="3108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468880"/>
            <a:ext cx="2834640" cy="64008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" y="43891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" y="438912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Laptops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H="1">
            <a:off x="1188720" y="3657600"/>
            <a:ext cx="777240" cy="731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0" y="43891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59152" y="438912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65960" y="3657600"/>
            <a:ext cx="1143000" cy="731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40480" y="43891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13632" y="438912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4663440" y="3657600"/>
            <a:ext cx="777240" cy="731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60720" y="43891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438912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Textbooks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40680" y="3657600"/>
            <a:ext cx="1143000" cy="731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15200" y="43891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88352" y="438912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Men's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 flipH="1">
            <a:off x="8138160" y="3657600"/>
            <a:ext cx="777240" cy="731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35440" y="43891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08592" y="438912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Women's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15400" y="3657600"/>
            <a:ext cx="1143000" cy="7315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 STRUCTURAL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Structural Model?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model of the content itself — the entities that exist in the system, their attributes, and the relationships between them — independent of how any single page presents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Captures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Entities (e.g. Product, Review, Category), attributes (name, price, rating), and relationships (a Product has many Reviews; a Product belongs to a Category).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Notations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Entity-relationship diagrams, class diagrams, or simple structured tables listing entities and their fields.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Separate From Navigation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Product entity might be reachable via search, category browse, or a recommendation widget — one structure, many navigational paths to it.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3.4 · REAL-WORLD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Model — Amazon's Product Catalog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simplified entity-relationship view of the real data model behind any Amazon product page.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920240"/>
            <a:ext cx="2962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026664"/>
            <a:ext cx="2962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parent_category_id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291840" cy="2011680"/>
          </a:xfrm>
          <a:prstGeom prst="roundRect">
            <a:avLst>
              <a:gd name="adj" fmla="val 2727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920240"/>
            <a:ext cx="31455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3026664"/>
            <a:ext cx="3145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title, price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description, images[]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21040" y="1920240"/>
            <a:ext cx="3291840" cy="2011680"/>
          </a:xfrm>
          <a:prstGeom prst="roundRect">
            <a:avLst>
              <a:gd name="adj" fmla="val 272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1920240"/>
            <a:ext cx="31455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026664"/>
            <a:ext cx="3145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id, rating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author, 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product_id (FK)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0" y="2926080"/>
            <a:ext cx="73152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61188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: many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2926080"/>
            <a:ext cx="64008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63524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: many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47141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Structure, Many Navigational Paths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846320"/>
            <a:ext cx="1066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Product record surfaces on a category listing page, a search-results page, a 'customers also bought' widget, and a direct product-detail page — four different navigational routes to one structural entity. This is exactly the separation of concerns introduced on the previous slide.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 INTERACTION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an Interaction Model?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model of how a user's actions unfold over time — the sequence of steps, decisions, and system responses in a multi-step process like checkout or registration.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Captures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Steps in order, decision points (branches), system feedback at each step, and what happens on error (e.g. a failed payment).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Notations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Sequence diagrams, flowcharts, and user-flow diagrams with decision diamonds for branches.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It's Distinct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 shows possible paths; interaction shows the specific, ordered path through a process the user actually takes to complete a goal.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3.5 · REAL-WORLD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 Model — University Course Registration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realistic flow with a decision point and an error path — not just a straight line of steps.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9202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Browse Catalog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6746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searches for a course by department or code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192024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19202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Check Seats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6746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checks capacity vs. enrolled count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D7ECD9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85232" y="19202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3a. Seat Available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285232" y="26746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is added to the roster immediately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192024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16952" y="19202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Confirmation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616952" y="26746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 sent; course appears on the student's schedule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384048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3D9C4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5232" y="3840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3b. Seat Full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45948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is offered the waitlist instead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0" y="2606040"/>
            <a:ext cx="32004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92040" y="2606040"/>
            <a:ext cx="32004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2606040"/>
            <a:ext cx="32004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86200" y="3291840"/>
            <a:ext cx="1874520" cy="13716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60520" y="3291840"/>
            <a:ext cx="2057400" cy="54864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Applying All Three Models to One Feature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— a university library's 'Reserve a Study Room' feature, requested as: 'Students should be able to book a study room online.'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model — entities: Room (id, capacity, building), Booking (id, room_id, student_id, start_time, end_time). A Room has many Bookings; a Booking belongs to one Student.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 model — entry points: library homepage → 'Study Rooms' menu item, or a direct link from a room's floor-plan page. From the room list, a user drills into one room's detail/availability page.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 model — student selects a room → picks an available time slot → system checks for a conflicting booking → on success, confirms and emails the student; on conflict, shows a different available slot.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— three focused models replace one confusing paragraph, and each one maps directly onto a concrete implementation task (database schema, page routes, and booking logic).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3.6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Models to Page Layout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concrete wireframe for the room-detail page, informed directly by all three models above.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37360"/>
            <a:ext cx="10917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Header — logo, primary nav (Home | Study Rooms | My Bookings)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46888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Breadcrumb: Home &gt; Study Rooms &gt; Room 204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7040880" cy="2377440"/>
          </a:xfrm>
          <a:prstGeom prst="roundRect">
            <a:avLst>
              <a:gd name="adj" fmla="val 230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063240"/>
            <a:ext cx="689457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— Room details &amp; booking form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4370832"/>
            <a:ext cx="68945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Capacity, building, amenities (structural)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Time-slot picker with conflict check (interaction)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3063240"/>
            <a:ext cx="3840480" cy="2377440"/>
          </a:xfrm>
          <a:prstGeom prst="roundRect">
            <a:avLst>
              <a:gd name="adj" fmla="val 230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45552" y="3063240"/>
            <a:ext cx="369417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Sidebar — related rooms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45552" y="437083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to other available rooms nearby (navigational cross-links)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5577840"/>
            <a:ext cx="10917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Footer — library hours, contact, accessibility statement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Models — Structured Comparison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2651760"/>
                <a:gridCol w="32004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Answers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Real Example Used Today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Navigational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do I get from A to B?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Site map, flow diagram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Wikipedia's link graph; a tree-shaped store menu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content/data exists, and how does it relate?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Entity-relationship diagram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Amazon's Category / Product / Review entities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Interaction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happens, step by step, when I act?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Sequence diagram, flowchart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University course-registration flow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Redesigning a Confusing Course Catalog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— students reported the course catalog was 'impossible to navigate'; usability testing showed only 40% could find a specific course within 60 seconds.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audit — the catalog had no consistent Course entity; some pages mixed course and instructor data inconsistently, making search unreliable.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 audit — courses were only reachable by department, with no way to browse by time slot, credit hours, or general-education category — three real student search patterns were unsupported.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 audit — the registration flow had no visible waitlist step; students hit 'seat full' with no next action, causing support tickets.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— cleaning up the structural model (a proper Course entity), adding navigational filters (by time, credits, category), and adding the missing waitlist interaction step raised task success to 89% in a follow-up test.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 PITFALLS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Modeling Pitfalls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576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Pitfall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It's a Problem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Designing pages before modeling structure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same data gets duplicated or defined inconsistently across pages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Define entities once, then design pages that reference them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Navigation with no cross-links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Users get stuck in a strict hierarchy with no shortcuts between related content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'related items' / 'see also' links across branches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Interaction models with no error paths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Real systems fail (full seats, declined payments) — an untested path becomes a support ticket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Explicitly diagram at least one failure branch per flow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Treating navigation and structure as the same thing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Leads to URLs and page hierarchies that don't match how content actually relates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structure first, independent of any specific page layout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why three models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what navigational, structural, and interaction models each capture.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navigation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a site map, contrasting a graph (Wikipedia) with a tree (e-commerce).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structure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simple entity-relationship view of real content and its relationships.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interaction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 multi-step process with at least one decision branch and error path.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Derive a page layout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 all three models into a concrete wireframe with labeled regions.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Navigational models answer 'how do I get there?' — Wikipedia's link graph and a tree-shaped store menu are two real, contrasting patterns.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models answer 'what exists and how does it relate?' — independent of any one page, as seen in Amazon's Category/Product/Review entities.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 models answer 'what happens, step by step?' — including decision branches and error paths, as seen in course registration's waitlist fork.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three models feed directly into a concrete page layout — each region of a real wireframe traces back to a specific modeling decision.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common pitfall is designing pages before modeling structure — model first, then let the models drive the design.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Web Modeling &amp; Design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2026-09-02T10:28:54Z</dcterms:created>
  <dcterms:modified xsi:type="dcterms:W3CDTF">2026-09-02T10:28:54Z</dcterms:modified>
</cp:coreProperties>
</file>