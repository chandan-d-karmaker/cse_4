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2. Bridge from Week 2's quality attributes: today those attributes become formal non-functional requirements, sitting alongside functional requirements that describe what the system must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Requirements engineering is the foundation for Web Modeling &amp; Design (Day 2), so the quality of today's output directly affects next session's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Non-functional requirements are where Week 2's quality attributes (performance, scalability, availability, maintainability) become concrete, numbered requirements with acceptance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password-reset example throughout: the functional requirement says the feature must exist; the non-functional requirement constrains how well it must perform. Both are needed to fully specify the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template is reusable for any project: classify first by functional/non-functional, then by sub-type, answer the guiding question, and write a specific, testable example — not a vague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pattern: each functional requirement has an ID (for traceability, covered later), a clear actor + action, and acceptance criteria that could be turned directly into a test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direct line back to Week 2: every non-functional requirement here maps to one of the four quality attributes and could use the same formulas (response time, availability nines) to set its numeric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'so that' clause — students often write stories that skip it, producing feature lists disguised as user stories. The benefit clause is what lets a team push back on scope: if there's no clear benefit, question whether the story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variety: a customer-facing feature, an internal/admin-facing feature, and an accessibility requirement written as a story — user stories aren't only for end-user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each of the three stories from the previous slide through INVEST as a quick class exercise — Story 2 (sales summary email) is a good one to test 'Small': is it really one story, or should 'unsubscribe' be split out?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RTM as a project-management safety net, not bureaucratic overhead — it's the tool that catches 'we forgot to build/test that' before it becomes a production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each row proves one requirement has a home in the design and a test that verifies it. The Status column turns this into a live project-tracking tool — point out NFR-03's status shows testing isn't finished, which is valuable visibility for a project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demonstrates the full pipeline in miniature: vague stakeholder statement to probing questions to classified requirements to user stories to traceability entry. This is the exact workflow students should follow for their own course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pitfalls are the most common ones seen in student project requirements documents — the vague-wording pitfall is by far the most frequent, and directly undermines the traceability matrix on the previous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Day 2, Web Modeling &amp; Design, where these requirements become navigational, structural, and interaction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Bridge to Day 2: Web Modeling &amp; Design, where today's classified requirements feed directly into navigational, structural, and interaction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Methodologies &amp;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3, Day 1 — Requirements Engineering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Classifying functional and non-functional requirements, writing effective user stories, and tracing requirements through to test cases.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3 · DAY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requirements engineering is, and why it comes before design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Classifying requirements as functional vs. non-functional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Writing user stories that are clear and testable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INVEST criteria for a good user story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a requirements traceability matrix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requirement written today should be traceable to a design decision in Week 3 Day 2, and eventually to a test case — poor requirements are the single largest source of rework in software projects.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Requirements Engineering?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disciplined process of discovering, documenting, validating, and managing what a system must do and how well it must do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Comes First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code answer 'how' — but that question is meaningless until 'what' and 'how well' are defined. Skipping this step is the top cause of costly rework.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Requirement Types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describe behaviour — what the system does. Non-functional requirements describe qualities — how well it does it (performance, security, usability).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Output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requirements set that is specific, testable, and traceable — vague requirements ('the system should be fast') cannot be verified or designed against.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CLASSIFICATION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vs. Non-Functional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63040"/>
            <a:ext cx="52029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575304"/>
            <a:ext cx="52029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specific behaviours or features: what the system must do. Example: 'The system shall let a user reset their password via email.' Directly testable with a pass/fail check.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36792" y="1463040"/>
            <a:ext cx="52029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3575304"/>
            <a:ext cx="52029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quality constraints on how the system performs its functions: speed, security, usability, reliability. Example: 'Password reset emails shall be delivered within 30 seconds for 99% of requests.'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CLASSIFICATION TEMPLATE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Reusable Classification Template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3383280"/>
                <a:gridCol w="40233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Sub-type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Guiding Question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Business rule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logic must the system enforce?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Orders over $500 require manager approval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interaction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can a user directly do?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Filter search results by price range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Non-functional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fast / how much load?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Search results return within 500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Non-functional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must be protected, from whom?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Passwords hashed with bcrypt, never logged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Non-functional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easy must it be to use?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users complete checkout in under 3 taps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— Worked Examples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120640"/>
                <a:gridCol w="46634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Acceptance Criteria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can create an account with email and password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Account exists in DB; confirmation email sent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can search products by keyword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Results return matches from title and description fields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can add an item to a shopping cart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Cart total updates; item persists across page reloads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 can mark an order as shipped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status changes; customer receives notification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NON-FUNCTIONAL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— Worked Examples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12648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Quality Attribute (Week 2)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Homepage p95 response time under 400 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sustains 1,000 concurrent checkouts without degradation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Checkout service maintains 99.9% uptime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Availability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engineer can add a payment method in under 2 days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USER STORIES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User Story Format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&lt;role&gt;, I want &lt;goal&gt;, so that &lt;benefit&gt;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04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User Story Template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86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Keeps focus on who benefits and why — not just what to build. The 'so that' clause is often the most skipped and most valuable part.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5112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Add: Acceptance Criteria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886200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story should list specific, checkable conditions for 'done' — written as Given/When/Then or a simple checklist. Without this, 'done' is subjective.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3832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81928" y="35112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It Small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81928" y="3886200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story should be completable within a single sprint (typically 1–3 days of work). Large stories should be split into smaller, independently valuable pieces.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Practical User Stories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910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Story 1 — Returning Customer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31181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returning customer, I want my shipping address saved, so that I don't retype it every order.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Acceptance criteria: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Address auto-fills at checkout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User can edit or add a new address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Change persists to next visit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5910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Story 2 — Store Manager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1965960"/>
            <a:ext cx="31181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store manager, I want a daily sales summary email, so that I can review performance without logging in.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Acceptance criteria: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Email sent by 7:00 AM local time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Includes revenue, orders, top product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Manager can unsubscribe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15910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Story 3 — Accessibility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1965960"/>
            <a:ext cx="311810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screen-reader user, I want product images to have descriptive alt text, so that I understand what I'm browsing.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Acceptance criteria: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All product images have alt text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Text describes product, not just filename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Passes WCAG 2.1 AA audit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QUALITY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 — Six Traits of a Good User Story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built and delivered without waiting on another story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Negotiable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Describes intent, not a rigid contract — details can be discussed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Valuable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Delivers real value to a user or the business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Estimable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team can reasonably estimate the effort required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Fits comfortably within a single sprint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Testable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 clear acceptance criteria that prove it's done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TRACEABILITY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Requirements Traceability Matrix?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 It Solves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a project grows, it becomes hard to answer: 'Which test proves requirement FR-03 works?' or 'What design element implements NFR-01?' Traceability answers both.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Idea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traceability matrix (RTM) is a table linking each requirement forward to design elements and test cases — and backward to the business need that motivated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770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619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an RTM, requirements silently get dropped, tested twice, or shipped untested. With one, a reviewer can confirm every requirement has a design and a test — and every test traces back to a real need, not scope creep.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Requirements Traceability Matrix — Example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2926080"/>
                <a:gridCol w="2651760"/>
                <a:gridCol w="164592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Req. ID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Element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Case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Create account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SignupForm.jsx, AuthService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TC-014: Valid signup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 item to cart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CartService, CartWidget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TC-027: Add/remove item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Homepage p95 &lt; 400ms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CDN + cache layer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TC-041: Load test p95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 Progress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NFR-03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Checkout 99.9% uptime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Circuit breaker + retry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TC-052: Chaos test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Started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Eliciting Requirements from a Stakeholder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 bookstore owner says: 'I want an app so customers can find books faster.'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probe the vague request: faster than what? Ask about current pain points (in-store search vs. online catalog).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split into functional requirements: keyword search, filter by genre/author, sort by price or rating.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attach non-functional requirements: search results in under 500ms; results relevant for typos and partial matches.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— write as user stories with acceptance criteria, then add each to the traceability matrix before design begins.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PITFALLS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Requirements Pitfalls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114800"/>
                <a:gridCol w="36576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Pitfall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It's a Problem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Vague wording ('fast', 'user-friendly')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Cannot be tested or verified objectively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Attach a number and a measurement method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Mixing requirements with design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Locks in a solution before alternatives are considered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 the need, not the implementation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Missing non-functional requirements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works in the demo, fails under real load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Explicitly review all four Week 2 quality attributes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acceptance criteria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'Done' becomes a matter of opinion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story needs a checkable definition of done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Classify requirements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 a requirement as functional or non-functional, with the right sub-type.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user stories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the role/goal/benefit template with testable acceptance criteria.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INVEST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a user story against all six INVEST traits.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traceability matrix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 a requirement to a design element, a test case, and a status.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Elicit requirements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a vague stakeholder statement into classified, testable requirements.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describe what the system does; non-functional requirements describe how well — both are needed to fully specify a feature.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classification template (category, sub-type, guiding question, example) turns vague requests into specific, testable requirements.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stories follow As a / I want / so that, and must include acceptance criteria to have a checkable definition of done.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 (Independent, Negotiable, Valuable, Estimable, Small, Testable) is a quick quality check for any user story.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requirements traceability matrix links every requirement to its design and test case — catching gaps before they become production incidents.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3 · Requirements Engineering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2026-09-02T10:22:14Z</dcterms:created>
  <dcterms:modified xsi:type="dcterms:W3CDTF">2026-09-02T10:22:14Z</dcterms:modified>
</cp:coreProperties>
</file>