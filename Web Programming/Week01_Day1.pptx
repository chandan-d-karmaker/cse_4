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to Week 1. Introduce the course as Web Programming: Principles &amp; Techniques of Web Engineering. Today's session (Day 1) sets the stage: how the Web evolved historically, why organisations evaluate Web systems as engineering artifacts, and the basic mechanics of how a page reaches a user. Mention that server-side examples in this course use Java, not 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bullet points as the roadmap for today. Emphasise that these ideas are foundational — later weeks build directly on the evaluation lenses and the request/response model introduced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 historical timeline, not just a features list. Web 1.0 ran roughly 1991-2004 (static HTML, portals like early Yahoo). Web 2.0 (mid-2000s onward) brought AJAX and user-generated content — Facebook, Wikipedia, YouTube. Web 3.0 is still emerging: semantic data, personalisation, and AI-driven services. Ask students for an example of each generation they use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Web with packaged software: there is no 'gold master' release. Continuous deployment means evaluation is an ongoing activity, not a one-time gate before shipping.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lenses (Technical, Content, Usability, Business) recur on the next slide as a formal table with metrics. Ask students which lens a slow checkout page would fail first (Usability and Business, likely also Technical).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For 'Example Metric', mention real tools: Lighthouse/PageSpeed Insights for technical, System Usability Scale (SUS) surveys for usability, Google Analytics conversion funnels for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quality criteria map onto the ISO 25010 quality model students may see again in later software-engineering courses. Security and Scalability get deep dives in Weeks 4 and 8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each formula with a concrete number. E.g., 99.9% availability over a 365-day year allows about 8.76 hours of downtime; 99.99% allows about 53 minutes. Ask students to compute MTTR needed to hit 99.9% if MTBF is 720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COCOMO worked-example pattern from other modules: state the scenario, then walk the calculation step by step. Have students redo Step 3 for a 99.99% target to see how much MTTR must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a real example: typing wikipedia.org. DNS resolution (often cached), TCP/TLS handshake, GET request, server response (HTML/CSS/JS), then browser parses and renders. This five-step model recurs when we study client-server architecture in Week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Web Engineering is not 'less rigorous' than traditional SE — it adds concerns (accessibility, heterogeneity, continuous change) on top of the same engineering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study grounds the four evaluation lenses in a scenario students recognise — their own university portal. Ask students to name one broken link or slow page they've personally encountered on a university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quick self-check with students — ask for a show of hands on confidence with each objective before moving to Day 2 (Architecture &amp; Standards).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points. Reinforce that today's evaluation lenses and request/response model are the foundation for Day 2's architecture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glossary as a quick-reference recap; these terms will reappear across the course, especially SLI/SLO in Week 4 (Security) and Week 8 (Internet foundations, DNS).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Foundations &amp; Architecture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1, Day 1 — Overview &amp; History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Web evolved into today's platform, why we study it as an engineering discipline, and how a page actually reaches a user.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1 · DAY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Week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evolution of the Web from static documents to intelligent platforms (Web 1.0 → 3.0)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organisations evaluate Web applications, and through which lenses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criteria and simple quantitative metrics for judging a Web system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 page actually reaches the user — the request/response journey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Web Engineering differs from traditional software engineering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topic this week reappears later in the course: evaluation lenses return in Module 2's methodology choices; the request/response cycle underlies every architecture we study from Week 2 onward.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Web 1.0 to Web 3.0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conceptual timeline of how the Web's role has deepened across three generations.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76272" y="199339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7627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22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1.0 — Read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97480"/>
            <a:ext cx="30723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Static, linked documents. Publishers push content; users mostly read. Brochureware and portals (1991–2004).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99339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8815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322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2.0 — Read/Write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53128" y="2697480"/>
            <a:ext cx="30723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Interactive, social platforms. Users create content; AJAX, APIs and rich UIs enable two-way participation (2004–2010s).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1945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00032" y="199339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0003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3225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3.0 — Intelligent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65008" y="2697480"/>
            <a:ext cx="30723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and semantic. Linked data, personalisation, and machine reasoning power adaptive services (2010s–present).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246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3246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THE WEB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of the Web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Documents to Platforms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Web evolved from static, linked documents (Web 1.0) to interactive, user-generated platforms (Web 2.0) and data-driven, intelligent services (Web 3.0).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and Reach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Billions of pages and applications now serve every domain — commerce, education, government, health, and entertainment — across every device.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Criteria for Evaluation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Web is judged on accessibility, usability, performance, security, scalability, and its ability to evolve without breaking existing content.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Change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Unlike shrink-wrapped software, Web systems are never truly 'finished' — they are continuously released, measured, and improved.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THE WEB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We Evaluate the Web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Reasons to Evaluate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49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 how well a site or app meets user needs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against competitors and industry standards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usability, performance, and accessibility gaps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 investment in redesign or re-engineering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how the Web reshapes business and society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Evaluation Lenses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828800"/>
            <a:ext cx="5349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— architecture, speed, security, standards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— accuracy, relevance, freshness, organisation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 — navigation, learnability, accessibility (WCAG)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— conversion, reach, cost-effectiveness, ROI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EVALUATION LENSES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Lenses for Web Evaluation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  <a:gridCol w="29260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Questions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 Metric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Technical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 it fast, secure, standards-compliant?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Page load time, TLS grade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 it accurate, fresh, well-organised?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Content age, broken-link count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users learn and complete tasks?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 success rate, SUS score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Business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Does it meet business goals?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Conversion rate, ROI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2486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623560"/>
            <a:ext cx="1066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retail site redesign typically runs all four lenses in parallel: a technical audit (Lighthouse/PageSpeed), a usability study (task completion + SUS), a content audit (freshness, broken links), and a business review (conversion funnels) — findings are triaged together before the next sprint.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QUALITY CRITERIA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Criteria for the Web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is perceivable and operable for all users, including those relying on assistive technology (WCAG guidelines).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 &amp; Performance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 are easy to complete and pages respond quickly; slow or confusing interfaces drive users away.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is protected in transit and at rest; the public Internet exposes a large attack surface that must be defended.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&amp; Evolvability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grows with demand and can change continuously without breaking existing content or users.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Quantifying Web Quality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few simple formulas let us reason about reliability and speed numerically rather than by intuition.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= MTBF / (MTBF + MTTR)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78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52928"/>
            <a:ext cx="3154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MTBF = mean time between failures; MTTR = mean time to repair. 99.9% ('three nines') ≈ 8.8 h downtime per year.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9933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 = λ × W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78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Little's Law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852928"/>
            <a:ext cx="3154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 = average users in the system, λ = arrival rate, W = mean time in system. Links load, traffic, and latency together.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9933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 = failed / total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578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852928"/>
            <a:ext cx="3154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Fraction of requests that fail. A key service-level indicator (SLI), tracked against a service-level objective (SLO) target.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Availability Target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an online store's checkout service has MTBF = 720 hours and MTTR = 0.72 hours between failures.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Compute availability: A = 720 / (720 + 0.72) = 720 / 720.72 ≈ 0.9990 (99.90%).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Convert to yearly downtime budget: (1 − 0.9990) × 8,760 hours ≈ 8.76 hours/year.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Compare against the SLO: if the business promises 99.95% ('four and a half nines'), the current MTTR must shrink — faster incident response, better monitoring, or automated failover.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— Sanity-check: availability math is a planning tool, not a guarantee — always cross-check against real incident logs.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 Page Reaches the User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journey from typing a URL to seeing a rendered page — the request/response cycle in five steps.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473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47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31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06040"/>
            <a:ext cx="16550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enters an address or clicks a link in the browser.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218688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06040" y="210312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213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421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231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15768" y="2606040"/>
            <a:ext cx="16550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name is resolved to a server IP address.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218688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953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95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231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 Request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2606040"/>
            <a:ext cx="16550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opens a connection and sends a GET request.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218688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20840" y="210312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693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69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231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2606040"/>
            <a:ext cx="16550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Web/app server builds and returns an HTML response.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3218688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778240" y="210312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1433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143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2231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87968" y="2606040"/>
            <a:ext cx="16550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parses HTML/CSS, runs JS, and paints the page.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Engineering vs. Traditional Software Engineering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Traditional Software Engineering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 Engineering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Release cycle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Scheduled major releases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Continuous deployment, incremental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Audience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Known, often internal users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Broad, anonymous, global public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Change rate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 relatively stable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Content and requirements evolve constantly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Technology mix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Single-platform, homogeneous stack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Heterogeneous: markup, scripting, styling, services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Non-functional focus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Correctness, maintainability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Also accessibility, cross-browser compatibility, SEO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Evaluating a University Portal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lens — PageSpeed audit shows a 4.2s load time on mobile; large unoptimised images are the top offender.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lens — 12% of internal links are broken after a department restructuring; course pages are a year out of date.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 lens — Task-based testing shows only 61% of students can find the registration deadline within 60 seconds.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lens — Portal abandonment during registration correlates with a 9% drop in on-time enrolments.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— all four lenses point to the same redesign priority: page weight, information architecture, and a clearer registration flow.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Web's evolution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shift from Web 1.0 documents to Web 2.0/3.0 platforms and services.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a Web application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technical, content, usability, and business lenses to a real site.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Quantify quality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availability, Little's Law, and error-rate formulas to reason about a system.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 a request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 a page from URL through DNS, HTTP, server, and render.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Contrast disciplines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how Web Engineering differs from traditional software engineering.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Web has evolved through three generations — Read (1.0), Read/Write (2.0), and Intelligent (3.0) — each expanding what the platform can do.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applications are evaluated through four lenses: Technical, Content, Usability, and Business — each with its own metrics.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can be quantified: availability, Little's Law, and error rate turn intuition about reliability and speed into numbers.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page load is a five-step journey — URL, DNS, HTTP request, Server, Render — that we will revisit as client-server architecture next.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Engineering extends traditional software engineering with concerns unique to the open, continuously changing Web.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Terms — Quick Glossary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Term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Definition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MTBF / MTTR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 Time Between Failures / Mean Time To Repair — inputs to the availability formula.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SLI / SLO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Service-Level Indicator (measured metric) / Service-Level Objective (target for that metric).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WCAG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 Content Accessibility Guidelines — the standard for accessible Web content.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Usability Scale — a standard 10-item questionnaire for measuring perceived usability.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Domain Name System — resolves human-readable domain names to server IP addresses.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1 · Overview &amp; History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2026-09-02T05:07:38Z</dcterms:created>
  <dcterms:modified xsi:type="dcterms:W3CDTF">2026-09-02T05:07:38Z</dcterms:modified>
</cp:coreProperties>
</file>